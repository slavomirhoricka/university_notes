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1"/>
  </p:sldMasterIdLst>
  <p:notesMasterIdLst>
    <p:notesMasterId r:id="rId20"/>
  </p:notesMasterIdLst>
  <p:sldIdLst>
    <p:sldId id="256" r:id="rId2"/>
    <p:sldId id="308" r:id="rId3"/>
    <p:sldId id="299" r:id="rId4"/>
    <p:sldId id="301" r:id="rId5"/>
    <p:sldId id="321" r:id="rId6"/>
    <p:sldId id="312" r:id="rId7"/>
    <p:sldId id="322" r:id="rId8"/>
    <p:sldId id="320" r:id="rId9"/>
    <p:sldId id="324" r:id="rId10"/>
    <p:sldId id="318" r:id="rId11"/>
    <p:sldId id="319" r:id="rId12"/>
    <p:sldId id="311" r:id="rId13"/>
    <p:sldId id="314" r:id="rId14"/>
    <p:sldId id="323" r:id="rId15"/>
    <p:sldId id="272" r:id="rId16"/>
    <p:sldId id="326" r:id="rId17"/>
    <p:sldId id="328" r:id="rId18"/>
    <p:sldId id="292" r:id="rId19"/>
  </p:sldIdLst>
  <p:sldSz cx="9144000" cy="6858000" type="screen4x3"/>
  <p:notesSz cx="6797675" cy="9926638"/>
  <p:custDataLst>
    <p:tags r:id="rId21"/>
  </p:custDataLst>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65"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aio" initials="v"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67C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 Středně sytá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38B1855-1B75-4FBE-930C-398BA8C253C6}" styleName="Styl s motivem 2 – zvýraznění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Bez stylu, mřížka tabulky">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Střední styl 2 – zvýraznění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řední styl 2 – zvýraznění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Střední styl 2 – zvýraznění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64" autoAdjust="0"/>
    <p:restoredTop sz="94400" autoAdjust="0"/>
  </p:normalViewPr>
  <p:slideViewPr>
    <p:cSldViewPr>
      <p:cViewPr varScale="1">
        <p:scale>
          <a:sx n="155" d="100"/>
          <a:sy n="155" d="100"/>
        </p:scale>
        <p:origin x="2172" y="150"/>
      </p:cViewPr>
      <p:guideLst>
        <p:guide orient="horz" pos="4065"/>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109" d="100"/>
          <a:sy n="109" d="100"/>
        </p:scale>
        <p:origin x="5232" y="10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11468C38-A214-4E80-B1E3-D2FE07F8DD81}" type="datetimeFigureOut">
              <a:rPr lang="cs-CZ" smtClean="0"/>
              <a:t>21.09.2026</a:t>
            </a:fld>
            <a:endParaRPr lang="cs-CZ"/>
          </a:p>
        </p:txBody>
      </p:sp>
      <p:sp>
        <p:nvSpPr>
          <p:cNvPr id="4" name="Zástupný symbol pro obrázek snímku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8C40B50C-4808-4AAD-8732-12ADE8A5B27F}" type="slidenum">
              <a:rPr lang="cs-CZ" smtClean="0"/>
              <a:t>‹#›</a:t>
            </a:fld>
            <a:endParaRPr lang="cs-CZ"/>
          </a:p>
        </p:txBody>
      </p:sp>
    </p:spTree>
    <p:extLst>
      <p:ext uri="{BB962C8B-B14F-4D97-AF65-F5344CB8AC3E}">
        <p14:creationId xmlns:p14="http://schemas.microsoft.com/office/powerpoint/2010/main" val="380138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10"/>
          </p:nvPr>
        </p:nvSpPr>
        <p:spPr/>
        <p:txBody>
          <a:bodyPr/>
          <a:lstStyle/>
          <a:p>
            <a:fld id="{8C40B50C-4808-4AAD-8732-12ADE8A5B27F}" type="slidenum">
              <a:rPr lang="cs-CZ" smtClean="0"/>
              <a:t>1</a:t>
            </a:fld>
            <a:endParaRPr lang="cs-CZ"/>
          </a:p>
        </p:txBody>
      </p:sp>
    </p:spTree>
    <p:extLst>
      <p:ext uri="{BB962C8B-B14F-4D97-AF65-F5344CB8AC3E}">
        <p14:creationId xmlns:p14="http://schemas.microsoft.com/office/powerpoint/2010/main" val="3758757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a:p>
        </p:txBody>
      </p:sp>
      <p:sp>
        <p:nvSpPr>
          <p:cNvPr id="4" name="Zástupný symbol pro číslo snímku 3"/>
          <p:cNvSpPr>
            <a:spLocks noGrp="1"/>
          </p:cNvSpPr>
          <p:nvPr>
            <p:ph type="sldNum" sz="quarter" idx="5"/>
          </p:nvPr>
        </p:nvSpPr>
        <p:spPr/>
        <p:txBody>
          <a:bodyPr/>
          <a:lstStyle/>
          <a:p>
            <a:fld id="{8C40B50C-4808-4AAD-8732-12ADE8A5B27F}" type="slidenum">
              <a:rPr lang="cs-CZ" smtClean="0"/>
              <a:t>2</a:t>
            </a:fld>
            <a:endParaRPr lang="cs-CZ"/>
          </a:p>
        </p:txBody>
      </p:sp>
    </p:spTree>
    <p:extLst>
      <p:ext uri="{BB962C8B-B14F-4D97-AF65-F5344CB8AC3E}">
        <p14:creationId xmlns:p14="http://schemas.microsoft.com/office/powerpoint/2010/main" val="1805166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a:p>
        </p:txBody>
      </p:sp>
      <p:sp>
        <p:nvSpPr>
          <p:cNvPr id="4" name="Zástupný symbol pro číslo snímku 3"/>
          <p:cNvSpPr>
            <a:spLocks noGrp="1"/>
          </p:cNvSpPr>
          <p:nvPr>
            <p:ph type="sldNum" sz="quarter" idx="5"/>
          </p:nvPr>
        </p:nvSpPr>
        <p:spPr/>
        <p:txBody>
          <a:bodyPr/>
          <a:lstStyle/>
          <a:p>
            <a:fld id="{8C40B50C-4808-4AAD-8732-12ADE8A5B27F}" type="slidenum">
              <a:rPr lang="cs-CZ" smtClean="0"/>
              <a:t>3</a:t>
            </a:fld>
            <a:endParaRPr lang="cs-CZ"/>
          </a:p>
        </p:txBody>
      </p:sp>
    </p:spTree>
    <p:extLst>
      <p:ext uri="{BB962C8B-B14F-4D97-AF65-F5344CB8AC3E}">
        <p14:creationId xmlns:p14="http://schemas.microsoft.com/office/powerpoint/2010/main" val="689185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a:p>
        </p:txBody>
      </p:sp>
      <p:sp>
        <p:nvSpPr>
          <p:cNvPr id="4" name="Zástupný symbol pro číslo snímku 3"/>
          <p:cNvSpPr>
            <a:spLocks noGrp="1"/>
          </p:cNvSpPr>
          <p:nvPr>
            <p:ph type="sldNum" sz="quarter" idx="5"/>
          </p:nvPr>
        </p:nvSpPr>
        <p:spPr/>
        <p:txBody>
          <a:bodyPr/>
          <a:lstStyle/>
          <a:p>
            <a:fld id="{8C40B50C-4808-4AAD-8732-12ADE8A5B27F}" type="slidenum">
              <a:rPr lang="cs-CZ" smtClean="0"/>
              <a:t>4</a:t>
            </a:fld>
            <a:endParaRPr lang="cs-CZ"/>
          </a:p>
        </p:txBody>
      </p:sp>
    </p:spTree>
    <p:extLst>
      <p:ext uri="{BB962C8B-B14F-4D97-AF65-F5344CB8AC3E}">
        <p14:creationId xmlns:p14="http://schemas.microsoft.com/office/powerpoint/2010/main" val="702064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a:p>
        </p:txBody>
      </p:sp>
      <p:sp>
        <p:nvSpPr>
          <p:cNvPr id="4" name="Zástupný symbol pro číslo snímku 3"/>
          <p:cNvSpPr>
            <a:spLocks noGrp="1"/>
          </p:cNvSpPr>
          <p:nvPr>
            <p:ph type="sldNum" sz="quarter" idx="5"/>
          </p:nvPr>
        </p:nvSpPr>
        <p:spPr/>
        <p:txBody>
          <a:bodyPr/>
          <a:lstStyle/>
          <a:p>
            <a:fld id="{8C40B50C-4808-4AAD-8732-12ADE8A5B27F}" type="slidenum">
              <a:rPr lang="cs-CZ" smtClean="0"/>
              <a:t>5</a:t>
            </a:fld>
            <a:endParaRPr lang="cs-CZ"/>
          </a:p>
        </p:txBody>
      </p:sp>
    </p:spTree>
    <p:extLst>
      <p:ext uri="{BB962C8B-B14F-4D97-AF65-F5344CB8AC3E}">
        <p14:creationId xmlns:p14="http://schemas.microsoft.com/office/powerpoint/2010/main" val="536684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a:p>
        </p:txBody>
      </p:sp>
      <p:sp>
        <p:nvSpPr>
          <p:cNvPr id="4" name="Zástupný symbol pro číslo snímku 3"/>
          <p:cNvSpPr>
            <a:spLocks noGrp="1"/>
          </p:cNvSpPr>
          <p:nvPr>
            <p:ph type="sldNum" sz="quarter" idx="5"/>
          </p:nvPr>
        </p:nvSpPr>
        <p:spPr/>
        <p:txBody>
          <a:bodyPr/>
          <a:lstStyle/>
          <a:p>
            <a:fld id="{8C40B50C-4808-4AAD-8732-12ADE8A5B27F}" type="slidenum">
              <a:rPr lang="cs-CZ" smtClean="0"/>
              <a:t>6</a:t>
            </a:fld>
            <a:endParaRPr lang="cs-CZ"/>
          </a:p>
        </p:txBody>
      </p:sp>
    </p:spTree>
    <p:extLst>
      <p:ext uri="{BB962C8B-B14F-4D97-AF65-F5344CB8AC3E}">
        <p14:creationId xmlns:p14="http://schemas.microsoft.com/office/powerpoint/2010/main" val="2632240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a:p>
        </p:txBody>
      </p:sp>
      <p:sp>
        <p:nvSpPr>
          <p:cNvPr id="4" name="Zástupný symbol pro číslo snímku 3"/>
          <p:cNvSpPr>
            <a:spLocks noGrp="1"/>
          </p:cNvSpPr>
          <p:nvPr>
            <p:ph type="sldNum" sz="quarter" idx="5"/>
          </p:nvPr>
        </p:nvSpPr>
        <p:spPr/>
        <p:txBody>
          <a:bodyPr/>
          <a:lstStyle/>
          <a:p>
            <a:fld id="{8C40B50C-4808-4AAD-8732-12ADE8A5B27F}" type="slidenum">
              <a:rPr lang="cs-CZ" smtClean="0"/>
              <a:t>7</a:t>
            </a:fld>
            <a:endParaRPr lang="cs-CZ"/>
          </a:p>
        </p:txBody>
      </p:sp>
    </p:spTree>
    <p:extLst>
      <p:ext uri="{BB962C8B-B14F-4D97-AF65-F5344CB8AC3E}">
        <p14:creationId xmlns:p14="http://schemas.microsoft.com/office/powerpoint/2010/main" val="2690545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a:p>
        </p:txBody>
      </p:sp>
      <p:sp>
        <p:nvSpPr>
          <p:cNvPr id="4" name="Zástupný symbol pro číslo snímku 3"/>
          <p:cNvSpPr>
            <a:spLocks noGrp="1"/>
          </p:cNvSpPr>
          <p:nvPr>
            <p:ph type="sldNum" sz="quarter" idx="5"/>
          </p:nvPr>
        </p:nvSpPr>
        <p:spPr/>
        <p:txBody>
          <a:bodyPr/>
          <a:lstStyle/>
          <a:p>
            <a:fld id="{8C40B50C-4808-4AAD-8732-12ADE8A5B27F}" type="slidenum">
              <a:rPr lang="cs-CZ" smtClean="0"/>
              <a:t>8</a:t>
            </a:fld>
            <a:endParaRPr lang="cs-CZ"/>
          </a:p>
        </p:txBody>
      </p:sp>
    </p:spTree>
    <p:extLst>
      <p:ext uri="{BB962C8B-B14F-4D97-AF65-F5344CB8AC3E}">
        <p14:creationId xmlns:p14="http://schemas.microsoft.com/office/powerpoint/2010/main" val="4246175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a:p>
        </p:txBody>
      </p:sp>
      <p:sp>
        <p:nvSpPr>
          <p:cNvPr id="4" name="Zástupný symbol pro číslo snímku 3"/>
          <p:cNvSpPr>
            <a:spLocks noGrp="1"/>
          </p:cNvSpPr>
          <p:nvPr>
            <p:ph type="sldNum" sz="quarter" idx="5"/>
          </p:nvPr>
        </p:nvSpPr>
        <p:spPr/>
        <p:txBody>
          <a:bodyPr/>
          <a:lstStyle/>
          <a:p>
            <a:fld id="{8C40B50C-4808-4AAD-8732-12ADE8A5B27F}" type="slidenum">
              <a:rPr lang="cs-CZ" smtClean="0"/>
              <a:t>9</a:t>
            </a:fld>
            <a:endParaRPr lang="cs-CZ"/>
          </a:p>
        </p:txBody>
      </p:sp>
    </p:spTree>
    <p:extLst>
      <p:ext uri="{BB962C8B-B14F-4D97-AF65-F5344CB8AC3E}">
        <p14:creationId xmlns:p14="http://schemas.microsoft.com/office/powerpoint/2010/main" val="3500622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a:p>
        </p:txBody>
      </p:sp>
      <p:sp>
        <p:nvSpPr>
          <p:cNvPr id="4" name="Zástupný symbol pro číslo snímku 3"/>
          <p:cNvSpPr>
            <a:spLocks noGrp="1"/>
          </p:cNvSpPr>
          <p:nvPr>
            <p:ph type="sldNum" sz="quarter" idx="5"/>
          </p:nvPr>
        </p:nvSpPr>
        <p:spPr/>
        <p:txBody>
          <a:bodyPr/>
          <a:lstStyle/>
          <a:p>
            <a:fld id="{8C40B50C-4808-4AAD-8732-12ADE8A5B27F}" type="slidenum">
              <a:rPr lang="cs-CZ" smtClean="0"/>
              <a:t>10</a:t>
            </a:fld>
            <a:endParaRPr lang="cs-CZ"/>
          </a:p>
        </p:txBody>
      </p:sp>
    </p:spTree>
    <p:extLst>
      <p:ext uri="{BB962C8B-B14F-4D97-AF65-F5344CB8AC3E}">
        <p14:creationId xmlns:p14="http://schemas.microsoft.com/office/powerpoint/2010/main" val="1690280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a:p>
        </p:txBody>
      </p:sp>
      <p:sp>
        <p:nvSpPr>
          <p:cNvPr id="4" name="Zástupný symbol pro číslo snímku 3"/>
          <p:cNvSpPr>
            <a:spLocks noGrp="1"/>
          </p:cNvSpPr>
          <p:nvPr>
            <p:ph type="sldNum" sz="quarter" idx="5"/>
          </p:nvPr>
        </p:nvSpPr>
        <p:spPr/>
        <p:txBody>
          <a:bodyPr/>
          <a:lstStyle/>
          <a:p>
            <a:fld id="{8C40B50C-4808-4AAD-8732-12ADE8A5B27F}" type="slidenum">
              <a:rPr lang="cs-CZ" smtClean="0"/>
              <a:t>11</a:t>
            </a:fld>
            <a:endParaRPr lang="cs-CZ"/>
          </a:p>
        </p:txBody>
      </p:sp>
    </p:spTree>
    <p:extLst>
      <p:ext uri="{BB962C8B-B14F-4D97-AF65-F5344CB8AC3E}">
        <p14:creationId xmlns:p14="http://schemas.microsoft.com/office/powerpoint/2010/main" val="983608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a:p>
        </p:txBody>
      </p:sp>
      <p:sp>
        <p:nvSpPr>
          <p:cNvPr id="4" name="Zástupný symbol pro číslo snímku 3"/>
          <p:cNvSpPr>
            <a:spLocks noGrp="1"/>
          </p:cNvSpPr>
          <p:nvPr>
            <p:ph type="sldNum" sz="quarter" idx="5"/>
          </p:nvPr>
        </p:nvSpPr>
        <p:spPr/>
        <p:txBody>
          <a:bodyPr/>
          <a:lstStyle/>
          <a:p>
            <a:fld id="{8C40B50C-4808-4AAD-8732-12ADE8A5B27F}" type="slidenum">
              <a:rPr lang="cs-CZ" smtClean="0"/>
              <a:t>12</a:t>
            </a:fld>
            <a:endParaRPr lang="cs-CZ"/>
          </a:p>
        </p:txBody>
      </p:sp>
    </p:spTree>
    <p:extLst>
      <p:ext uri="{BB962C8B-B14F-4D97-AF65-F5344CB8AC3E}">
        <p14:creationId xmlns:p14="http://schemas.microsoft.com/office/powerpoint/2010/main" val="448208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a:p>
        </p:txBody>
      </p:sp>
      <p:sp>
        <p:nvSpPr>
          <p:cNvPr id="4" name="Zástupný symbol pro číslo snímku 3"/>
          <p:cNvSpPr>
            <a:spLocks noGrp="1"/>
          </p:cNvSpPr>
          <p:nvPr>
            <p:ph type="sldNum" sz="quarter" idx="5"/>
          </p:nvPr>
        </p:nvSpPr>
        <p:spPr/>
        <p:txBody>
          <a:bodyPr/>
          <a:lstStyle/>
          <a:p>
            <a:fld id="{8C40B50C-4808-4AAD-8732-12ADE8A5B27F}" type="slidenum">
              <a:rPr lang="cs-CZ" smtClean="0"/>
              <a:t>13</a:t>
            </a:fld>
            <a:endParaRPr lang="cs-CZ"/>
          </a:p>
        </p:txBody>
      </p:sp>
    </p:spTree>
    <p:extLst>
      <p:ext uri="{BB962C8B-B14F-4D97-AF65-F5344CB8AC3E}">
        <p14:creationId xmlns:p14="http://schemas.microsoft.com/office/powerpoint/2010/main" val="3753718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a:p>
        </p:txBody>
      </p:sp>
      <p:sp>
        <p:nvSpPr>
          <p:cNvPr id="4" name="Zástupný symbol pro číslo snímku 3"/>
          <p:cNvSpPr>
            <a:spLocks noGrp="1"/>
          </p:cNvSpPr>
          <p:nvPr>
            <p:ph type="sldNum" sz="quarter" idx="5"/>
          </p:nvPr>
        </p:nvSpPr>
        <p:spPr/>
        <p:txBody>
          <a:bodyPr/>
          <a:lstStyle/>
          <a:p>
            <a:fld id="{8C40B50C-4808-4AAD-8732-12ADE8A5B27F}" type="slidenum">
              <a:rPr lang="cs-CZ" smtClean="0"/>
              <a:t>14</a:t>
            </a:fld>
            <a:endParaRPr lang="cs-CZ"/>
          </a:p>
        </p:txBody>
      </p:sp>
    </p:spTree>
    <p:extLst>
      <p:ext uri="{BB962C8B-B14F-4D97-AF65-F5344CB8AC3E}">
        <p14:creationId xmlns:p14="http://schemas.microsoft.com/office/powerpoint/2010/main" val="155871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10"/>
          </p:nvPr>
        </p:nvSpPr>
        <p:spPr/>
        <p:txBody>
          <a:bodyPr/>
          <a:lstStyle/>
          <a:p>
            <a:fld id="{8C40B50C-4808-4AAD-8732-12ADE8A5B27F}" type="slidenum">
              <a:rPr lang="cs-CZ" smtClean="0"/>
              <a:t>15</a:t>
            </a:fld>
            <a:endParaRPr lang="cs-CZ"/>
          </a:p>
        </p:txBody>
      </p:sp>
    </p:spTree>
    <p:extLst>
      <p:ext uri="{BB962C8B-B14F-4D97-AF65-F5344CB8AC3E}">
        <p14:creationId xmlns:p14="http://schemas.microsoft.com/office/powerpoint/2010/main" val="24909646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8B825-979E-D4B4-54AB-D7EE87691530}"/>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E0261114-A6B2-4514-79E6-EC5428E69C27}"/>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A1E815CF-04F5-5149-800D-0C1B4ABC2ABD}"/>
              </a:ext>
            </a:extLst>
          </p:cNvPr>
          <p:cNvSpPr>
            <a:spLocks noGrp="1"/>
          </p:cNvSpPr>
          <p:nvPr>
            <p:ph type="body" idx="1"/>
          </p:nvPr>
        </p:nvSpPr>
        <p:spPr/>
        <p:txBody>
          <a:bodyPr/>
          <a:lstStyle/>
          <a:p>
            <a:endParaRPr lang="en-GB"/>
          </a:p>
        </p:txBody>
      </p:sp>
      <p:sp>
        <p:nvSpPr>
          <p:cNvPr id="4" name="Zástupný symbol pro číslo snímku 3">
            <a:extLst>
              <a:ext uri="{FF2B5EF4-FFF2-40B4-BE49-F238E27FC236}">
                <a16:creationId xmlns:a16="http://schemas.microsoft.com/office/drawing/2014/main" id="{66586818-6324-B10F-AB44-F5C8C4CA6D7A}"/>
              </a:ext>
            </a:extLst>
          </p:cNvPr>
          <p:cNvSpPr>
            <a:spLocks noGrp="1"/>
          </p:cNvSpPr>
          <p:nvPr>
            <p:ph type="sldNum" sz="quarter" idx="5"/>
          </p:nvPr>
        </p:nvSpPr>
        <p:spPr/>
        <p:txBody>
          <a:bodyPr/>
          <a:lstStyle/>
          <a:p>
            <a:fld id="{8C40B50C-4808-4AAD-8732-12ADE8A5B27F}" type="slidenum">
              <a:rPr lang="cs-CZ" smtClean="0"/>
              <a:t>16</a:t>
            </a:fld>
            <a:endParaRPr lang="cs-CZ"/>
          </a:p>
        </p:txBody>
      </p:sp>
    </p:spTree>
    <p:extLst>
      <p:ext uri="{BB962C8B-B14F-4D97-AF65-F5344CB8AC3E}">
        <p14:creationId xmlns:p14="http://schemas.microsoft.com/office/powerpoint/2010/main" val="3078518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789BB-A1E0-C7D1-4651-381795D92519}"/>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E6DB752D-6736-26A5-9A4A-D4EBB3372040}"/>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796329C6-ADB4-1BB1-F044-015D87A56EE5}"/>
              </a:ext>
            </a:extLst>
          </p:cNvPr>
          <p:cNvSpPr>
            <a:spLocks noGrp="1"/>
          </p:cNvSpPr>
          <p:nvPr>
            <p:ph type="body" idx="1"/>
          </p:nvPr>
        </p:nvSpPr>
        <p:spPr/>
        <p:txBody>
          <a:bodyPr/>
          <a:lstStyle/>
          <a:p>
            <a:endParaRPr lang="en-GB"/>
          </a:p>
        </p:txBody>
      </p:sp>
      <p:sp>
        <p:nvSpPr>
          <p:cNvPr id="4" name="Zástupný symbol pro číslo snímku 3">
            <a:extLst>
              <a:ext uri="{FF2B5EF4-FFF2-40B4-BE49-F238E27FC236}">
                <a16:creationId xmlns:a16="http://schemas.microsoft.com/office/drawing/2014/main" id="{434F621C-3C34-2AA7-31FF-3026C971E897}"/>
              </a:ext>
            </a:extLst>
          </p:cNvPr>
          <p:cNvSpPr>
            <a:spLocks noGrp="1"/>
          </p:cNvSpPr>
          <p:nvPr>
            <p:ph type="sldNum" sz="quarter" idx="5"/>
          </p:nvPr>
        </p:nvSpPr>
        <p:spPr/>
        <p:txBody>
          <a:bodyPr/>
          <a:lstStyle/>
          <a:p>
            <a:fld id="{8C40B50C-4808-4AAD-8732-12ADE8A5B27F}" type="slidenum">
              <a:rPr lang="cs-CZ" smtClean="0"/>
              <a:t>17</a:t>
            </a:fld>
            <a:endParaRPr lang="cs-CZ"/>
          </a:p>
        </p:txBody>
      </p:sp>
    </p:spTree>
    <p:extLst>
      <p:ext uri="{BB962C8B-B14F-4D97-AF65-F5344CB8AC3E}">
        <p14:creationId xmlns:p14="http://schemas.microsoft.com/office/powerpoint/2010/main" val="9765175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FCD38-3D80-EBFB-C6C2-8A568A44C72F}"/>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854963F2-71C1-B34A-4111-3BD4C28986FE}"/>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49042736-10C2-7B7C-8D2F-DF181B3BAC99}"/>
              </a:ext>
            </a:extLst>
          </p:cNvPr>
          <p:cNvSpPr>
            <a:spLocks noGrp="1"/>
          </p:cNvSpPr>
          <p:nvPr>
            <p:ph type="body" idx="1"/>
          </p:nvPr>
        </p:nvSpPr>
        <p:spPr/>
        <p:txBody>
          <a:bodyPr/>
          <a:lstStyle/>
          <a:p>
            <a:endParaRPr lang="en-GB"/>
          </a:p>
        </p:txBody>
      </p:sp>
      <p:sp>
        <p:nvSpPr>
          <p:cNvPr id="4" name="Zástupný symbol pro číslo snímku 3">
            <a:extLst>
              <a:ext uri="{FF2B5EF4-FFF2-40B4-BE49-F238E27FC236}">
                <a16:creationId xmlns:a16="http://schemas.microsoft.com/office/drawing/2014/main" id="{1F84551F-A92C-792A-4B76-AAE9487697BA}"/>
              </a:ext>
            </a:extLst>
          </p:cNvPr>
          <p:cNvSpPr>
            <a:spLocks noGrp="1"/>
          </p:cNvSpPr>
          <p:nvPr>
            <p:ph type="sldNum" sz="quarter" idx="5"/>
          </p:nvPr>
        </p:nvSpPr>
        <p:spPr/>
        <p:txBody>
          <a:bodyPr/>
          <a:lstStyle/>
          <a:p>
            <a:fld id="{8C40B50C-4808-4AAD-8732-12ADE8A5B27F}" type="slidenum">
              <a:rPr lang="cs-CZ" smtClean="0"/>
              <a:t>18</a:t>
            </a:fld>
            <a:endParaRPr lang="cs-CZ"/>
          </a:p>
        </p:txBody>
      </p:sp>
    </p:spTree>
    <p:extLst>
      <p:ext uri="{BB962C8B-B14F-4D97-AF65-F5344CB8AC3E}">
        <p14:creationId xmlns:p14="http://schemas.microsoft.com/office/powerpoint/2010/main" val="2498821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Úvodní snímek">
    <p:spTree>
      <p:nvGrpSpPr>
        <p:cNvPr id="1" name=""/>
        <p:cNvGrpSpPr/>
        <p:nvPr/>
      </p:nvGrpSpPr>
      <p:grpSpPr>
        <a:xfrm>
          <a:off x="0" y="0"/>
          <a:ext cx="0" cy="0"/>
          <a:chOff x="0" y="0"/>
          <a:chExt cx="0" cy="0"/>
        </a:xfrm>
      </p:grpSpPr>
      <p:sp>
        <p:nvSpPr>
          <p:cNvPr id="11" name="Rectangle 10"/>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cs-CZ"/>
              <a:t>Kliknutím lze upravit styl předlohy.</a:t>
            </a:r>
            <a:endParaRPr lang="en-US" dirty="0"/>
          </a:p>
        </p:txBody>
      </p:sp>
      <p:sp>
        <p:nvSpPr>
          <p:cNvPr id="4" name="Date Placeholder 3"/>
          <p:cNvSpPr>
            <a:spLocks noGrp="1"/>
          </p:cNvSpPr>
          <p:nvPr>
            <p:ph type="dt" sz="half" idx="10"/>
          </p:nvPr>
        </p:nvSpPr>
        <p:spPr/>
        <p:txBody>
          <a:bodyPr/>
          <a:lstStyle/>
          <a:p>
            <a:endParaRPr lang="cs-CZ" dirty="0"/>
          </a:p>
        </p:txBody>
      </p:sp>
      <p:sp>
        <p:nvSpPr>
          <p:cNvPr id="5" name="Footer Placeholder 4"/>
          <p:cNvSpPr>
            <a:spLocks noGrp="1"/>
          </p:cNvSpPr>
          <p:nvPr>
            <p:ph type="ftr" sz="quarter" idx="11"/>
          </p:nvPr>
        </p:nvSpPr>
        <p:spPr/>
        <p:txBody>
          <a:bodyPr/>
          <a:lstStyle/>
          <a:p>
            <a:endParaRPr lang="cs-CZ" dirty="0"/>
          </a:p>
        </p:txBody>
      </p:sp>
      <p:sp>
        <p:nvSpPr>
          <p:cNvPr id="6" name="Slide Number Placeholder 5"/>
          <p:cNvSpPr>
            <a:spLocks noGrp="1"/>
          </p:cNvSpPr>
          <p:nvPr>
            <p:ph type="sldNum" sz="quarter" idx="12"/>
          </p:nvPr>
        </p:nvSpPr>
        <p:spPr/>
        <p:txBody>
          <a:bodyPr/>
          <a:lstStyle/>
          <a:p>
            <a:fld id="{DFE5482F-2F05-49C5-9E15-73F945A41231}" type="slidenum">
              <a:rPr lang="cs-CZ" smtClean="0"/>
              <a:t>‹#›</a:t>
            </a:fld>
            <a:endParaRPr lang="cs-CZ"/>
          </a:p>
        </p:txBody>
      </p:sp>
      <p:sp>
        <p:nvSpPr>
          <p:cNvPr id="2" name="Title 1"/>
          <p:cNvSpPr>
            <a:spLocks noGrp="1"/>
          </p:cNvSpPr>
          <p:nvPr>
            <p:ph type="ctrTitle"/>
          </p:nvPr>
        </p:nvSpPr>
        <p:spPr>
          <a:xfrm>
            <a:off x="817581" y="3132290"/>
            <a:ext cx="7175351" cy="1793167"/>
          </a:xfrm>
          <a:effectLst/>
        </p:spPr>
        <p:txBody>
          <a:bodyPr>
            <a:noAutofit/>
          </a:bodyPr>
          <a:lstStyle>
            <a:lvl1pPr marL="640080" indent="-457200" algn="l">
              <a:defRPr sz="5400"/>
            </a:lvl1pPr>
          </a:lstStyle>
          <a:p>
            <a:r>
              <a:rPr lang="cs-CZ"/>
              <a:t>Kliknutím lze upravit styl.</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a:xfrm>
            <a:off x="7308304" y="6172200"/>
            <a:ext cx="1828800" cy="365125"/>
          </a:xfrm>
        </p:spPr>
        <p:txBody>
          <a:bodyPr/>
          <a:lstStyle>
            <a:lvl1pPr>
              <a:defRPr sz="1200" b="1"/>
            </a:lvl1pPr>
          </a:lstStyle>
          <a:p>
            <a:fld id="{DFE5482F-2F05-49C5-9E15-73F945A41231}" type="slidenum">
              <a:rPr lang="cs-CZ" smtClean="0"/>
              <a:pPr/>
              <a:t>‹#›</a:t>
            </a:fld>
            <a:endParaRPr lang="cs-CZ" dirty="0"/>
          </a:p>
        </p:txBody>
      </p:sp>
      <p:sp>
        <p:nvSpPr>
          <p:cNvPr id="8" name="Title 7"/>
          <p:cNvSpPr>
            <a:spLocks noGrp="1"/>
          </p:cNvSpPr>
          <p:nvPr>
            <p:ph type="title"/>
          </p:nvPr>
        </p:nvSpPr>
        <p:spPr>
          <a:xfrm>
            <a:off x="251520" y="210314"/>
            <a:ext cx="6512511" cy="648072"/>
          </a:xfrm>
        </p:spPr>
        <p:txBody>
          <a:bodyPr/>
          <a:lstStyle>
            <a:lvl1pPr marL="0" indent="0" algn="l">
              <a:buFontTx/>
              <a:buNone/>
              <a:defRPr sz="2800"/>
            </a:lvl1pPr>
          </a:lstStyle>
          <a:p>
            <a:endParaRPr lang="en-US" dirty="0"/>
          </a:p>
        </p:txBody>
      </p:sp>
      <p:sp>
        <p:nvSpPr>
          <p:cNvPr id="10" name="Content Placeholder 9"/>
          <p:cNvSpPr>
            <a:spLocks noGrp="1"/>
          </p:cNvSpPr>
          <p:nvPr>
            <p:ph sz="quarter" idx="13"/>
          </p:nvPr>
        </p:nvSpPr>
        <p:spPr>
          <a:xfrm>
            <a:off x="1143000" y="2042512"/>
            <a:ext cx="6400800" cy="3474720"/>
          </a:xfrm>
        </p:spPr>
        <p:txBody>
          <a:bodyPr/>
          <a:lstStyle/>
          <a:p>
            <a:pPr lvl="0"/>
            <a:r>
              <a:rPr lang="cs-CZ" dirty="0"/>
              <a:t>Kliknutím lze upravit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endParaRPr lang="en-US" dirty="0"/>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cs-CZ"/>
              <a:t>Kliknutím lze upravit styl.</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Kliknutím lze upravit styly předlohy textu.</a:t>
            </a:r>
          </a:p>
        </p:txBody>
      </p:sp>
      <p:sp>
        <p:nvSpPr>
          <p:cNvPr id="4" name="Date Placeholder 3"/>
          <p:cNvSpPr>
            <a:spLocks noGrp="1"/>
          </p:cNvSpPr>
          <p:nvPr>
            <p:ph type="dt" sz="half" idx="10"/>
          </p:nvPr>
        </p:nvSpPr>
        <p:spPr/>
        <p:txBody>
          <a:bodyPr/>
          <a:lstStyle/>
          <a:p>
            <a:endParaRPr lang="cs-CZ" dirty="0"/>
          </a:p>
        </p:txBody>
      </p:sp>
      <p:sp>
        <p:nvSpPr>
          <p:cNvPr id="5" name="Footer Placeholder 4"/>
          <p:cNvSpPr>
            <a:spLocks noGrp="1"/>
          </p:cNvSpPr>
          <p:nvPr>
            <p:ph type="ftr" sz="quarter" idx="11"/>
          </p:nvPr>
        </p:nvSpPr>
        <p:spPr/>
        <p:txBody>
          <a:bodyPr/>
          <a:lstStyle/>
          <a:p>
            <a:endParaRPr lang="cs-CZ" dirty="0"/>
          </a:p>
        </p:txBody>
      </p:sp>
      <p:sp>
        <p:nvSpPr>
          <p:cNvPr id="6" name="Slide Number Placeholder 5"/>
          <p:cNvSpPr>
            <a:spLocks noGrp="1"/>
          </p:cNvSpPr>
          <p:nvPr>
            <p:ph type="sldNum" sz="quarter" idx="12"/>
          </p:nvPr>
        </p:nvSpPr>
        <p:spPr/>
        <p:txBody>
          <a:bodyPr/>
          <a:lstStyle/>
          <a:p>
            <a:fld id="{DFE5482F-2F05-49C5-9E15-73F945A41231}" type="slidenum">
              <a:rPr lang="cs-CZ" smtClean="0"/>
              <a:t>‹#›</a:t>
            </a:fld>
            <a:endParaRPr lang="cs-CZ"/>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Pouze nadpi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Date Placeholder 2"/>
          <p:cNvSpPr>
            <a:spLocks noGrp="1"/>
          </p:cNvSpPr>
          <p:nvPr>
            <p:ph type="dt" sz="half" idx="10"/>
          </p:nvPr>
        </p:nvSpPr>
        <p:spPr/>
        <p:txBody>
          <a:bodyPr/>
          <a:lstStyle/>
          <a:p>
            <a:endParaRPr lang="cs-CZ" dirty="0"/>
          </a:p>
        </p:txBody>
      </p:sp>
      <p:sp>
        <p:nvSpPr>
          <p:cNvPr id="4" name="Footer Placeholder 3"/>
          <p:cNvSpPr>
            <a:spLocks noGrp="1"/>
          </p:cNvSpPr>
          <p:nvPr>
            <p:ph type="ftr" sz="quarter" idx="11"/>
          </p:nvPr>
        </p:nvSpPr>
        <p:spPr/>
        <p:txBody>
          <a:bodyPr/>
          <a:lstStyle/>
          <a:p>
            <a:endParaRPr lang="cs-CZ" dirty="0"/>
          </a:p>
        </p:txBody>
      </p:sp>
      <p:sp>
        <p:nvSpPr>
          <p:cNvPr id="5" name="Slide Number Placeholder 4"/>
          <p:cNvSpPr>
            <a:spLocks noGrp="1"/>
          </p:cNvSpPr>
          <p:nvPr>
            <p:ph type="sldNum" sz="quarter" idx="12"/>
          </p:nvPr>
        </p:nvSpPr>
        <p:spPr/>
        <p:txBody>
          <a:bodyPr/>
          <a:lstStyle/>
          <a:p>
            <a:fld id="{DFE5482F-2F05-49C5-9E15-73F945A41231}" type="slidenum">
              <a:rPr lang="cs-CZ" smtClean="0"/>
              <a:t>‹#›</a:t>
            </a:fld>
            <a:endParaRPr lang="cs-CZ"/>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cs-CZ" dirty="0"/>
          </a:p>
        </p:txBody>
      </p:sp>
      <p:sp>
        <p:nvSpPr>
          <p:cNvPr id="3" name="Footer Placeholder 2"/>
          <p:cNvSpPr>
            <a:spLocks noGrp="1"/>
          </p:cNvSpPr>
          <p:nvPr>
            <p:ph type="ftr" sz="quarter" idx="11"/>
          </p:nvPr>
        </p:nvSpPr>
        <p:spPr/>
        <p:txBody>
          <a:bodyPr/>
          <a:lstStyle/>
          <a:p>
            <a:endParaRPr lang="cs-CZ" dirty="0"/>
          </a:p>
        </p:txBody>
      </p:sp>
      <p:sp>
        <p:nvSpPr>
          <p:cNvPr id="4" name="Slide Number Placeholder 3"/>
          <p:cNvSpPr>
            <a:spLocks noGrp="1"/>
          </p:cNvSpPr>
          <p:nvPr>
            <p:ph type="sldNum" sz="quarter" idx="12"/>
          </p:nvPr>
        </p:nvSpPr>
        <p:spPr/>
        <p:txBody>
          <a:bodyPr/>
          <a:lstStyle/>
          <a:p>
            <a:fld id="{DFE5482F-2F05-49C5-9E15-73F945A41231}" type="slidenum">
              <a:rPr lang="cs-CZ" smtClean="0"/>
              <a:t>‹#›</a:t>
            </a:fld>
            <a:endParaRPr lang="cs-CZ"/>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u="none" dirty="0"/>
          </a:p>
        </p:txBody>
      </p:sp>
      <p:sp>
        <p:nvSpPr>
          <p:cNvPr id="9" name="Rectangle 8"/>
          <p:cNvSpPr/>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793289" y="4372168"/>
            <a:ext cx="6512511" cy="1143000"/>
          </a:xfrm>
          <a:prstGeom prst="rect">
            <a:avLst/>
          </a:prstGeom>
          <a:effectLst/>
        </p:spPr>
        <p:txBody>
          <a:bodyPr vert="horz" lIns="91440" tIns="45720" rIns="91440" bIns="45720" rtlCol="0" anchor="t" anchorCtr="0">
            <a:noAutofit/>
          </a:bodyPr>
          <a:lstStyle/>
          <a:p>
            <a:r>
              <a:rPr lang="cs-CZ"/>
              <a:t>Kliknutím lze upravit styl.</a:t>
            </a:r>
            <a:endParaRPr lang="en-US" dirty="0"/>
          </a:p>
        </p:txBody>
      </p:sp>
      <p:sp>
        <p:nvSpPr>
          <p:cNvPr id="3" name="Text Placeholder 2"/>
          <p:cNvSpPr>
            <a:spLocks noGrp="1"/>
          </p:cNvSpPr>
          <p:nvPr>
            <p:ph type="body" idx="1"/>
          </p:nvPr>
        </p:nvSpPr>
        <p:spPr>
          <a:xfrm>
            <a:off x="1143000" y="732260"/>
            <a:ext cx="6400800" cy="3474720"/>
          </a:xfrm>
          <a:prstGeom prst="rect">
            <a:avLst/>
          </a:prstGeom>
        </p:spPr>
        <p:txBody>
          <a:bodyPr vert="horz" lIns="91440" tIns="45720" rIns="91440" bIns="45720" rtlCol="0">
            <a:normAutofit/>
          </a:body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endParaRPr lang="cs-CZ" dirty="0"/>
          </a:p>
        </p:txBody>
      </p:sp>
      <p:sp>
        <p:nvSpPr>
          <p:cNvPr id="5" name="Footer Placeholder 4"/>
          <p:cNvSpPr>
            <a:spLocks noGrp="1"/>
          </p:cNvSpPr>
          <p:nvPr>
            <p:ph type="ftr" sz="quarter" idx="3"/>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cs-CZ" dirty="0"/>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FE5482F-2F05-49C5-9E15-73F945A41231}" type="slidenum">
              <a:rPr lang="cs-CZ" smtClean="0"/>
              <a:t>‹#›</a:t>
            </a:fld>
            <a:endParaRPr lang="cs-CZ"/>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50" r:id="rId4"/>
    <p:sldLayoutId id="2147483751" r:id="rId5"/>
  </p:sldLayoutIdLst>
  <p:hf hd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u="none"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3" Type="http://schemas.openxmlformats.org/officeDocument/2006/relationships/image" Target="../media/image13.png"/><Relationship Id="rId18" Type="http://schemas.openxmlformats.org/officeDocument/2006/relationships/image" Target="../media/image100.png"/><Relationship Id="rId26" Type="http://schemas.openxmlformats.org/officeDocument/2006/relationships/image" Target="../media/image180.png"/><Relationship Id="rId21" Type="http://schemas.openxmlformats.org/officeDocument/2006/relationships/image" Target="../media/image19.pn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1.png"/><Relationship Id="rId2" Type="http://schemas.openxmlformats.org/officeDocument/2006/relationships/notesSlide" Target="../notesSlides/notesSlide2.xml"/><Relationship Id="rId16" Type="http://schemas.openxmlformats.org/officeDocument/2006/relationships/image" Target="../media/image16.png"/><Relationship Id="rId20" Type="http://schemas.openxmlformats.org/officeDocument/2006/relationships/image" Target="../media/image18.png"/><Relationship Id="rId29" Type="http://schemas.openxmlformats.org/officeDocument/2006/relationships/image" Target="../media/image22.png"/><Relationship Id="rId1" Type="http://schemas.openxmlformats.org/officeDocument/2006/relationships/slideLayout" Target="../slideLayouts/slideLayout2.xml"/><Relationship Id="rId11" Type="http://schemas.openxmlformats.org/officeDocument/2006/relationships/image" Target="../media/image11.png"/><Relationship Id="rId24" Type="http://schemas.openxmlformats.org/officeDocument/2006/relationships/image" Target="../media/image160.png"/><Relationship Id="rId15" Type="http://schemas.openxmlformats.org/officeDocument/2006/relationships/image" Target="../media/image15.png"/><Relationship Id="rId23" Type="http://schemas.openxmlformats.org/officeDocument/2006/relationships/image" Target="../media/image150.png"/><Relationship Id="rId28" Type="http://schemas.openxmlformats.org/officeDocument/2006/relationships/image" Target="../media/image200.png"/><Relationship Id="rId19" Type="http://schemas.openxmlformats.org/officeDocument/2006/relationships/image" Target="../media/image110.png"/><Relationship Id="rId14" Type="http://schemas.openxmlformats.org/officeDocument/2006/relationships/image" Target="../media/image14.png"/><Relationship Id="rId22" Type="http://schemas.openxmlformats.org/officeDocument/2006/relationships/image" Target="../media/image20.png"/><Relationship Id="rId27" Type="http://schemas.openxmlformats.org/officeDocument/2006/relationships/image" Target="../media/image190.png"/></Relationships>
</file>

<file path=ppt/slides/_rels/slide3.xml.rels><?xml version="1.0" encoding="UTF-8" standalone="yes"?>
<Relationships xmlns="http://schemas.openxmlformats.org/package/2006/relationships"><Relationship Id="rId13" Type="http://schemas.openxmlformats.org/officeDocument/2006/relationships/image" Target="../media/image24.png"/><Relationship Id="rId18" Type="http://schemas.openxmlformats.org/officeDocument/2006/relationships/image" Target="../media/image280.png"/><Relationship Id="rId21" Type="http://schemas.openxmlformats.org/officeDocument/2006/relationships/image" Target="NULL"/><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7.png"/><Relationship Id="rId20" Type="http://schemas.openxmlformats.org/officeDocument/2006/relationships/image" Target="NULL"/><Relationship Id="rId1" Type="http://schemas.openxmlformats.org/officeDocument/2006/relationships/slideLayout" Target="../slideLayouts/slideLayout2.xml"/><Relationship Id="rId24" Type="http://schemas.openxmlformats.org/officeDocument/2006/relationships/image" Target="NULL"/><Relationship Id="rId15" Type="http://schemas.openxmlformats.org/officeDocument/2006/relationships/image" Target="../media/image26.png"/><Relationship Id="rId23" Type="http://schemas.openxmlformats.org/officeDocument/2006/relationships/image" Target="NULL"/><Relationship Id="rId19" Type="http://schemas.openxmlformats.org/officeDocument/2006/relationships/image" Target="../media/image29.png"/><Relationship Id="rId14" Type="http://schemas.openxmlformats.org/officeDocument/2006/relationships/image" Target="../media/image25.png"/><Relationship Id="rId22" Type="http://schemas.openxmlformats.org/officeDocument/2006/relationships/image" Target="NULL"/></Relationships>
</file>

<file path=ppt/slides/_rels/slide4.xml.rels><?xml version="1.0" encoding="UTF-8" standalone="yes"?>
<Relationships xmlns="http://schemas.openxmlformats.org/package/2006/relationships"><Relationship Id="rId18" Type="http://schemas.openxmlformats.org/officeDocument/2006/relationships/image" Target="../media/image33.png"/><Relationship Id="rId21" Type="http://schemas.openxmlformats.org/officeDocument/2006/relationships/image" Target="../media/image36.png"/><Relationship Id="rId17" Type="http://schemas.openxmlformats.org/officeDocument/2006/relationships/image" Target="../media/image32.png"/><Relationship Id="rId2" Type="http://schemas.openxmlformats.org/officeDocument/2006/relationships/notesSlide" Target="../notesSlides/notesSlide4.xml"/><Relationship Id="rId16" Type="http://schemas.openxmlformats.org/officeDocument/2006/relationships/image" Target="../media/image31.png"/><Relationship Id="rId20" Type="http://schemas.openxmlformats.org/officeDocument/2006/relationships/image" Target="../media/image35.png"/><Relationship Id="rId1" Type="http://schemas.openxmlformats.org/officeDocument/2006/relationships/slideLayout" Target="../slideLayouts/slideLayout2.xml"/><Relationship Id="rId24" Type="http://schemas.openxmlformats.org/officeDocument/2006/relationships/image" Target="../media/image381.png"/><Relationship Id="rId23" Type="http://schemas.openxmlformats.org/officeDocument/2006/relationships/image" Target="../media/image38.png"/><Relationship Id="rId19" Type="http://schemas.openxmlformats.org/officeDocument/2006/relationships/image" Target="../media/image34.png"/><Relationship Id="rId22" Type="http://schemas.openxmlformats.org/officeDocument/2006/relationships/image" Target="../media/image37.png"/></Relationships>
</file>

<file path=ppt/slides/_rels/slide5.xml.rels><?xml version="1.0" encoding="UTF-8" standalone="yes"?>
<Relationships xmlns="http://schemas.openxmlformats.org/package/2006/relationships"><Relationship Id="rId13" Type="http://schemas.openxmlformats.org/officeDocument/2006/relationships/image" Target="../media/image43.png"/><Relationship Id="rId12"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2.xml"/><Relationship Id="rId11" Type="http://schemas.openxmlformats.org/officeDocument/2006/relationships/image" Target="../media/image41.png"/><Relationship Id="rId15" Type="http://schemas.openxmlformats.org/officeDocument/2006/relationships/image" Target="../media/image2.png"/><Relationship Id="rId10" Type="http://schemas.openxmlformats.org/officeDocument/2006/relationships/image" Target="../media/image40.png"/><Relationship Id="rId9" Type="http://schemas.openxmlformats.org/officeDocument/2006/relationships/image" Target="../media/image39.png"/><Relationship Id="rId14" Type="http://schemas.openxmlformats.org/officeDocument/2006/relationships/image" Target="../media/image44.png"/></Relationships>
</file>

<file path=ppt/slides/_rels/slide6.xml.rels><?xml version="1.0" encoding="UTF-8" standalone="yes"?>
<Relationships xmlns="http://schemas.openxmlformats.org/package/2006/relationships"><Relationship Id="rId13" Type="http://schemas.openxmlformats.org/officeDocument/2006/relationships/image" Target="../media/image450.png"/><Relationship Id="rId18" Type="http://schemas.openxmlformats.org/officeDocument/2006/relationships/image" Target="../media/image50.png"/><Relationship Id="rId26" Type="http://schemas.openxmlformats.org/officeDocument/2006/relationships/image" Target="../media/image58.png"/><Relationship Id="rId21" Type="http://schemas.openxmlformats.org/officeDocument/2006/relationships/image" Target="../media/image53.png"/><Relationship Id="rId17" Type="http://schemas.openxmlformats.org/officeDocument/2006/relationships/image" Target="../media/image49.png"/><Relationship Id="rId25" Type="http://schemas.openxmlformats.org/officeDocument/2006/relationships/image" Target="../media/image57.png"/><Relationship Id="rId2" Type="http://schemas.openxmlformats.org/officeDocument/2006/relationships/notesSlide" Target="../notesSlides/notesSlide6.xml"/><Relationship Id="rId16" Type="http://schemas.openxmlformats.org/officeDocument/2006/relationships/image" Target="../media/image5.png"/><Relationship Id="rId20" Type="http://schemas.openxmlformats.org/officeDocument/2006/relationships/image" Target="../media/image52.png"/><Relationship Id="rId29" Type="http://schemas.openxmlformats.org/officeDocument/2006/relationships/image" Target="../media/image61.png"/><Relationship Id="rId1" Type="http://schemas.openxmlformats.org/officeDocument/2006/relationships/slideLayout" Target="../slideLayouts/slideLayout2.xml"/><Relationship Id="rId24" Type="http://schemas.openxmlformats.org/officeDocument/2006/relationships/image" Target="../media/image310.png"/><Relationship Id="rId15" Type="http://schemas.openxmlformats.org/officeDocument/2006/relationships/image" Target="../media/image4.png"/><Relationship Id="rId28" Type="http://schemas.openxmlformats.org/officeDocument/2006/relationships/image" Target="../media/image60.png"/><Relationship Id="rId19" Type="http://schemas.openxmlformats.org/officeDocument/2006/relationships/image" Target="../media/image51.png"/><Relationship Id="rId14" Type="http://schemas.openxmlformats.org/officeDocument/2006/relationships/image" Target="../media/image3.png"/><Relationship Id="rId22" Type="http://schemas.openxmlformats.org/officeDocument/2006/relationships/image" Target="../media/image311.png"/><Relationship Id="rId27" Type="http://schemas.openxmlformats.org/officeDocument/2006/relationships/image" Target="../media/image59.png"/><Relationship Id="rId30" Type="http://schemas.openxmlformats.org/officeDocument/2006/relationships/image" Target="../media/image6.png"/></Relationships>
</file>

<file path=ppt/slides/_rels/slide7.xml.rels><?xml version="1.0" encoding="UTF-8" standalone="yes"?>
<Relationships xmlns="http://schemas.openxmlformats.org/package/2006/relationships"><Relationship Id="rId18" Type="http://schemas.openxmlformats.org/officeDocument/2006/relationships/image" Target="../media/image66.png"/><Relationship Id="rId21" Type="http://schemas.openxmlformats.org/officeDocument/2006/relationships/image" Target="../media/image68.png"/><Relationship Id="rId17" Type="http://schemas.openxmlformats.org/officeDocument/2006/relationships/image" Target="../media/image65.png"/><Relationship Id="rId2" Type="http://schemas.openxmlformats.org/officeDocument/2006/relationships/notesSlide" Target="../notesSlides/notesSlide7.xml"/><Relationship Id="rId16" Type="http://schemas.openxmlformats.org/officeDocument/2006/relationships/image" Target="../media/image64.png"/><Relationship Id="rId20" Type="http://schemas.openxmlformats.org/officeDocument/2006/relationships/image" Target="../media/image671.png"/><Relationship Id="rId1" Type="http://schemas.openxmlformats.org/officeDocument/2006/relationships/slideLayout" Target="../slideLayouts/slideLayout2.xml"/><Relationship Id="rId24" Type="http://schemas.openxmlformats.org/officeDocument/2006/relationships/image" Target="../media/image70.png"/><Relationship Id="rId15" Type="http://schemas.openxmlformats.org/officeDocument/2006/relationships/image" Target="../media/image63.png"/><Relationship Id="rId23" Type="http://schemas.openxmlformats.org/officeDocument/2006/relationships/image" Target="../media/image2.png"/><Relationship Id="rId19" Type="http://schemas.openxmlformats.org/officeDocument/2006/relationships/image" Target="../media/image67.png"/><Relationship Id="rId14" Type="http://schemas.openxmlformats.org/officeDocument/2006/relationships/image" Target="../media/image62.png"/><Relationship Id="rId22" Type="http://schemas.openxmlformats.org/officeDocument/2006/relationships/image" Target="../media/image69.png"/></Relationships>
</file>

<file path=ppt/slides/_rels/slide8.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5.png"/><Relationship Id="rId17" Type="http://schemas.openxmlformats.org/officeDocument/2006/relationships/image" Target="../media/image74.png"/><Relationship Id="rId2" Type="http://schemas.openxmlformats.org/officeDocument/2006/relationships/notesSlide" Target="../notesSlides/notesSlide8.xml"/><Relationship Id="rId16" Type="http://schemas.openxmlformats.org/officeDocument/2006/relationships/image" Target="../media/image73.png"/><Relationship Id="rId20" Type="http://schemas.openxmlformats.org/officeDocument/2006/relationships/image" Target="../media/image751.png"/><Relationship Id="rId1" Type="http://schemas.openxmlformats.org/officeDocument/2006/relationships/slideLayout" Target="../slideLayouts/slideLayout2.xml"/><Relationship Id="rId15" Type="http://schemas.openxmlformats.org/officeDocument/2006/relationships/image" Target="../media/image72.png"/><Relationship Id="rId19" Type="http://schemas.openxmlformats.org/officeDocument/2006/relationships/image" Target="../media/image720.png"/><Relationship Id="rId14" Type="http://schemas.openxmlformats.org/officeDocument/2006/relationships/image" Target="../media/image541.png"/></Relationships>
</file>

<file path=ppt/slides/_rels/slide9.xml.rels><?xml version="1.0" encoding="UTF-8" standalone="yes"?>
<Relationships xmlns="http://schemas.openxmlformats.org/package/2006/relationships"><Relationship Id="rId18" Type="http://schemas.openxmlformats.org/officeDocument/2006/relationships/image" Target="../media/image691.png"/><Relationship Id="rId17" Type="http://schemas.openxmlformats.org/officeDocument/2006/relationships/image" Target="../media/image2.png"/><Relationship Id="rId2" Type="http://schemas.openxmlformats.org/officeDocument/2006/relationships/notesSlide" Target="../notesSlides/notesSlide9.xml"/><Relationship Id="rId16" Type="http://schemas.openxmlformats.org/officeDocument/2006/relationships/image" Target="../media/image45.png"/><Relationship Id="rId1" Type="http://schemas.openxmlformats.org/officeDocument/2006/relationships/slideLayout" Target="../slideLayouts/slideLayout2.xml"/><Relationship Id="rId15" Type="http://schemas.openxmlformats.org/officeDocument/2006/relationships/image" Target="../media/image670.png"/><Relationship Id="rId14" Type="http://schemas.openxmlformats.org/officeDocument/2006/relationships/image" Target="../media/image660.png"/></Relationships>
</file>

<file path=ppt/slides/_rels/slide10.xml.rels><?xml version="1.0" encoding="UTF-8" standalone="yes"?>
<Relationships xmlns="http://schemas.openxmlformats.org/package/2006/relationships"><Relationship Id="rId18" Type="http://schemas.openxmlformats.org/officeDocument/2006/relationships/image" Target="../media/image80.png"/><Relationship Id="rId17" Type="http://schemas.openxmlformats.org/officeDocument/2006/relationships/image" Target="../media/image79.png"/><Relationship Id="rId2" Type="http://schemas.openxmlformats.org/officeDocument/2006/relationships/notesSlide" Target="../notesSlides/notesSlide10.xml"/><Relationship Id="rId16" Type="http://schemas.openxmlformats.org/officeDocument/2006/relationships/image" Target="../media/image78.png"/><Relationship Id="rId20" Type="http://schemas.openxmlformats.org/officeDocument/2006/relationships/image" Target="../media/image801.png"/><Relationship Id="rId1" Type="http://schemas.openxmlformats.org/officeDocument/2006/relationships/slideLayout" Target="../slideLayouts/slideLayout2.xml"/><Relationship Id="rId15" Type="http://schemas.openxmlformats.org/officeDocument/2006/relationships/image" Target="../media/image77.png"/><Relationship Id="rId19" Type="http://schemas.openxmlformats.org/officeDocument/2006/relationships/image" Target="../media/image791.png"/><Relationship Id="rId14" Type="http://schemas.openxmlformats.org/officeDocument/2006/relationships/image" Target="../media/image7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 Id="rId15" Type="http://schemas.openxmlformats.org/officeDocument/2006/relationships/image" Target="../media/image81.png"/></Relationships>
</file>

<file path=ppt/slides/_rels/slide12.xml.rels><?xml version="1.0" encoding="UTF-8" standalone="yes"?>
<Relationships xmlns="http://schemas.openxmlformats.org/package/2006/relationships"><Relationship Id="rId13" Type="http://schemas.openxmlformats.org/officeDocument/2006/relationships/image" Target="../media/image530.png"/><Relationship Id="rId2" Type="http://schemas.openxmlformats.org/officeDocument/2006/relationships/notesSlide" Target="../notesSlides/notesSlide12.xml"/><Relationship Id="rId1" Type="http://schemas.openxmlformats.org/officeDocument/2006/relationships/slideLayout" Target="../slideLayouts/slideLayout2.xml"/><Relationship Id="rId15" Type="http://schemas.openxmlformats.org/officeDocument/2006/relationships/image" Target="../media/image82.png"/><Relationship Id="rId14" Type="http://schemas.openxmlformats.org/officeDocument/2006/relationships/image" Target="../media/image540.png"/></Relationships>
</file>

<file path=ppt/slides/_rels/slide13.xml.rels><?xml version="1.0" encoding="UTF-8" standalone="yes"?>
<Relationships xmlns="http://schemas.openxmlformats.org/package/2006/relationships"><Relationship Id="rId18" Type="http://schemas.openxmlformats.org/officeDocument/2006/relationships/image" Target="../media/image83.png"/><Relationship Id="rId21" Type="http://schemas.openxmlformats.org/officeDocument/2006/relationships/image" Target="../media/image86.png"/><Relationship Id="rId25" Type="http://schemas.openxmlformats.org/officeDocument/2006/relationships/image" Target="../media/image90.png"/><Relationship Id="rId2" Type="http://schemas.openxmlformats.org/officeDocument/2006/relationships/notesSlide" Target="../notesSlides/notesSlide13.xml"/><Relationship Id="rId20" Type="http://schemas.openxmlformats.org/officeDocument/2006/relationships/image" Target="../media/image85.png"/><Relationship Id="rId1" Type="http://schemas.openxmlformats.org/officeDocument/2006/relationships/slideLayout" Target="../slideLayouts/slideLayout2.xml"/><Relationship Id="rId24" Type="http://schemas.openxmlformats.org/officeDocument/2006/relationships/image" Target="../media/image89.png"/><Relationship Id="rId23" Type="http://schemas.openxmlformats.org/officeDocument/2006/relationships/image" Target="../media/image410.png"/><Relationship Id="rId19" Type="http://schemas.openxmlformats.org/officeDocument/2006/relationships/image" Target="../media/image84.png"/><Relationship Id="rId22" Type="http://schemas.openxmlformats.org/officeDocument/2006/relationships/image" Target="../media/image87.png"/></Relationships>
</file>

<file path=ppt/slides/_rels/slide14.xml.rels><?xml version="1.0" encoding="UTF-8" standalone="yes"?>
<Relationships xmlns="http://schemas.openxmlformats.org/package/2006/relationships"><Relationship Id="rId18" Type="http://schemas.openxmlformats.org/officeDocument/2006/relationships/image" Target="../media/image820.png"/><Relationship Id="rId26" Type="http://schemas.openxmlformats.org/officeDocument/2006/relationships/image" Target="../media/image941.png"/><Relationship Id="rId21" Type="http://schemas.openxmlformats.org/officeDocument/2006/relationships/image" Target="../media/image96.png"/><Relationship Id="rId17" Type="http://schemas.openxmlformats.org/officeDocument/2006/relationships/image" Target="../media/image93.png"/><Relationship Id="rId25" Type="http://schemas.openxmlformats.org/officeDocument/2006/relationships/image" Target="../media/image930.png"/><Relationship Id="rId2" Type="http://schemas.openxmlformats.org/officeDocument/2006/relationships/notesSlide" Target="../notesSlides/notesSlide14.xml"/><Relationship Id="rId16" Type="http://schemas.openxmlformats.org/officeDocument/2006/relationships/image" Target="../media/image92.png"/><Relationship Id="rId20" Type="http://schemas.openxmlformats.org/officeDocument/2006/relationships/image" Target="../media/image95.png"/><Relationship Id="rId1" Type="http://schemas.openxmlformats.org/officeDocument/2006/relationships/slideLayout" Target="../slideLayouts/slideLayout2.xml"/><Relationship Id="rId24" Type="http://schemas.openxmlformats.org/officeDocument/2006/relationships/image" Target="../media/image97.png"/><Relationship Id="rId15" Type="http://schemas.openxmlformats.org/officeDocument/2006/relationships/image" Target="../media/image91.png"/><Relationship Id="rId23" Type="http://schemas.openxmlformats.org/officeDocument/2006/relationships/image" Target="../media/image870.png"/><Relationship Id="rId19" Type="http://schemas.openxmlformats.org/officeDocument/2006/relationships/image" Target="../media/image94.png"/><Relationship Id="rId22" Type="http://schemas.openxmlformats.org/officeDocument/2006/relationships/image" Target="../media/image860.png"/><Relationship Id="rId27" Type="http://schemas.openxmlformats.org/officeDocument/2006/relationships/image" Target="../media/image950.png"/></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hyperlink" Target="https://dedekold.myportfolio.com/" TargetMode="External"/><Relationship Id="rId4" Type="http://schemas.openxmlformats.org/officeDocument/2006/relationships/hyperlink" Target="https://dedeklegacy.cz/talking-slides.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Zástupný symbol pro číslo snímku 2"/>
          <p:cNvSpPr>
            <a:spLocks noGrp="1"/>
          </p:cNvSpPr>
          <p:nvPr>
            <p:ph type="sldNum" sz="quarter" idx="12"/>
          </p:nvPr>
        </p:nvSpPr>
        <p:spPr>
          <a:xfrm>
            <a:off x="864000" y="2448000"/>
            <a:ext cx="1440000" cy="360000"/>
          </a:xfrm>
        </p:spPr>
        <p:txBody>
          <a:bodyPr/>
          <a:lstStyle/>
          <a:p>
            <a:pPr algn="l"/>
            <a:r>
              <a:rPr lang="en-GB" sz="1800" dirty="0">
                <a:solidFill>
                  <a:srgbClr val="7030A0"/>
                </a:solidFill>
              </a:rPr>
              <a:t>Lesson 1</a:t>
            </a:r>
            <a:r>
              <a:rPr lang="cs-CZ" sz="1800" dirty="0">
                <a:solidFill>
                  <a:srgbClr val="7030A0"/>
                </a:solidFill>
              </a:rPr>
              <a:t>8</a:t>
            </a:r>
            <a:endParaRPr lang="en-GB" sz="1800" dirty="0">
              <a:solidFill>
                <a:srgbClr val="7030A0"/>
              </a:solidFill>
            </a:endParaRPr>
          </a:p>
        </p:txBody>
      </p:sp>
      <p:sp>
        <p:nvSpPr>
          <p:cNvPr id="2" name="Nadpis 1"/>
          <p:cNvSpPr>
            <a:spLocks noGrp="1"/>
          </p:cNvSpPr>
          <p:nvPr>
            <p:ph type="title"/>
          </p:nvPr>
        </p:nvSpPr>
        <p:spPr>
          <a:xfrm>
            <a:off x="2051720" y="2708501"/>
            <a:ext cx="6121316" cy="1800000"/>
          </a:xfrm>
        </p:spPr>
        <p:txBody>
          <a:bodyPr/>
          <a:lstStyle/>
          <a:p>
            <a:pPr marL="182880" indent="0" algn="l">
              <a:buNone/>
            </a:pPr>
            <a:r>
              <a:rPr lang="en-GB" dirty="0">
                <a:solidFill>
                  <a:srgbClr val="7030A0"/>
                </a:solidFill>
              </a:rPr>
              <a:t>Pricing of </a:t>
            </a:r>
            <a:br>
              <a:rPr lang="en-GB" dirty="0">
                <a:solidFill>
                  <a:srgbClr val="7030A0"/>
                </a:solidFill>
              </a:rPr>
            </a:br>
            <a:r>
              <a:rPr lang="en-GB" dirty="0">
                <a:solidFill>
                  <a:srgbClr val="7030A0"/>
                </a:solidFill>
              </a:rPr>
              <a:t>option contracts</a:t>
            </a:r>
          </a:p>
        </p:txBody>
      </p:sp>
      <p:sp>
        <p:nvSpPr>
          <p:cNvPr id="4" name="Podnadpis 2"/>
          <p:cNvSpPr txBox="1">
            <a:spLocks/>
          </p:cNvSpPr>
          <p:nvPr/>
        </p:nvSpPr>
        <p:spPr>
          <a:xfrm>
            <a:off x="864000" y="468000"/>
            <a:ext cx="3600000" cy="864000"/>
          </a:xfrm>
          <a:prstGeom prst="rect">
            <a:avLst/>
          </a:prstGeom>
        </p:spPr>
        <p:txBody>
          <a:bodyPr vert="horz" lIns="91440" tIns="45720" rIns="91440" bIns="45720" rtlCol="0" anchor="t">
            <a:normAutofit/>
          </a:bodyPr>
          <a:lstStyle>
            <a:lvl1pPr marL="0" indent="0" algn="r" defTabSz="914400" rtl="0" eaLnBrk="1" latinLnBrk="0" hangingPunct="1">
              <a:spcBef>
                <a:spcPct val="20000"/>
              </a:spcBef>
              <a:spcAft>
                <a:spcPts val="300"/>
              </a:spcAft>
              <a:buClr>
                <a:schemeClr val="accent6">
                  <a:lumMod val="75000"/>
                </a:schemeClr>
              </a:buClr>
              <a:buSzPct val="130000"/>
              <a:buFont typeface="Georgia" pitchFamily="18" charset="0"/>
              <a:buNone/>
              <a:defRPr sz="2000" kern="1200">
                <a:solidFill>
                  <a:schemeClr val="tx2"/>
                </a:solidFill>
                <a:latin typeface="+mn-lt"/>
                <a:ea typeface="+mn-ea"/>
                <a:cs typeface="+mn-cs"/>
              </a:defRPr>
            </a:lvl1pPr>
            <a:lvl2pPr marL="4572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9pPr>
          </a:lstStyle>
          <a:p>
            <a:pPr algn="l">
              <a:spcBef>
                <a:spcPts val="0"/>
              </a:spcBef>
              <a:spcAft>
                <a:spcPts val="0"/>
              </a:spcAft>
            </a:pPr>
            <a:r>
              <a:rPr lang="en-GB" sz="1800" b="1" dirty="0"/>
              <a:t>Institute of Economic Studies</a:t>
            </a:r>
          </a:p>
          <a:p>
            <a:pPr algn="l">
              <a:spcBef>
                <a:spcPts val="0"/>
              </a:spcBef>
              <a:spcAft>
                <a:spcPts val="0"/>
              </a:spcAft>
            </a:pPr>
            <a:r>
              <a:rPr lang="en-GB" sz="1400" b="1" dirty="0"/>
              <a:t>Faculty of Social Sciences</a:t>
            </a:r>
          </a:p>
          <a:p>
            <a:pPr algn="l">
              <a:spcBef>
                <a:spcPts val="0"/>
              </a:spcBef>
              <a:spcAft>
                <a:spcPts val="0"/>
              </a:spcAft>
            </a:pPr>
            <a:r>
              <a:rPr lang="en-GB" sz="1400" b="1" dirty="0"/>
              <a:t>Charles University in Prague</a:t>
            </a:r>
          </a:p>
        </p:txBody>
      </p:sp>
      <p:sp>
        <p:nvSpPr>
          <p:cNvPr id="12" name="Podnadpis 2"/>
          <p:cNvSpPr>
            <a:spLocks noGrp="1"/>
          </p:cNvSpPr>
          <p:nvPr/>
        </p:nvSpPr>
        <p:spPr>
          <a:xfrm>
            <a:off x="5544720" y="5292000"/>
            <a:ext cx="3419768" cy="396000"/>
          </a:xfrm>
          <a:prstGeom prst="rect">
            <a:avLst/>
          </a:prstGeom>
        </p:spPr>
        <p:txBody>
          <a:bodyPr vert="horz" lIns="91440" tIns="45720" rIns="91440" bIns="45720" rtlCol="0" anchor="t">
            <a:normAutofit fontScale="92500"/>
          </a:bodyPr>
          <a:lstStyle>
            <a:lvl1pPr marL="0" indent="0" algn="r" defTabSz="914400" rtl="0" eaLnBrk="1" latinLnBrk="0" hangingPunct="1">
              <a:spcBef>
                <a:spcPct val="20000"/>
              </a:spcBef>
              <a:spcAft>
                <a:spcPts val="300"/>
              </a:spcAft>
              <a:buClr>
                <a:schemeClr val="accent6">
                  <a:lumMod val="75000"/>
                </a:schemeClr>
              </a:buClr>
              <a:buSzPct val="130000"/>
              <a:buFont typeface="Georgia" pitchFamily="18" charset="0"/>
              <a:buNone/>
              <a:defRPr sz="2000" kern="1200">
                <a:solidFill>
                  <a:schemeClr val="tx2"/>
                </a:solidFill>
                <a:latin typeface="+mn-lt"/>
                <a:ea typeface="+mn-ea"/>
                <a:cs typeface="+mn-cs"/>
              </a:defRPr>
            </a:lvl1pPr>
            <a:lvl2pPr marL="4572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9pPr>
          </a:lstStyle>
          <a:p>
            <a:r>
              <a:rPr lang="en-GB" sz="1800" b="1" dirty="0"/>
              <a:t>Financial markets instruments </a:t>
            </a:r>
            <a:endParaRPr lang="en-GB" sz="1800" b="1" dirty="0">
              <a:solidFill>
                <a:srgbClr val="C00000"/>
              </a:solidFill>
            </a:endParaRPr>
          </a:p>
        </p:txBody>
      </p:sp>
      <p:pic>
        <p:nvPicPr>
          <p:cNvPr id="3" name="Obrázek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4328" y="540000"/>
            <a:ext cx="1296000" cy="1296000"/>
          </a:xfrm>
          <a:prstGeom prst="rect">
            <a:avLst/>
          </a:prstGeom>
        </p:spPr>
      </p:pic>
    </p:spTree>
    <p:extLst>
      <p:ext uri="{BB962C8B-B14F-4D97-AF65-F5344CB8AC3E}">
        <p14:creationId xmlns:p14="http://schemas.microsoft.com/office/powerpoint/2010/main" val="2454530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p:cNvSpPr>
            <a:spLocks noGrp="1"/>
          </p:cNvSpPr>
          <p:nvPr>
            <p:ph type="sldNum" sz="quarter" idx="12"/>
          </p:nvPr>
        </p:nvSpPr>
        <p:spPr>
          <a:xfrm>
            <a:off x="7164000" y="6336000"/>
            <a:ext cx="1800000" cy="360000"/>
          </a:xfrm>
        </p:spPr>
        <p:txBody>
          <a:bodyPr/>
          <a:lstStyle/>
          <a:p>
            <a:pPr algn="r"/>
            <a:fld id="{DFE5482F-2F05-49C5-9E15-73F945A41231}" type="slidenum">
              <a:rPr lang="cs-CZ" smtClean="0"/>
              <a:pPr algn="r"/>
              <a:t>2</a:t>
            </a:fld>
            <a:endParaRPr lang="cs-CZ" dirty="0"/>
          </a:p>
        </p:txBody>
      </p:sp>
      <p:sp>
        <p:nvSpPr>
          <p:cNvPr id="4" name="Nadpis 3"/>
          <p:cNvSpPr>
            <a:spLocks noGrp="1"/>
          </p:cNvSpPr>
          <p:nvPr>
            <p:ph type="title"/>
          </p:nvPr>
        </p:nvSpPr>
        <p:spPr>
          <a:xfrm>
            <a:off x="144000" y="144000"/>
            <a:ext cx="5652136" cy="648072"/>
          </a:xfrm>
        </p:spPr>
        <p:txBody>
          <a:bodyPr/>
          <a:lstStyle/>
          <a:p>
            <a:r>
              <a:rPr lang="en-GB" dirty="0">
                <a:solidFill>
                  <a:srgbClr val="000000"/>
                </a:solidFill>
              </a:rPr>
              <a:t>Binomial model </a:t>
            </a:r>
            <a:r>
              <a:rPr lang="en-GB" dirty="0">
                <a:latin typeface="Cambria Math" panose="02040503050406030204" pitchFamily="18" charset="0"/>
                <a:ea typeface="Cambria Math" panose="02040503050406030204" pitchFamily="18" charset="0"/>
              </a:rPr>
              <a:t>–</a:t>
            </a:r>
            <a:r>
              <a:rPr lang="cs-CZ" dirty="0">
                <a:latin typeface="Cambria Math" panose="02040503050406030204" pitchFamily="18" charset="0"/>
                <a:ea typeface="Cambria Math" panose="02040503050406030204" pitchFamily="18" charset="0"/>
              </a:rPr>
              <a:t> </a:t>
            </a:r>
            <a:r>
              <a:rPr lang="en-GB" dirty="0">
                <a:solidFill>
                  <a:srgbClr val="000000"/>
                </a:solidFill>
              </a:rPr>
              <a:t>introduction</a:t>
            </a:r>
          </a:p>
        </p:txBody>
      </p:sp>
      <p:sp>
        <p:nvSpPr>
          <p:cNvPr id="29" name="TextovéPole 28"/>
          <p:cNvSpPr txBox="1"/>
          <p:nvPr/>
        </p:nvSpPr>
        <p:spPr>
          <a:xfrm>
            <a:off x="864000" y="864000"/>
            <a:ext cx="2269600"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Description</a:t>
            </a:r>
          </a:p>
        </p:txBody>
      </p:sp>
      <p:sp>
        <p:nvSpPr>
          <p:cNvPr id="30" name="TextovéPole 29"/>
          <p:cNvSpPr txBox="1"/>
          <p:nvPr/>
        </p:nvSpPr>
        <p:spPr>
          <a:xfrm>
            <a:off x="864000" y="4068000"/>
            <a:ext cx="2269600"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Binomial tree</a:t>
            </a:r>
          </a:p>
        </p:txBody>
      </p:sp>
      <p:sp>
        <p:nvSpPr>
          <p:cNvPr id="83" name="TextovéPole 82">
            <a:extLst>
              <a:ext uri="{FF2B5EF4-FFF2-40B4-BE49-F238E27FC236}">
                <a16:creationId xmlns:a16="http://schemas.microsoft.com/office/drawing/2014/main" id="{EE16E3B3-D303-4859-B2FD-649CC47A3C14}"/>
              </a:ext>
            </a:extLst>
          </p:cNvPr>
          <p:cNvSpPr txBox="1"/>
          <p:nvPr/>
        </p:nvSpPr>
        <p:spPr>
          <a:xfrm>
            <a:off x="1188000" y="1742172"/>
            <a:ext cx="7704480" cy="923330"/>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The price movement of the underlying asset is governed by the </a:t>
            </a:r>
            <a:r>
              <a:rPr lang="en-GB" dirty="0">
                <a:solidFill>
                  <a:srgbClr val="7030A0"/>
                </a:solidFill>
                <a:latin typeface="Cambria Math" panose="02040503050406030204" pitchFamily="18" charset="0"/>
                <a:ea typeface="Cambria Math" panose="02040503050406030204" pitchFamily="18" charset="0"/>
              </a:rPr>
              <a:t>stationary binomial stochastic process</a:t>
            </a:r>
            <a:r>
              <a:rPr lang="en-GB" dirty="0">
                <a:latin typeface="Cambria Math" panose="02040503050406030204" pitchFamily="18" charset="0"/>
                <a:ea typeface="Cambria Math" panose="02040503050406030204" pitchFamily="18" charset="0"/>
              </a:rPr>
              <a:t>: with a given probability</a:t>
            </a:r>
            <a:r>
              <a:rPr lang="cs-CZ" dirty="0">
                <a:latin typeface="Cambria Math" panose="02040503050406030204" pitchFamily="18" charset="0"/>
                <a:ea typeface="Cambria Math" panose="02040503050406030204" pitchFamily="18" charset="0"/>
              </a:rPr>
              <a:t>,</a:t>
            </a:r>
            <a:r>
              <a:rPr lang="en-GB" dirty="0">
                <a:latin typeface="Cambria Math" panose="02040503050406030204" pitchFamily="18" charset="0"/>
                <a:ea typeface="Cambria Math" panose="02040503050406030204" pitchFamily="18" charset="0"/>
              </a:rPr>
              <a:t> the price can either increase o</a:t>
            </a:r>
            <a:r>
              <a:rPr lang="cs-CZ" dirty="0">
                <a:latin typeface="Cambria Math" panose="02040503050406030204" pitchFamily="18" charset="0"/>
                <a:ea typeface="Cambria Math" panose="02040503050406030204" pitchFamily="18" charset="0"/>
              </a:rPr>
              <a:t>r</a:t>
            </a:r>
            <a:r>
              <a:rPr lang="en-GB" dirty="0">
                <a:latin typeface="Cambria Math" panose="02040503050406030204" pitchFamily="18" charset="0"/>
                <a:ea typeface="Cambria Math" panose="02040503050406030204" pitchFamily="18" charset="0"/>
              </a:rPr>
              <a:t> decrease by fixed jump</a:t>
            </a:r>
            <a:r>
              <a:rPr lang="cs-CZ" dirty="0">
                <a:latin typeface="Cambria Math" panose="02040503050406030204" pitchFamily="18" charset="0"/>
                <a:ea typeface="Cambria Math" panose="02040503050406030204" pitchFamily="18" charset="0"/>
              </a:rPr>
              <a:t>s</a:t>
            </a:r>
            <a:endParaRPr lang="en-GB" dirty="0">
              <a:latin typeface="Cambria Math" panose="02040503050406030204" pitchFamily="18" charset="0"/>
              <a:ea typeface="Cambria Math" panose="02040503050406030204" pitchFamily="18" charset="0"/>
            </a:endParaRPr>
          </a:p>
        </p:txBody>
      </p:sp>
      <p:sp>
        <p:nvSpPr>
          <p:cNvPr id="85" name="TextovéPole 84">
            <a:extLst>
              <a:ext uri="{FF2B5EF4-FFF2-40B4-BE49-F238E27FC236}">
                <a16:creationId xmlns:a16="http://schemas.microsoft.com/office/drawing/2014/main" id="{EE16E3B3-D303-4859-B2FD-649CC47A3C14}"/>
              </a:ext>
            </a:extLst>
          </p:cNvPr>
          <p:cNvSpPr txBox="1"/>
          <p:nvPr/>
        </p:nvSpPr>
        <p:spPr>
          <a:xfrm>
            <a:off x="1187624" y="2572441"/>
            <a:ext cx="1945976"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Variables </a:t>
            </a:r>
          </a:p>
        </p:txBody>
      </p:sp>
      <mc:AlternateContent xmlns:mc="http://schemas.openxmlformats.org/markup-compatibility/2006" xmlns:a14="http://schemas.microsoft.com/office/drawing/2010/main">
        <mc:Choice Requires="a14">
          <p:sp>
            <p:nvSpPr>
              <p:cNvPr id="150" name="TextovéPole 149">
                <a:extLst>
                  <a:ext uri="{FF2B5EF4-FFF2-40B4-BE49-F238E27FC236}">
                    <a16:creationId xmlns:a16="http://schemas.microsoft.com/office/drawing/2014/main" id="{05FC8A4A-3761-4383-881C-9096ADBF4AD7}"/>
                  </a:ext>
                </a:extLst>
              </p:cNvPr>
              <p:cNvSpPr txBox="1"/>
              <p:nvPr/>
            </p:nvSpPr>
            <p:spPr>
              <a:xfrm>
                <a:off x="1620000" y="2857818"/>
                <a:ext cx="3726616" cy="276999"/>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200" b="0" i="1" smtClean="0">
                        <a:latin typeface="Cambria Math" panose="02040503050406030204" pitchFamily="18" charset="0"/>
                        <a:ea typeface="Cambria Math" panose="02040503050406030204" pitchFamily="18" charset="0"/>
                      </a:rPr>
                      <m:t>𝐶</m:t>
                    </m:r>
                  </m:oMath>
                </a14:m>
                <a:r>
                  <a:rPr lang="en-GB" sz="1200" dirty="0">
                    <a:latin typeface="Cambria Math" panose="02040503050406030204" pitchFamily="18" charset="0"/>
                    <a:ea typeface="Cambria Math" panose="02040503050406030204" pitchFamily="18" charset="0"/>
                  </a:rPr>
                  <a:t>… price of a European call option (to be determined)</a:t>
                </a:r>
              </a:p>
            </p:txBody>
          </p:sp>
        </mc:Choice>
        <mc:Fallback xmlns="">
          <p:sp>
            <p:nvSpPr>
              <p:cNvPr id="150" name="TextovéPole 149">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620000" y="2857818"/>
                <a:ext cx="3726616" cy="276999"/>
              </a:xfrm>
              <a:prstGeom prst="rect">
                <a:avLst/>
              </a:prstGeom>
              <a:blipFill>
                <a:blip r:embed="rId11"/>
                <a:stretch>
                  <a:fillRect t="-2222" b="-17778"/>
                </a:stretch>
              </a:blipFill>
              <a:ln>
                <a:noFill/>
              </a:ln>
            </p:spPr>
            <p:txBody>
              <a:bodyPr/>
              <a:lstStyle/>
              <a:p>
                <a:r>
                  <a:rPr lang="en-GB">
                    <a:noFill/>
                  </a:rPr>
                  <a:t> </a:t>
                </a:r>
              </a:p>
            </p:txBody>
          </p:sp>
        </mc:Fallback>
      </mc:AlternateContent>
      <p:sp>
        <p:nvSpPr>
          <p:cNvPr id="68" name="TextovéPole 67">
            <a:extLst>
              <a:ext uri="{FF2B5EF4-FFF2-40B4-BE49-F238E27FC236}">
                <a16:creationId xmlns:a16="http://schemas.microsoft.com/office/drawing/2014/main" id="{EE16E3B3-D303-4859-B2FD-649CC47A3C14}"/>
              </a:ext>
            </a:extLst>
          </p:cNvPr>
          <p:cNvSpPr txBox="1"/>
          <p:nvPr/>
        </p:nvSpPr>
        <p:spPr>
          <a:xfrm>
            <a:off x="1187624" y="1196088"/>
            <a:ext cx="7272376"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The binomial model derives its name from the binomial behaviour of the underlying asset</a:t>
            </a:r>
          </a:p>
        </p:txBody>
      </p:sp>
      <mc:AlternateContent xmlns:mc="http://schemas.openxmlformats.org/markup-compatibility/2006" xmlns:a14="http://schemas.microsoft.com/office/drawing/2010/main">
        <mc:Choice Requires="a14">
          <p:sp>
            <p:nvSpPr>
              <p:cNvPr id="69" name="TextovéPole 68">
                <a:extLst>
                  <a:ext uri="{FF2B5EF4-FFF2-40B4-BE49-F238E27FC236}">
                    <a16:creationId xmlns:a16="http://schemas.microsoft.com/office/drawing/2014/main" id="{05FC8A4A-3761-4383-881C-9096ADBF4AD7}"/>
                  </a:ext>
                </a:extLst>
              </p:cNvPr>
              <p:cNvSpPr txBox="1"/>
              <p:nvPr/>
            </p:nvSpPr>
            <p:spPr>
              <a:xfrm>
                <a:off x="1620000" y="3056111"/>
                <a:ext cx="3493250" cy="276999"/>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200" b="0" i="1" smtClean="0">
                        <a:latin typeface="Cambria Math" panose="02040503050406030204" pitchFamily="18" charset="0"/>
                        <a:ea typeface="Cambria Math" panose="02040503050406030204" pitchFamily="18" charset="0"/>
                      </a:rPr>
                      <m:t>𝑆</m:t>
                    </m:r>
                  </m:oMath>
                </a14:m>
                <a:r>
                  <a:rPr lang="en-GB" sz="1200" dirty="0">
                    <a:latin typeface="Cambria Math" panose="02040503050406030204" pitchFamily="18" charset="0"/>
                    <a:ea typeface="Cambria Math" panose="02040503050406030204" pitchFamily="18" charset="0"/>
                  </a:rPr>
                  <a:t>… current price of an underlying share (</a:t>
                </a:r>
                <a:r>
                  <a:rPr lang="cs-CZ" sz="1200" dirty="0">
                    <a:latin typeface="Cambria Math" panose="02040503050406030204" pitchFamily="18" charset="0"/>
                    <a:ea typeface="Cambria Math" panose="02040503050406030204" pitchFamily="18" charset="0"/>
                  </a:rPr>
                  <a:t>€</a:t>
                </a:r>
                <a:r>
                  <a:rPr lang="en-GB" sz="1200" dirty="0">
                    <a:latin typeface="Cambria Math" panose="02040503050406030204" pitchFamily="18" charset="0"/>
                    <a:ea typeface="Cambria Math" panose="02040503050406030204" pitchFamily="18" charset="0"/>
                  </a:rPr>
                  <a:t>50)</a:t>
                </a:r>
              </a:p>
            </p:txBody>
          </p:sp>
        </mc:Choice>
        <mc:Fallback xmlns="">
          <p:sp>
            <p:nvSpPr>
              <p:cNvPr id="69" name="TextovéPole 68">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620000" y="3056111"/>
                <a:ext cx="3493250" cy="276999"/>
              </a:xfrm>
              <a:prstGeom prst="rect">
                <a:avLst/>
              </a:prstGeom>
              <a:blipFill>
                <a:blip r:embed="rId12"/>
                <a:stretch>
                  <a:fillRect b="-1521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0" name="TextovéPole 69">
                <a:extLst>
                  <a:ext uri="{FF2B5EF4-FFF2-40B4-BE49-F238E27FC236}">
                    <a16:creationId xmlns:a16="http://schemas.microsoft.com/office/drawing/2014/main" id="{05FC8A4A-3761-4383-881C-9096ADBF4AD7}"/>
                  </a:ext>
                </a:extLst>
              </p:cNvPr>
              <p:cNvSpPr txBox="1"/>
              <p:nvPr/>
            </p:nvSpPr>
            <p:spPr>
              <a:xfrm>
                <a:off x="1620000" y="3257835"/>
                <a:ext cx="2914853" cy="276999"/>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200" b="0" i="1" smtClean="0">
                        <a:latin typeface="Cambria Math" panose="02040503050406030204" pitchFamily="18" charset="0"/>
                        <a:ea typeface="Cambria Math" panose="02040503050406030204" pitchFamily="18" charset="0"/>
                      </a:rPr>
                      <m:t>𝑋</m:t>
                    </m:r>
                  </m:oMath>
                </a14:m>
                <a:r>
                  <a:rPr lang="en-GB" sz="1200" dirty="0">
                    <a:latin typeface="Cambria Math" panose="02040503050406030204" pitchFamily="18" charset="0"/>
                    <a:ea typeface="Cambria Math" panose="02040503050406030204" pitchFamily="18" charset="0"/>
                  </a:rPr>
                  <a:t>… exercise price (</a:t>
                </a:r>
                <a:r>
                  <a:rPr lang="cs-CZ" sz="1200" dirty="0">
                    <a:latin typeface="Cambria Math" panose="02040503050406030204" pitchFamily="18" charset="0"/>
                    <a:ea typeface="Cambria Math" panose="02040503050406030204" pitchFamily="18" charset="0"/>
                  </a:rPr>
                  <a:t>€</a:t>
                </a:r>
                <a:r>
                  <a:rPr lang="en-GB" sz="1200" dirty="0">
                    <a:latin typeface="Cambria Math" panose="02040503050406030204" pitchFamily="18" charset="0"/>
                    <a:ea typeface="Cambria Math" panose="02040503050406030204" pitchFamily="18" charset="0"/>
                  </a:rPr>
                  <a:t>45)</a:t>
                </a:r>
              </a:p>
            </p:txBody>
          </p:sp>
        </mc:Choice>
        <mc:Fallback xmlns="">
          <p:sp>
            <p:nvSpPr>
              <p:cNvPr id="70" name="TextovéPole 69">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620000" y="3257835"/>
                <a:ext cx="2914853" cy="276999"/>
              </a:xfrm>
              <a:prstGeom prst="rect">
                <a:avLst/>
              </a:prstGeom>
              <a:blipFill>
                <a:blip r:embed="rId13"/>
                <a:stretch>
                  <a:fillRect b="-1521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ovéPole 70">
                <a:extLst>
                  <a:ext uri="{FF2B5EF4-FFF2-40B4-BE49-F238E27FC236}">
                    <a16:creationId xmlns:a16="http://schemas.microsoft.com/office/drawing/2014/main" id="{05FC8A4A-3761-4383-881C-9096ADBF4AD7}"/>
                  </a:ext>
                </a:extLst>
              </p:cNvPr>
              <p:cNvSpPr txBox="1"/>
              <p:nvPr/>
            </p:nvSpPr>
            <p:spPr>
              <a:xfrm>
                <a:off x="1620000" y="3460714"/>
                <a:ext cx="4104128" cy="276999"/>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200" b="0" i="1" smtClean="0">
                        <a:latin typeface="Cambria Math" panose="02040503050406030204" pitchFamily="18" charset="0"/>
                        <a:ea typeface="Cambria Math" panose="02040503050406030204" pitchFamily="18" charset="0"/>
                      </a:rPr>
                      <m:t>𝑢</m:t>
                    </m:r>
                  </m:oMath>
                </a14:m>
                <a:r>
                  <a:rPr lang="en-GB" sz="1200" dirty="0">
                    <a:latin typeface="Cambria Math" panose="02040503050406030204" pitchFamily="18" charset="0"/>
                    <a:ea typeface="Cambria Math" panose="02040503050406030204" pitchFamily="18" charset="0"/>
                  </a:rPr>
                  <a:t>… fixed upward jump of the underlying price (</a:t>
                </a:r>
                <a14:m>
                  <m:oMath xmlns:m="http://schemas.openxmlformats.org/officeDocument/2006/math">
                    <m:f>
                      <m:fPr>
                        <m:type m:val="lin"/>
                        <m:ctrlPr>
                          <a:rPr lang="en-GB" sz="1200" i="1">
                            <a:latin typeface="Cambria Math" panose="02040503050406030204" pitchFamily="18" charset="0"/>
                            <a:ea typeface="Cambria Math" panose="02040503050406030204" pitchFamily="18" charset="0"/>
                          </a:rPr>
                        </m:ctrlPr>
                      </m:fPr>
                      <m:num>
                        <m:sSub>
                          <m:sSubPr>
                            <m:ctrlPr>
                              <a:rPr lang="en-GB" sz="1200" i="1">
                                <a:latin typeface="Cambria Math" panose="02040503050406030204" pitchFamily="18" charset="0"/>
                                <a:ea typeface="Cambria Math" panose="02040503050406030204" pitchFamily="18" charset="0"/>
                              </a:rPr>
                            </m:ctrlPr>
                          </m:sSubPr>
                          <m:e>
                            <m:r>
                              <a:rPr lang="en-GB" sz="1200" i="1">
                                <a:latin typeface="Cambria Math" panose="02040503050406030204" pitchFamily="18" charset="0"/>
                                <a:ea typeface="Cambria Math" panose="02040503050406030204" pitchFamily="18" charset="0"/>
                              </a:rPr>
                              <m:t>𝑆</m:t>
                            </m:r>
                          </m:e>
                          <m:sub>
                            <m:r>
                              <a:rPr lang="en-GB" sz="1200" i="1">
                                <a:latin typeface="Cambria Math" panose="02040503050406030204" pitchFamily="18" charset="0"/>
                                <a:ea typeface="Cambria Math" panose="02040503050406030204" pitchFamily="18" charset="0"/>
                              </a:rPr>
                              <m:t>1</m:t>
                            </m:r>
                          </m:sub>
                        </m:sSub>
                      </m:num>
                      <m:den>
                        <m:sSub>
                          <m:sSubPr>
                            <m:ctrlPr>
                              <a:rPr lang="en-GB" sz="1200" i="1">
                                <a:latin typeface="Cambria Math" panose="02040503050406030204" pitchFamily="18" charset="0"/>
                                <a:ea typeface="Cambria Math" panose="02040503050406030204" pitchFamily="18" charset="0"/>
                              </a:rPr>
                            </m:ctrlPr>
                          </m:sSubPr>
                          <m:e>
                            <m:r>
                              <a:rPr lang="en-GB" sz="1200" i="1">
                                <a:latin typeface="Cambria Math" panose="02040503050406030204" pitchFamily="18" charset="0"/>
                                <a:ea typeface="Cambria Math" panose="02040503050406030204" pitchFamily="18" charset="0"/>
                              </a:rPr>
                              <m:t>𝑆</m:t>
                            </m:r>
                          </m:e>
                          <m:sub>
                            <m:r>
                              <a:rPr lang="en-GB" sz="1200" i="1">
                                <a:latin typeface="Cambria Math" panose="02040503050406030204" pitchFamily="18" charset="0"/>
                                <a:ea typeface="Cambria Math" panose="02040503050406030204" pitchFamily="18" charset="0"/>
                              </a:rPr>
                              <m:t>0</m:t>
                            </m:r>
                          </m:sub>
                        </m:sSub>
                      </m:den>
                    </m:f>
                    <m:r>
                      <a:rPr lang="en-GB" sz="1200" b="0" i="1" smtClean="0">
                        <a:latin typeface="Cambria Math" panose="02040503050406030204" pitchFamily="18" charset="0"/>
                        <a:ea typeface="Cambria Math" panose="02040503050406030204" pitchFamily="18" charset="0"/>
                      </a:rPr>
                      <m:t>=1.3</m:t>
                    </m:r>
                  </m:oMath>
                </a14:m>
                <a:r>
                  <a:rPr lang="en-GB" sz="1200" dirty="0">
                    <a:latin typeface="Cambria Math" panose="02040503050406030204" pitchFamily="18" charset="0"/>
                    <a:ea typeface="Cambria Math" panose="02040503050406030204" pitchFamily="18" charset="0"/>
                  </a:rPr>
                  <a:t>)</a:t>
                </a:r>
              </a:p>
            </p:txBody>
          </p:sp>
        </mc:Choice>
        <mc:Fallback xmlns="">
          <p:sp>
            <p:nvSpPr>
              <p:cNvPr id="71" name="TextovéPole 70">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620000" y="3460714"/>
                <a:ext cx="4104128" cy="276999"/>
              </a:xfrm>
              <a:prstGeom prst="rect">
                <a:avLst/>
              </a:prstGeom>
              <a:blipFill>
                <a:blip r:embed="rId14"/>
                <a:stretch>
                  <a:fillRect t="-93333" b="-151111"/>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2" name="TextovéPole 71">
                <a:extLst>
                  <a:ext uri="{FF2B5EF4-FFF2-40B4-BE49-F238E27FC236}">
                    <a16:creationId xmlns:a16="http://schemas.microsoft.com/office/drawing/2014/main" id="{05FC8A4A-3761-4383-881C-9096ADBF4AD7}"/>
                  </a:ext>
                </a:extLst>
              </p:cNvPr>
              <p:cNvSpPr txBox="1"/>
              <p:nvPr/>
            </p:nvSpPr>
            <p:spPr>
              <a:xfrm>
                <a:off x="1620000" y="3666202"/>
                <a:ext cx="4328671" cy="276999"/>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200" b="0" i="1" smtClean="0">
                        <a:latin typeface="Cambria Math" panose="02040503050406030204" pitchFamily="18" charset="0"/>
                        <a:ea typeface="Cambria Math" panose="02040503050406030204" pitchFamily="18" charset="0"/>
                      </a:rPr>
                      <m:t>𝑑</m:t>
                    </m:r>
                  </m:oMath>
                </a14:m>
                <a:r>
                  <a:rPr lang="en-GB" sz="1200" dirty="0">
                    <a:latin typeface="Cambria Math" panose="02040503050406030204" pitchFamily="18" charset="0"/>
                    <a:ea typeface="Cambria Math" panose="02040503050406030204" pitchFamily="18" charset="0"/>
                  </a:rPr>
                  <a:t>… fixed downward jump of the underlying price (</a:t>
                </a:r>
                <a14:m>
                  <m:oMath xmlns:m="http://schemas.openxmlformats.org/officeDocument/2006/math">
                    <m:f>
                      <m:fPr>
                        <m:type m:val="lin"/>
                        <m:ctrlPr>
                          <a:rPr lang="en-GB" sz="1200" i="1">
                            <a:latin typeface="Cambria Math" panose="02040503050406030204" pitchFamily="18" charset="0"/>
                            <a:ea typeface="Cambria Math" panose="02040503050406030204" pitchFamily="18" charset="0"/>
                          </a:rPr>
                        </m:ctrlPr>
                      </m:fPr>
                      <m:num>
                        <m:sSub>
                          <m:sSubPr>
                            <m:ctrlPr>
                              <a:rPr lang="en-GB" sz="1200" i="1">
                                <a:latin typeface="Cambria Math" panose="02040503050406030204" pitchFamily="18" charset="0"/>
                                <a:ea typeface="Cambria Math" panose="02040503050406030204" pitchFamily="18" charset="0"/>
                              </a:rPr>
                            </m:ctrlPr>
                          </m:sSubPr>
                          <m:e>
                            <m:r>
                              <a:rPr lang="en-GB" sz="1200" i="1">
                                <a:latin typeface="Cambria Math" panose="02040503050406030204" pitchFamily="18" charset="0"/>
                                <a:ea typeface="Cambria Math" panose="02040503050406030204" pitchFamily="18" charset="0"/>
                              </a:rPr>
                              <m:t>𝑆</m:t>
                            </m:r>
                          </m:e>
                          <m:sub>
                            <m:r>
                              <a:rPr lang="en-GB" sz="1200" i="1">
                                <a:latin typeface="Cambria Math" panose="02040503050406030204" pitchFamily="18" charset="0"/>
                                <a:ea typeface="Cambria Math" panose="02040503050406030204" pitchFamily="18" charset="0"/>
                              </a:rPr>
                              <m:t>1</m:t>
                            </m:r>
                          </m:sub>
                        </m:sSub>
                      </m:num>
                      <m:den>
                        <m:sSub>
                          <m:sSubPr>
                            <m:ctrlPr>
                              <a:rPr lang="en-GB" sz="1200" i="1">
                                <a:latin typeface="Cambria Math" panose="02040503050406030204" pitchFamily="18" charset="0"/>
                                <a:ea typeface="Cambria Math" panose="02040503050406030204" pitchFamily="18" charset="0"/>
                              </a:rPr>
                            </m:ctrlPr>
                          </m:sSubPr>
                          <m:e>
                            <m:r>
                              <a:rPr lang="en-GB" sz="1200" i="1">
                                <a:latin typeface="Cambria Math" panose="02040503050406030204" pitchFamily="18" charset="0"/>
                                <a:ea typeface="Cambria Math" panose="02040503050406030204" pitchFamily="18" charset="0"/>
                              </a:rPr>
                              <m:t>𝑆</m:t>
                            </m:r>
                          </m:e>
                          <m:sub>
                            <m:r>
                              <a:rPr lang="en-GB" sz="1200" i="1">
                                <a:latin typeface="Cambria Math" panose="02040503050406030204" pitchFamily="18" charset="0"/>
                                <a:ea typeface="Cambria Math" panose="02040503050406030204" pitchFamily="18" charset="0"/>
                              </a:rPr>
                              <m:t>0</m:t>
                            </m:r>
                          </m:sub>
                        </m:sSub>
                      </m:den>
                    </m:f>
                    <m:r>
                      <a:rPr lang="en-GB" sz="1200" i="1">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0.7)</m:t>
                    </m:r>
                  </m:oMath>
                </a14:m>
                <a:endParaRPr lang="en-GB" sz="1200" dirty="0">
                  <a:latin typeface="Cambria Math" panose="02040503050406030204" pitchFamily="18" charset="0"/>
                  <a:ea typeface="Cambria Math" panose="02040503050406030204" pitchFamily="18" charset="0"/>
                </a:endParaRPr>
              </a:p>
            </p:txBody>
          </p:sp>
        </mc:Choice>
        <mc:Fallback xmlns="">
          <p:sp>
            <p:nvSpPr>
              <p:cNvPr id="72" name="TextovéPole 71">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620000" y="3666202"/>
                <a:ext cx="4328671" cy="276999"/>
              </a:xfrm>
              <a:prstGeom prst="rect">
                <a:avLst/>
              </a:prstGeom>
              <a:blipFill>
                <a:blip r:embed="rId15"/>
                <a:stretch>
                  <a:fillRect t="-91304" b="-145652"/>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3" name="TextovéPole 72">
                <a:extLst>
                  <a:ext uri="{FF2B5EF4-FFF2-40B4-BE49-F238E27FC236}">
                    <a16:creationId xmlns:a16="http://schemas.microsoft.com/office/drawing/2014/main" id="{05FC8A4A-3761-4383-881C-9096ADBF4AD7}"/>
                  </a:ext>
                </a:extLst>
              </p:cNvPr>
              <p:cNvSpPr txBox="1"/>
              <p:nvPr/>
            </p:nvSpPr>
            <p:spPr>
              <a:xfrm>
                <a:off x="1620000" y="3866858"/>
                <a:ext cx="2624321" cy="276999"/>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200" b="0" i="1" smtClean="0">
                        <a:latin typeface="Cambria Math" panose="02040503050406030204" pitchFamily="18" charset="0"/>
                        <a:ea typeface="Cambria Math" panose="02040503050406030204" pitchFamily="18" charset="0"/>
                      </a:rPr>
                      <m:t>𝑟</m:t>
                    </m:r>
                  </m:oMath>
                </a14:m>
                <a:r>
                  <a:rPr lang="en-GB" sz="1200" dirty="0">
                    <a:latin typeface="Cambria Math" panose="02040503050406030204" pitchFamily="18" charset="0"/>
                    <a:ea typeface="Cambria Math" panose="02040503050406030204" pitchFamily="18" charset="0"/>
                  </a:rPr>
                  <a:t>… risk-free interest rate</a:t>
                </a:r>
                <a:r>
                  <a:rPr lang="cs-CZ" sz="1200" dirty="0">
                    <a:latin typeface="Cambria Math" panose="02040503050406030204" pitchFamily="18" charset="0"/>
                    <a:ea typeface="Cambria Math" panose="02040503050406030204" pitchFamily="18" charset="0"/>
                  </a:rPr>
                  <a:t> (10%)</a:t>
                </a:r>
                <a:endParaRPr lang="en-GB" sz="1200" dirty="0">
                  <a:latin typeface="Cambria Math" panose="02040503050406030204" pitchFamily="18" charset="0"/>
                  <a:ea typeface="Cambria Math" panose="02040503050406030204" pitchFamily="18" charset="0"/>
                </a:endParaRPr>
              </a:p>
            </p:txBody>
          </p:sp>
        </mc:Choice>
        <mc:Fallback xmlns="">
          <p:sp>
            <p:nvSpPr>
              <p:cNvPr id="73" name="TextovéPole 72">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620000" y="3866858"/>
                <a:ext cx="2624321" cy="276999"/>
              </a:xfrm>
              <a:prstGeom prst="rect">
                <a:avLst/>
              </a:prstGeom>
              <a:blipFill>
                <a:blip r:embed="rId16"/>
                <a:stretch>
                  <a:fillRect b="-15217"/>
                </a:stretch>
              </a:blipFill>
              <a:ln>
                <a:noFill/>
              </a:ln>
            </p:spPr>
            <p:txBody>
              <a:bodyPr/>
              <a:lstStyle/>
              <a:p>
                <a:r>
                  <a:rPr lang="en-GB">
                    <a:noFill/>
                  </a:rPr>
                  <a:t> </a:t>
                </a:r>
              </a:p>
            </p:txBody>
          </p:sp>
        </mc:Fallback>
      </mc:AlternateContent>
      <p:grpSp>
        <p:nvGrpSpPr>
          <p:cNvPr id="7" name="Skupina 6"/>
          <p:cNvGrpSpPr/>
          <p:nvPr/>
        </p:nvGrpSpPr>
        <p:grpSpPr>
          <a:xfrm>
            <a:off x="928404" y="4462218"/>
            <a:ext cx="3241828" cy="1637134"/>
            <a:chOff x="1358692" y="4716342"/>
            <a:chExt cx="3241828" cy="1637134"/>
          </a:xfrm>
        </p:grpSpPr>
        <p:grpSp>
          <p:nvGrpSpPr>
            <p:cNvPr id="6" name="Skupina 5"/>
            <p:cNvGrpSpPr/>
            <p:nvPr/>
          </p:nvGrpSpPr>
          <p:grpSpPr>
            <a:xfrm>
              <a:off x="1358692" y="4953280"/>
              <a:ext cx="3100656" cy="1400196"/>
              <a:chOff x="1328212" y="4911752"/>
              <a:chExt cx="3100656" cy="1400196"/>
            </a:xfrm>
          </p:grpSpPr>
          <p:grpSp>
            <p:nvGrpSpPr>
              <p:cNvPr id="89" name="Skupina 88"/>
              <p:cNvGrpSpPr/>
              <p:nvPr/>
            </p:nvGrpSpPr>
            <p:grpSpPr>
              <a:xfrm>
                <a:off x="1706968" y="5478193"/>
                <a:ext cx="745953" cy="280717"/>
                <a:chOff x="1711999" y="2348880"/>
                <a:chExt cx="745953" cy="280717"/>
              </a:xfrm>
            </p:grpSpPr>
            <p:cxnSp>
              <p:nvCxnSpPr>
                <p:cNvPr id="96" name="Přímá spojnice 95"/>
                <p:cNvCxnSpPr/>
                <p:nvPr/>
              </p:nvCxnSpPr>
              <p:spPr>
                <a:xfrm>
                  <a:off x="1711999" y="2348880"/>
                  <a:ext cx="744327" cy="0"/>
                </a:xfrm>
                <a:prstGeom prst="line">
                  <a:avLst/>
                </a:prstGeom>
                <a:ln w="25400">
                  <a:headEnd type="none" w="lg" len="med"/>
                  <a:tailEnd type="triangle" w="med" len="med"/>
                </a:ln>
                <a:scene3d>
                  <a:camera prst="orthographicFront">
                    <a:rot lat="0" lon="0" rev="12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7" name="Přímá spojnice 96"/>
                <p:cNvCxnSpPr/>
                <p:nvPr/>
              </p:nvCxnSpPr>
              <p:spPr>
                <a:xfrm>
                  <a:off x="1713625" y="2629597"/>
                  <a:ext cx="744327" cy="0"/>
                </a:xfrm>
                <a:prstGeom prst="line">
                  <a:avLst/>
                </a:prstGeom>
                <a:ln w="25400">
                  <a:headEnd type="none" w="lg" len="med"/>
                  <a:tailEnd type="triangle" w="med" len="med"/>
                </a:ln>
                <a:scene3d>
                  <a:camera prst="orthographicFront">
                    <a:rot lat="0" lon="0" rev="20400000"/>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90" name="Skupina 89"/>
              <p:cNvGrpSpPr/>
              <p:nvPr/>
            </p:nvGrpSpPr>
            <p:grpSpPr>
              <a:xfrm>
                <a:off x="2656800" y="5697456"/>
                <a:ext cx="745953" cy="280717"/>
                <a:chOff x="1711999" y="2354896"/>
                <a:chExt cx="745953" cy="280717"/>
              </a:xfrm>
            </p:grpSpPr>
            <p:cxnSp>
              <p:nvCxnSpPr>
                <p:cNvPr id="94" name="Přímá spojnice 93"/>
                <p:cNvCxnSpPr/>
                <p:nvPr/>
              </p:nvCxnSpPr>
              <p:spPr>
                <a:xfrm>
                  <a:off x="1711999" y="2354896"/>
                  <a:ext cx="744327" cy="0"/>
                </a:xfrm>
                <a:prstGeom prst="line">
                  <a:avLst/>
                </a:prstGeom>
                <a:ln w="25400">
                  <a:headEnd type="none" w="lg" len="med"/>
                  <a:tailEnd type="triangle" w="med" len="med"/>
                </a:ln>
                <a:scene3d>
                  <a:camera prst="orthographicFront">
                    <a:rot lat="0" lon="0" rev="12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5" name="Přímá spojnice 94"/>
                <p:cNvCxnSpPr/>
                <p:nvPr/>
              </p:nvCxnSpPr>
              <p:spPr>
                <a:xfrm>
                  <a:off x="1713625" y="2635613"/>
                  <a:ext cx="744327" cy="0"/>
                </a:xfrm>
                <a:prstGeom prst="line">
                  <a:avLst/>
                </a:prstGeom>
                <a:ln w="25400">
                  <a:headEnd type="none" w="lg" len="med"/>
                  <a:tailEnd type="triangle" w="med" len="med"/>
                </a:ln>
                <a:scene3d>
                  <a:camera prst="orthographicFront">
                    <a:rot lat="0" lon="0" rev="20400000"/>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91" name="Skupina 90"/>
              <p:cNvGrpSpPr/>
              <p:nvPr/>
            </p:nvGrpSpPr>
            <p:grpSpPr>
              <a:xfrm>
                <a:off x="2658264" y="5199095"/>
                <a:ext cx="753268" cy="280717"/>
                <a:chOff x="1704684" y="2360912"/>
                <a:chExt cx="753268" cy="280717"/>
              </a:xfrm>
            </p:grpSpPr>
            <p:cxnSp>
              <p:nvCxnSpPr>
                <p:cNvPr id="92" name="Přímá spojnice 91"/>
                <p:cNvCxnSpPr/>
                <p:nvPr/>
              </p:nvCxnSpPr>
              <p:spPr>
                <a:xfrm>
                  <a:off x="1704684" y="2360912"/>
                  <a:ext cx="744327" cy="0"/>
                </a:xfrm>
                <a:prstGeom prst="line">
                  <a:avLst/>
                </a:prstGeom>
                <a:ln w="25400">
                  <a:headEnd type="none" w="lg" len="med"/>
                  <a:tailEnd type="triangle" w="med" len="med"/>
                </a:ln>
                <a:scene3d>
                  <a:camera prst="orthographicFront">
                    <a:rot lat="0" lon="0" rev="12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3" name="Přímá spojnice 92"/>
                <p:cNvCxnSpPr/>
                <p:nvPr/>
              </p:nvCxnSpPr>
              <p:spPr>
                <a:xfrm>
                  <a:off x="1713625" y="2641629"/>
                  <a:ext cx="744327" cy="0"/>
                </a:xfrm>
                <a:prstGeom prst="line">
                  <a:avLst/>
                </a:prstGeom>
                <a:ln w="25400">
                  <a:headEnd type="none" w="lg" len="med"/>
                  <a:tailEnd type="triangle" w="med" len="med"/>
                </a:ln>
                <a:scene3d>
                  <a:camera prst="orthographicFront">
                    <a:rot lat="0" lon="0" rev="20400000"/>
                  </a:camera>
                  <a:lightRig rig="threePt" dir="t"/>
                </a:scene3d>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6" name="TextovéPole 85"/>
                  <p:cNvSpPr txBox="1"/>
                  <p:nvPr/>
                </p:nvSpPr>
                <p:spPr>
                  <a:xfrm>
                    <a:off x="2271172" y="5199220"/>
                    <a:ext cx="576803" cy="400110"/>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en-US" sz="1000" b="0" i="1" smtClean="0">
                              <a:latin typeface="Cambria Math" panose="02040503050406030204" pitchFamily="18" charset="0"/>
                              <a:ea typeface="Cambria Math" panose="02040503050406030204" pitchFamily="18" charset="0"/>
                            </a:rPr>
                            <m:t>𝑢𝑆</m:t>
                          </m:r>
                        </m:oMath>
                      </m:oMathPara>
                    </a14:m>
                    <a:endParaRPr lang="cs-CZ" sz="1000" dirty="0">
                      <a:latin typeface="Cambria Math"/>
                      <a:ea typeface="Cambria Math" panose="02040503050406030204" pitchFamily="18" charset="0"/>
                    </a:endParaRPr>
                  </a:p>
                  <a:p>
                    <a:pPr algn="ctr"/>
                    <a:r>
                      <a:rPr lang="cs-CZ" sz="1000" dirty="0">
                        <a:latin typeface="Cambria Math"/>
                        <a:ea typeface="Cambria Math" panose="02040503050406030204" pitchFamily="18" charset="0"/>
                      </a:rPr>
                      <a:t>(</a:t>
                    </a:r>
                    <a:r>
                      <a:rPr lang="en-US" sz="1000" dirty="0">
                        <a:latin typeface="Cambria Math"/>
                        <a:ea typeface="Cambria Math" panose="02040503050406030204" pitchFamily="18" charset="0"/>
                      </a:rPr>
                      <a:t>65</a:t>
                    </a:r>
                    <a:r>
                      <a:rPr lang="cs-CZ" sz="1000" dirty="0">
                        <a:latin typeface="Cambria Math"/>
                        <a:ea typeface="Cambria Math" panose="02040503050406030204" pitchFamily="18" charset="0"/>
                      </a:rPr>
                      <a:t>)</a:t>
                    </a:r>
                  </a:p>
                </p:txBody>
              </p:sp>
            </mc:Choice>
            <mc:Fallback xmlns="">
              <p:sp>
                <p:nvSpPr>
                  <p:cNvPr id="86" name="TextovéPole 85"/>
                  <p:cNvSpPr txBox="1">
                    <a:spLocks noRot="1" noChangeAspect="1" noMove="1" noResize="1" noEditPoints="1" noAdjustHandles="1" noChangeArrowheads="1" noChangeShapeType="1" noTextEdit="1"/>
                  </p:cNvSpPr>
                  <p:nvPr/>
                </p:nvSpPr>
                <p:spPr>
                  <a:xfrm>
                    <a:off x="2271172" y="5199220"/>
                    <a:ext cx="576803" cy="400110"/>
                  </a:xfrm>
                  <a:prstGeom prst="rect">
                    <a:avLst/>
                  </a:prstGeom>
                  <a:blipFill>
                    <a:blip r:embed="rId17"/>
                    <a:stretch>
                      <a:fillRect b="-757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8" name="TextovéPole 97"/>
                  <p:cNvSpPr txBox="1"/>
                  <p:nvPr/>
                </p:nvSpPr>
                <p:spPr>
                  <a:xfrm>
                    <a:off x="2270433" y="5693186"/>
                    <a:ext cx="576803" cy="400110"/>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cs-CZ" sz="1000" b="0" i="1" smtClean="0">
                              <a:latin typeface="Cambria Math" panose="02040503050406030204" pitchFamily="18" charset="0"/>
                              <a:ea typeface="Cambria Math" panose="02040503050406030204" pitchFamily="18" charset="0"/>
                            </a:rPr>
                            <m:t>𝑑</m:t>
                          </m:r>
                          <m:r>
                            <a:rPr lang="en-US" sz="1000" b="0" i="1" smtClean="0">
                              <a:latin typeface="Cambria Math" panose="02040503050406030204" pitchFamily="18" charset="0"/>
                              <a:ea typeface="Cambria Math" panose="02040503050406030204" pitchFamily="18" charset="0"/>
                            </a:rPr>
                            <m:t>𝑆</m:t>
                          </m:r>
                        </m:oMath>
                      </m:oMathPara>
                    </a14:m>
                    <a:endParaRPr lang="cs-CZ" sz="1000" dirty="0">
                      <a:latin typeface="Cambria Math"/>
                      <a:ea typeface="Cambria Math" panose="02040503050406030204" pitchFamily="18" charset="0"/>
                    </a:endParaRPr>
                  </a:p>
                  <a:p>
                    <a:pPr algn="ctr"/>
                    <a:r>
                      <a:rPr lang="cs-CZ" sz="1000" dirty="0">
                        <a:latin typeface="Cambria Math"/>
                        <a:ea typeface="Cambria Math" panose="02040503050406030204" pitchFamily="18" charset="0"/>
                      </a:rPr>
                      <a:t>(3</a:t>
                    </a:r>
                    <a:r>
                      <a:rPr lang="en-US" sz="1000" dirty="0">
                        <a:latin typeface="Cambria Math"/>
                        <a:ea typeface="Cambria Math" panose="02040503050406030204" pitchFamily="18" charset="0"/>
                      </a:rPr>
                      <a:t>5</a:t>
                    </a:r>
                    <a:r>
                      <a:rPr lang="cs-CZ" sz="1000" dirty="0">
                        <a:latin typeface="Cambria Math"/>
                        <a:ea typeface="Cambria Math" panose="02040503050406030204" pitchFamily="18" charset="0"/>
                      </a:rPr>
                      <a:t>)</a:t>
                    </a:r>
                  </a:p>
                </p:txBody>
              </p:sp>
            </mc:Choice>
            <mc:Fallback xmlns="">
              <p:sp>
                <p:nvSpPr>
                  <p:cNvPr id="98" name="TextovéPole 97"/>
                  <p:cNvSpPr txBox="1">
                    <a:spLocks noRot="1" noChangeAspect="1" noMove="1" noResize="1" noEditPoints="1" noAdjustHandles="1" noChangeArrowheads="1" noChangeShapeType="1" noTextEdit="1"/>
                  </p:cNvSpPr>
                  <p:nvPr/>
                </p:nvSpPr>
                <p:spPr>
                  <a:xfrm>
                    <a:off x="2270433" y="5693186"/>
                    <a:ext cx="576803" cy="400110"/>
                  </a:xfrm>
                  <a:prstGeom prst="rect">
                    <a:avLst/>
                  </a:prstGeom>
                  <a:blipFill rotWithShape="1">
                    <a:blip r:embed="rId18"/>
                    <a:stretch>
                      <a:fillRect b="-7692"/>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101" name="TextovéPole 100"/>
                  <p:cNvSpPr txBox="1"/>
                  <p:nvPr/>
                </p:nvSpPr>
                <p:spPr>
                  <a:xfrm>
                    <a:off x="1328212" y="5437729"/>
                    <a:ext cx="576803" cy="400110"/>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en-US" sz="1000" b="0" i="1" smtClean="0">
                              <a:latin typeface="Cambria Math" panose="02040503050406030204" pitchFamily="18" charset="0"/>
                              <a:ea typeface="Cambria Math" panose="02040503050406030204" pitchFamily="18" charset="0"/>
                            </a:rPr>
                            <m:t>𝑆</m:t>
                          </m:r>
                        </m:oMath>
                      </m:oMathPara>
                    </a14:m>
                    <a:endParaRPr lang="cs-CZ" sz="1000" dirty="0">
                      <a:latin typeface="Cambria Math"/>
                      <a:ea typeface="Cambria Math" panose="02040503050406030204" pitchFamily="18" charset="0"/>
                    </a:endParaRPr>
                  </a:p>
                  <a:p>
                    <a:pPr algn="ctr"/>
                    <a:r>
                      <a:rPr lang="cs-CZ" sz="1000" dirty="0">
                        <a:latin typeface="Cambria Math"/>
                        <a:ea typeface="Cambria Math" panose="02040503050406030204" pitchFamily="18" charset="0"/>
                      </a:rPr>
                      <a:t>(</a:t>
                    </a:r>
                    <a:r>
                      <a:rPr lang="en-US" sz="1000" dirty="0">
                        <a:latin typeface="Cambria Math"/>
                        <a:ea typeface="Cambria Math" panose="02040503050406030204" pitchFamily="18" charset="0"/>
                      </a:rPr>
                      <a:t>5</a:t>
                    </a:r>
                    <a:r>
                      <a:rPr lang="cs-CZ" sz="1000" dirty="0">
                        <a:latin typeface="Cambria Math"/>
                        <a:ea typeface="Cambria Math" panose="02040503050406030204" pitchFamily="18" charset="0"/>
                      </a:rPr>
                      <a:t>0)</a:t>
                    </a:r>
                  </a:p>
                </p:txBody>
              </p:sp>
            </mc:Choice>
            <mc:Fallback xmlns="">
              <p:sp>
                <p:nvSpPr>
                  <p:cNvPr id="101" name="TextovéPole 100"/>
                  <p:cNvSpPr txBox="1">
                    <a:spLocks noRot="1" noChangeAspect="1" noMove="1" noResize="1" noEditPoints="1" noAdjustHandles="1" noChangeArrowheads="1" noChangeShapeType="1" noTextEdit="1"/>
                  </p:cNvSpPr>
                  <p:nvPr/>
                </p:nvSpPr>
                <p:spPr>
                  <a:xfrm>
                    <a:off x="1328212" y="5437729"/>
                    <a:ext cx="576803" cy="400110"/>
                  </a:xfrm>
                  <a:prstGeom prst="rect">
                    <a:avLst/>
                  </a:prstGeom>
                  <a:blipFill rotWithShape="1">
                    <a:blip r:embed="rId19"/>
                    <a:stretch>
                      <a:fillRect b="-6061"/>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106" name="TextovéPole 105"/>
                  <p:cNvSpPr txBox="1"/>
                  <p:nvPr/>
                </p:nvSpPr>
                <p:spPr>
                  <a:xfrm>
                    <a:off x="3257188" y="4911752"/>
                    <a:ext cx="576803" cy="413255"/>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sSup>
                            <m:sSupPr>
                              <m:ctrlPr>
                                <a:rPr lang="en-US" sz="1000" b="0" i="1" smtClean="0">
                                  <a:latin typeface="Cambria Math" panose="02040503050406030204" pitchFamily="18" charset="0"/>
                                  <a:ea typeface="Cambria Math" panose="02040503050406030204" pitchFamily="18" charset="0"/>
                                </a:rPr>
                              </m:ctrlPr>
                            </m:sSupPr>
                            <m:e>
                              <m:r>
                                <a:rPr lang="cs-CZ" sz="1000" b="0" i="1" smtClean="0">
                                  <a:latin typeface="Cambria Math" panose="02040503050406030204" pitchFamily="18" charset="0"/>
                                  <a:ea typeface="Cambria Math" panose="02040503050406030204" pitchFamily="18" charset="0"/>
                                </a:rPr>
                                <m:t>𝑢</m:t>
                              </m:r>
                            </m:e>
                            <m:sup>
                              <m:r>
                                <a:rPr lang="cs-CZ" sz="1000" b="0" i="1" smtClean="0">
                                  <a:latin typeface="Cambria Math" panose="02040503050406030204" pitchFamily="18" charset="0"/>
                                  <a:ea typeface="Cambria Math" panose="02040503050406030204" pitchFamily="18" charset="0"/>
                                </a:rPr>
                                <m:t>2</m:t>
                              </m:r>
                            </m:sup>
                          </m:sSup>
                          <m:r>
                            <a:rPr lang="en-US" sz="1000" b="0" i="1" smtClean="0">
                              <a:latin typeface="Cambria Math" panose="02040503050406030204" pitchFamily="18" charset="0"/>
                              <a:ea typeface="Cambria Math" panose="02040503050406030204" pitchFamily="18" charset="0"/>
                            </a:rPr>
                            <m:t>𝑆</m:t>
                          </m:r>
                        </m:oMath>
                      </m:oMathPara>
                    </a14:m>
                    <a:endParaRPr lang="cs-CZ" sz="1000" dirty="0">
                      <a:latin typeface="Cambria Math"/>
                      <a:ea typeface="Cambria Math" panose="02040503050406030204" pitchFamily="18" charset="0"/>
                    </a:endParaRPr>
                  </a:p>
                  <a:p>
                    <a:pPr algn="ctr"/>
                    <a:r>
                      <a:rPr lang="cs-CZ" sz="1000" dirty="0">
                        <a:latin typeface="Cambria Math"/>
                        <a:ea typeface="Cambria Math" panose="02040503050406030204" pitchFamily="18" charset="0"/>
                      </a:rPr>
                      <a:t>(84.5)</a:t>
                    </a:r>
                  </a:p>
                </p:txBody>
              </p:sp>
            </mc:Choice>
            <mc:Fallback xmlns="">
              <p:sp>
                <p:nvSpPr>
                  <p:cNvPr id="106" name="TextovéPole 105"/>
                  <p:cNvSpPr txBox="1">
                    <a:spLocks noRot="1" noChangeAspect="1" noMove="1" noResize="1" noEditPoints="1" noAdjustHandles="1" noChangeArrowheads="1" noChangeShapeType="1" noTextEdit="1"/>
                  </p:cNvSpPr>
                  <p:nvPr/>
                </p:nvSpPr>
                <p:spPr>
                  <a:xfrm>
                    <a:off x="3257188" y="4911752"/>
                    <a:ext cx="576803" cy="413255"/>
                  </a:xfrm>
                  <a:prstGeom prst="rect">
                    <a:avLst/>
                  </a:prstGeom>
                  <a:blipFill>
                    <a:blip r:embed="rId20"/>
                    <a:stretch>
                      <a:fillRect b="-294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0" name="TextovéPole 109"/>
                  <p:cNvSpPr txBox="1"/>
                  <p:nvPr/>
                </p:nvSpPr>
                <p:spPr>
                  <a:xfrm>
                    <a:off x="3258000" y="5411741"/>
                    <a:ext cx="576803" cy="413255"/>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cs-CZ" sz="1000" b="0" i="1" smtClean="0">
                              <a:latin typeface="Cambria Math" panose="02040503050406030204" pitchFamily="18" charset="0"/>
                              <a:ea typeface="Cambria Math" panose="02040503050406030204" pitchFamily="18" charset="0"/>
                            </a:rPr>
                            <m:t>𝑢𝑑</m:t>
                          </m:r>
                          <m:r>
                            <a:rPr lang="en-US" sz="1000" b="0" i="1" smtClean="0">
                              <a:latin typeface="Cambria Math" panose="02040503050406030204" pitchFamily="18" charset="0"/>
                              <a:ea typeface="Cambria Math" panose="02040503050406030204" pitchFamily="18" charset="0"/>
                            </a:rPr>
                            <m:t>𝑆</m:t>
                          </m:r>
                        </m:oMath>
                      </m:oMathPara>
                    </a14:m>
                    <a:endParaRPr lang="cs-CZ" sz="1000" dirty="0">
                      <a:latin typeface="Cambria Math"/>
                      <a:ea typeface="Cambria Math" panose="02040503050406030204" pitchFamily="18" charset="0"/>
                    </a:endParaRPr>
                  </a:p>
                  <a:p>
                    <a:pPr algn="ctr"/>
                    <a:r>
                      <a:rPr lang="cs-CZ" sz="1000" dirty="0">
                        <a:latin typeface="Cambria Math"/>
                        <a:ea typeface="Cambria Math" panose="02040503050406030204" pitchFamily="18" charset="0"/>
                      </a:rPr>
                      <a:t>(45.5)</a:t>
                    </a:r>
                  </a:p>
                </p:txBody>
              </p:sp>
            </mc:Choice>
            <mc:Fallback xmlns="">
              <p:sp>
                <p:nvSpPr>
                  <p:cNvPr id="110" name="TextovéPole 109"/>
                  <p:cNvSpPr txBox="1">
                    <a:spLocks noRot="1" noChangeAspect="1" noMove="1" noResize="1" noEditPoints="1" noAdjustHandles="1" noChangeArrowheads="1" noChangeShapeType="1" noTextEdit="1"/>
                  </p:cNvSpPr>
                  <p:nvPr/>
                </p:nvSpPr>
                <p:spPr>
                  <a:xfrm>
                    <a:off x="3258000" y="5411741"/>
                    <a:ext cx="576803" cy="413255"/>
                  </a:xfrm>
                  <a:prstGeom prst="rect">
                    <a:avLst/>
                  </a:prstGeom>
                  <a:blipFill>
                    <a:blip r:embed="rId21"/>
                    <a:stretch>
                      <a:fillRect b="-294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1" name="TextovéPole 110"/>
                  <p:cNvSpPr txBox="1"/>
                  <p:nvPr/>
                </p:nvSpPr>
                <p:spPr>
                  <a:xfrm>
                    <a:off x="3258000" y="5898693"/>
                    <a:ext cx="576803" cy="413255"/>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sSup>
                            <m:sSupPr>
                              <m:ctrlPr>
                                <a:rPr lang="en-US" sz="1000" b="0" i="1" smtClean="0">
                                  <a:latin typeface="Cambria Math" panose="02040503050406030204" pitchFamily="18" charset="0"/>
                                  <a:ea typeface="Cambria Math" panose="02040503050406030204" pitchFamily="18" charset="0"/>
                                </a:rPr>
                              </m:ctrlPr>
                            </m:sSupPr>
                            <m:e>
                              <m:r>
                                <a:rPr lang="cs-CZ" sz="1000" b="0" i="1" smtClean="0">
                                  <a:latin typeface="Cambria Math" panose="02040503050406030204" pitchFamily="18" charset="0"/>
                                  <a:ea typeface="Cambria Math" panose="02040503050406030204" pitchFamily="18" charset="0"/>
                                </a:rPr>
                                <m:t>𝑑</m:t>
                              </m:r>
                            </m:e>
                            <m:sup>
                              <m:r>
                                <a:rPr lang="cs-CZ" sz="1000" b="0" i="1" smtClean="0">
                                  <a:latin typeface="Cambria Math" panose="02040503050406030204" pitchFamily="18" charset="0"/>
                                  <a:ea typeface="Cambria Math" panose="02040503050406030204" pitchFamily="18" charset="0"/>
                                </a:rPr>
                                <m:t>2</m:t>
                              </m:r>
                            </m:sup>
                          </m:sSup>
                          <m:r>
                            <a:rPr lang="en-US" sz="1000" b="0" i="1" smtClean="0">
                              <a:latin typeface="Cambria Math" panose="02040503050406030204" pitchFamily="18" charset="0"/>
                              <a:ea typeface="Cambria Math" panose="02040503050406030204" pitchFamily="18" charset="0"/>
                            </a:rPr>
                            <m:t>𝑆</m:t>
                          </m:r>
                        </m:oMath>
                      </m:oMathPara>
                    </a14:m>
                    <a:endParaRPr lang="cs-CZ" sz="1000" dirty="0">
                      <a:latin typeface="Cambria Math"/>
                      <a:ea typeface="Cambria Math" panose="02040503050406030204" pitchFamily="18" charset="0"/>
                    </a:endParaRPr>
                  </a:p>
                  <a:p>
                    <a:pPr algn="ctr"/>
                    <a:r>
                      <a:rPr lang="cs-CZ" sz="1000" dirty="0">
                        <a:latin typeface="Cambria Math"/>
                        <a:ea typeface="Cambria Math" panose="02040503050406030204" pitchFamily="18" charset="0"/>
                      </a:rPr>
                      <a:t>(24.5)</a:t>
                    </a:r>
                  </a:p>
                </p:txBody>
              </p:sp>
            </mc:Choice>
            <mc:Fallback xmlns="">
              <p:sp>
                <p:nvSpPr>
                  <p:cNvPr id="111" name="TextovéPole 110"/>
                  <p:cNvSpPr txBox="1">
                    <a:spLocks noRot="1" noChangeAspect="1" noMove="1" noResize="1" noEditPoints="1" noAdjustHandles="1" noChangeArrowheads="1" noChangeShapeType="1" noTextEdit="1"/>
                  </p:cNvSpPr>
                  <p:nvPr/>
                </p:nvSpPr>
                <p:spPr>
                  <a:xfrm>
                    <a:off x="3258000" y="5898693"/>
                    <a:ext cx="576803" cy="413255"/>
                  </a:xfrm>
                  <a:prstGeom prst="rect">
                    <a:avLst/>
                  </a:prstGeom>
                  <a:blipFill>
                    <a:blip r:embed="rId22"/>
                    <a:stretch>
                      <a:fillRect b="-2941"/>
                    </a:stretch>
                  </a:blipFill>
                </p:spPr>
                <p:txBody>
                  <a:bodyPr/>
                  <a:lstStyle/>
                  <a:p>
                    <a:r>
                      <a:rPr lang="en-GB">
                        <a:noFill/>
                      </a:rPr>
                      <a:t> </a:t>
                    </a:r>
                  </a:p>
                </p:txBody>
              </p:sp>
            </mc:Fallback>
          </mc:AlternateContent>
          <p:grpSp>
            <p:nvGrpSpPr>
              <p:cNvPr id="112" name="Skupina 111"/>
              <p:cNvGrpSpPr/>
              <p:nvPr/>
            </p:nvGrpSpPr>
            <p:grpSpPr>
              <a:xfrm>
                <a:off x="3674716" y="4945360"/>
                <a:ext cx="753268" cy="280717"/>
                <a:chOff x="1704684" y="2360912"/>
                <a:chExt cx="753268" cy="280717"/>
              </a:xfrm>
            </p:grpSpPr>
            <p:cxnSp>
              <p:nvCxnSpPr>
                <p:cNvPr id="113" name="Přímá spojnice 112"/>
                <p:cNvCxnSpPr/>
                <p:nvPr/>
              </p:nvCxnSpPr>
              <p:spPr>
                <a:xfrm>
                  <a:off x="1704684" y="2360912"/>
                  <a:ext cx="744327" cy="0"/>
                </a:xfrm>
                <a:prstGeom prst="line">
                  <a:avLst/>
                </a:prstGeom>
                <a:ln w="25400">
                  <a:headEnd type="none" w="lg" len="med"/>
                  <a:tailEnd type="triangle" w="med" len="med"/>
                </a:ln>
                <a:scene3d>
                  <a:camera prst="orthographicFront">
                    <a:rot lat="0" lon="0" rev="12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4" name="Přímá spojnice 113"/>
                <p:cNvCxnSpPr/>
                <p:nvPr/>
              </p:nvCxnSpPr>
              <p:spPr>
                <a:xfrm>
                  <a:off x="1713625" y="2641629"/>
                  <a:ext cx="744327" cy="0"/>
                </a:xfrm>
                <a:prstGeom prst="line">
                  <a:avLst/>
                </a:prstGeom>
                <a:ln w="25400">
                  <a:headEnd type="none" w="lg" len="med"/>
                  <a:tailEnd type="triangle" w="med" len="med"/>
                </a:ln>
                <a:scene3d>
                  <a:camera prst="orthographicFront">
                    <a:rot lat="0" lon="0" rev="20400000"/>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115" name="Skupina 114"/>
              <p:cNvGrpSpPr/>
              <p:nvPr/>
            </p:nvGrpSpPr>
            <p:grpSpPr>
              <a:xfrm>
                <a:off x="3674716" y="5437299"/>
                <a:ext cx="753268" cy="280717"/>
                <a:chOff x="1704684" y="2360912"/>
                <a:chExt cx="753268" cy="280717"/>
              </a:xfrm>
            </p:grpSpPr>
            <p:cxnSp>
              <p:nvCxnSpPr>
                <p:cNvPr id="116" name="Přímá spojnice 115"/>
                <p:cNvCxnSpPr/>
                <p:nvPr/>
              </p:nvCxnSpPr>
              <p:spPr>
                <a:xfrm>
                  <a:off x="1704684" y="2360912"/>
                  <a:ext cx="744327" cy="0"/>
                </a:xfrm>
                <a:prstGeom prst="line">
                  <a:avLst/>
                </a:prstGeom>
                <a:ln w="25400">
                  <a:headEnd type="none" w="lg" len="med"/>
                  <a:tailEnd type="triangle" w="med" len="med"/>
                </a:ln>
                <a:scene3d>
                  <a:camera prst="orthographicFront">
                    <a:rot lat="0" lon="0" rev="12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7" name="Přímá spojnice 116"/>
                <p:cNvCxnSpPr/>
                <p:nvPr/>
              </p:nvCxnSpPr>
              <p:spPr>
                <a:xfrm>
                  <a:off x="1713625" y="2641629"/>
                  <a:ext cx="744327" cy="0"/>
                </a:xfrm>
                <a:prstGeom prst="line">
                  <a:avLst/>
                </a:prstGeom>
                <a:ln w="25400">
                  <a:headEnd type="none" w="lg" len="med"/>
                  <a:tailEnd type="triangle" w="med" len="med"/>
                </a:ln>
                <a:scene3d>
                  <a:camera prst="orthographicFront">
                    <a:rot lat="0" lon="0" rev="20400000"/>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118" name="Skupina 117"/>
              <p:cNvGrpSpPr/>
              <p:nvPr/>
            </p:nvGrpSpPr>
            <p:grpSpPr>
              <a:xfrm>
                <a:off x="3675600" y="5922992"/>
                <a:ext cx="753268" cy="280717"/>
                <a:chOff x="1704684" y="2360912"/>
                <a:chExt cx="753268" cy="280717"/>
              </a:xfrm>
            </p:grpSpPr>
            <p:cxnSp>
              <p:nvCxnSpPr>
                <p:cNvPr id="119" name="Přímá spojnice 118"/>
                <p:cNvCxnSpPr/>
                <p:nvPr/>
              </p:nvCxnSpPr>
              <p:spPr>
                <a:xfrm>
                  <a:off x="1704684" y="2360912"/>
                  <a:ext cx="744327" cy="0"/>
                </a:xfrm>
                <a:prstGeom prst="line">
                  <a:avLst/>
                </a:prstGeom>
                <a:ln w="25400">
                  <a:headEnd type="none" w="lg" len="med"/>
                  <a:tailEnd type="triangle" w="med" len="med"/>
                </a:ln>
                <a:scene3d>
                  <a:camera prst="orthographicFront">
                    <a:rot lat="0" lon="0" rev="12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20" name="Přímá spojnice 119"/>
                <p:cNvCxnSpPr/>
                <p:nvPr/>
              </p:nvCxnSpPr>
              <p:spPr>
                <a:xfrm>
                  <a:off x="1713625" y="2641629"/>
                  <a:ext cx="744327" cy="0"/>
                </a:xfrm>
                <a:prstGeom prst="line">
                  <a:avLst/>
                </a:prstGeom>
                <a:ln w="25400">
                  <a:headEnd type="none" w="lg" len="med"/>
                  <a:tailEnd type="triangle" w="med" len="med"/>
                </a:ln>
                <a:scene3d>
                  <a:camera prst="orthographicFront">
                    <a:rot lat="0" lon="0" rev="20400000"/>
                  </a:camera>
                  <a:lightRig rig="threePt" dir="t"/>
                </a:scene3d>
              </p:spPr>
              <p:style>
                <a:lnRef idx="1">
                  <a:schemeClr val="accent1"/>
                </a:lnRef>
                <a:fillRef idx="0">
                  <a:schemeClr val="accent1"/>
                </a:fillRef>
                <a:effectRef idx="0">
                  <a:schemeClr val="accent1"/>
                </a:effectRef>
                <a:fontRef idx="minor">
                  <a:schemeClr val="tx1"/>
                </a:fontRef>
              </p:style>
            </p:cxnSp>
          </p:grpSp>
        </p:grpSp>
        <p:sp>
          <p:nvSpPr>
            <p:cNvPr id="121" name="TextovéPole 120">
              <a:extLst>
                <a:ext uri="{FF2B5EF4-FFF2-40B4-BE49-F238E27FC236}">
                  <a16:creationId xmlns:a16="http://schemas.microsoft.com/office/drawing/2014/main" id="{08463747-ADBE-47DD-BD10-8F53E0250636}"/>
                </a:ext>
              </a:extLst>
            </p:cNvPr>
            <p:cNvSpPr txBox="1"/>
            <p:nvPr/>
          </p:nvSpPr>
          <p:spPr>
            <a:xfrm>
              <a:off x="1358692" y="4716342"/>
              <a:ext cx="3241828" cy="240066"/>
            </a:xfrm>
            <a:prstGeom prst="rect">
              <a:avLst/>
            </a:prstGeom>
            <a:noFill/>
            <a:ln>
              <a:noFill/>
            </a:ln>
          </p:spPr>
          <p:txBody>
            <a:bodyPr wrap="square" rtlCol="0">
              <a:spAutoFit/>
            </a:bodyPr>
            <a:lstStyle/>
            <a:p>
              <a:pPr marL="0" lvl="2" algn="ctr">
                <a:lnSpc>
                  <a:spcPct val="80000"/>
                </a:lnSpc>
                <a:buClr>
                  <a:srgbClr val="7030A0"/>
                </a:buClr>
                <a:buSzPct val="80000"/>
              </a:pPr>
              <a:r>
                <a:rPr lang="en-GB" sz="1200" b="1" dirty="0">
                  <a:latin typeface="Cambria Math" panose="02040503050406030204" pitchFamily="18" charset="0"/>
                  <a:ea typeface="Cambria Math" panose="02040503050406030204" pitchFamily="18" charset="0"/>
                  <a:sym typeface="Wingdings 2" panose="05020102010507070707" pitchFamily="18" charset="2"/>
                </a:rPr>
                <a:t>Price movement of the underlying share</a:t>
              </a:r>
              <a:endParaRPr lang="en-GB" sz="1200" b="1" dirty="0">
                <a:latin typeface="Cambria Math" panose="02040503050406030204" pitchFamily="18" charset="0"/>
                <a:ea typeface="Cambria Math" panose="02040503050406030204" pitchFamily="18" charset="0"/>
              </a:endParaRPr>
            </a:p>
          </p:txBody>
        </p:sp>
      </p:grpSp>
      <p:grpSp>
        <p:nvGrpSpPr>
          <p:cNvPr id="9" name="Skupina 8"/>
          <p:cNvGrpSpPr/>
          <p:nvPr/>
        </p:nvGrpSpPr>
        <p:grpSpPr>
          <a:xfrm>
            <a:off x="4274491" y="4464000"/>
            <a:ext cx="3873196" cy="1568808"/>
            <a:chOff x="4549672" y="4725144"/>
            <a:chExt cx="3873196" cy="1568808"/>
          </a:xfrm>
        </p:grpSpPr>
        <p:grpSp>
          <p:nvGrpSpPr>
            <p:cNvPr id="77" name="Skupina 76"/>
            <p:cNvGrpSpPr/>
            <p:nvPr/>
          </p:nvGrpSpPr>
          <p:grpSpPr>
            <a:xfrm>
              <a:off x="4950756" y="5528523"/>
              <a:ext cx="745953" cy="280717"/>
              <a:chOff x="1711999" y="2348880"/>
              <a:chExt cx="745953" cy="280717"/>
            </a:xfrm>
          </p:grpSpPr>
          <p:cxnSp>
            <p:nvCxnSpPr>
              <p:cNvPr id="126" name="Přímá spojnice 125"/>
              <p:cNvCxnSpPr/>
              <p:nvPr/>
            </p:nvCxnSpPr>
            <p:spPr>
              <a:xfrm>
                <a:off x="1711999" y="2348880"/>
                <a:ext cx="744327" cy="0"/>
              </a:xfrm>
              <a:prstGeom prst="line">
                <a:avLst/>
              </a:prstGeom>
              <a:ln w="25400">
                <a:headEnd type="none" w="lg" len="med"/>
                <a:tailEnd type="triangle" w="med" len="med"/>
              </a:ln>
              <a:scene3d>
                <a:camera prst="orthographicFront">
                  <a:rot lat="0" lon="0" rev="12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27" name="Přímá spojnice 126"/>
              <p:cNvCxnSpPr/>
              <p:nvPr/>
            </p:nvCxnSpPr>
            <p:spPr>
              <a:xfrm>
                <a:off x="1713625" y="2629597"/>
                <a:ext cx="744327" cy="0"/>
              </a:xfrm>
              <a:prstGeom prst="line">
                <a:avLst/>
              </a:prstGeom>
              <a:ln w="25400">
                <a:headEnd type="none" w="lg" len="med"/>
                <a:tailEnd type="triangle" w="med" len="med"/>
              </a:ln>
              <a:scene3d>
                <a:camera prst="orthographicFront">
                  <a:rot lat="0" lon="0" rev="20400000"/>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78" name="Skupina 77"/>
            <p:cNvGrpSpPr/>
            <p:nvPr/>
          </p:nvGrpSpPr>
          <p:grpSpPr>
            <a:xfrm>
              <a:off x="6629496" y="5709366"/>
              <a:ext cx="745953" cy="280717"/>
              <a:chOff x="1711999" y="2354896"/>
              <a:chExt cx="745953" cy="280717"/>
            </a:xfrm>
          </p:grpSpPr>
          <p:cxnSp>
            <p:nvCxnSpPr>
              <p:cNvPr id="124" name="Přímá spojnice 123"/>
              <p:cNvCxnSpPr/>
              <p:nvPr/>
            </p:nvCxnSpPr>
            <p:spPr>
              <a:xfrm>
                <a:off x="1711999" y="2354896"/>
                <a:ext cx="744327" cy="0"/>
              </a:xfrm>
              <a:prstGeom prst="line">
                <a:avLst/>
              </a:prstGeom>
              <a:ln w="25400">
                <a:headEnd type="none" w="lg" len="med"/>
                <a:tailEnd type="triangle" w="med" len="med"/>
              </a:ln>
              <a:scene3d>
                <a:camera prst="orthographicFront">
                  <a:rot lat="0" lon="0" rev="12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25" name="Přímá spojnice 124"/>
              <p:cNvCxnSpPr/>
              <p:nvPr/>
            </p:nvCxnSpPr>
            <p:spPr>
              <a:xfrm>
                <a:off x="1713625" y="2635613"/>
                <a:ext cx="744327" cy="0"/>
              </a:xfrm>
              <a:prstGeom prst="line">
                <a:avLst/>
              </a:prstGeom>
              <a:ln w="25400">
                <a:headEnd type="none" w="lg" len="med"/>
                <a:tailEnd type="triangle" w="med" len="med"/>
              </a:ln>
              <a:scene3d>
                <a:camera prst="orthographicFront">
                  <a:rot lat="0" lon="0" rev="20400000"/>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79" name="Skupina 78"/>
            <p:cNvGrpSpPr/>
            <p:nvPr/>
          </p:nvGrpSpPr>
          <p:grpSpPr>
            <a:xfrm>
              <a:off x="6630960" y="5211005"/>
              <a:ext cx="753268" cy="280717"/>
              <a:chOff x="1704684" y="2360912"/>
              <a:chExt cx="753268" cy="280717"/>
            </a:xfrm>
          </p:grpSpPr>
          <p:cxnSp>
            <p:nvCxnSpPr>
              <p:cNvPr id="122" name="Přímá spojnice 121"/>
              <p:cNvCxnSpPr/>
              <p:nvPr/>
            </p:nvCxnSpPr>
            <p:spPr>
              <a:xfrm>
                <a:off x="1704684" y="2360912"/>
                <a:ext cx="744327" cy="0"/>
              </a:xfrm>
              <a:prstGeom prst="line">
                <a:avLst/>
              </a:prstGeom>
              <a:ln w="25400">
                <a:headEnd type="none" w="lg" len="med"/>
                <a:tailEnd type="triangle" w="med" len="med"/>
              </a:ln>
              <a:scene3d>
                <a:camera prst="orthographicFront">
                  <a:rot lat="0" lon="0" rev="12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23" name="Přímá spojnice 122"/>
              <p:cNvCxnSpPr/>
              <p:nvPr/>
            </p:nvCxnSpPr>
            <p:spPr>
              <a:xfrm>
                <a:off x="1713625" y="2641629"/>
                <a:ext cx="744327" cy="0"/>
              </a:xfrm>
              <a:prstGeom prst="line">
                <a:avLst/>
              </a:prstGeom>
              <a:ln w="25400">
                <a:headEnd type="none" w="lg" len="med"/>
                <a:tailEnd type="triangle" w="med" len="med"/>
              </a:ln>
              <a:scene3d>
                <a:camera prst="orthographicFront">
                  <a:rot lat="0" lon="0" rev="20400000"/>
                </a:camera>
                <a:lightRig rig="threePt" dir="t"/>
              </a:scene3d>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0" name="TextovéPole 79"/>
                <p:cNvSpPr txBox="1"/>
                <p:nvPr/>
              </p:nvSpPr>
              <p:spPr>
                <a:xfrm>
                  <a:off x="5623824" y="5218814"/>
                  <a:ext cx="1111268" cy="400110"/>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m:rPr>
                            <m:sty m:val="p"/>
                          </m:rPr>
                          <a:rPr lang="cs-CZ" sz="1000" b="0" i="0" smtClean="0">
                            <a:latin typeface="Cambria Math" panose="02040503050406030204" pitchFamily="18" charset="0"/>
                            <a:ea typeface="Cambria Math" panose="02040503050406030204" pitchFamily="18" charset="0"/>
                          </a:rPr>
                          <m:t>max</m:t>
                        </m:r>
                        <m:r>
                          <a:rPr lang="cs-CZ" sz="1000" b="0" i="1" smtClean="0">
                            <a:latin typeface="Cambria Math" panose="02040503050406030204" pitchFamily="18" charset="0"/>
                            <a:ea typeface="Cambria Math" panose="02040503050406030204" pitchFamily="18" charset="0"/>
                          </a:rPr>
                          <m:t>⁡(0,</m:t>
                        </m:r>
                        <m:r>
                          <a:rPr lang="cs-CZ" sz="1000" b="0" i="1" smtClean="0">
                            <a:latin typeface="Cambria Math" panose="02040503050406030204" pitchFamily="18" charset="0"/>
                            <a:ea typeface="Cambria Math" panose="02040503050406030204" pitchFamily="18" charset="0"/>
                          </a:rPr>
                          <m:t>𝑢𝑆</m:t>
                        </m:r>
                        <m:r>
                          <a:rPr lang="cs-CZ" sz="1000" b="0" i="1" smtClean="0">
                            <a:latin typeface="Cambria Math" panose="02040503050406030204" pitchFamily="18" charset="0"/>
                            <a:ea typeface="Cambria Math" panose="02040503050406030204" pitchFamily="18" charset="0"/>
                          </a:rPr>
                          <m:t>−</m:t>
                        </m:r>
                        <m:r>
                          <a:rPr lang="cs-CZ" sz="1000" b="0" i="1" smtClean="0">
                            <a:latin typeface="Cambria Math" panose="02040503050406030204" pitchFamily="18" charset="0"/>
                            <a:ea typeface="Cambria Math" panose="02040503050406030204" pitchFamily="18" charset="0"/>
                          </a:rPr>
                          <m:t>𝑋</m:t>
                        </m:r>
                        <m:r>
                          <a:rPr lang="cs-CZ" sz="1000" b="0" i="1" smtClean="0">
                            <a:latin typeface="Cambria Math" panose="02040503050406030204" pitchFamily="18" charset="0"/>
                            <a:ea typeface="Cambria Math" panose="02040503050406030204" pitchFamily="18" charset="0"/>
                          </a:rPr>
                          <m:t>)</m:t>
                        </m:r>
                      </m:oMath>
                    </m:oMathPara>
                  </a14:m>
                  <a:endParaRPr lang="cs-CZ" sz="1000" dirty="0">
                    <a:latin typeface="Cambria Math"/>
                    <a:ea typeface="Cambria Math" panose="02040503050406030204" pitchFamily="18" charset="0"/>
                  </a:endParaRPr>
                </a:p>
                <a:p>
                  <a:pPr algn="ctr"/>
                  <a:r>
                    <a:rPr lang="cs-CZ" sz="1000" dirty="0">
                      <a:latin typeface="Cambria Math"/>
                      <a:ea typeface="Cambria Math" panose="02040503050406030204" pitchFamily="18" charset="0"/>
                    </a:rPr>
                    <a:t>(20)</a:t>
                  </a:r>
                </a:p>
              </p:txBody>
            </p:sp>
          </mc:Choice>
          <mc:Fallback xmlns="">
            <p:sp>
              <p:nvSpPr>
                <p:cNvPr id="80" name="TextovéPole 79"/>
                <p:cNvSpPr txBox="1">
                  <a:spLocks noRot="1" noChangeAspect="1" noMove="1" noResize="1" noEditPoints="1" noAdjustHandles="1" noChangeArrowheads="1" noChangeShapeType="1" noTextEdit="1"/>
                </p:cNvSpPr>
                <p:nvPr/>
              </p:nvSpPr>
              <p:spPr>
                <a:xfrm>
                  <a:off x="5623824" y="5218814"/>
                  <a:ext cx="1111268" cy="400110"/>
                </a:xfrm>
                <a:prstGeom prst="rect">
                  <a:avLst/>
                </a:prstGeom>
                <a:blipFill rotWithShape="1">
                  <a:blip r:embed="rId23"/>
                  <a:stretch>
                    <a:fillRect b="-6061"/>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81" name="TextovéPole 80"/>
                <p:cNvSpPr txBox="1"/>
                <p:nvPr/>
              </p:nvSpPr>
              <p:spPr>
                <a:xfrm>
                  <a:off x="5621797" y="5708554"/>
                  <a:ext cx="1220871" cy="400110"/>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m:rPr>
                            <m:sty m:val="p"/>
                          </m:rPr>
                          <a:rPr lang="cs-CZ" sz="1000" b="0" i="0" smtClean="0">
                            <a:latin typeface="Cambria Math" panose="02040503050406030204" pitchFamily="18" charset="0"/>
                            <a:ea typeface="Cambria Math" panose="02040503050406030204" pitchFamily="18" charset="0"/>
                          </a:rPr>
                          <m:t>max</m:t>
                        </m:r>
                        <m:r>
                          <a:rPr lang="cs-CZ" sz="1000" b="0" i="1" smtClean="0">
                            <a:latin typeface="Cambria Math" panose="02040503050406030204" pitchFamily="18" charset="0"/>
                            <a:ea typeface="Cambria Math" panose="02040503050406030204" pitchFamily="18" charset="0"/>
                          </a:rPr>
                          <m:t>⁡(0,</m:t>
                        </m:r>
                        <m:r>
                          <a:rPr lang="cs-CZ" sz="1000" b="0" i="1" smtClean="0">
                            <a:latin typeface="Cambria Math" panose="02040503050406030204" pitchFamily="18" charset="0"/>
                            <a:ea typeface="Cambria Math" panose="02040503050406030204" pitchFamily="18" charset="0"/>
                          </a:rPr>
                          <m:t>𝑑𝑆</m:t>
                        </m:r>
                        <m:r>
                          <a:rPr lang="cs-CZ" sz="1000" b="0" i="1" smtClean="0">
                            <a:latin typeface="Cambria Math" panose="02040503050406030204" pitchFamily="18" charset="0"/>
                            <a:ea typeface="Cambria Math" panose="02040503050406030204" pitchFamily="18" charset="0"/>
                          </a:rPr>
                          <m:t>−</m:t>
                        </m:r>
                        <m:r>
                          <a:rPr lang="cs-CZ" sz="1000" b="0" i="1" smtClean="0">
                            <a:latin typeface="Cambria Math" panose="02040503050406030204" pitchFamily="18" charset="0"/>
                            <a:ea typeface="Cambria Math" panose="02040503050406030204" pitchFamily="18" charset="0"/>
                          </a:rPr>
                          <m:t>𝑋</m:t>
                        </m:r>
                        <m:r>
                          <a:rPr lang="cs-CZ" sz="1000" b="0" i="1" smtClean="0">
                            <a:latin typeface="Cambria Math" panose="02040503050406030204" pitchFamily="18" charset="0"/>
                            <a:ea typeface="Cambria Math" panose="02040503050406030204" pitchFamily="18" charset="0"/>
                          </a:rPr>
                          <m:t>)</m:t>
                        </m:r>
                      </m:oMath>
                    </m:oMathPara>
                  </a14:m>
                  <a:endParaRPr lang="cs-CZ" sz="1000" dirty="0">
                    <a:latin typeface="Cambria Math"/>
                    <a:ea typeface="Cambria Math" panose="02040503050406030204" pitchFamily="18" charset="0"/>
                  </a:endParaRPr>
                </a:p>
                <a:p>
                  <a:pPr algn="ctr"/>
                  <a:r>
                    <a:rPr lang="cs-CZ" sz="1000" dirty="0">
                      <a:latin typeface="Cambria Math"/>
                      <a:ea typeface="Cambria Math" panose="02040503050406030204" pitchFamily="18" charset="0"/>
                    </a:rPr>
                    <a:t>(0)</a:t>
                  </a:r>
                </a:p>
              </p:txBody>
            </p:sp>
          </mc:Choice>
          <mc:Fallback xmlns="">
            <p:sp>
              <p:nvSpPr>
                <p:cNvPr id="81" name="TextovéPole 80"/>
                <p:cNvSpPr txBox="1">
                  <a:spLocks noRot="1" noChangeAspect="1" noMove="1" noResize="1" noEditPoints="1" noAdjustHandles="1" noChangeArrowheads="1" noChangeShapeType="1" noTextEdit="1"/>
                </p:cNvSpPr>
                <p:nvPr/>
              </p:nvSpPr>
              <p:spPr>
                <a:xfrm>
                  <a:off x="5621797" y="5708554"/>
                  <a:ext cx="1220871" cy="400110"/>
                </a:xfrm>
                <a:prstGeom prst="rect">
                  <a:avLst/>
                </a:prstGeom>
                <a:blipFill>
                  <a:blip r:embed="rId24"/>
                  <a:stretch>
                    <a:fillRect b="-7576"/>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82" name="TextovéPole 81"/>
                <p:cNvSpPr txBox="1"/>
                <p:nvPr/>
              </p:nvSpPr>
              <p:spPr>
                <a:xfrm>
                  <a:off x="4549672" y="5538792"/>
                  <a:ext cx="513533" cy="246221"/>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cs-CZ" sz="1000" b="0" i="1" smtClean="0">
                            <a:latin typeface="Cambria Math" panose="02040503050406030204" pitchFamily="18" charset="0"/>
                            <a:ea typeface="Cambria Math" panose="02040503050406030204" pitchFamily="18" charset="0"/>
                          </a:rPr>
                          <m:t>𝐶</m:t>
                        </m:r>
                        <m:r>
                          <a:rPr lang="cs-CZ" sz="1000" b="0" i="1" smtClean="0">
                            <a:latin typeface="Cambria Math" panose="02040503050406030204" pitchFamily="18" charset="0"/>
                            <a:ea typeface="Cambria Math" panose="02040503050406030204" pitchFamily="18" charset="0"/>
                          </a:rPr>
                          <m:t>(?)</m:t>
                        </m:r>
                      </m:oMath>
                    </m:oMathPara>
                  </a14:m>
                  <a:endParaRPr lang="cs-CZ" sz="1000" dirty="0">
                    <a:latin typeface="Cambria Math"/>
                    <a:ea typeface="Cambria Math" panose="02040503050406030204" pitchFamily="18" charset="0"/>
                  </a:endParaRPr>
                </a:p>
              </p:txBody>
            </p:sp>
          </mc:Choice>
          <mc:Fallback xmlns="">
            <p:sp>
              <p:nvSpPr>
                <p:cNvPr id="82" name="TextovéPole 81"/>
                <p:cNvSpPr txBox="1">
                  <a:spLocks noRot="1" noChangeAspect="1" noMove="1" noResize="1" noEditPoints="1" noAdjustHandles="1" noChangeArrowheads="1" noChangeShapeType="1" noTextEdit="1"/>
                </p:cNvSpPr>
                <p:nvPr/>
              </p:nvSpPr>
              <p:spPr>
                <a:xfrm>
                  <a:off x="4549672" y="5538792"/>
                  <a:ext cx="513533" cy="246221"/>
                </a:xfrm>
                <a:prstGeom prst="rect">
                  <a:avLst/>
                </a:prstGeom>
                <a:blipFill>
                  <a:blip r:embed="rId25"/>
                  <a:stretch>
                    <a:fillRect b="-7500"/>
                  </a:stretch>
                </a:blipFill>
              </p:spPr>
              <p:txBody>
                <a:bodyPr/>
                <a:lstStyle/>
                <a:p>
                  <a:r>
                    <a:rPr lang="en-GB">
                      <a:noFill/>
                    </a:rPr>
                    <a:t> </a:t>
                  </a:r>
                </a:p>
              </p:txBody>
            </p:sp>
          </mc:Fallback>
        </mc:AlternateContent>
        <p:sp>
          <p:nvSpPr>
            <p:cNvPr id="76" name="TextovéPole 75">
              <a:extLst>
                <a:ext uri="{FF2B5EF4-FFF2-40B4-BE49-F238E27FC236}">
                  <a16:creationId xmlns:a16="http://schemas.microsoft.com/office/drawing/2014/main" id="{08463747-ADBE-47DD-BD10-8F53E0250636}"/>
                </a:ext>
              </a:extLst>
            </p:cNvPr>
            <p:cNvSpPr txBox="1"/>
            <p:nvPr/>
          </p:nvSpPr>
          <p:spPr>
            <a:xfrm>
              <a:off x="5044468" y="4725144"/>
              <a:ext cx="2816848" cy="240066"/>
            </a:xfrm>
            <a:prstGeom prst="rect">
              <a:avLst/>
            </a:prstGeom>
            <a:noFill/>
            <a:ln>
              <a:noFill/>
            </a:ln>
          </p:spPr>
          <p:txBody>
            <a:bodyPr wrap="square" rtlCol="0">
              <a:spAutoFit/>
            </a:bodyPr>
            <a:lstStyle/>
            <a:p>
              <a:pPr marL="0" lvl="2" algn="ctr">
                <a:lnSpc>
                  <a:spcPct val="80000"/>
                </a:lnSpc>
                <a:buClr>
                  <a:srgbClr val="7030A0"/>
                </a:buClr>
                <a:buSzPct val="80000"/>
              </a:pPr>
              <a:r>
                <a:rPr lang="en-GB" sz="1200" b="1" dirty="0">
                  <a:latin typeface="Cambria Math" panose="02040503050406030204" pitchFamily="18" charset="0"/>
                  <a:ea typeface="Cambria Math" panose="02040503050406030204" pitchFamily="18" charset="0"/>
                  <a:sym typeface="Wingdings 2" panose="05020102010507070707" pitchFamily="18" charset="2"/>
                </a:rPr>
                <a:t>Price movement of the call option</a:t>
              </a:r>
              <a:endParaRPr lang="en-GB" sz="1200" b="1"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128" name="TextovéPole 127"/>
                <p:cNvSpPr txBox="1"/>
                <p:nvPr/>
              </p:nvSpPr>
              <p:spPr>
                <a:xfrm>
                  <a:off x="7310744" y="4916466"/>
                  <a:ext cx="1111268" cy="400110"/>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m:rPr>
                            <m:sty m:val="p"/>
                          </m:rPr>
                          <a:rPr lang="cs-CZ" sz="1000" b="0" i="0" smtClean="0">
                            <a:latin typeface="Cambria Math" panose="02040503050406030204" pitchFamily="18" charset="0"/>
                            <a:ea typeface="Cambria Math" panose="02040503050406030204" pitchFamily="18" charset="0"/>
                          </a:rPr>
                          <m:t>max</m:t>
                        </m:r>
                        <m:r>
                          <a:rPr lang="cs-CZ" sz="1000" b="0" i="1" smtClean="0">
                            <a:latin typeface="Cambria Math" panose="02040503050406030204" pitchFamily="18" charset="0"/>
                            <a:ea typeface="Cambria Math" panose="02040503050406030204" pitchFamily="18" charset="0"/>
                          </a:rPr>
                          <m:t>⁡(0,</m:t>
                        </m:r>
                        <m:sSup>
                          <m:sSupPr>
                            <m:ctrlPr>
                              <a:rPr lang="cs-CZ" sz="1000" b="0" i="1" smtClean="0">
                                <a:latin typeface="Cambria Math" panose="02040503050406030204" pitchFamily="18" charset="0"/>
                                <a:ea typeface="Cambria Math" panose="02040503050406030204" pitchFamily="18" charset="0"/>
                              </a:rPr>
                            </m:ctrlPr>
                          </m:sSupPr>
                          <m:e>
                            <m:r>
                              <a:rPr lang="cs-CZ" sz="1000" b="0" i="1" smtClean="0">
                                <a:latin typeface="Cambria Math" panose="02040503050406030204" pitchFamily="18" charset="0"/>
                                <a:ea typeface="Cambria Math" panose="02040503050406030204" pitchFamily="18" charset="0"/>
                              </a:rPr>
                              <m:t>𝑢</m:t>
                            </m:r>
                          </m:e>
                          <m:sup>
                            <m:r>
                              <a:rPr lang="cs-CZ" sz="1000" b="0" i="1" smtClean="0">
                                <a:latin typeface="Cambria Math" panose="02040503050406030204" pitchFamily="18" charset="0"/>
                                <a:ea typeface="Cambria Math" panose="02040503050406030204" pitchFamily="18" charset="0"/>
                              </a:rPr>
                              <m:t>2</m:t>
                            </m:r>
                          </m:sup>
                        </m:sSup>
                        <m:r>
                          <a:rPr lang="cs-CZ" sz="1000" b="0" i="1" smtClean="0">
                            <a:latin typeface="Cambria Math" panose="02040503050406030204" pitchFamily="18" charset="0"/>
                            <a:ea typeface="Cambria Math" panose="02040503050406030204" pitchFamily="18" charset="0"/>
                          </a:rPr>
                          <m:t>𝑆</m:t>
                        </m:r>
                        <m:r>
                          <a:rPr lang="cs-CZ" sz="1000" b="0" i="1" smtClean="0">
                            <a:latin typeface="Cambria Math" panose="02040503050406030204" pitchFamily="18" charset="0"/>
                            <a:ea typeface="Cambria Math" panose="02040503050406030204" pitchFamily="18" charset="0"/>
                          </a:rPr>
                          <m:t>−</m:t>
                        </m:r>
                        <m:r>
                          <a:rPr lang="cs-CZ" sz="1000" b="0" i="1" smtClean="0">
                            <a:latin typeface="Cambria Math" panose="02040503050406030204" pitchFamily="18" charset="0"/>
                            <a:ea typeface="Cambria Math" panose="02040503050406030204" pitchFamily="18" charset="0"/>
                          </a:rPr>
                          <m:t>𝑋</m:t>
                        </m:r>
                        <m:r>
                          <a:rPr lang="cs-CZ" sz="1000" b="0" i="1" smtClean="0">
                            <a:latin typeface="Cambria Math" panose="02040503050406030204" pitchFamily="18" charset="0"/>
                            <a:ea typeface="Cambria Math" panose="02040503050406030204" pitchFamily="18" charset="0"/>
                          </a:rPr>
                          <m:t>)</m:t>
                        </m:r>
                      </m:oMath>
                    </m:oMathPara>
                  </a14:m>
                  <a:endParaRPr lang="cs-CZ" sz="1000" dirty="0">
                    <a:latin typeface="Cambria Math"/>
                    <a:ea typeface="Cambria Math" panose="02040503050406030204" pitchFamily="18" charset="0"/>
                  </a:endParaRPr>
                </a:p>
                <a:p>
                  <a:pPr algn="ctr"/>
                  <a:r>
                    <a:rPr lang="cs-CZ" sz="1000" dirty="0">
                      <a:latin typeface="Cambria Math"/>
                      <a:ea typeface="Cambria Math" panose="02040503050406030204" pitchFamily="18" charset="0"/>
                    </a:rPr>
                    <a:t>(39.5)</a:t>
                  </a:r>
                </a:p>
              </p:txBody>
            </p:sp>
          </mc:Choice>
          <mc:Fallback xmlns="">
            <p:sp>
              <p:nvSpPr>
                <p:cNvPr id="128" name="TextovéPole 127"/>
                <p:cNvSpPr txBox="1">
                  <a:spLocks noRot="1" noChangeAspect="1" noMove="1" noResize="1" noEditPoints="1" noAdjustHandles="1" noChangeArrowheads="1" noChangeShapeType="1" noTextEdit="1"/>
                </p:cNvSpPr>
                <p:nvPr/>
              </p:nvSpPr>
              <p:spPr>
                <a:xfrm>
                  <a:off x="7310744" y="4916466"/>
                  <a:ext cx="1111268" cy="400110"/>
                </a:xfrm>
                <a:prstGeom prst="rect">
                  <a:avLst/>
                </a:prstGeom>
                <a:blipFill rotWithShape="1">
                  <a:blip r:embed="rId26"/>
                  <a:stretch>
                    <a:fillRect b="-7692"/>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129" name="TextovéPole 128"/>
                <p:cNvSpPr txBox="1"/>
                <p:nvPr/>
              </p:nvSpPr>
              <p:spPr>
                <a:xfrm>
                  <a:off x="7311600" y="5400322"/>
                  <a:ext cx="1111268" cy="400110"/>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m:rPr>
                            <m:sty m:val="p"/>
                          </m:rPr>
                          <a:rPr lang="cs-CZ" sz="1000" b="0" i="0" smtClean="0">
                            <a:latin typeface="Cambria Math" panose="02040503050406030204" pitchFamily="18" charset="0"/>
                            <a:ea typeface="Cambria Math" panose="02040503050406030204" pitchFamily="18" charset="0"/>
                          </a:rPr>
                          <m:t>max</m:t>
                        </m:r>
                        <m:r>
                          <a:rPr lang="cs-CZ" sz="1000" b="0" i="1" smtClean="0">
                            <a:latin typeface="Cambria Math" panose="02040503050406030204" pitchFamily="18" charset="0"/>
                            <a:ea typeface="Cambria Math" panose="02040503050406030204" pitchFamily="18" charset="0"/>
                          </a:rPr>
                          <m:t>⁡(0,</m:t>
                        </m:r>
                        <m:r>
                          <a:rPr lang="cs-CZ" sz="1000" b="0" i="1" smtClean="0">
                            <a:latin typeface="Cambria Math" panose="02040503050406030204" pitchFamily="18" charset="0"/>
                            <a:ea typeface="Cambria Math" panose="02040503050406030204" pitchFamily="18" charset="0"/>
                          </a:rPr>
                          <m:t>𝑢𝑑𝑆</m:t>
                        </m:r>
                        <m:r>
                          <a:rPr lang="cs-CZ" sz="1000" b="0" i="1" smtClean="0">
                            <a:latin typeface="Cambria Math" panose="02040503050406030204" pitchFamily="18" charset="0"/>
                            <a:ea typeface="Cambria Math" panose="02040503050406030204" pitchFamily="18" charset="0"/>
                          </a:rPr>
                          <m:t>−</m:t>
                        </m:r>
                        <m:r>
                          <a:rPr lang="cs-CZ" sz="1000" b="0" i="1" smtClean="0">
                            <a:latin typeface="Cambria Math" panose="02040503050406030204" pitchFamily="18" charset="0"/>
                            <a:ea typeface="Cambria Math" panose="02040503050406030204" pitchFamily="18" charset="0"/>
                          </a:rPr>
                          <m:t>𝑋</m:t>
                        </m:r>
                        <m:r>
                          <a:rPr lang="cs-CZ" sz="1000" b="0" i="1" smtClean="0">
                            <a:latin typeface="Cambria Math" panose="02040503050406030204" pitchFamily="18" charset="0"/>
                            <a:ea typeface="Cambria Math" panose="02040503050406030204" pitchFamily="18" charset="0"/>
                          </a:rPr>
                          <m:t>)</m:t>
                        </m:r>
                      </m:oMath>
                    </m:oMathPara>
                  </a14:m>
                  <a:endParaRPr lang="cs-CZ" sz="1000" dirty="0">
                    <a:latin typeface="Cambria Math"/>
                    <a:ea typeface="Cambria Math" panose="02040503050406030204" pitchFamily="18" charset="0"/>
                  </a:endParaRPr>
                </a:p>
                <a:p>
                  <a:pPr algn="ctr"/>
                  <a:r>
                    <a:rPr lang="cs-CZ" sz="1000" dirty="0">
                      <a:latin typeface="Cambria Math"/>
                      <a:ea typeface="Cambria Math" panose="02040503050406030204" pitchFamily="18" charset="0"/>
                    </a:rPr>
                    <a:t>(0.5)</a:t>
                  </a:r>
                </a:p>
              </p:txBody>
            </p:sp>
          </mc:Choice>
          <mc:Fallback xmlns="">
            <p:sp>
              <p:nvSpPr>
                <p:cNvPr id="129" name="TextovéPole 128"/>
                <p:cNvSpPr txBox="1">
                  <a:spLocks noRot="1" noChangeAspect="1" noMove="1" noResize="1" noEditPoints="1" noAdjustHandles="1" noChangeArrowheads="1" noChangeShapeType="1" noTextEdit="1"/>
                </p:cNvSpPr>
                <p:nvPr/>
              </p:nvSpPr>
              <p:spPr>
                <a:xfrm>
                  <a:off x="7311600" y="5400322"/>
                  <a:ext cx="1111268" cy="400110"/>
                </a:xfrm>
                <a:prstGeom prst="rect">
                  <a:avLst/>
                </a:prstGeom>
                <a:blipFill rotWithShape="1">
                  <a:blip r:embed="rId27"/>
                  <a:stretch>
                    <a:fillRect b="-6061"/>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130" name="TextovéPole 129"/>
                <p:cNvSpPr txBox="1"/>
                <p:nvPr/>
              </p:nvSpPr>
              <p:spPr>
                <a:xfrm>
                  <a:off x="7311600" y="5893842"/>
                  <a:ext cx="1111268" cy="400110"/>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m:rPr>
                            <m:sty m:val="p"/>
                          </m:rPr>
                          <a:rPr lang="cs-CZ" sz="1000" b="0" i="0" smtClean="0">
                            <a:latin typeface="Cambria Math" panose="02040503050406030204" pitchFamily="18" charset="0"/>
                            <a:ea typeface="Cambria Math" panose="02040503050406030204" pitchFamily="18" charset="0"/>
                          </a:rPr>
                          <m:t>max</m:t>
                        </m:r>
                        <m:r>
                          <a:rPr lang="cs-CZ" sz="1000" b="0" i="1" smtClean="0">
                            <a:latin typeface="Cambria Math" panose="02040503050406030204" pitchFamily="18" charset="0"/>
                            <a:ea typeface="Cambria Math" panose="02040503050406030204" pitchFamily="18" charset="0"/>
                          </a:rPr>
                          <m:t>⁡(0,</m:t>
                        </m:r>
                        <m:sSup>
                          <m:sSupPr>
                            <m:ctrlPr>
                              <a:rPr lang="cs-CZ" sz="1000" b="0" i="1" smtClean="0">
                                <a:latin typeface="Cambria Math" panose="02040503050406030204" pitchFamily="18" charset="0"/>
                                <a:ea typeface="Cambria Math" panose="02040503050406030204" pitchFamily="18" charset="0"/>
                              </a:rPr>
                            </m:ctrlPr>
                          </m:sSupPr>
                          <m:e>
                            <m:r>
                              <a:rPr lang="cs-CZ" sz="1000" b="0" i="1" smtClean="0">
                                <a:latin typeface="Cambria Math" panose="02040503050406030204" pitchFamily="18" charset="0"/>
                                <a:ea typeface="Cambria Math" panose="02040503050406030204" pitchFamily="18" charset="0"/>
                              </a:rPr>
                              <m:t>𝑑</m:t>
                            </m:r>
                          </m:e>
                          <m:sup>
                            <m:r>
                              <a:rPr lang="cs-CZ" sz="1000" b="0" i="1" smtClean="0">
                                <a:latin typeface="Cambria Math" panose="02040503050406030204" pitchFamily="18" charset="0"/>
                                <a:ea typeface="Cambria Math" panose="02040503050406030204" pitchFamily="18" charset="0"/>
                              </a:rPr>
                              <m:t>2</m:t>
                            </m:r>
                          </m:sup>
                        </m:sSup>
                        <m:r>
                          <a:rPr lang="cs-CZ" sz="1000" b="0" i="1" smtClean="0">
                            <a:latin typeface="Cambria Math" panose="02040503050406030204" pitchFamily="18" charset="0"/>
                            <a:ea typeface="Cambria Math" panose="02040503050406030204" pitchFamily="18" charset="0"/>
                          </a:rPr>
                          <m:t>𝑆</m:t>
                        </m:r>
                        <m:r>
                          <a:rPr lang="cs-CZ" sz="1000" b="0" i="1" smtClean="0">
                            <a:latin typeface="Cambria Math" panose="02040503050406030204" pitchFamily="18" charset="0"/>
                            <a:ea typeface="Cambria Math" panose="02040503050406030204" pitchFamily="18" charset="0"/>
                          </a:rPr>
                          <m:t>−</m:t>
                        </m:r>
                        <m:r>
                          <a:rPr lang="cs-CZ" sz="1000" b="0" i="1" smtClean="0">
                            <a:latin typeface="Cambria Math" panose="02040503050406030204" pitchFamily="18" charset="0"/>
                            <a:ea typeface="Cambria Math" panose="02040503050406030204" pitchFamily="18" charset="0"/>
                          </a:rPr>
                          <m:t>𝑋</m:t>
                        </m:r>
                        <m:r>
                          <a:rPr lang="cs-CZ" sz="1000" b="0" i="1" smtClean="0">
                            <a:latin typeface="Cambria Math" panose="02040503050406030204" pitchFamily="18" charset="0"/>
                            <a:ea typeface="Cambria Math" panose="02040503050406030204" pitchFamily="18" charset="0"/>
                          </a:rPr>
                          <m:t>)</m:t>
                        </m:r>
                      </m:oMath>
                    </m:oMathPara>
                  </a14:m>
                  <a:endParaRPr lang="cs-CZ" sz="1000" dirty="0">
                    <a:latin typeface="Cambria Math"/>
                    <a:ea typeface="Cambria Math" panose="02040503050406030204" pitchFamily="18" charset="0"/>
                  </a:endParaRPr>
                </a:p>
                <a:p>
                  <a:pPr algn="ctr"/>
                  <a:r>
                    <a:rPr lang="cs-CZ" sz="1000" dirty="0">
                      <a:latin typeface="Cambria Math"/>
                      <a:ea typeface="Cambria Math" panose="02040503050406030204" pitchFamily="18" charset="0"/>
                    </a:rPr>
                    <a:t>(0)</a:t>
                  </a:r>
                </a:p>
              </p:txBody>
            </p:sp>
          </mc:Choice>
          <mc:Fallback xmlns="">
            <p:sp>
              <p:nvSpPr>
                <p:cNvPr id="130" name="TextovéPole 129"/>
                <p:cNvSpPr txBox="1">
                  <a:spLocks noRot="1" noChangeAspect="1" noMove="1" noResize="1" noEditPoints="1" noAdjustHandles="1" noChangeArrowheads="1" noChangeShapeType="1" noTextEdit="1"/>
                </p:cNvSpPr>
                <p:nvPr/>
              </p:nvSpPr>
              <p:spPr>
                <a:xfrm>
                  <a:off x="7311600" y="5893842"/>
                  <a:ext cx="1111268" cy="400110"/>
                </a:xfrm>
                <a:prstGeom prst="rect">
                  <a:avLst/>
                </a:prstGeom>
                <a:blipFill>
                  <a:blip r:embed="rId28"/>
                  <a:stretch>
                    <a:fillRect b="-7576"/>
                  </a:stretch>
                </a:blipFill>
              </p:spPr>
              <p:txBody>
                <a:bodyPr/>
                <a:lstStyle/>
                <a:p>
                  <a:r>
                    <a:rPr lang="cs-CZ">
                      <a:noFill/>
                    </a:rPr>
                    <a:t> </a:t>
                  </a:r>
                </a:p>
              </p:txBody>
            </p:sp>
          </mc:Fallback>
        </mc:AlternateContent>
      </p:grpSp>
      <mc:AlternateContent xmlns:mc="http://schemas.openxmlformats.org/markup-compatibility/2006" xmlns:a14="http://schemas.microsoft.com/office/drawing/2010/main">
        <mc:Choice Requires="a14">
          <p:sp>
            <p:nvSpPr>
              <p:cNvPr id="87" name="TextovéPole 86">
                <a:extLst>
                  <a:ext uri="{FF2B5EF4-FFF2-40B4-BE49-F238E27FC236}">
                    <a16:creationId xmlns:a16="http://schemas.microsoft.com/office/drawing/2014/main" id="{05FC8A4A-3761-4383-881C-9096ADBF4AD7}"/>
                  </a:ext>
                </a:extLst>
              </p:cNvPr>
              <p:cNvSpPr txBox="1"/>
              <p:nvPr/>
            </p:nvSpPr>
            <p:spPr>
              <a:xfrm>
                <a:off x="5652120" y="2846880"/>
                <a:ext cx="3275872" cy="461665"/>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200" b="0" i="1" smtClean="0">
                        <a:latin typeface="Cambria Math"/>
                        <a:ea typeface="Cambria Math" panose="02040503050406030204" pitchFamily="18" charset="0"/>
                      </a:rPr>
                      <m:t>𝑝</m:t>
                    </m:r>
                    <m:r>
                      <a:rPr lang="en-GB" sz="1200" b="0" i="1" smtClean="0">
                        <a:latin typeface="Cambria Math"/>
                        <a:ea typeface="Cambria Math" panose="02040503050406030204" pitchFamily="18" charset="0"/>
                      </a:rPr>
                      <m:t>, (1−</m:t>
                    </m:r>
                    <m:r>
                      <a:rPr lang="en-GB" sz="1200" b="0" i="1" smtClean="0">
                        <a:latin typeface="Cambria Math"/>
                        <a:ea typeface="Cambria Math" panose="02040503050406030204" pitchFamily="18" charset="0"/>
                      </a:rPr>
                      <m:t>𝑝</m:t>
                    </m:r>
                    <m:r>
                      <a:rPr lang="en-GB" sz="1200" b="0" i="1" smtClean="0">
                        <a:latin typeface="Cambria Math"/>
                        <a:ea typeface="Cambria Math" panose="02040503050406030204" pitchFamily="18" charset="0"/>
                      </a:rPr>
                      <m:t>) </m:t>
                    </m:r>
                  </m:oMath>
                </a14:m>
                <a:r>
                  <a:rPr lang="en-GB" sz="1200" dirty="0">
                    <a:latin typeface="Cambria Math" panose="02040503050406030204" pitchFamily="18" charset="0"/>
                    <a:ea typeface="Cambria Math" panose="02040503050406030204" pitchFamily="18" charset="0"/>
                  </a:rPr>
                  <a:t>… probabilities of price increase and decrease (they are not independent variables)</a:t>
                </a:r>
              </a:p>
            </p:txBody>
          </p:sp>
        </mc:Choice>
        <mc:Fallback xmlns="">
          <p:sp>
            <p:nvSpPr>
              <p:cNvPr id="87" name="TextovéPole 86">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5652120" y="2846880"/>
                <a:ext cx="3275872" cy="461665"/>
              </a:xfrm>
              <a:prstGeom prst="rect">
                <a:avLst/>
              </a:prstGeom>
              <a:blipFill>
                <a:blip r:embed="rId29"/>
                <a:stretch>
                  <a:fillRect b="-9211"/>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502176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p:cNvSpPr>
            <a:spLocks noGrp="1"/>
          </p:cNvSpPr>
          <p:nvPr>
            <p:ph type="sldNum" sz="quarter" idx="12"/>
          </p:nvPr>
        </p:nvSpPr>
        <p:spPr>
          <a:xfrm>
            <a:off x="7164000" y="6336000"/>
            <a:ext cx="1800000" cy="360000"/>
          </a:xfrm>
        </p:spPr>
        <p:txBody>
          <a:bodyPr/>
          <a:lstStyle/>
          <a:p>
            <a:pPr algn="r"/>
            <a:fld id="{DFE5482F-2F05-49C5-9E15-73F945A41231}" type="slidenum">
              <a:rPr lang="cs-CZ" smtClean="0"/>
              <a:pPr algn="r"/>
              <a:t>3</a:t>
            </a:fld>
            <a:endParaRPr lang="cs-CZ" dirty="0"/>
          </a:p>
        </p:txBody>
      </p:sp>
      <p:sp>
        <p:nvSpPr>
          <p:cNvPr id="4" name="Nadpis 3"/>
          <p:cNvSpPr>
            <a:spLocks noGrp="1"/>
          </p:cNvSpPr>
          <p:nvPr>
            <p:ph type="title"/>
          </p:nvPr>
        </p:nvSpPr>
        <p:spPr>
          <a:xfrm>
            <a:off x="144000" y="144000"/>
            <a:ext cx="5203763" cy="648072"/>
          </a:xfrm>
        </p:spPr>
        <p:txBody>
          <a:bodyPr/>
          <a:lstStyle/>
          <a:p>
            <a:r>
              <a:rPr lang="en-GB" dirty="0">
                <a:solidFill>
                  <a:srgbClr val="000000"/>
                </a:solidFill>
              </a:rPr>
              <a:t>Binomial model </a:t>
            </a:r>
            <a:r>
              <a:rPr lang="en-GB" dirty="0">
                <a:latin typeface="Cambria Math" panose="02040503050406030204" pitchFamily="18" charset="0"/>
                <a:ea typeface="Cambria Math" panose="02040503050406030204" pitchFamily="18" charset="0"/>
              </a:rPr>
              <a:t>–</a:t>
            </a:r>
            <a:r>
              <a:rPr lang="en-GB" dirty="0">
                <a:solidFill>
                  <a:srgbClr val="000000"/>
                </a:solidFill>
              </a:rPr>
              <a:t> key insights</a:t>
            </a:r>
          </a:p>
        </p:txBody>
      </p:sp>
      <p:sp>
        <p:nvSpPr>
          <p:cNvPr id="29" name="TextovéPole 28"/>
          <p:cNvSpPr txBox="1"/>
          <p:nvPr/>
        </p:nvSpPr>
        <p:spPr>
          <a:xfrm>
            <a:off x="864000" y="864000"/>
            <a:ext cx="3780008"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Delta-neutral covered call</a:t>
            </a:r>
          </a:p>
        </p:txBody>
      </p:sp>
      <p:sp>
        <p:nvSpPr>
          <p:cNvPr id="31" name="TextovéPole 30"/>
          <p:cNvSpPr txBox="1"/>
          <p:nvPr/>
        </p:nvSpPr>
        <p:spPr>
          <a:xfrm>
            <a:off x="1188000" y="1190023"/>
            <a:ext cx="7848496"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A long stock is combined with the number of short calls needed to protect the value of the portfolio against price variations</a:t>
            </a:r>
          </a:p>
        </p:txBody>
      </p:sp>
      <p:sp>
        <p:nvSpPr>
          <p:cNvPr id="60" name="TextovéPole 35">
            <a:extLst>
              <a:ext uri="{FF2B5EF4-FFF2-40B4-BE49-F238E27FC236}">
                <a16:creationId xmlns:a16="http://schemas.microsoft.com/office/drawing/2014/main" id="{BD37FAE9-2032-4298-ABE1-2A0D1AA19E90}"/>
              </a:ext>
            </a:extLst>
          </p:cNvPr>
          <p:cNvSpPr txBox="1"/>
          <p:nvPr/>
        </p:nvSpPr>
        <p:spPr>
          <a:xfrm>
            <a:off x="1186116" y="3969308"/>
            <a:ext cx="7813884" cy="646331"/>
          </a:xfrm>
          <a:prstGeom prst="rect">
            <a:avLst/>
          </a:prstGeom>
          <a:noFill/>
          <a:ln>
            <a:noFill/>
          </a:ln>
        </p:spPr>
        <p:txBody>
          <a:bodyPr wrap="square" rtlCol="0">
            <a:spAutoFit/>
          </a:bodyPr>
          <a:ls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The present value of a risk-free financial instrument is equal to its future value discounted at a risk-free interest rate</a:t>
            </a:r>
          </a:p>
        </p:txBody>
      </p:sp>
      <p:sp>
        <p:nvSpPr>
          <p:cNvPr id="62" name="TextovéPole 61">
            <a:extLst>
              <a:ext uri="{FF2B5EF4-FFF2-40B4-BE49-F238E27FC236}">
                <a16:creationId xmlns:a16="http://schemas.microsoft.com/office/drawing/2014/main" id="{7AED3F95-42B5-4E30-86C6-EE8FE25EA982}"/>
              </a:ext>
            </a:extLst>
          </p:cNvPr>
          <p:cNvSpPr txBox="1"/>
          <p:nvPr/>
        </p:nvSpPr>
        <p:spPr>
          <a:xfrm>
            <a:off x="864000" y="3636000"/>
            <a:ext cx="3768360"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Perfect market hypothesis</a:t>
            </a:r>
          </a:p>
        </p:txBody>
      </p:sp>
      <mc:AlternateContent xmlns:mc="http://schemas.openxmlformats.org/markup-compatibility/2006" xmlns:a14="http://schemas.microsoft.com/office/drawing/2010/main">
        <mc:Choice Requires="a14">
          <p:sp>
            <p:nvSpPr>
              <p:cNvPr id="98" name="TextovéPole 97">
                <a:extLst>
                  <a:ext uri="{FF2B5EF4-FFF2-40B4-BE49-F238E27FC236}">
                    <a16:creationId xmlns:a16="http://schemas.microsoft.com/office/drawing/2014/main" id="{05FC8A4A-3761-4383-881C-9096ADBF4AD7}"/>
                  </a:ext>
                </a:extLst>
              </p:cNvPr>
              <p:cNvSpPr txBox="1"/>
              <p:nvPr/>
            </p:nvSpPr>
            <p:spPr>
              <a:xfrm>
                <a:off x="4572000" y="2162472"/>
                <a:ext cx="3426815" cy="307777"/>
              </a:xfrm>
              <a:prstGeom prst="rect">
                <a:avLst/>
              </a:prstGeom>
              <a:noFill/>
              <a:ln>
                <a:noFill/>
              </a:ln>
            </p:spPr>
            <p:txBody>
              <a:bodyPr wrap="square" rtlCol="0">
                <a:spAutoFit/>
              </a:bodyPr>
              <a:lstStyle/>
              <a:p>
                <a:pPr>
                  <a:buClr>
                    <a:srgbClr val="7030A0"/>
                  </a:buClr>
                  <a:buSzPct val="100000"/>
                </a:pPr>
                <a14:m>
                  <m:oMathPara xmlns:m="http://schemas.openxmlformats.org/officeDocument/2006/math">
                    <m:oMathParaPr>
                      <m:jc m:val="left"/>
                    </m:oMathParaPr>
                    <m:oMath xmlns:m="http://schemas.openxmlformats.org/officeDocument/2006/math">
                      <m:r>
                        <a:rPr lang="cs-CZ" sz="1400" b="0" i="1" smtClean="0">
                          <a:latin typeface="Cambria Math" panose="02040503050406030204" pitchFamily="18" charset="0"/>
                          <a:ea typeface="Cambria Math" panose="02040503050406030204" pitchFamily="18" charset="0"/>
                        </a:rPr>
                        <m:t>𝑆</m:t>
                      </m:r>
                      <m:r>
                        <a:rPr lang="cs-CZ" sz="1400" b="0" i="1" smtClean="0">
                          <a:latin typeface="Cambria Math" panose="02040503050406030204" pitchFamily="18" charset="0"/>
                          <a:ea typeface="Cambria Math" panose="02040503050406030204" pitchFamily="18" charset="0"/>
                        </a:rPr>
                        <m:t>→</m:t>
                      </m:r>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𝑆</m:t>
                          </m:r>
                        </m:e>
                        <m:sub>
                          <m:r>
                            <a:rPr lang="cs-CZ" sz="1400" b="0" i="1" smtClean="0">
                              <a:latin typeface="Cambria Math" panose="02040503050406030204" pitchFamily="18" charset="0"/>
                              <a:ea typeface="Cambria Math" panose="02040503050406030204" pitchFamily="18" charset="0"/>
                            </a:rPr>
                            <m:t>𝑢</m:t>
                          </m:r>
                        </m:sub>
                      </m:sSub>
                      <m:r>
                        <a:rPr lang="cs-CZ" sz="1400" b="0" i="1" smtClean="0">
                          <a:latin typeface="Cambria Math" panose="02040503050406030204" pitchFamily="18" charset="0"/>
                          <a:ea typeface="Cambria Math" panose="02040503050406030204" pitchFamily="18" charset="0"/>
                        </a:rPr>
                        <m:t>⇒</m:t>
                      </m:r>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𝑉</m:t>
                          </m:r>
                        </m:e>
                        <m:sub>
                          <m:r>
                            <a:rPr lang="cs-CZ" sz="1400" b="0" i="1" smtClean="0">
                              <a:latin typeface="Cambria Math" panose="02040503050406030204" pitchFamily="18" charset="0"/>
                              <a:ea typeface="Cambria Math" panose="02040503050406030204" pitchFamily="18" charset="0"/>
                            </a:rPr>
                            <m:t>𝑢</m:t>
                          </m:r>
                        </m:sub>
                      </m:sSub>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𝑢𝑆</m:t>
                      </m:r>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h</m:t>
                      </m:r>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𝐶</m:t>
                          </m:r>
                        </m:e>
                        <m:sub>
                          <m:r>
                            <a:rPr lang="cs-CZ" sz="1400" b="0" i="1" smtClean="0">
                              <a:latin typeface="Cambria Math" panose="02040503050406030204" pitchFamily="18" charset="0"/>
                              <a:ea typeface="Cambria Math" panose="02040503050406030204" pitchFamily="18" charset="0"/>
                            </a:rPr>
                            <m:t>𝑢</m:t>
                          </m:r>
                        </m:sub>
                      </m:sSub>
                      <m:r>
                        <a:rPr lang="cs-CZ" sz="1400" b="0" i="1" smtClean="0">
                          <a:latin typeface="Cambria Math"/>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65−</m:t>
                      </m:r>
                      <m:r>
                        <a:rPr lang="cs-CZ" sz="1400" b="0" i="1" smtClean="0">
                          <a:latin typeface="Cambria Math" panose="02040503050406030204" pitchFamily="18" charset="0"/>
                          <a:ea typeface="Cambria Math" panose="02040503050406030204" pitchFamily="18" charset="0"/>
                        </a:rPr>
                        <m:t>h</m:t>
                      </m:r>
                      <m:r>
                        <a:rPr lang="cs-CZ" sz="1400" b="0" i="1" smtClean="0">
                          <a:latin typeface="Cambria Math" panose="02040503050406030204" pitchFamily="18" charset="0"/>
                          <a:ea typeface="Cambria Math" panose="02040503050406030204" pitchFamily="18" charset="0"/>
                        </a:rPr>
                        <m:t>×20</m:t>
                      </m:r>
                    </m:oMath>
                  </m:oMathPara>
                </a14:m>
                <a:endParaRPr lang="en-GB" sz="1400" dirty="0">
                  <a:latin typeface="Cambria Math" panose="02040503050406030204" pitchFamily="18" charset="0"/>
                  <a:ea typeface="Cambria Math" panose="02040503050406030204" pitchFamily="18" charset="0"/>
                </a:endParaRPr>
              </a:p>
            </p:txBody>
          </p:sp>
        </mc:Choice>
        <mc:Fallback xmlns="">
          <p:sp>
            <p:nvSpPr>
              <p:cNvPr id="98" name="TextovéPole 97">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572000" y="2162472"/>
                <a:ext cx="3426815" cy="307777"/>
              </a:xfrm>
              <a:prstGeom prst="rect">
                <a:avLst/>
              </a:prstGeom>
              <a:blipFill>
                <a:blip r:embed="rId12"/>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5" name="TextovéPole 84">
                <a:extLst>
                  <a:ext uri="{FF2B5EF4-FFF2-40B4-BE49-F238E27FC236}">
                    <a16:creationId xmlns:a16="http://schemas.microsoft.com/office/drawing/2014/main" id="{05FC8A4A-3761-4383-881C-9096ADBF4AD7}"/>
                  </a:ext>
                </a:extLst>
              </p:cNvPr>
              <p:cNvSpPr txBox="1"/>
              <p:nvPr/>
            </p:nvSpPr>
            <p:spPr>
              <a:xfrm>
                <a:off x="1187624" y="1735965"/>
                <a:ext cx="7956376"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solidFill>
                      <a:srgbClr val="7030A0"/>
                    </a:solidFill>
                    <a:latin typeface="Cambria Math" panose="02040503050406030204" pitchFamily="18" charset="0"/>
                    <a:ea typeface="Cambria Math" panose="02040503050406030204" pitchFamily="18" charset="0"/>
                  </a:rPr>
                  <a:t>Hedge ratio </a:t>
                </a:r>
                <a14:m>
                  <m:oMath xmlns:m="http://schemas.openxmlformats.org/officeDocument/2006/math">
                    <m:r>
                      <a:rPr lang="en-GB">
                        <a:latin typeface="Cambria Math" panose="02040503050406030204" pitchFamily="18" charset="0"/>
                        <a:ea typeface="Cambria Math" panose="02040503050406030204" pitchFamily="18" charset="0"/>
                      </a:rPr>
                      <m:t>h</m:t>
                    </m:r>
                  </m:oMath>
                </a14:m>
                <a:r>
                  <a:rPr lang="en-GB" dirty="0">
                    <a:latin typeface="Cambria Math" panose="02040503050406030204" pitchFamily="18" charset="0"/>
                    <a:ea typeface="Cambria Math" panose="02040503050406030204" pitchFamily="18" charset="0"/>
                  </a:rPr>
                  <a:t> is the number of calls that makes the covered call delta neutral</a:t>
                </a:r>
              </a:p>
            </p:txBody>
          </p:sp>
        </mc:Choice>
        <mc:Fallback xmlns="">
          <p:sp>
            <p:nvSpPr>
              <p:cNvPr id="85" name="TextovéPole 84">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187624" y="1735965"/>
                <a:ext cx="7956376" cy="369332"/>
              </a:xfrm>
              <a:prstGeom prst="rect">
                <a:avLst/>
              </a:prstGeom>
              <a:blipFill>
                <a:blip r:embed="rId13"/>
                <a:stretch>
                  <a:fillRect l="-153" t="-11667" r="-613" b="-25000"/>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8" name="TextovéPole 107">
                <a:extLst>
                  <a:ext uri="{FF2B5EF4-FFF2-40B4-BE49-F238E27FC236}">
                    <a16:creationId xmlns:a16="http://schemas.microsoft.com/office/drawing/2014/main" id="{05FC8A4A-3761-4383-881C-9096ADBF4AD7}"/>
                  </a:ext>
                </a:extLst>
              </p:cNvPr>
              <p:cNvSpPr txBox="1"/>
              <p:nvPr/>
            </p:nvSpPr>
            <p:spPr>
              <a:xfrm>
                <a:off x="4572000" y="2410070"/>
                <a:ext cx="3401310" cy="307777"/>
              </a:xfrm>
              <a:prstGeom prst="rect">
                <a:avLst/>
              </a:prstGeom>
              <a:noFill/>
              <a:ln>
                <a:noFill/>
              </a:ln>
            </p:spPr>
            <p:txBody>
              <a:bodyPr wrap="square" rtlCol="0">
                <a:spAutoFit/>
              </a:bodyPr>
              <a:lstStyle/>
              <a:p>
                <a:pPr>
                  <a:buClr>
                    <a:srgbClr val="7030A0"/>
                  </a:buClr>
                  <a:buSzPct val="100000"/>
                </a:pPr>
                <a14:m>
                  <m:oMathPara xmlns:m="http://schemas.openxmlformats.org/officeDocument/2006/math">
                    <m:oMathParaPr>
                      <m:jc m:val="left"/>
                    </m:oMathParaPr>
                    <m:oMath xmlns:m="http://schemas.openxmlformats.org/officeDocument/2006/math">
                      <m:r>
                        <a:rPr lang="cs-CZ" sz="1400" b="0" i="1" smtClean="0">
                          <a:latin typeface="Cambria Math" panose="02040503050406030204" pitchFamily="18" charset="0"/>
                          <a:ea typeface="Cambria Math" panose="02040503050406030204" pitchFamily="18" charset="0"/>
                        </a:rPr>
                        <m:t>𝑆</m:t>
                      </m:r>
                      <m:r>
                        <a:rPr lang="cs-CZ" sz="1400" b="0" i="1" smtClean="0">
                          <a:latin typeface="Cambria Math" panose="02040503050406030204" pitchFamily="18" charset="0"/>
                          <a:ea typeface="Cambria Math" panose="02040503050406030204" pitchFamily="18" charset="0"/>
                        </a:rPr>
                        <m:t>→</m:t>
                      </m:r>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𝑆</m:t>
                          </m:r>
                        </m:e>
                        <m:sub>
                          <m:r>
                            <a:rPr lang="cs-CZ" sz="1400" b="0" i="1" smtClean="0">
                              <a:latin typeface="Cambria Math" panose="02040503050406030204" pitchFamily="18" charset="0"/>
                              <a:ea typeface="Cambria Math" panose="02040503050406030204" pitchFamily="18" charset="0"/>
                            </a:rPr>
                            <m:t>𝑑</m:t>
                          </m:r>
                        </m:sub>
                      </m:sSub>
                      <m:r>
                        <a:rPr lang="cs-CZ" sz="1400" b="0" i="1" smtClean="0">
                          <a:latin typeface="Cambria Math" panose="02040503050406030204" pitchFamily="18" charset="0"/>
                          <a:ea typeface="Cambria Math" panose="02040503050406030204" pitchFamily="18" charset="0"/>
                        </a:rPr>
                        <m:t>⇒</m:t>
                      </m:r>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𝑉</m:t>
                          </m:r>
                        </m:e>
                        <m:sub>
                          <m:r>
                            <a:rPr lang="cs-CZ" sz="1400" b="0" i="1" smtClean="0">
                              <a:latin typeface="Cambria Math" panose="02040503050406030204" pitchFamily="18" charset="0"/>
                              <a:ea typeface="Cambria Math" panose="02040503050406030204" pitchFamily="18" charset="0"/>
                            </a:rPr>
                            <m:t>𝑑</m:t>
                          </m:r>
                        </m:sub>
                      </m:sSub>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𝑑𝑆</m:t>
                      </m:r>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h</m:t>
                      </m:r>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𝐶</m:t>
                          </m:r>
                        </m:e>
                        <m:sub>
                          <m:r>
                            <a:rPr lang="cs-CZ" sz="1400" b="0" i="1" smtClean="0">
                              <a:latin typeface="Cambria Math" panose="02040503050406030204" pitchFamily="18" charset="0"/>
                              <a:ea typeface="Cambria Math" panose="02040503050406030204" pitchFamily="18" charset="0"/>
                            </a:rPr>
                            <m:t>𝑑</m:t>
                          </m:r>
                        </m:sub>
                      </m:sSub>
                      <m:r>
                        <a:rPr lang="cs-CZ" sz="1400" b="0" i="1" smtClean="0">
                          <a:latin typeface="Cambria Math" panose="02040503050406030204" pitchFamily="18" charset="0"/>
                          <a:ea typeface="Cambria Math" panose="02040503050406030204" pitchFamily="18" charset="0"/>
                        </a:rPr>
                        <m:t>=35−</m:t>
                      </m:r>
                      <m:r>
                        <a:rPr lang="cs-CZ" sz="1400" b="0" i="1" smtClean="0">
                          <a:latin typeface="Cambria Math" panose="02040503050406030204" pitchFamily="18" charset="0"/>
                          <a:ea typeface="Cambria Math" panose="02040503050406030204" pitchFamily="18" charset="0"/>
                        </a:rPr>
                        <m:t>h</m:t>
                      </m:r>
                      <m:r>
                        <a:rPr lang="cs-CZ" sz="1400" b="0" i="1" smtClean="0">
                          <a:latin typeface="Cambria Math" panose="02040503050406030204" pitchFamily="18" charset="0"/>
                          <a:ea typeface="Cambria Math" panose="02040503050406030204" pitchFamily="18" charset="0"/>
                        </a:rPr>
                        <m:t>×0</m:t>
                      </m:r>
                    </m:oMath>
                  </m:oMathPara>
                </a14:m>
                <a:endParaRPr lang="en-GB" sz="1400" dirty="0">
                  <a:latin typeface="Cambria Math" panose="02040503050406030204" pitchFamily="18" charset="0"/>
                  <a:ea typeface="Cambria Math" panose="02040503050406030204" pitchFamily="18" charset="0"/>
                </a:endParaRPr>
              </a:p>
            </p:txBody>
          </p:sp>
        </mc:Choice>
        <mc:Fallback xmlns="">
          <p:sp>
            <p:nvSpPr>
              <p:cNvPr id="108" name="TextovéPole 107">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572000" y="2410070"/>
                <a:ext cx="3401310" cy="307777"/>
              </a:xfrm>
              <a:prstGeom prst="rect">
                <a:avLst/>
              </a:prstGeom>
              <a:blipFill>
                <a:blip r:embed="rId1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9" name="TextovéPole 108">
                <a:extLst>
                  <a:ext uri="{FF2B5EF4-FFF2-40B4-BE49-F238E27FC236}">
                    <a16:creationId xmlns:a16="http://schemas.microsoft.com/office/drawing/2014/main" id="{05FC8A4A-3761-4383-881C-9096ADBF4AD7}"/>
                  </a:ext>
                </a:extLst>
              </p:cNvPr>
              <p:cNvSpPr txBox="1"/>
              <p:nvPr/>
            </p:nvSpPr>
            <p:spPr>
              <a:xfrm>
                <a:off x="4572000" y="2650034"/>
                <a:ext cx="3202232" cy="307777"/>
              </a:xfrm>
              <a:prstGeom prst="rect">
                <a:avLst/>
              </a:prstGeom>
              <a:noFill/>
              <a:ln>
                <a:noFill/>
              </a:ln>
            </p:spPr>
            <p:txBody>
              <a:bodyPr wrap="square" rtlCol="0">
                <a:spAutoFit/>
              </a:bodyPr>
              <a:lstStyle/>
              <a:p>
                <a:pPr marL="714375" indent="-714375">
                  <a:buClr>
                    <a:srgbClr val="7030A0"/>
                  </a:buClr>
                  <a:buSzPct val="100000"/>
                </a:pPr>
                <a14:m>
                  <m:oMathPara xmlns:m="http://schemas.openxmlformats.org/officeDocument/2006/math">
                    <m:oMathParaPr>
                      <m:jc m:val="left"/>
                    </m:oMathParaPr>
                    <m:oMath xmlns:m="http://schemas.openxmlformats.org/officeDocument/2006/math">
                      <m:sSub>
                        <m:sSubPr>
                          <m:ctrlPr>
                            <a:rPr lang="cs-CZ" sz="1400" i="1" smtClean="0">
                              <a:latin typeface="Cambria Math" panose="02040503050406030204" pitchFamily="18" charset="0"/>
                              <a:ea typeface="Cambria Math" panose="02040503050406030204" pitchFamily="18" charset="0"/>
                            </a:rPr>
                          </m:ctrlPr>
                        </m:sSubPr>
                        <m:e>
                          <m:r>
                            <a:rPr lang="cs-CZ" sz="1400" b="0" i="1" smtClean="0">
                              <a:latin typeface="Cambria Math"/>
                              <a:ea typeface="Cambria Math" panose="02040503050406030204" pitchFamily="18" charset="0"/>
                            </a:rPr>
                            <m:t>𝑉</m:t>
                          </m:r>
                        </m:e>
                        <m:sub>
                          <m:r>
                            <a:rPr lang="cs-CZ" sz="1400" b="0" i="1" smtClean="0">
                              <a:latin typeface="Cambria Math"/>
                              <a:ea typeface="Cambria Math" panose="02040503050406030204" pitchFamily="18" charset="0"/>
                            </a:rPr>
                            <m:t>𝑢</m:t>
                          </m:r>
                        </m:sub>
                      </m:sSub>
                      <m:r>
                        <a:rPr lang="cs-CZ" sz="1400" b="0" i="1" smtClean="0">
                          <a:latin typeface="Cambria Math"/>
                          <a:ea typeface="Cambria Math" panose="02040503050406030204" pitchFamily="18" charset="0"/>
                        </a:rPr>
                        <m:t>=</m:t>
                      </m:r>
                      <m:r>
                        <a:rPr lang="cs-CZ" sz="1400" i="1" smtClean="0">
                          <a:latin typeface="Cambria Math" panose="02040503050406030204" pitchFamily="18" charset="0"/>
                          <a:ea typeface="Cambria Math" panose="02040503050406030204" pitchFamily="18" charset="0"/>
                        </a:rPr>
                        <m:t>𝑢𝑆</m:t>
                      </m:r>
                      <m:r>
                        <a:rPr lang="cs-CZ" sz="1400" i="1" smtClean="0">
                          <a:latin typeface="Cambria Math" panose="02040503050406030204" pitchFamily="18" charset="0"/>
                          <a:ea typeface="Cambria Math" panose="02040503050406030204" pitchFamily="18" charset="0"/>
                        </a:rPr>
                        <m:t>−</m:t>
                      </m:r>
                      <m:r>
                        <a:rPr lang="cs-CZ" sz="1400" i="1" smtClean="0">
                          <a:latin typeface="Cambria Math" panose="02040503050406030204" pitchFamily="18" charset="0"/>
                          <a:ea typeface="Cambria Math" panose="02040503050406030204" pitchFamily="18" charset="0"/>
                        </a:rPr>
                        <m:t>h</m:t>
                      </m:r>
                      <m:sSub>
                        <m:sSubPr>
                          <m:ctrlPr>
                            <a:rPr lang="cs-CZ" sz="1400" i="1">
                              <a:latin typeface="Cambria Math" panose="02040503050406030204" pitchFamily="18" charset="0"/>
                              <a:ea typeface="Cambria Math" panose="02040503050406030204" pitchFamily="18" charset="0"/>
                            </a:rPr>
                          </m:ctrlPr>
                        </m:sSubPr>
                        <m:e>
                          <m:r>
                            <a:rPr lang="cs-CZ" sz="1400" i="1">
                              <a:latin typeface="Cambria Math" panose="02040503050406030204" pitchFamily="18" charset="0"/>
                              <a:ea typeface="Cambria Math" panose="02040503050406030204" pitchFamily="18" charset="0"/>
                            </a:rPr>
                            <m:t>𝐶</m:t>
                          </m:r>
                        </m:e>
                        <m:sub>
                          <m:r>
                            <a:rPr lang="cs-CZ" sz="1400" i="1">
                              <a:latin typeface="Cambria Math" panose="02040503050406030204" pitchFamily="18" charset="0"/>
                              <a:ea typeface="Cambria Math" panose="02040503050406030204" pitchFamily="18" charset="0"/>
                            </a:rPr>
                            <m:t>𝑢</m:t>
                          </m:r>
                        </m:sub>
                      </m:sSub>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𝑑𝑆</m:t>
                      </m:r>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h</m:t>
                      </m:r>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𝐶</m:t>
                          </m:r>
                        </m:e>
                        <m:sub>
                          <m:r>
                            <a:rPr lang="cs-CZ" sz="1400" b="0" i="1" smtClean="0">
                              <a:latin typeface="Cambria Math" panose="02040503050406030204" pitchFamily="18" charset="0"/>
                              <a:ea typeface="Cambria Math" panose="02040503050406030204" pitchFamily="18" charset="0"/>
                            </a:rPr>
                            <m:t>𝑑</m:t>
                          </m:r>
                        </m:sub>
                      </m:sSub>
                      <m:r>
                        <a:rPr lang="cs-CZ" sz="1400" b="0" i="1" smtClean="0">
                          <a:latin typeface="Cambria Math"/>
                          <a:ea typeface="Cambria Math" panose="02040503050406030204" pitchFamily="18" charset="0"/>
                        </a:rPr>
                        <m:t>=</m:t>
                      </m:r>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a:ea typeface="Cambria Math" panose="02040503050406030204" pitchFamily="18" charset="0"/>
                            </a:rPr>
                            <m:t>𝑉</m:t>
                          </m:r>
                        </m:e>
                        <m:sub>
                          <m:r>
                            <a:rPr lang="cs-CZ" sz="1400" b="0" i="1" smtClean="0">
                              <a:latin typeface="Cambria Math"/>
                              <a:ea typeface="Cambria Math" panose="02040503050406030204" pitchFamily="18" charset="0"/>
                            </a:rPr>
                            <m:t>𝑑</m:t>
                          </m:r>
                        </m:sub>
                      </m:sSub>
                    </m:oMath>
                  </m:oMathPara>
                </a14:m>
                <a:endParaRPr lang="en-GB" sz="1400" dirty="0">
                  <a:latin typeface="Cambria Math" panose="02040503050406030204" pitchFamily="18" charset="0"/>
                  <a:ea typeface="Cambria Math" panose="02040503050406030204" pitchFamily="18" charset="0"/>
                </a:endParaRPr>
              </a:p>
            </p:txBody>
          </p:sp>
        </mc:Choice>
        <mc:Fallback xmlns="">
          <p:sp>
            <p:nvSpPr>
              <p:cNvPr id="109" name="TextovéPole 108">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572000" y="2650034"/>
                <a:ext cx="3202232" cy="307777"/>
              </a:xfrm>
              <a:prstGeom prst="rect">
                <a:avLst/>
              </a:prstGeom>
              <a:blipFill>
                <a:blip r:embed="rId1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0" name="TextovéPole 109">
                <a:extLst>
                  <a:ext uri="{FF2B5EF4-FFF2-40B4-BE49-F238E27FC236}">
                    <a16:creationId xmlns:a16="http://schemas.microsoft.com/office/drawing/2014/main" id="{05FC8A4A-3761-4383-881C-9096ADBF4AD7}"/>
                  </a:ext>
                </a:extLst>
              </p:cNvPr>
              <p:cNvSpPr txBox="1"/>
              <p:nvPr/>
            </p:nvSpPr>
            <p:spPr>
              <a:xfrm>
                <a:off x="4572000" y="2875053"/>
                <a:ext cx="3275856" cy="537776"/>
              </a:xfrm>
              <a:prstGeom prst="rect">
                <a:avLst/>
              </a:prstGeom>
              <a:noFill/>
              <a:ln>
                <a:noFill/>
              </a:ln>
            </p:spPr>
            <p:txBody>
              <a:bodyPr wrap="square" rtlCol="0">
                <a:spAutoFit/>
              </a:bodyPr>
              <a:lstStyle/>
              <a:p>
                <a:pPr marL="176213" indent="-176213">
                  <a:buClr>
                    <a:srgbClr val="7030A0"/>
                  </a:buClr>
                  <a:buSzPct val="100000"/>
                </a:pPr>
                <a14:m>
                  <m:oMathPara xmlns:m="http://schemas.openxmlformats.org/officeDocument/2006/math">
                    <m:oMathParaPr>
                      <m:jc m:val="left"/>
                    </m:oMathParaPr>
                    <m:oMath xmlns:m="http://schemas.openxmlformats.org/officeDocument/2006/math">
                      <m:r>
                        <a:rPr lang="cs-CZ" sz="1400" b="0" i="1" smtClean="0">
                          <a:latin typeface="Cambria Math" panose="02040503050406030204" pitchFamily="18" charset="0"/>
                          <a:ea typeface="Cambria Math" panose="02040503050406030204" pitchFamily="18" charset="0"/>
                        </a:rPr>
                        <m:t>h</m:t>
                      </m:r>
                      <m:r>
                        <a:rPr lang="cs-CZ" sz="1400" b="0" i="1" smtClean="0">
                          <a:latin typeface="Cambria Math" panose="02040503050406030204" pitchFamily="18" charset="0"/>
                          <a:ea typeface="Cambria Math" panose="02040503050406030204" pitchFamily="18" charset="0"/>
                        </a:rPr>
                        <m:t>=</m:t>
                      </m:r>
                      <m:f>
                        <m:fPr>
                          <m:ctrlPr>
                            <a:rPr lang="cs-CZ" sz="1400" i="1" smtClean="0">
                              <a:latin typeface="Cambria Math" panose="02040503050406030204" pitchFamily="18" charset="0"/>
                              <a:ea typeface="Cambria Math" panose="02040503050406030204" pitchFamily="18" charset="0"/>
                            </a:rPr>
                          </m:ctrlPr>
                        </m:fPr>
                        <m:num>
                          <m:r>
                            <a:rPr lang="cs-CZ" sz="1400" b="0" i="1" smtClean="0">
                              <a:latin typeface="Cambria Math" panose="02040503050406030204" pitchFamily="18" charset="0"/>
                              <a:ea typeface="Cambria Math" panose="02040503050406030204" pitchFamily="18" charset="0"/>
                            </a:rPr>
                            <m:t>𝑢𝑆</m:t>
                          </m:r>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𝑑𝑆</m:t>
                          </m:r>
                        </m:num>
                        <m:den>
                          <m:sSub>
                            <m:sSubPr>
                              <m:ctrlPr>
                                <a:rPr lang="cs-CZ" sz="140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𝐶</m:t>
                              </m:r>
                            </m:e>
                            <m:sub>
                              <m:r>
                                <a:rPr lang="cs-CZ" sz="1400" b="0" i="1" smtClean="0">
                                  <a:latin typeface="Cambria Math" panose="02040503050406030204" pitchFamily="18" charset="0"/>
                                  <a:ea typeface="Cambria Math" panose="02040503050406030204" pitchFamily="18" charset="0"/>
                                </a:rPr>
                                <m:t>𝑢</m:t>
                              </m:r>
                            </m:sub>
                          </m:sSub>
                          <m:r>
                            <a:rPr lang="cs-CZ" sz="1400" b="0" i="1" smtClean="0">
                              <a:latin typeface="Cambria Math" panose="02040503050406030204" pitchFamily="18" charset="0"/>
                              <a:ea typeface="Cambria Math" panose="02040503050406030204" pitchFamily="18" charset="0"/>
                            </a:rPr>
                            <m:t>−</m:t>
                          </m:r>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𝐶</m:t>
                              </m:r>
                            </m:e>
                            <m:sub>
                              <m:r>
                                <a:rPr lang="cs-CZ" sz="1400" b="0" i="1" smtClean="0">
                                  <a:latin typeface="Cambria Math" panose="02040503050406030204" pitchFamily="18" charset="0"/>
                                  <a:ea typeface="Cambria Math" panose="02040503050406030204" pitchFamily="18" charset="0"/>
                                </a:rPr>
                                <m:t>𝑑</m:t>
                              </m:r>
                            </m:sub>
                          </m:sSub>
                        </m:den>
                      </m:f>
                      <m:r>
                        <a:rPr lang="cs-CZ" sz="1400" b="0" i="1" smtClean="0">
                          <a:latin typeface="Cambria Math" panose="02040503050406030204" pitchFamily="18" charset="0"/>
                          <a:ea typeface="Cambria Math" panose="02040503050406030204" pitchFamily="18" charset="0"/>
                        </a:rPr>
                        <m:t>=</m:t>
                      </m:r>
                      <m:f>
                        <m:fPr>
                          <m:ctrlPr>
                            <a:rPr lang="cs-CZ" sz="1400" b="0" i="1" smtClean="0">
                              <a:latin typeface="Cambria Math" panose="02040503050406030204" pitchFamily="18" charset="0"/>
                              <a:ea typeface="Cambria Math" panose="02040503050406030204" pitchFamily="18" charset="0"/>
                            </a:rPr>
                          </m:ctrlPr>
                        </m:fPr>
                        <m:num>
                          <m:r>
                            <a:rPr lang="cs-CZ" sz="1400" b="0" i="1" smtClean="0">
                              <a:latin typeface="Cambria Math" panose="02040503050406030204" pitchFamily="18" charset="0"/>
                              <a:ea typeface="Cambria Math" panose="02040503050406030204" pitchFamily="18" charset="0"/>
                            </a:rPr>
                            <m:t>65−35</m:t>
                          </m:r>
                        </m:num>
                        <m:den>
                          <m:r>
                            <a:rPr lang="cs-CZ" sz="1400" b="0" i="1" smtClean="0">
                              <a:latin typeface="Cambria Math" panose="02040503050406030204" pitchFamily="18" charset="0"/>
                              <a:ea typeface="Cambria Math" panose="02040503050406030204" pitchFamily="18" charset="0"/>
                            </a:rPr>
                            <m:t>20−0</m:t>
                          </m:r>
                        </m:den>
                      </m:f>
                      <m:r>
                        <a:rPr lang="cs-CZ" sz="1400" b="0" i="1" smtClean="0">
                          <a:latin typeface="Cambria Math" panose="02040503050406030204" pitchFamily="18" charset="0"/>
                          <a:ea typeface="Cambria Math" panose="02040503050406030204" pitchFamily="18" charset="0"/>
                        </a:rPr>
                        <m:t>=</m:t>
                      </m:r>
                      <m:f>
                        <m:fPr>
                          <m:ctrlPr>
                            <a:rPr lang="cs-CZ" sz="1400" b="0" i="1" smtClean="0">
                              <a:latin typeface="Cambria Math" panose="02040503050406030204" pitchFamily="18" charset="0"/>
                              <a:ea typeface="Cambria Math" panose="02040503050406030204" pitchFamily="18" charset="0"/>
                            </a:rPr>
                          </m:ctrlPr>
                        </m:fPr>
                        <m:num>
                          <m:r>
                            <a:rPr lang="cs-CZ" sz="1400" b="0" i="1" smtClean="0">
                              <a:latin typeface="Cambria Math" panose="02040503050406030204" pitchFamily="18" charset="0"/>
                              <a:ea typeface="Cambria Math" panose="02040503050406030204" pitchFamily="18" charset="0"/>
                            </a:rPr>
                            <m:t>30</m:t>
                          </m:r>
                        </m:num>
                        <m:den>
                          <m:r>
                            <a:rPr lang="cs-CZ" sz="1400" b="0" i="1" smtClean="0">
                              <a:latin typeface="Cambria Math" panose="02040503050406030204" pitchFamily="18" charset="0"/>
                              <a:ea typeface="Cambria Math" panose="02040503050406030204" pitchFamily="18" charset="0"/>
                            </a:rPr>
                            <m:t>20</m:t>
                          </m:r>
                        </m:den>
                      </m:f>
                      <m:r>
                        <a:rPr lang="cs-CZ" sz="1400" b="0" i="1" smtClean="0">
                          <a:latin typeface="Cambria Math" panose="02040503050406030204" pitchFamily="18" charset="0"/>
                          <a:ea typeface="Cambria Math" panose="02040503050406030204" pitchFamily="18" charset="0"/>
                        </a:rPr>
                        <m:t>=1.5</m:t>
                      </m:r>
                    </m:oMath>
                  </m:oMathPara>
                </a14:m>
                <a:endParaRPr lang="en-GB" sz="1400" dirty="0">
                  <a:latin typeface="Cambria Math" panose="02040503050406030204" pitchFamily="18" charset="0"/>
                  <a:ea typeface="Cambria Math" panose="02040503050406030204" pitchFamily="18" charset="0"/>
                </a:endParaRPr>
              </a:p>
            </p:txBody>
          </p:sp>
        </mc:Choice>
        <mc:Fallback xmlns="">
          <p:sp>
            <p:nvSpPr>
              <p:cNvPr id="110" name="TextovéPole 109">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572000" y="2875053"/>
                <a:ext cx="3275856" cy="537776"/>
              </a:xfrm>
              <a:prstGeom prst="rect">
                <a:avLst/>
              </a:prstGeom>
              <a:blipFill>
                <a:blip r:embed="rId1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1" name="TextovéPole 110">
                <a:extLst>
                  <a:ext uri="{FF2B5EF4-FFF2-40B4-BE49-F238E27FC236}">
                    <a16:creationId xmlns:a16="http://schemas.microsoft.com/office/drawing/2014/main" id="{05FC8A4A-3761-4383-881C-9096ADBF4AD7}"/>
                  </a:ext>
                </a:extLst>
              </p:cNvPr>
              <p:cNvSpPr txBox="1"/>
              <p:nvPr/>
            </p:nvSpPr>
            <p:spPr>
              <a:xfrm>
                <a:off x="4572000" y="3338819"/>
                <a:ext cx="1476672" cy="307777"/>
              </a:xfrm>
              <a:prstGeom prst="rect">
                <a:avLst/>
              </a:prstGeom>
              <a:noFill/>
              <a:ln>
                <a:noFill/>
              </a:ln>
            </p:spPr>
            <p:txBody>
              <a:bodyPr wrap="square" rtlCol="0">
                <a:spAutoFit/>
              </a:bodyPr>
              <a:lstStyle/>
              <a:p>
                <a:pPr marL="714375" indent="-714375">
                  <a:buClr>
                    <a:srgbClr val="7030A0"/>
                  </a:buClr>
                  <a:buSzPct val="100000"/>
                </a:pPr>
                <a14:m>
                  <m:oMathPara xmlns:m="http://schemas.openxmlformats.org/officeDocument/2006/math">
                    <m:oMathParaPr>
                      <m:jc m:val="left"/>
                    </m:oMathParaPr>
                    <m:oMath xmlns:m="http://schemas.openxmlformats.org/officeDocument/2006/math">
                      <m:sSub>
                        <m:sSubPr>
                          <m:ctrlPr>
                            <a:rPr lang="cs-CZ" sz="140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𝑉</m:t>
                          </m:r>
                        </m:e>
                        <m:sub>
                          <m:r>
                            <a:rPr lang="cs-CZ" sz="1400" b="0" i="1" smtClean="0">
                              <a:latin typeface="Cambria Math" panose="02040503050406030204" pitchFamily="18" charset="0"/>
                              <a:ea typeface="Cambria Math" panose="02040503050406030204" pitchFamily="18" charset="0"/>
                            </a:rPr>
                            <m:t>𝑢</m:t>
                          </m:r>
                        </m:sub>
                      </m:sSub>
                      <m:r>
                        <a:rPr lang="cs-CZ" sz="1400" b="0" i="1" smtClean="0">
                          <a:latin typeface="Cambria Math" panose="02040503050406030204" pitchFamily="18" charset="0"/>
                          <a:ea typeface="Cambria Math" panose="02040503050406030204" pitchFamily="18" charset="0"/>
                        </a:rPr>
                        <m:t>=</m:t>
                      </m:r>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𝑉</m:t>
                          </m:r>
                        </m:e>
                        <m:sub>
                          <m:r>
                            <a:rPr lang="cs-CZ" sz="1400" b="0" i="1" smtClean="0">
                              <a:latin typeface="Cambria Math" panose="02040503050406030204" pitchFamily="18" charset="0"/>
                              <a:ea typeface="Cambria Math" panose="02040503050406030204" pitchFamily="18" charset="0"/>
                            </a:rPr>
                            <m:t>𝑑</m:t>
                          </m:r>
                        </m:sub>
                      </m:sSub>
                      <m:r>
                        <a:rPr lang="cs-CZ" sz="1400" b="0" i="1" smtClean="0">
                          <a:latin typeface="Cambria Math" panose="02040503050406030204" pitchFamily="18" charset="0"/>
                          <a:ea typeface="Cambria Math" panose="02040503050406030204" pitchFamily="18" charset="0"/>
                        </a:rPr>
                        <m:t>=€35</m:t>
                      </m:r>
                    </m:oMath>
                  </m:oMathPara>
                </a14:m>
                <a:endParaRPr lang="en-GB" sz="1400" dirty="0">
                  <a:latin typeface="Cambria Math" panose="02040503050406030204" pitchFamily="18" charset="0"/>
                  <a:ea typeface="Cambria Math" panose="02040503050406030204" pitchFamily="18" charset="0"/>
                </a:endParaRPr>
              </a:p>
            </p:txBody>
          </p:sp>
        </mc:Choice>
        <mc:Fallback xmlns="">
          <p:sp>
            <p:nvSpPr>
              <p:cNvPr id="111" name="TextovéPole 110">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572000" y="3338819"/>
                <a:ext cx="1476672" cy="307777"/>
              </a:xfrm>
              <a:prstGeom prst="rect">
                <a:avLst/>
              </a:prstGeom>
              <a:blipFill>
                <a:blip r:embed="rId17"/>
                <a:stretch>
                  <a:fillRect/>
                </a:stretch>
              </a:blipFill>
              <a:ln>
                <a:noFill/>
              </a:ln>
            </p:spPr>
            <p:txBody>
              <a:bodyPr/>
              <a:lstStyle/>
              <a:p>
                <a:r>
                  <a:rPr lang="en-GB">
                    <a:noFill/>
                  </a:rPr>
                  <a:t> </a:t>
                </a:r>
              </a:p>
            </p:txBody>
          </p:sp>
        </mc:Fallback>
      </mc:AlternateContent>
      <p:sp>
        <p:nvSpPr>
          <p:cNvPr id="113" name="TextovéPole 112">
            <a:extLst>
              <a:ext uri="{FF2B5EF4-FFF2-40B4-BE49-F238E27FC236}">
                <a16:creationId xmlns:a16="http://schemas.microsoft.com/office/drawing/2014/main" id="{C2213C79-ADE1-4C63-AEE6-BED897325BFB}"/>
              </a:ext>
            </a:extLst>
          </p:cNvPr>
          <p:cNvSpPr txBox="1"/>
          <p:nvPr/>
        </p:nvSpPr>
        <p:spPr>
          <a:xfrm>
            <a:off x="1187624" y="4517587"/>
            <a:ext cx="7812376"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A delta-neutral covered call is risk-free, its present value can be found by discounting its futures value using a risk-free discount rate</a:t>
            </a:r>
          </a:p>
        </p:txBody>
      </p:sp>
      <mc:AlternateContent xmlns:mc="http://schemas.openxmlformats.org/markup-compatibility/2006" xmlns:a14="http://schemas.microsoft.com/office/drawing/2010/main">
        <mc:Choice Requires="a14">
          <p:sp>
            <p:nvSpPr>
              <p:cNvPr id="115" name="TextovéPole 114">
                <a:extLst>
                  <a:ext uri="{FF2B5EF4-FFF2-40B4-BE49-F238E27FC236}">
                    <a16:creationId xmlns:a16="http://schemas.microsoft.com/office/drawing/2014/main" id="{05FC8A4A-3761-4383-881C-9096ADBF4AD7}"/>
                  </a:ext>
                </a:extLst>
              </p:cNvPr>
              <p:cNvSpPr txBox="1"/>
              <p:nvPr/>
            </p:nvSpPr>
            <p:spPr>
              <a:xfrm>
                <a:off x="1835696" y="5084230"/>
                <a:ext cx="3456384" cy="505010"/>
              </a:xfrm>
              <a:prstGeom prst="rect">
                <a:avLst/>
              </a:prstGeom>
              <a:noFill/>
              <a:ln>
                <a:noFill/>
              </a:ln>
            </p:spPr>
            <p:txBody>
              <a:bodyPr wrap="square" rtlCol="0">
                <a:spAutoFit/>
              </a:bodyPr>
              <a:lstStyle/>
              <a:p>
                <a:pPr marL="176213" indent="-176213">
                  <a:buClr>
                    <a:srgbClr val="7030A0"/>
                  </a:buClr>
                  <a:buSzPct val="100000"/>
                </a:pPr>
                <a14:m>
                  <m:oMathPara xmlns:m="http://schemas.openxmlformats.org/officeDocument/2006/math">
                    <m:oMathParaPr>
                      <m:jc m:val="left"/>
                    </m:oMathParaPr>
                    <m:oMath xmlns:m="http://schemas.openxmlformats.org/officeDocument/2006/math">
                      <m:r>
                        <a:rPr lang="cs-CZ" sz="1400" b="0" i="1" smtClean="0">
                          <a:latin typeface="Cambria Math" panose="02040503050406030204" pitchFamily="18" charset="0"/>
                          <a:ea typeface="Cambria Math" panose="02040503050406030204" pitchFamily="18" charset="0"/>
                        </a:rPr>
                        <m:t>𝑆</m:t>
                      </m:r>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h𝐶</m:t>
                      </m:r>
                      <m:r>
                        <a:rPr lang="cs-CZ" sz="1400" b="0" i="1" smtClean="0">
                          <a:latin typeface="Cambria Math" panose="02040503050406030204" pitchFamily="18" charset="0"/>
                          <a:ea typeface="Cambria Math" panose="02040503050406030204" pitchFamily="18" charset="0"/>
                        </a:rPr>
                        <m:t>=</m:t>
                      </m:r>
                      <m:f>
                        <m:fPr>
                          <m:ctrlPr>
                            <a:rPr lang="cs-CZ" sz="1400" i="1" smtClean="0">
                              <a:latin typeface="Cambria Math" panose="02040503050406030204" pitchFamily="18" charset="0"/>
                              <a:ea typeface="Cambria Math" panose="02040503050406030204" pitchFamily="18" charset="0"/>
                            </a:rPr>
                          </m:ctrlPr>
                        </m:fPr>
                        <m:num>
                          <m:sSub>
                            <m:sSubPr>
                              <m:ctrlPr>
                                <a:rPr lang="cs-CZ" sz="140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𝑉</m:t>
                              </m:r>
                            </m:e>
                            <m:sub>
                              <m:r>
                                <a:rPr lang="cs-CZ" sz="1400" b="0" i="1" smtClean="0">
                                  <a:latin typeface="Cambria Math" panose="02040503050406030204" pitchFamily="18" charset="0"/>
                                  <a:ea typeface="Cambria Math" panose="02040503050406030204" pitchFamily="18" charset="0"/>
                                </a:rPr>
                                <m:t>𝑢</m:t>
                              </m:r>
                            </m:sub>
                          </m:sSub>
                        </m:num>
                        <m:den>
                          <m:r>
                            <a:rPr lang="cs-CZ" sz="1400" b="0" i="1" smtClean="0">
                              <a:latin typeface="Cambria Math" panose="02040503050406030204" pitchFamily="18" charset="0"/>
                              <a:ea typeface="Cambria Math" panose="02040503050406030204" pitchFamily="18" charset="0"/>
                            </a:rPr>
                            <m:t>1+</m:t>
                          </m:r>
                          <m:r>
                            <a:rPr lang="cs-CZ" sz="1400" b="0" i="1" smtClean="0">
                              <a:latin typeface="Cambria Math" panose="02040503050406030204" pitchFamily="18" charset="0"/>
                              <a:ea typeface="Cambria Math" panose="02040503050406030204" pitchFamily="18" charset="0"/>
                            </a:rPr>
                            <m:t>𝑟</m:t>
                          </m:r>
                        </m:den>
                      </m:f>
                      <m:r>
                        <a:rPr lang="cs-CZ" sz="1400" b="0" i="1" smtClean="0">
                          <a:latin typeface="Cambria Math" panose="02040503050406030204" pitchFamily="18" charset="0"/>
                          <a:ea typeface="Cambria Math" panose="02040503050406030204" pitchFamily="18" charset="0"/>
                        </a:rPr>
                        <m:t>=</m:t>
                      </m:r>
                      <m:f>
                        <m:fPr>
                          <m:ctrlPr>
                            <a:rPr lang="cs-CZ" sz="1400" b="0" i="1" smtClean="0">
                              <a:latin typeface="Cambria Math" panose="02040503050406030204" pitchFamily="18" charset="0"/>
                              <a:ea typeface="Cambria Math" panose="02040503050406030204" pitchFamily="18" charset="0"/>
                            </a:rPr>
                          </m:ctrlPr>
                        </m:fPr>
                        <m:num>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𝑉</m:t>
                              </m:r>
                            </m:e>
                            <m:sub>
                              <m:r>
                                <a:rPr lang="cs-CZ" sz="1400" b="0" i="1" smtClean="0">
                                  <a:latin typeface="Cambria Math" panose="02040503050406030204" pitchFamily="18" charset="0"/>
                                  <a:ea typeface="Cambria Math" panose="02040503050406030204" pitchFamily="18" charset="0"/>
                                </a:rPr>
                                <m:t>𝑑</m:t>
                              </m:r>
                            </m:sub>
                          </m:sSub>
                        </m:num>
                        <m:den>
                          <m:r>
                            <a:rPr lang="cs-CZ" sz="1400" b="0" i="1" smtClean="0">
                              <a:latin typeface="Cambria Math" panose="02040503050406030204" pitchFamily="18" charset="0"/>
                              <a:ea typeface="Cambria Math" panose="02040503050406030204" pitchFamily="18" charset="0"/>
                            </a:rPr>
                            <m:t>1+</m:t>
                          </m:r>
                          <m:r>
                            <a:rPr lang="cs-CZ" sz="1400" b="0" i="1" smtClean="0">
                              <a:latin typeface="Cambria Math" panose="02040503050406030204" pitchFamily="18" charset="0"/>
                              <a:ea typeface="Cambria Math" panose="02040503050406030204" pitchFamily="18" charset="0"/>
                            </a:rPr>
                            <m:t>𝑟</m:t>
                          </m:r>
                        </m:den>
                      </m:f>
                      <m:r>
                        <a:rPr lang="cs-CZ" sz="1400" b="0" i="1" smtClean="0">
                          <a:latin typeface="Cambria Math" panose="02040503050406030204" pitchFamily="18" charset="0"/>
                          <a:ea typeface="Cambria Math" panose="02040503050406030204" pitchFamily="18" charset="0"/>
                        </a:rPr>
                        <m:t>=</m:t>
                      </m:r>
                      <m:f>
                        <m:fPr>
                          <m:ctrlPr>
                            <a:rPr lang="cs-CZ" sz="1400" b="0" i="1" smtClean="0">
                              <a:latin typeface="Cambria Math" panose="02040503050406030204" pitchFamily="18" charset="0"/>
                              <a:ea typeface="Cambria Math" panose="02040503050406030204" pitchFamily="18" charset="0"/>
                            </a:rPr>
                          </m:ctrlPr>
                        </m:fPr>
                        <m:num>
                          <m:r>
                            <a:rPr lang="cs-CZ" sz="1400" b="0" i="1" smtClean="0">
                              <a:latin typeface="Cambria Math" panose="02040503050406030204" pitchFamily="18" charset="0"/>
                              <a:ea typeface="Cambria Math" panose="02040503050406030204" pitchFamily="18" charset="0"/>
                            </a:rPr>
                            <m:t>35</m:t>
                          </m:r>
                        </m:num>
                        <m:den>
                          <m:r>
                            <a:rPr lang="cs-CZ" sz="1400" b="0" i="1" smtClean="0">
                              <a:latin typeface="Cambria Math" panose="02040503050406030204" pitchFamily="18" charset="0"/>
                              <a:ea typeface="Cambria Math" panose="02040503050406030204" pitchFamily="18" charset="0"/>
                            </a:rPr>
                            <m:t>1.1</m:t>
                          </m:r>
                        </m:den>
                      </m:f>
                      <m:r>
                        <a:rPr lang="cs-CZ" sz="1400" b="0" i="1" smtClean="0">
                          <a:latin typeface="Cambria Math" panose="02040503050406030204" pitchFamily="18" charset="0"/>
                          <a:ea typeface="Cambria Math" panose="02040503050406030204" pitchFamily="18" charset="0"/>
                        </a:rPr>
                        <m:t>=31</m:t>
                      </m:r>
                      <m:r>
                        <a:rPr lang="cs-CZ" sz="1400" b="0" i="1" smtClean="0">
                          <a:latin typeface="Cambria Math"/>
                          <a:ea typeface="Cambria Math" panose="02040503050406030204" pitchFamily="18" charset="0"/>
                        </a:rPr>
                        <m:t>.82</m:t>
                      </m:r>
                    </m:oMath>
                  </m:oMathPara>
                </a14:m>
                <a:endParaRPr lang="en-GB" sz="1400" dirty="0">
                  <a:latin typeface="Cambria Math" panose="02040503050406030204" pitchFamily="18" charset="0"/>
                  <a:ea typeface="Cambria Math" panose="02040503050406030204" pitchFamily="18" charset="0"/>
                </a:endParaRPr>
              </a:p>
            </p:txBody>
          </p:sp>
        </mc:Choice>
        <mc:Fallback xmlns="">
          <p:sp>
            <p:nvSpPr>
              <p:cNvPr id="115" name="TextovéPole 114">
                <a:extLst>
                  <a:ext uri="{FF2B5EF4-FFF2-40B4-BE49-F238E27FC236}">
                    <a16:creationId xmlns:a16="http://schemas.microsoft.com/office/drawing/2014/main" xmlns="" xmlns:a14="http://schemas.microsoft.com/office/drawing/2010/main" id="{05FC8A4A-3761-4383-881C-9096ADBF4AD7}"/>
                  </a:ext>
                </a:extLst>
              </p:cNvPr>
              <p:cNvSpPr txBox="1">
                <a:spLocks noRot="1" noChangeAspect="1" noMove="1" noResize="1" noEditPoints="1" noAdjustHandles="1" noChangeArrowheads="1" noChangeShapeType="1" noTextEdit="1"/>
              </p:cNvSpPr>
              <p:nvPr/>
            </p:nvSpPr>
            <p:spPr>
              <a:xfrm>
                <a:off x="1835696" y="5084230"/>
                <a:ext cx="3456384" cy="505010"/>
              </a:xfrm>
              <a:prstGeom prst="rect">
                <a:avLst/>
              </a:prstGeom>
              <a:blipFill rotWithShape="1">
                <a:blip r:embed="rId18"/>
                <a:stretch>
                  <a:fillRect b="-1205"/>
                </a:stretch>
              </a:blipFill>
              <a:ln>
                <a:noFill/>
              </a:ln>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116" name="TextovéPole 115">
                <a:extLst>
                  <a:ext uri="{FF2B5EF4-FFF2-40B4-BE49-F238E27FC236}">
                    <a16:creationId xmlns:a16="http://schemas.microsoft.com/office/drawing/2014/main" id="{05FC8A4A-3761-4383-881C-9096ADBF4AD7}"/>
                  </a:ext>
                </a:extLst>
              </p:cNvPr>
              <p:cNvSpPr txBox="1"/>
              <p:nvPr/>
            </p:nvSpPr>
            <p:spPr>
              <a:xfrm>
                <a:off x="2395609" y="5516256"/>
                <a:ext cx="4688204" cy="576376"/>
              </a:xfrm>
              <a:prstGeom prst="rect">
                <a:avLst/>
              </a:prstGeom>
              <a:noFill/>
              <a:ln>
                <a:noFill/>
              </a:ln>
            </p:spPr>
            <p:txBody>
              <a:bodyPr wrap="square" rtlCol="0">
                <a:spAutoFit/>
              </a:bodyPr>
              <a:lstStyle/>
              <a:p>
                <a:pPr marL="176213" indent="-176213">
                  <a:buClr>
                    <a:srgbClr val="7030A0"/>
                  </a:buClr>
                  <a:buSzPct val="100000"/>
                </a:pPr>
                <a14:m>
                  <m:oMathPara xmlns:m="http://schemas.openxmlformats.org/officeDocument/2006/math">
                    <m:oMathParaPr>
                      <m:jc m:val="left"/>
                    </m:oMathParaPr>
                    <m:oMath xmlns:m="http://schemas.openxmlformats.org/officeDocument/2006/math">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𝐶</m:t>
                      </m:r>
                      <m:r>
                        <a:rPr lang="cs-CZ" sz="1400" b="0" i="1" smtClean="0">
                          <a:latin typeface="Cambria Math" panose="02040503050406030204" pitchFamily="18" charset="0"/>
                          <a:ea typeface="Cambria Math" panose="02040503050406030204" pitchFamily="18" charset="0"/>
                        </a:rPr>
                        <m:t>=</m:t>
                      </m:r>
                      <m:d>
                        <m:dPr>
                          <m:ctrlPr>
                            <a:rPr lang="cs-CZ" sz="1400" b="0" i="1" smtClean="0">
                              <a:latin typeface="Cambria Math" panose="02040503050406030204" pitchFamily="18" charset="0"/>
                              <a:ea typeface="Cambria Math" panose="02040503050406030204" pitchFamily="18" charset="0"/>
                            </a:rPr>
                          </m:ctrlPr>
                        </m:dPr>
                        <m:e>
                          <m:r>
                            <a:rPr lang="cs-CZ" sz="1400" b="0" i="1" smtClean="0">
                              <a:latin typeface="Cambria Math"/>
                              <a:ea typeface="Cambria Math" panose="02040503050406030204" pitchFamily="18" charset="0"/>
                            </a:rPr>
                            <m:t>𝑆</m:t>
                          </m:r>
                          <m:r>
                            <a:rPr lang="cs-CZ" sz="1400" b="0" i="1" smtClean="0">
                              <a:latin typeface="Cambria Math"/>
                              <a:ea typeface="Cambria Math" panose="02040503050406030204" pitchFamily="18" charset="0"/>
                            </a:rPr>
                            <m:t>−</m:t>
                          </m:r>
                          <m:f>
                            <m:fPr>
                              <m:ctrlPr>
                                <a:rPr lang="cs-CZ" sz="1400" b="0" i="1" smtClean="0">
                                  <a:latin typeface="Cambria Math" panose="02040503050406030204" pitchFamily="18" charset="0"/>
                                  <a:ea typeface="Cambria Math" panose="02040503050406030204" pitchFamily="18" charset="0"/>
                                </a:rPr>
                              </m:ctrlPr>
                            </m:fPr>
                            <m:num>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a:ea typeface="Cambria Math" panose="02040503050406030204" pitchFamily="18" charset="0"/>
                                    </a:rPr>
                                    <m:t>𝑉</m:t>
                                  </m:r>
                                </m:e>
                                <m:sub>
                                  <m:r>
                                    <a:rPr lang="cs-CZ" sz="1400" b="0" i="1" smtClean="0">
                                      <a:latin typeface="Cambria Math"/>
                                      <a:ea typeface="Cambria Math" panose="02040503050406030204" pitchFamily="18" charset="0"/>
                                    </a:rPr>
                                    <m:t>𝑢</m:t>
                                  </m:r>
                                </m:sub>
                              </m:sSub>
                            </m:num>
                            <m:den>
                              <m:r>
                                <a:rPr lang="cs-CZ" sz="1400" b="0" i="1" smtClean="0">
                                  <a:latin typeface="Cambria Math"/>
                                  <a:ea typeface="Cambria Math" panose="02040503050406030204" pitchFamily="18" charset="0"/>
                                </a:rPr>
                                <m:t>1+</m:t>
                              </m:r>
                              <m:r>
                                <a:rPr lang="cs-CZ" sz="1400" b="0" i="1" smtClean="0">
                                  <a:latin typeface="Cambria Math"/>
                                  <a:ea typeface="Cambria Math" panose="02040503050406030204" pitchFamily="18" charset="0"/>
                                </a:rPr>
                                <m:t>𝑟</m:t>
                              </m:r>
                            </m:den>
                          </m:f>
                        </m:e>
                      </m:d>
                      <m:r>
                        <a:rPr lang="cs-CZ" sz="1400" b="0" i="1" smtClean="0">
                          <a:latin typeface="Cambria Math"/>
                          <a:ea typeface="Cambria Math"/>
                        </a:rPr>
                        <m:t>×</m:t>
                      </m:r>
                      <m:f>
                        <m:fPr>
                          <m:ctrlPr>
                            <a:rPr lang="cs-CZ" sz="1400" b="0" i="1" smtClean="0">
                              <a:latin typeface="Cambria Math" panose="02040503050406030204" pitchFamily="18" charset="0"/>
                              <a:ea typeface="Cambria Math"/>
                            </a:rPr>
                          </m:ctrlPr>
                        </m:fPr>
                        <m:num>
                          <m:r>
                            <a:rPr lang="cs-CZ" sz="1400" b="0" i="1" smtClean="0">
                              <a:latin typeface="Cambria Math"/>
                              <a:ea typeface="Cambria Math"/>
                            </a:rPr>
                            <m:t>1</m:t>
                          </m:r>
                        </m:num>
                        <m:den>
                          <m:r>
                            <a:rPr lang="cs-CZ" sz="1400" b="0" i="1" smtClean="0">
                              <a:latin typeface="Cambria Math"/>
                              <a:ea typeface="Cambria Math"/>
                            </a:rPr>
                            <m:t>h</m:t>
                          </m:r>
                        </m:den>
                      </m:f>
                      <m:r>
                        <a:rPr lang="cs-CZ" sz="1400" b="0" i="1" smtClean="0">
                          <a:latin typeface="Cambria Math"/>
                          <a:ea typeface="Cambria Math"/>
                        </a:rPr>
                        <m:t>=</m:t>
                      </m:r>
                      <m:d>
                        <m:dPr>
                          <m:ctrlPr>
                            <a:rPr lang="cs-CZ" sz="1400" i="1">
                              <a:latin typeface="Cambria Math" panose="02040503050406030204" pitchFamily="18" charset="0"/>
                              <a:ea typeface="Cambria Math" panose="02040503050406030204" pitchFamily="18" charset="0"/>
                            </a:rPr>
                          </m:ctrlPr>
                        </m:dPr>
                        <m:e>
                          <m:r>
                            <a:rPr lang="cs-CZ" sz="1400" b="0" i="1" smtClean="0">
                              <a:latin typeface="Cambria Math"/>
                              <a:ea typeface="Cambria Math" panose="02040503050406030204" pitchFamily="18" charset="0"/>
                            </a:rPr>
                            <m:t>50</m:t>
                          </m:r>
                          <m:r>
                            <a:rPr lang="cs-CZ" sz="1400" i="1">
                              <a:latin typeface="Cambria Math"/>
                              <a:ea typeface="Cambria Math" panose="02040503050406030204" pitchFamily="18" charset="0"/>
                            </a:rPr>
                            <m:t>−</m:t>
                          </m:r>
                          <m:f>
                            <m:fPr>
                              <m:ctrlPr>
                                <a:rPr lang="cs-CZ" sz="1400" i="1">
                                  <a:latin typeface="Cambria Math" panose="02040503050406030204" pitchFamily="18" charset="0"/>
                                  <a:ea typeface="Cambria Math" panose="02040503050406030204" pitchFamily="18" charset="0"/>
                                </a:rPr>
                              </m:ctrlPr>
                            </m:fPr>
                            <m:num>
                              <m:r>
                                <a:rPr lang="cs-CZ" sz="1400" b="0" i="1" smtClean="0">
                                  <a:latin typeface="Cambria Math"/>
                                  <a:ea typeface="Cambria Math" panose="02040503050406030204" pitchFamily="18" charset="0"/>
                                </a:rPr>
                                <m:t>35</m:t>
                              </m:r>
                            </m:num>
                            <m:den>
                              <m:r>
                                <a:rPr lang="cs-CZ" sz="1400" i="1">
                                  <a:latin typeface="Cambria Math"/>
                                  <a:ea typeface="Cambria Math" panose="02040503050406030204" pitchFamily="18" charset="0"/>
                                </a:rPr>
                                <m:t>1+</m:t>
                              </m:r>
                              <m:r>
                                <a:rPr lang="cs-CZ" sz="1400" b="0" i="1" smtClean="0">
                                  <a:latin typeface="Cambria Math"/>
                                  <a:ea typeface="Cambria Math" panose="02040503050406030204" pitchFamily="18" charset="0"/>
                                </a:rPr>
                                <m:t>0.1</m:t>
                              </m:r>
                            </m:den>
                          </m:f>
                        </m:e>
                      </m:d>
                      <m:r>
                        <a:rPr lang="cs-CZ" sz="1400" i="1">
                          <a:latin typeface="Cambria Math"/>
                          <a:ea typeface="Cambria Math"/>
                        </a:rPr>
                        <m:t>×</m:t>
                      </m:r>
                      <m:f>
                        <m:fPr>
                          <m:ctrlPr>
                            <a:rPr lang="cs-CZ" sz="1400" i="1">
                              <a:latin typeface="Cambria Math" panose="02040503050406030204" pitchFamily="18" charset="0"/>
                              <a:ea typeface="Cambria Math"/>
                            </a:rPr>
                          </m:ctrlPr>
                        </m:fPr>
                        <m:num>
                          <m:r>
                            <a:rPr lang="cs-CZ" sz="1400" i="1">
                              <a:latin typeface="Cambria Math"/>
                              <a:ea typeface="Cambria Math"/>
                            </a:rPr>
                            <m:t>1</m:t>
                          </m:r>
                        </m:num>
                        <m:den>
                          <m:r>
                            <a:rPr lang="cs-CZ" sz="1400" b="0" i="1" smtClean="0">
                              <a:latin typeface="Cambria Math"/>
                              <a:ea typeface="Cambria Math"/>
                            </a:rPr>
                            <m:t>1.5</m:t>
                          </m:r>
                        </m:den>
                      </m:f>
                      <m:r>
                        <a:rPr lang="cs-CZ" sz="1400" b="0" i="1" smtClean="0">
                          <a:latin typeface="Cambria Math" panose="02040503050406030204" pitchFamily="18" charset="0"/>
                          <a:ea typeface="Cambria Math" panose="02040503050406030204" pitchFamily="18" charset="0"/>
                        </a:rPr>
                        <m:t>=</m:t>
                      </m:r>
                      <m:r>
                        <a:rPr lang="cs-CZ" sz="1400" b="1" i="0" smtClean="0">
                          <a:solidFill>
                            <a:srgbClr val="C00000"/>
                          </a:solidFill>
                          <a:latin typeface="Cambria Math" panose="02040503050406030204" pitchFamily="18" charset="0"/>
                          <a:ea typeface="Cambria Math" panose="02040503050406030204" pitchFamily="18" charset="0"/>
                        </a:rPr>
                        <m:t>€</m:t>
                      </m:r>
                      <m:r>
                        <a:rPr lang="cs-CZ" sz="1400" b="1" i="0" smtClean="0">
                          <a:solidFill>
                            <a:srgbClr val="C00000"/>
                          </a:solidFill>
                          <a:latin typeface="Cambria Math" panose="02040503050406030204" pitchFamily="18" charset="0"/>
                          <a:ea typeface="Cambria Math" panose="02040503050406030204" pitchFamily="18" charset="0"/>
                        </a:rPr>
                        <m:t>𝟏𝟐</m:t>
                      </m:r>
                      <m:r>
                        <a:rPr lang="cs-CZ" sz="1400" b="1" i="0" smtClean="0">
                          <a:solidFill>
                            <a:srgbClr val="C00000"/>
                          </a:solidFill>
                          <a:latin typeface="Cambria Math"/>
                          <a:ea typeface="Cambria Math" panose="02040503050406030204" pitchFamily="18" charset="0"/>
                        </a:rPr>
                        <m:t>.</m:t>
                      </m:r>
                      <m:r>
                        <a:rPr lang="cs-CZ" sz="1400" b="1" i="0" smtClean="0">
                          <a:solidFill>
                            <a:srgbClr val="C00000"/>
                          </a:solidFill>
                          <a:latin typeface="Cambria Math" panose="02040503050406030204" pitchFamily="18" charset="0"/>
                          <a:ea typeface="Cambria Math" panose="02040503050406030204" pitchFamily="18" charset="0"/>
                        </a:rPr>
                        <m:t>𝟏𝟐</m:t>
                      </m:r>
                    </m:oMath>
                  </m:oMathPara>
                </a14:m>
                <a:endParaRPr lang="en-GB" sz="1400" b="1" dirty="0">
                  <a:solidFill>
                    <a:srgbClr val="C00000"/>
                  </a:solidFill>
                  <a:latin typeface="Cambria Math" panose="02040503050406030204" pitchFamily="18" charset="0"/>
                  <a:ea typeface="Cambria Math" panose="02040503050406030204" pitchFamily="18" charset="0"/>
                </a:endParaRPr>
              </a:p>
            </p:txBody>
          </p:sp>
        </mc:Choice>
        <mc:Fallback xmlns="">
          <p:sp>
            <p:nvSpPr>
              <p:cNvPr id="116" name="TextovéPole 115">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2395609" y="5516256"/>
                <a:ext cx="4688204" cy="576376"/>
              </a:xfrm>
              <a:prstGeom prst="rect">
                <a:avLst/>
              </a:prstGeom>
              <a:blipFill>
                <a:blip r:embed="rId19"/>
                <a:stretch>
                  <a:fillRect/>
                </a:stretch>
              </a:blipFill>
              <a:ln>
                <a:noFill/>
              </a:ln>
            </p:spPr>
            <p:txBody>
              <a:bodyPr/>
              <a:lstStyle/>
              <a:p>
                <a:r>
                  <a:rPr lang="en-GB">
                    <a:noFill/>
                  </a:rPr>
                  <a:t> </a:t>
                </a:r>
              </a:p>
            </p:txBody>
          </p:sp>
        </mc:Fallback>
      </mc:AlternateContent>
      <p:grpSp>
        <p:nvGrpSpPr>
          <p:cNvPr id="6" name="Skupina 5"/>
          <p:cNvGrpSpPr/>
          <p:nvPr/>
        </p:nvGrpSpPr>
        <p:grpSpPr>
          <a:xfrm>
            <a:off x="1096958" y="2155648"/>
            <a:ext cx="2947149" cy="1437279"/>
            <a:chOff x="1096958" y="2240432"/>
            <a:chExt cx="2947149" cy="1437279"/>
          </a:xfrm>
        </p:grpSpPr>
        <p:grpSp>
          <p:nvGrpSpPr>
            <p:cNvPr id="63" name="Skupina 62"/>
            <p:cNvGrpSpPr/>
            <p:nvPr/>
          </p:nvGrpSpPr>
          <p:grpSpPr>
            <a:xfrm>
              <a:off x="1619672" y="2240432"/>
              <a:ext cx="2424435" cy="1437279"/>
              <a:chOff x="2918668" y="2348880"/>
              <a:chExt cx="2424435" cy="1437279"/>
            </a:xfrm>
          </p:grpSpPr>
          <mc:AlternateContent xmlns:mc="http://schemas.openxmlformats.org/markup-compatibility/2006" xmlns:a14="http://schemas.microsoft.com/office/drawing/2010/main">
            <mc:Choice Requires="a14">
              <p:sp>
                <p:nvSpPr>
                  <p:cNvPr id="64" name="TextovéPole 63">
                    <a:extLst>
                      <a:ext uri="{FF2B5EF4-FFF2-40B4-BE49-F238E27FC236}">
                        <a16:creationId xmlns:a16="http://schemas.microsoft.com/office/drawing/2014/main" id="{4DB67B49-6BE4-460E-9AC7-878827710557}"/>
                      </a:ext>
                    </a:extLst>
                  </p:cNvPr>
                  <p:cNvSpPr txBox="1"/>
                  <p:nvPr/>
                </p:nvSpPr>
                <p:spPr>
                  <a:xfrm>
                    <a:off x="5054284" y="3268794"/>
                    <a:ext cx="188095" cy="262059"/>
                  </a:xfrm>
                  <a:prstGeom prst="rect">
                    <a:avLst/>
                  </a:prstGeom>
                  <a:noFill/>
                </p:spPr>
                <p:txBody>
                  <a:bodyPr wrap="square" lIns="0" rIns="0" rtlCol="0">
                    <a:spAutoFit/>
                  </a:bodyPr>
                  <a:lstStyle/>
                  <a:p>
                    <a:pPr algn="ctr"/>
                    <a14:m>
                      <m:oMathPara xmlns:m="http://schemas.openxmlformats.org/officeDocument/2006/math">
                        <m:oMathParaPr>
                          <m:jc m:val="centerGroup"/>
                        </m:oMathParaPr>
                        <m:oMath xmlns:m="http://schemas.openxmlformats.org/officeDocument/2006/math">
                          <m:sSub>
                            <m:sSubPr>
                              <m:ctrlPr>
                                <a:rPr lang="cs-CZ" sz="1100" b="0" i="1" smtClean="0">
                                  <a:latin typeface="Cambria Math" panose="02040503050406030204" pitchFamily="18" charset="0"/>
                                </a:rPr>
                              </m:ctrlPr>
                            </m:sSubPr>
                            <m:e>
                              <m:r>
                                <a:rPr lang="cs-CZ" sz="1100" b="0" i="1" smtClean="0">
                                  <a:latin typeface="Cambria Math" panose="02040503050406030204" pitchFamily="18" charset="0"/>
                                </a:rPr>
                                <m:t>𝑆</m:t>
                              </m:r>
                            </m:e>
                            <m:sub>
                              <m:r>
                                <a:rPr lang="cs-CZ" sz="1100" b="0" i="1" smtClean="0">
                                  <a:latin typeface="Cambria Math" panose="02040503050406030204" pitchFamily="18" charset="0"/>
                                </a:rPr>
                                <m:t>𝑇</m:t>
                              </m:r>
                            </m:sub>
                          </m:sSub>
                        </m:oMath>
                      </m:oMathPara>
                    </a14:m>
                    <a:endParaRPr lang="cs-CZ" sz="1100" i="1" baseline="-25000" dirty="0"/>
                  </a:p>
                </p:txBody>
              </p:sp>
            </mc:Choice>
            <mc:Fallback xmlns="">
              <p:sp>
                <p:nvSpPr>
                  <p:cNvPr id="87" name="TextovéPole 86">
                    <a:extLst>
                      <a:ext uri="{FF2B5EF4-FFF2-40B4-BE49-F238E27FC236}">
                        <a16:creationId xmlns:a16="http://schemas.microsoft.com/office/drawing/2014/main" id="{4DB67B49-6BE4-460E-9AC7-878827710557}"/>
                      </a:ext>
                    </a:extLst>
                  </p:cNvPr>
                  <p:cNvSpPr txBox="1">
                    <a:spLocks noRot="1" noChangeAspect="1" noMove="1" noResize="1" noEditPoints="1" noAdjustHandles="1" noChangeArrowheads="1" noChangeShapeType="1" noTextEdit="1"/>
                  </p:cNvSpPr>
                  <p:nvPr/>
                </p:nvSpPr>
                <p:spPr>
                  <a:xfrm>
                    <a:off x="5054284" y="3268794"/>
                    <a:ext cx="188095" cy="262059"/>
                  </a:xfrm>
                  <a:prstGeom prst="rect">
                    <a:avLst/>
                  </a:prstGeom>
                  <a:blipFill>
                    <a:blip r:embed="rId20"/>
                    <a:stretch>
                      <a:fillRect l="-19355"/>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65" name="TextovéPole 64">
                    <a:extLst>
                      <a:ext uri="{FF2B5EF4-FFF2-40B4-BE49-F238E27FC236}">
                        <a16:creationId xmlns:a16="http://schemas.microsoft.com/office/drawing/2014/main" id="{1129F341-0890-4352-8ECF-8AB4C01D6AF5}"/>
                      </a:ext>
                    </a:extLst>
                  </p:cNvPr>
                  <p:cNvSpPr txBox="1"/>
                  <p:nvPr/>
                </p:nvSpPr>
                <p:spPr>
                  <a:xfrm>
                    <a:off x="3911412" y="3298298"/>
                    <a:ext cx="187089" cy="261225"/>
                  </a:xfrm>
                  <a:prstGeom prst="rect">
                    <a:avLst/>
                  </a:prstGeom>
                  <a:noFill/>
                </p:spPr>
                <p:txBody>
                  <a:bodyPr wrap="square" lIns="0" rIns="0" rtlCol="0">
                    <a:spAutoFit/>
                  </a:bodyPr>
                  <a:lstStyle/>
                  <a:p>
                    <a:pPr algn="ctr"/>
                    <a14:m>
                      <m:oMathPara xmlns:m="http://schemas.openxmlformats.org/officeDocument/2006/math">
                        <m:oMathParaPr>
                          <m:jc m:val="centerGroup"/>
                        </m:oMathParaPr>
                        <m:oMath xmlns:m="http://schemas.openxmlformats.org/officeDocument/2006/math">
                          <m:r>
                            <a:rPr lang="cs-CZ" sz="1100" b="0" i="1" smtClean="0">
                              <a:latin typeface="Cambria Math" panose="02040503050406030204" pitchFamily="18" charset="0"/>
                            </a:rPr>
                            <m:t>𝑋</m:t>
                          </m:r>
                        </m:oMath>
                      </m:oMathPara>
                    </a14:m>
                    <a:endParaRPr lang="cs-CZ" sz="1100" i="1" baseline="-25000" dirty="0"/>
                  </a:p>
                </p:txBody>
              </p:sp>
            </mc:Choice>
            <mc:Fallback xmlns="">
              <p:sp>
                <p:nvSpPr>
                  <p:cNvPr id="88" name="TextovéPole 87">
                    <a:extLst>
                      <a:ext uri="{FF2B5EF4-FFF2-40B4-BE49-F238E27FC236}">
                        <a16:creationId xmlns:a16="http://schemas.microsoft.com/office/drawing/2014/main" id="{1129F341-0890-4352-8ECF-8AB4C01D6AF5}"/>
                      </a:ext>
                    </a:extLst>
                  </p:cNvPr>
                  <p:cNvSpPr txBox="1">
                    <a:spLocks noRot="1" noChangeAspect="1" noMove="1" noResize="1" noEditPoints="1" noAdjustHandles="1" noChangeArrowheads="1" noChangeShapeType="1" noTextEdit="1"/>
                  </p:cNvSpPr>
                  <p:nvPr/>
                </p:nvSpPr>
                <p:spPr>
                  <a:xfrm>
                    <a:off x="3911412" y="3298298"/>
                    <a:ext cx="187089" cy="261225"/>
                  </a:xfrm>
                  <a:prstGeom prst="rect">
                    <a:avLst/>
                  </a:prstGeom>
                  <a:blipFill>
                    <a:blip r:embed="rId21"/>
                    <a:stretch>
                      <a:fillRect l="-6452"/>
                    </a:stretch>
                  </a:blipFill>
                </p:spPr>
                <p:txBody>
                  <a:bodyPr/>
                  <a:lstStyle/>
                  <a:p>
                    <a:r>
                      <a:rPr lang="cs-CZ">
                        <a:noFill/>
                      </a:rPr>
                      <a:t> </a:t>
                    </a:r>
                  </a:p>
                </p:txBody>
              </p:sp>
            </mc:Fallback>
          </mc:AlternateContent>
          <p:cxnSp>
            <p:nvCxnSpPr>
              <p:cNvPr id="66" name="Přímá spojnice 65">
                <a:extLst>
                  <a:ext uri="{FF2B5EF4-FFF2-40B4-BE49-F238E27FC236}">
                    <a16:creationId xmlns:a16="http://schemas.microsoft.com/office/drawing/2014/main" id="{1A8E3DAD-B6C4-40D4-9CE0-16917D2F95E3}"/>
                  </a:ext>
                </a:extLst>
              </p:cNvPr>
              <p:cNvCxnSpPr/>
              <p:nvPr/>
            </p:nvCxnSpPr>
            <p:spPr>
              <a:xfrm>
                <a:off x="2920544" y="2598159"/>
                <a:ext cx="6409" cy="1188000"/>
              </a:xfrm>
              <a:prstGeom prst="line">
                <a:avLst/>
              </a:prstGeom>
              <a:ln w="6350">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Přímá spojnice 66">
                <a:extLst>
                  <a:ext uri="{FF2B5EF4-FFF2-40B4-BE49-F238E27FC236}">
                    <a16:creationId xmlns:a16="http://schemas.microsoft.com/office/drawing/2014/main" id="{906A2621-6FF0-4E69-B93F-0FD3D7509E11}"/>
                  </a:ext>
                </a:extLst>
              </p:cNvPr>
              <p:cNvCxnSpPr/>
              <p:nvPr/>
            </p:nvCxnSpPr>
            <p:spPr>
              <a:xfrm>
                <a:off x="3972884" y="2860620"/>
                <a:ext cx="0" cy="458550"/>
              </a:xfrm>
              <a:prstGeom prst="line">
                <a:avLst/>
              </a:prstGeom>
              <a:ln w="12700">
                <a:solidFill>
                  <a:schemeClr val="tx1"/>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8" name="Přímá spojnice 67">
                <a:extLst>
                  <a:ext uri="{FF2B5EF4-FFF2-40B4-BE49-F238E27FC236}">
                    <a16:creationId xmlns:a16="http://schemas.microsoft.com/office/drawing/2014/main" id="{366013F4-C598-4589-BCA9-4D63C7A09A98}"/>
                  </a:ext>
                </a:extLst>
              </p:cNvPr>
              <p:cNvCxnSpPr/>
              <p:nvPr/>
            </p:nvCxnSpPr>
            <p:spPr>
              <a:xfrm flipV="1">
                <a:off x="2918799" y="3321530"/>
                <a:ext cx="2241397" cy="4796"/>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9" name="Přímá spojnice 68">
                <a:extLst>
                  <a:ext uri="{FF2B5EF4-FFF2-40B4-BE49-F238E27FC236}">
                    <a16:creationId xmlns:a16="http://schemas.microsoft.com/office/drawing/2014/main" id="{F1012CB4-74D9-4DC7-84BD-B0CB720F5659}"/>
                  </a:ext>
                </a:extLst>
              </p:cNvPr>
              <p:cNvCxnSpPr/>
              <p:nvPr/>
            </p:nvCxnSpPr>
            <p:spPr>
              <a:xfrm>
                <a:off x="3970033" y="2860621"/>
                <a:ext cx="506907" cy="847119"/>
              </a:xfrm>
              <a:prstGeom prst="line">
                <a:avLst/>
              </a:prstGeom>
              <a:ln w="19050">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0" name="Přímá spojnice 69">
                <a:extLst>
                  <a:ext uri="{FF2B5EF4-FFF2-40B4-BE49-F238E27FC236}">
                    <a16:creationId xmlns:a16="http://schemas.microsoft.com/office/drawing/2014/main" id="{F1012CB4-74D9-4DC7-84BD-B0CB720F5659}"/>
                  </a:ext>
                </a:extLst>
              </p:cNvPr>
              <p:cNvCxnSpPr/>
              <p:nvPr/>
            </p:nvCxnSpPr>
            <p:spPr>
              <a:xfrm flipH="1">
                <a:off x="3509706" y="2649077"/>
                <a:ext cx="1154579" cy="1137082"/>
              </a:xfrm>
              <a:prstGeom prst="line">
                <a:avLst/>
              </a:prstGeom>
              <a:ln w="19050">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1" name="Přímá spojnice 70">
                <a:extLst>
                  <a:ext uri="{FF2B5EF4-FFF2-40B4-BE49-F238E27FC236}">
                    <a16:creationId xmlns:a16="http://schemas.microsoft.com/office/drawing/2014/main" id="{F1012CB4-74D9-4DC7-84BD-B0CB720F5659}"/>
                  </a:ext>
                </a:extLst>
              </p:cNvPr>
              <p:cNvCxnSpPr/>
              <p:nvPr/>
            </p:nvCxnSpPr>
            <p:spPr>
              <a:xfrm flipH="1">
                <a:off x="3174539" y="2867900"/>
                <a:ext cx="783381" cy="783380"/>
              </a:xfrm>
              <a:prstGeom prst="line">
                <a:avLst/>
              </a:prstGeom>
              <a:ln w="31750" cap="rnd">
                <a:solidFill>
                  <a:srgbClr val="C00000"/>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2" name="TextovéPole 71">
                <a:extLst>
                  <a:ext uri="{FF2B5EF4-FFF2-40B4-BE49-F238E27FC236}">
                    <a16:creationId xmlns:a16="http://schemas.microsoft.com/office/drawing/2014/main" id="{08463747-ADBE-47DD-BD10-8F53E0250636}"/>
                  </a:ext>
                </a:extLst>
              </p:cNvPr>
              <p:cNvSpPr txBox="1"/>
              <p:nvPr/>
            </p:nvSpPr>
            <p:spPr>
              <a:xfrm>
                <a:off x="2941704" y="2348880"/>
                <a:ext cx="2249629" cy="240066"/>
              </a:xfrm>
              <a:prstGeom prst="rect">
                <a:avLst/>
              </a:prstGeom>
              <a:noFill/>
              <a:ln>
                <a:noFill/>
              </a:ln>
            </p:spPr>
            <p:txBody>
              <a:bodyPr wrap="square" rtlCol="0">
                <a:spAutoFit/>
              </a:bodyPr>
              <a:lstStyle/>
              <a:p>
                <a:pPr marL="0" lvl="2" algn="ctr">
                  <a:lnSpc>
                    <a:spcPct val="80000"/>
                  </a:lnSpc>
                  <a:buClr>
                    <a:srgbClr val="7030A0"/>
                  </a:buClr>
                  <a:buSzPct val="80000"/>
                </a:pPr>
                <a:r>
                  <a:rPr lang="en-GB" sz="1200" b="1" dirty="0">
                    <a:latin typeface="Cambria Math" panose="02040503050406030204" pitchFamily="18" charset="0"/>
                    <a:ea typeface="Cambria Math" panose="02040503050406030204" pitchFamily="18" charset="0"/>
                    <a:sym typeface="Wingdings 2" panose="05020102010507070707" pitchFamily="18" charset="2"/>
                  </a:rPr>
                  <a:t>Delta-neutral covered call</a:t>
                </a:r>
                <a:endParaRPr lang="en-GB" sz="1200" b="1" dirty="0">
                  <a:latin typeface="Cambria Math" panose="02040503050406030204" pitchFamily="18" charset="0"/>
                  <a:ea typeface="Cambria Math" panose="02040503050406030204" pitchFamily="18" charset="0"/>
                </a:endParaRPr>
              </a:p>
            </p:txBody>
          </p:sp>
          <p:sp>
            <p:nvSpPr>
              <p:cNvPr id="73" name="TextovéPole 72">
                <a:extLst>
                  <a:ext uri="{FF2B5EF4-FFF2-40B4-BE49-F238E27FC236}">
                    <a16:creationId xmlns:a16="http://schemas.microsoft.com/office/drawing/2014/main" id="{08463747-ADBE-47DD-BD10-8F53E0250636}"/>
                  </a:ext>
                </a:extLst>
              </p:cNvPr>
              <p:cNvSpPr txBox="1"/>
              <p:nvPr/>
            </p:nvSpPr>
            <p:spPr>
              <a:xfrm>
                <a:off x="4474088" y="2696330"/>
                <a:ext cx="869015" cy="221599"/>
              </a:xfrm>
              <a:prstGeom prst="rect">
                <a:avLst/>
              </a:prstGeom>
              <a:noFill/>
              <a:ln>
                <a:noFill/>
              </a:ln>
            </p:spPr>
            <p:txBody>
              <a:bodyPr wrap="square" rtlCol="0">
                <a:spAutoFit/>
              </a:bodyPr>
              <a:lstStyle/>
              <a:p>
                <a:pPr marL="0" lvl="2" algn="ctr">
                  <a:lnSpc>
                    <a:spcPct val="80000"/>
                  </a:lnSpc>
                  <a:buClr>
                    <a:srgbClr val="7030A0"/>
                  </a:buClr>
                  <a:buSzPct val="80000"/>
                </a:pPr>
                <a:r>
                  <a:rPr lang="cs-CZ" sz="1050" dirty="0">
                    <a:latin typeface="Cambria Math" panose="02040503050406030204" pitchFamily="18" charset="0"/>
                    <a:ea typeface="Cambria Math" panose="02040503050406030204" pitchFamily="18" charset="0"/>
                    <a:sym typeface="Wingdings 2" panose="05020102010507070707" pitchFamily="18" charset="2"/>
                  </a:rPr>
                  <a:t>1 </a:t>
                </a:r>
                <a:r>
                  <a:rPr lang="en-GB" sz="1050" dirty="0">
                    <a:latin typeface="Cambria Math" panose="02040503050406030204" pitchFamily="18" charset="0"/>
                    <a:ea typeface="Cambria Math" panose="02040503050406030204" pitchFamily="18" charset="0"/>
                    <a:sym typeface="Wingdings 2" panose="05020102010507070707" pitchFamily="18" charset="2"/>
                  </a:rPr>
                  <a:t>long stock</a:t>
                </a:r>
                <a:endParaRPr lang="en-GB" sz="1050" dirty="0">
                  <a:latin typeface="Cambria Math" panose="02040503050406030204" pitchFamily="18" charset="0"/>
                  <a:ea typeface="Cambria Math" panose="02040503050406030204" pitchFamily="18" charset="0"/>
                </a:endParaRPr>
              </a:p>
            </p:txBody>
          </p:sp>
          <p:cxnSp>
            <p:nvCxnSpPr>
              <p:cNvPr id="76" name="Přímá spojnice 75"/>
              <p:cNvCxnSpPr/>
              <p:nvPr/>
            </p:nvCxnSpPr>
            <p:spPr>
              <a:xfrm>
                <a:off x="2918668" y="2860620"/>
                <a:ext cx="1054216" cy="0"/>
              </a:xfrm>
              <a:prstGeom prst="line">
                <a:avLst/>
              </a:prstGeom>
              <a:ln w="19050">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8" name="Přímá spojnice 77">
                <a:extLst>
                  <a:ext uri="{FF2B5EF4-FFF2-40B4-BE49-F238E27FC236}">
                    <a16:creationId xmlns:a16="http://schemas.microsoft.com/office/drawing/2014/main" id="{F1012CB4-74D9-4DC7-84BD-B0CB720F5659}"/>
                  </a:ext>
                </a:extLst>
              </p:cNvPr>
              <p:cNvCxnSpPr/>
              <p:nvPr/>
            </p:nvCxnSpPr>
            <p:spPr>
              <a:xfrm>
                <a:off x="2941704" y="3198075"/>
                <a:ext cx="1479997" cy="0"/>
              </a:xfrm>
              <a:prstGeom prst="line">
                <a:avLst/>
              </a:prstGeom>
              <a:ln w="12700">
                <a:solidFill>
                  <a:schemeClr val="tx1"/>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ovéPole 78">
                    <a:extLst>
                      <a:ext uri="{FF2B5EF4-FFF2-40B4-BE49-F238E27FC236}">
                        <a16:creationId xmlns:a16="http://schemas.microsoft.com/office/drawing/2014/main" id="{08463747-ADBE-47DD-BD10-8F53E0250636}"/>
                      </a:ext>
                    </a:extLst>
                  </p:cNvPr>
                  <p:cNvSpPr txBox="1"/>
                  <p:nvPr/>
                </p:nvSpPr>
                <p:spPr>
                  <a:xfrm>
                    <a:off x="2927224" y="2683016"/>
                    <a:ext cx="876526" cy="221599"/>
                  </a:xfrm>
                  <a:prstGeom prst="rect">
                    <a:avLst/>
                  </a:prstGeom>
                  <a:noFill/>
                  <a:ln>
                    <a:noFill/>
                  </a:ln>
                </p:spPr>
                <p:txBody>
                  <a:bodyPr wrap="square" rtlCol="0">
                    <a:spAutoFit/>
                  </a:bodyPr>
                  <a:lstStyle/>
                  <a:p>
                    <a:pPr marL="0" lvl="2">
                      <a:lnSpc>
                        <a:spcPct val="80000"/>
                      </a:lnSpc>
                      <a:buClr>
                        <a:srgbClr val="7030A0"/>
                      </a:buClr>
                      <a:buSzPct val="80000"/>
                    </a:pPr>
                    <a14:m>
                      <m:oMath xmlns:m="http://schemas.openxmlformats.org/officeDocument/2006/math">
                        <m:r>
                          <a:rPr lang="en-GB" sz="1050" b="0" i="1" smtClean="0">
                            <a:latin typeface="Cambria Math" panose="02040503050406030204" pitchFamily="18" charset="0"/>
                            <a:ea typeface="Cambria Math" panose="02040503050406030204" pitchFamily="18" charset="0"/>
                            <a:sym typeface="Wingdings 2" panose="05020102010507070707" pitchFamily="18" charset="2"/>
                          </a:rPr>
                          <m:t>h</m:t>
                        </m:r>
                      </m:oMath>
                    </a14:m>
                    <a:r>
                      <a:rPr lang="en-GB" sz="1050" dirty="0">
                        <a:latin typeface="Cambria Math" panose="02040503050406030204" pitchFamily="18" charset="0"/>
                        <a:ea typeface="Cambria Math" panose="02040503050406030204" pitchFamily="18" charset="0"/>
                        <a:sym typeface="Wingdings 2" panose="05020102010507070707" pitchFamily="18" charset="2"/>
                      </a:rPr>
                      <a:t> short calls</a:t>
                    </a:r>
                    <a:endParaRPr lang="en-GB" sz="1050" dirty="0">
                      <a:latin typeface="Cambria Math" panose="02040503050406030204" pitchFamily="18" charset="0"/>
                      <a:ea typeface="Cambria Math" panose="02040503050406030204" pitchFamily="18" charset="0"/>
                    </a:endParaRPr>
                  </a:p>
                </p:txBody>
              </p:sp>
            </mc:Choice>
            <mc:Fallback xmlns="">
              <p:sp>
                <p:nvSpPr>
                  <p:cNvPr id="112" name="TextovéPole 111">
                    <a:extLst>
                      <a:ext uri="{FF2B5EF4-FFF2-40B4-BE49-F238E27FC236}">
                        <a16:creationId xmlns:a16="http://schemas.microsoft.com/office/drawing/2014/main" id="{08463747-ADBE-47DD-BD10-8F53E0250636}"/>
                      </a:ext>
                    </a:extLst>
                  </p:cNvPr>
                  <p:cNvSpPr txBox="1">
                    <a:spLocks noRot="1" noChangeAspect="1" noMove="1" noResize="1" noEditPoints="1" noAdjustHandles="1" noChangeArrowheads="1" noChangeShapeType="1" noTextEdit="1"/>
                  </p:cNvSpPr>
                  <p:nvPr/>
                </p:nvSpPr>
                <p:spPr>
                  <a:xfrm>
                    <a:off x="2927224" y="2683016"/>
                    <a:ext cx="876526" cy="221599"/>
                  </a:xfrm>
                  <a:prstGeom prst="rect">
                    <a:avLst/>
                  </a:prstGeom>
                  <a:blipFill>
                    <a:blip r:embed="rId22"/>
                    <a:stretch>
                      <a:fillRect t="-13889" b="-16667"/>
                    </a:stretch>
                  </a:blipFill>
                  <a:ln>
                    <a:noFill/>
                  </a:ln>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80" name="TextovéPole 79">
                    <a:extLst>
                      <a:ext uri="{FF2B5EF4-FFF2-40B4-BE49-F238E27FC236}">
                        <a16:creationId xmlns:a16="http://schemas.microsoft.com/office/drawing/2014/main" id="{4DB67B49-6BE4-460E-9AC7-878827710557}"/>
                      </a:ext>
                    </a:extLst>
                  </p:cNvPr>
                  <p:cNvSpPr txBox="1"/>
                  <p:nvPr/>
                </p:nvSpPr>
                <p:spPr>
                  <a:xfrm>
                    <a:off x="3642753" y="3268316"/>
                    <a:ext cx="188095" cy="262059"/>
                  </a:xfrm>
                  <a:prstGeom prst="rect">
                    <a:avLst/>
                  </a:prstGeom>
                  <a:noFill/>
                </p:spPr>
                <p:txBody>
                  <a:bodyPr wrap="square" lIns="0" rIns="0" rtlCol="0">
                    <a:spAutoFit/>
                  </a:bodyPr>
                  <a:lstStyle/>
                  <a:p>
                    <a:pPr algn="ctr"/>
                    <a14:m>
                      <m:oMathPara xmlns:m="http://schemas.openxmlformats.org/officeDocument/2006/math">
                        <m:oMathParaPr>
                          <m:jc m:val="centerGroup"/>
                        </m:oMathParaPr>
                        <m:oMath xmlns:m="http://schemas.openxmlformats.org/officeDocument/2006/math">
                          <m:sSub>
                            <m:sSubPr>
                              <m:ctrlPr>
                                <a:rPr lang="cs-CZ" sz="1100" b="0" i="1" smtClean="0">
                                  <a:latin typeface="Cambria Math" panose="02040503050406030204" pitchFamily="18" charset="0"/>
                                </a:rPr>
                              </m:ctrlPr>
                            </m:sSubPr>
                            <m:e>
                              <m:r>
                                <a:rPr lang="cs-CZ" sz="1100" b="0" i="1" smtClean="0">
                                  <a:latin typeface="Cambria Math" panose="02040503050406030204" pitchFamily="18" charset="0"/>
                                </a:rPr>
                                <m:t>𝑆</m:t>
                              </m:r>
                            </m:e>
                            <m:sub>
                              <m:r>
                                <a:rPr lang="cs-CZ" sz="1100" b="0" i="1" smtClean="0">
                                  <a:latin typeface="Cambria Math" panose="02040503050406030204" pitchFamily="18" charset="0"/>
                                </a:rPr>
                                <m:t>𝑑</m:t>
                              </m:r>
                            </m:sub>
                          </m:sSub>
                        </m:oMath>
                      </m:oMathPara>
                    </a14:m>
                    <a:endParaRPr lang="cs-CZ" sz="1100" i="1" baseline="-25000" dirty="0"/>
                  </a:p>
                </p:txBody>
              </p:sp>
            </mc:Choice>
            <mc:Fallback xmlns="">
              <p:sp>
                <p:nvSpPr>
                  <p:cNvPr id="114" name="TextovéPole 113">
                    <a:extLst>
                      <a:ext uri="{FF2B5EF4-FFF2-40B4-BE49-F238E27FC236}">
                        <a16:creationId xmlns:a16="http://schemas.microsoft.com/office/drawing/2014/main" id="{4DB67B49-6BE4-460E-9AC7-878827710557}"/>
                      </a:ext>
                    </a:extLst>
                  </p:cNvPr>
                  <p:cNvSpPr txBox="1">
                    <a:spLocks noRot="1" noChangeAspect="1" noMove="1" noResize="1" noEditPoints="1" noAdjustHandles="1" noChangeArrowheads="1" noChangeShapeType="1" noTextEdit="1"/>
                  </p:cNvSpPr>
                  <p:nvPr/>
                </p:nvSpPr>
                <p:spPr>
                  <a:xfrm>
                    <a:off x="3642753" y="3268316"/>
                    <a:ext cx="188095" cy="262059"/>
                  </a:xfrm>
                  <a:prstGeom prst="rect">
                    <a:avLst/>
                  </a:prstGeom>
                  <a:blipFill>
                    <a:blip r:embed="rId23"/>
                    <a:stretch>
                      <a:fillRect l="-19355"/>
                    </a:stretch>
                  </a:blipFill>
                </p:spPr>
                <p:txBody>
                  <a:bodyPr/>
                  <a:lstStyle/>
                  <a:p>
                    <a:r>
                      <a:rPr lang="cs-CZ">
                        <a:noFill/>
                      </a:rPr>
                      <a:t> </a:t>
                    </a:r>
                  </a:p>
                </p:txBody>
              </p:sp>
            </mc:Fallback>
          </mc:AlternateContent>
          <p:cxnSp>
            <p:nvCxnSpPr>
              <p:cNvPr id="81" name="Přímá spojnice 80">
                <a:extLst>
                  <a:ext uri="{FF2B5EF4-FFF2-40B4-BE49-F238E27FC236}">
                    <a16:creationId xmlns:a16="http://schemas.microsoft.com/office/drawing/2014/main" id="{906A2621-6FF0-4E69-B93F-0FD3D7509E11}"/>
                  </a:ext>
                </a:extLst>
              </p:cNvPr>
              <p:cNvCxnSpPr>
                <a:cxnSpLocks/>
              </p:cNvCxnSpPr>
              <p:nvPr/>
            </p:nvCxnSpPr>
            <p:spPr>
              <a:xfrm>
                <a:off x="3625360" y="2882445"/>
                <a:ext cx="0" cy="768835"/>
              </a:xfrm>
              <a:prstGeom prst="line">
                <a:avLst/>
              </a:prstGeom>
              <a:ln w="12700">
                <a:solidFill>
                  <a:schemeClr val="tx1"/>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TextovéPole 81">
                    <a:extLst>
                      <a:ext uri="{FF2B5EF4-FFF2-40B4-BE49-F238E27FC236}">
                        <a16:creationId xmlns:a16="http://schemas.microsoft.com/office/drawing/2014/main" id="{4DB67B49-6BE4-460E-9AC7-878827710557}"/>
                      </a:ext>
                    </a:extLst>
                  </p:cNvPr>
                  <p:cNvSpPr txBox="1"/>
                  <p:nvPr/>
                </p:nvSpPr>
                <p:spPr>
                  <a:xfrm>
                    <a:off x="4451036" y="3276000"/>
                    <a:ext cx="188095" cy="262059"/>
                  </a:xfrm>
                  <a:prstGeom prst="rect">
                    <a:avLst/>
                  </a:prstGeom>
                  <a:noFill/>
                </p:spPr>
                <p:txBody>
                  <a:bodyPr wrap="square" lIns="0" rIns="0" rtlCol="0">
                    <a:spAutoFit/>
                  </a:bodyPr>
                  <a:lstStyle/>
                  <a:p>
                    <a:pPr algn="ctr"/>
                    <a14:m>
                      <m:oMathPara xmlns:m="http://schemas.openxmlformats.org/officeDocument/2006/math">
                        <m:oMathParaPr>
                          <m:jc m:val="centerGroup"/>
                        </m:oMathParaPr>
                        <m:oMath xmlns:m="http://schemas.openxmlformats.org/officeDocument/2006/math">
                          <m:sSub>
                            <m:sSubPr>
                              <m:ctrlPr>
                                <a:rPr lang="cs-CZ" sz="1100" b="0" i="1" smtClean="0">
                                  <a:latin typeface="Cambria Math" panose="02040503050406030204" pitchFamily="18" charset="0"/>
                                </a:rPr>
                              </m:ctrlPr>
                            </m:sSubPr>
                            <m:e>
                              <m:r>
                                <a:rPr lang="cs-CZ" sz="1100" b="0" i="1" smtClean="0">
                                  <a:latin typeface="Cambria Math" panose="02040503050406030204" pitchFamily="18" charset="0"/>
                                </a:rPr>
                                <m:t>𝑆</m:t>
                              </m:r>
                            </m:e>
                            <m:sub>
                              <m:r>
                                <a:rPr lang="cs-CZ" sz="1100" b="0" i="1" smtClean="0">
                                  <a:latin typeface="Cambria Math" panose="02040503050406030204" pitchFamily="18" charset="0"/>
                                </a:rPr>
                                <m:t>𝑢</m:t>
                              </m:r>
                            </m:sub>
                          </m:sSub>
                        </m:oMath>
                      </m:oMathPara>
                    </a14:m>
                    <a:endParaRPr lang="cs-CZ" sz="1100" i="1" baseline="-25000" dirty="0"/>
                  </a:p>
                </p:txBody>
              </p:sp>
            </mc:Choice>
            <mc:Fallback xmlns="">
              <p:sp>
                <p:nvSpPr>
                  <p:cNvPr id="74" name="TextovéPole 73">
                    <a:extLst>
                      <a:ext uri="{FF2B5EF4-FFF2-40B4-BE49-F238E27FC236}">
                        <a16:creationId xmlns:a16="http://schemas.microsoft.com/office/drawing/2014/main" id="{4DB67B49-6BE4-460E-9AC7-878827710557}"/>
                      </a:ext>
                    </a:extLst>
                  </p:cNvPr>
                  <p:cNvSpPr txBox="1">
                    <a:spLocks noRot="1" noChangeAspect="1" noMove="1" noResize="1" noEditPoints="1" noAdjustHandles="1" noChangeArrowheads="1" noChangeShapeType="1" noTextEdit="1"/>
                  </p:cNvSpPr>
                  <p:nvPr/>
                </p:nvSpPr>
                <p:spPr>
                  <a:xfrm>
                    <a:off x="4451036" y="3276000"/>
                    <a:ext cx="188095" cy="262059"/>
                  </a:xfrm>
                  <a:prstGeom prst="rect">
                    <a:avLst/>
                  </a:prstGeom>
                  <a:blipFill>
                    <a:blip r:embed="rId24"/>
                    <a:stretch>
                      <a:fillRect l="-19355"/>
                    </a:stretch>
                  </a:blipFill>
                </p:spPr>
                <p:txBody>
                  <a:bodyPr/>
                  <a:lstStyle/>
                  <a:p>
                    <a:r>
                      <a:rPr lang="cs-CZ">
                        <a:noFill/>
                      </a:rPr>
                      <a:t> </a:t>
                    </a:r>
                  </a:p>
                </p:txBody>
              </p:sp>
            </mc:Fallback>
          </mc:AlternateContent>
          <p:cxnSp>
            <p:nvCxnSpPr>
              <p:cNvPr id="83" name="Přímá spojnice 82">
                <a:extLst>
                  <a:ext uri="{FF2B5EF4-FFF2-40B4-BE49-F238E27FC236}">
                    <a16:creationId xmlns:a16="http://schemas.microsoft.com/office/drawing/2014/main" id="{906A2621-6FF0-4E69-B93F-0FD3D7509E11}"/>
                  </a:ext>
                </a:extLst>
              </p:cNvPr>
              <p:cNvCxnSpPr/>
              <p:nvPr/>
            </p:nvCxnSpPr>
            <p:spPr>
              <a:xfrm>
                <a:off x="4420300" y="2900229"/>
                <a:ext cx="0" cy="696297"/>
              </a:xfrm>
              <a:prstGeom prst="line">
                <a:avLst/>
              </a:prstGeom>
              <a:ln w="12700">
                <a:solidFill>
                  <a:schemeClr val="tx1"/>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4" name="Přímá spojnice 83">
                <a:extLst>
                  <a:ext uri="{FF2B5EF4-FFF2-40B4-BE49-F238E27FC236}">
                    <a16:creationId xmlns:a16="http://schemas.microsoft.com/office/drawing/2014/main" id="{F1012CB4-74D9-4DC7-84BD-B0CB720F5659}"/>
                  </a:ext>
                </a:extLst>
              </p:cNvPr>
              <p:cNvCxnSpPr/>
              <p:nvPr/>
            </p:nvCxnSpPr>
            <p:spPr>
              <a:xfrm>
                <a:off x="3965200" y="2860620"/>
                <a:ext cx="959156" cy="686423"/>
              </a:xfrm>
              <a:prstGeom prst="line">
                <a:avLst/>
              </a:prstGeom>
              <a:ln w="31750" cap="rnd">
                <a:solidFill>
                  <a:srgbClr val="C00000"/>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5" name="TextovéPole 74">
                  <a:extLst>
                    <a:ext uri="{FF2B5EF4-FFF2-40B4-BE49-F238E27FC236}">
                      <a16:creationId xmlns:a16="http://schemas.microsoft.com/office/drawing/2014/main" id="{4DB67B49-6BE4-460E-9AC7-878827710557}"/>
                    </a:ext>
                  </a:extLst>
                </p:cNvPr>
                <p:cNvSpPr txBox="1"/>
                <p:nvPr/>
              </p:nvSpPr>
              <p:spPr>
                <a:xfrm>
                  <a:off x="1096958" y="2950345"/>
                  <a:ext cx="539648" cy="262059"/>
                </a:xfrm>
                <a:prstGeom prst="rect">
                  <a:avLst/>
                </a:prstGeom>
                <a:noFill/>
              </p:spPr>
              <p:txBody>
                <a:bodyPr wrap="square" lIns="0" rIns="0" rtlCol="0">
                  <a:spAutoFit/>
                </a:bodyPr>
                <a:lstStyle/>
                <a:p>
                  <a:pPr algn="ctr"/>
                  <a14:m>
                    <m:oMathPara xmlns:m="http://schemas.openxmlformats.org/officeDocument/2006/math">
                      <m:oMathParaPr>
                        <m:jc m:val="centerGroup"/>
                      </m:oMathParaPr>
                      <m:oMath xmlns:m="http://schemas.openxmlformats.org/officeDocument/2006/math">
                        <m:sSub>
                          <m:sSubPr>
                            <m:ctrlPr>
                              <a:rPr lang="cs-CZ" sz="1100" b="0" i="1" smtClean="0">
                                <a:latin typeface="Cambria Math" panose="02040503050406030204" pitchFamily="18" charset="0"/>
                              </a:rPr>
                            </m:ctrlPr>
                          </m:sSubPr>
                          <m:e>
                            <m:sSub>
                              <m:sSubPr>
                                <m:ctrlPr>
                                  <a:rPr lang="cs-CZ" sz="1100" b="0" i="1" smtClean="0">
                                    <a:latin typeface="Cambria Math" panose="02040503050406030204" pitchFamily="18" charset="0"/>
                                  </a:rPr>
                                </m:ctrlPr>
                              </m:sSubPr>
                              <m:e>
                                <m:r>
                                  <a:rPr lang="cs-CZ" sz="1100" b="0" i="1" smtClean="0">
                                    <a:latin typeface="Cambria Math"/>
                                  </a:rPr>
                                  <m:t>𝑉</m:t>
                                </m:r>
                              </m:e>
                              <m:sub>
                                <m:r>
                                  <a:rPr lang="cs-CZ" sz="1100" b="0" i="1" smtClean="0">
                                    <a:latin typeface="Cambria Math"/>
                                  </a:rPr>
                                  <m:t>𝑢</m:t>
                                </m:r>
                              </m:sub>
                            </m:sSub>
                            <m:r>
                              <a:rPr lang="cs-CZ" sz="1100" b="0" i="1" smtClean="0">
                                <a:latin typeface="Cambria Math"/>
                              </a:rPr>
                              <m:t>=</m:t>
                            </m:r>
                            <m:r>
                              <a:rPr lang="cs-CZ" sz="1100" b="0" i="1" smtClean="0">
                                <a:latin typeface="Cambria Math"/>
                              </a:rPr>
                              <m:t>𝑉</m:t>
                            </m:r>
                          </m:e>
                          <m:sub>
                            <m:r>
                              <a:rPr lang="cs-CZ" sz="1100" b="0" i="1" smtClean="0">
                                <a:latin typeface="Cambria Math"/>
                              </a:rPr>
                              <m:t>𝑑</m:t>
                            </m:r>
                          </m:sub>
                        </m:sSub>
                      </m:oMath>
                    </m:oMathPara>
                  </a14:m>
                  <a:endParaRPr lang="cs-CZ" sz="1100" i="1" baseline="-25000" dirty="0"/>
                </a:p>
              </p:txBody>
            </p:sp>
          </mc:Choice>
          <mc:Fallback xmlns="">
            <p:sp>
              <p:nvSpPr>
                <p:cNvPr id="75" name="TextovéPole 74">
                  <a:extLst>
                    <a:ext uri="{FF2B5EF4-FFF2-40B4-BE49-F238E27FC236}">
                      <a16:creationId xmlns="" xmlns:a16="http://schemas.microsoft.com/office/drawing/2014/main" xmlns:a14="http://schemas.microsoft.com/office/drawing/2010/main" id="{4DB67B49-6BE4-460E-9AC7-878827710557}"/>
                    </a:ext>
                  </a:extLst>
                </p:cNvPr>
                <p:cNvSpPr txBox="1">
                  <a:spLocks noRot="1" noChangeAspect="1" noMove="1" noResize="1" noEditPoints="1" noAdjustHandles="1" noChangeArrowheads="1" noChangeShapeType="1" noTextEdit="1"/>
                </p:cNvSpPr>
                <p:nvPr/>
              </p:nvSpPr>
              <p:spPr>
                <a:xfrm>
                  <a:off x="1096958" y="2950345"/>
                  <a:ext cx="539648" cy="262059"/>
                </a:xfrm>
                <a:prstGeom prst="rect">
                  <a:avLst/>
                </a:prstGeom>
                <a:blipFill rotWithShape="1">
                  <a:blip r:embed="rId25"/>
                  <a:stretch>
                    <a:fillRect l="-3409"/>
                  </a:stretch>
                </a:blipFill>
              </p:spPr>
              <p:txBody>
                <a:bodyPr/>
                <a:lstStyle/>
                <a:p>
                  <a:r>
                    <a:rPr lang="cs-CZ">
                      <a:noFill/>
                    </a:rPr>
                    <a:t> </a:t>
                  </a:r>
                </a:p>
              </p:txBody>
            </p:sp>
          </mc:Fallback>
        </mc:AlternateContent>
      </p:grpSp>
    </p:spTree>
    <p:extLst>
      <p:ext uri="{BB962C8B-B14F-4D97-AF65-F5344CB8AC3E}">
        <p14:creationId xmlns:p14="http://schemas.microsoft.com/office/powerpoint/2010/main" val="4268619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p:cNvSpPr>
            <a:spLocks noGrp="1"/>
          </p:cNvSpPr>
          <p:nvPr>
            <p:ph type="sldNum" sz="quarter" idx="12"/>
          </p:nvPr>
        </p:nvSpPr>
        <p:spPr>
          <a:xfrm>
            <a:off x="7164000" y="6336000"/>
            <a:ext cx="1800000" cy="360000"/>
          </a:xfrm>
        </p:spPr>
        <p:txBody>
          <a:bodyPr/>
          <a:lstStyle/>
          <a:p>
            <a:pPr algn="r"/>
            <a:fld id="{DFE5482F-2F05-49C5-9E15-73F945A41231}" type="slidenum">
              <a:rPr lang="cs-CZ" smtClean="0"/>
              <a:pPr algn="r"/>
              <a:t>4</a:t>
            </a:fld>
            <a:endParaRPr lang="cs-CZ" dirty="0"/>
          </a:p>
        </p:txBody>
      </p:sp>
      <p:sp>
        <p:nvSpPr>
          <p:cNvPr id="4" name="Nadpis 3"/>
          <p:cNvSpPr>
            <a:spLocks noGrp="1"/>
          </p:cNvSpPr>
          <p:nvPr>
            <p:ph type="title"/>
          </p:nvPr>
        </p:nvSpPr>
        <p:spPr>
          <a:xfrm>
            <a:off x="144000" y="144000"/>
            <a:ext cx="5580128" cy="648072"/>
          </a:xfrm>
        </p:spPr>
        <p:txBody>
          <a:bodyPr/>
          <a:lstStyle/>
          <a:p>
            <a:r>
              <a:rPr lang="en-GB" dirty="0">
                <a:solidFill>
                  <a:srgbClr val="000000"/>
                </a:solidFill>
              </a:rPr>
              <a:t>Binomial model </a:t>
            </a:r>
            <a:r>
              <a:rPr lang="en-GB" dirty="0">
                <a:latin typeface="Cambria Math" panose="02040503050406030204" pitchFamily="18" charset="0"/>
                <a:ea typeface="Cambria Math" panose="02040503050406030204" pitchFamily="18" charset="0"/>
              </a:rPr>
              <a:t>– </a:t>
            </a:r>
            <a:r>
              <a:rPr lang="en-GB" dirty="0">
                <a:solidFill>
                  <a:srgbClr val="000000"/>
                </a:solidFill>
              </a:rPr>
              <a:t>generalization</a:t>
            </a:r>
          </a:p>
        </p:txBody>
      </p:sp>
      <p:sp>
        <p:nvSpPr>
          <p:cNvPr id="29" name="TextovéPole 28"/>
          <p:cNvSpPr txBox="1"/>
          <p:nvPr/>
        </p:nvSpPr>
        <p:spPr>
          <a:xfrm>
            <a:off x="864000" y="864000"/>
            <a:ext cx="3708000"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Risk-neutral probabilities</a:t>
            </a:r>
          </a:p>
        </p:txBody>
      </p:sp>
      <p:sp>
        <p:nvSpPr>
          <p:cNvPr id="59" name="TextovéPole 58"/>
          <p:cNvSpPr txBox="1"/>
          <p:nvPr/>
        </p:nvSpPr>
        <p:spPr>
          <a:xfrm>
            <a:off x="1187623" y="1190717"/>
            <a:ext cx="7776377"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The fair price of a risky financial instrument can be found by discounting its expected value using a risk-free interest rate</a:t>
            </a:r>
          </a:p>
        </p:txBody>
      </p:sp>
      <p:sp>
        <p:nvSpPr>
          <p:cNvPr id="91" name="TextovéPole 90">
            <a:extLst>
              <a:ext uri="{FF2B5EF4-FFF2-40B4-BE49-F238E27FC236}">
                <a16:creationId xmlns:a16="http://schemas.microsoft.com/office/drawing/2014/main" id="{3B2D848F-0F85-43DE-B979-92E15EF0C158}"/>
              </a:ext>
            </a:extLst>
          </p:cNvPr>
          <p:cNvSpPr txBox="1"/>
          <p:nvPr/>
        </p:nvSpPr>
        <p:spPr>
          <a:xfrm>
            <a:off x="1188000" y="2641200"/>
            <a:ext cx="3018320"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Fair price of call option</a:t>
            </a:r>
          </a:p>
        </p:txBody>
      </p:sp>
      <p:sp>
        <p:nvSpPr>
          <p:cNvPr id="70" name="TextovéPole 69"/>
          <p:cNvSpPr txBox="1"/>
          <p:nvPr/>
        </p:nvSpPr>
        <p:spPr>
          <a:xfrm>
            <a:off x="864000" y="3410992"/>
            <a:ext cx="4860128"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Binomial model’s general formula</a:t>
            </a:r>
          </a:p>
        </p:txBody>
      </p:sp>
      <mc:AlternateContent xmlns:mc="http://schemas.openxmlformats.org/markup-compatibility/2006" xmlns:a14="http://schemas.microsoft.com/office/drawing/2010/main">
        <mc:Choice Requires="a14">
          <p:sp>
            <p:nvSpPr>
              <p:cNvPr id="61" name="TextovéPole 60">
                <a:extLst>
                  <a:ext uri="{FF2B5EF4-FFF2-40B4-BE49-F238E27FC236}">
                    <a16:creationId xmlns:a16="http://schemas.microsoft.com/office/drawing/2014/main" id="{05FC8A4A-3761-4383-881C-9096ADBF4AD7}"/>
                  </a:ext>
                </a:extLst>
              </p:cNvPr>
              <p:cNvSpPr txBox="1"/>
              <p:nvPr/>
            </p:nvSpPr>
            <p:spPr>
              <a:xfrm>
                <a:off x="1692000" y="2159178"/>
                <a:ext cx="2880000" cy="514051"/>
              </a:xfrm>
              <a:prstGeom prst="rect">
                <a:avLst/>
              </a:prstGeom>
              <a:noFill/>
              <a:ln>
                <a:noFill/>
              </a:ln>
            </p:spPr>
            <p:txBody>
              <a:bodyPr wrap="square" rtlCol="0">
                <a:spAutoFit/>
              </a:bodyPr>
              <a:lstStyle/>
              <a:p>
                <a:pPr marL="176213" indent="-176213">
                  <a:buClr>
                    <a:srgbClr val="7030A0"/>
                  </a:buClr>
                  <a:buSzPct val="100000"/>
                </a:pPr>
                <a14:m>
                  <m:oMathPara xmlns:m="http://schemas.openxmlformats.org/officeDocument/2006/math">
                    <m:oMathParaPr>
                      <m:jc m:val="left"/>
                    </m:oMathParaPr>
                    <m:oMath xmlns:m="http://schemas.openxmlformats.org/officeDocument/2006/math">
                      <m:r>
                        <a:rPr lang="cs-CZ" sz="1400" b="0" i="1" smtClean="0">
                          <a:latin typeface="Cambria Math"/>
                          <a:ea typeface="Cambria Math" panose="02040503050406030204" pitchFamily="18" charset="0"/>
                        </a:rPr>
                        <m:t>𝑆</m:t>
                      </m:r>
                      <m:r>
                        <a:rPr lang="cs-CZ" sz="1400" b="0" i="1" smtClean="0">
                          <a:latin typeface="Cambria Math" panose="02040503050406030204" pitchFamily="18" charset="0"/>
                          <a:ea typeface="Cambria Math" panose="02040503050406030204" pitchFamily="18" charset="0"/>
                        </a:rPr>
                        <m:t>=</m:t>
                      </m:r>
                      <m:f>
                        <m:fPr>
                          <m:ctrlPr>
                            <a:rPr lang="cs-CZ" sz="1400" b="0" i="1" smtClean="0">
                              <a:latin typeface="Cambria Math" panose="02040503050406030204" pitchFamily="18" charset="0"/>
                              <a:ea typeface="Cambria Math" panose="02040503050406030204" pitchFamily="18" charset="0"/>
                            </a:rPr>
                          </m:ctrlPr>
                        </m:fPr>
                        <m:num>
                          <m:r>
                            <a:rPr lang="cs-CZ" sz="1400" b="0" i="1" smtClean="0">
                              <a:latin typeface="Cambria Math"/>
                              <a:ea typeface="Cambria Math" panose="02040503050406030204" pitchFamily="18" charset="0"/>
                            </a:rPr>
                            <m:t>𝐸</m:t>
                          </m:r>
                          <m:r>
                            <a:rPr lang="cs-CZ" sz="1400" b="0" i="1" smtClean="0">
                              <a:latin typeface="Cambria Math"/>
                              <a:ea typeface="Cambria Math" panose="02040503050406030204" pitchFamily="18" charset="0"/>
                            </a:rPr>
                            <m:t>(</m:t>
                          </m:r>
                          <m:r>
                            <a:rPr lang="cs-CZ" sz="1400" b="0" i="1" smtClean="0">
                              <a:latin typeface="Cambria Math"/>
                              <a:ea typeface="Cambria Math" panose="02040503050406030204" pitchFamily="18" charset="0"/>
                            </a:rPr>
                            <m:t>𝑆</m:t>
                          </m:r>
                          <m:r>
                            <a:rPr lang="cs-CZ" sz="1400" b="0" i="1" smtClean="0">
                              <a:latin typeface="Cambria Math"/>
                              <a:ea typeface="Cambria Math" panose="02040503050406030204" pitchFamily="18" charset="0"/>
                            </a:rPr>
                            <m:t>)</m:t>
                          </m:r>
                        </m:num>
                        <m:den>
                          <m:r>
                            <a:rPr lang="cs-CZ" sz="1400" b="0" i="1" smtClean="0">
                              <a:latin typeface="Cambria Math"/>
                              <a:ea typeface="Cambria Math" panose="02040503050406030204" pitchFamily="18" charset="0"/>
                            </a:rPr>
                            <m:t>1+</m:t>
                          </m:r>
                          <m:r>
                            <a:rPr lang="cs-CZ" sz="1400" b="0" i="1" smtClean="0">
                              <a:latin typeface="Cambria Math"/>
                              <a:ea typeface="Cambria Math" panose="02040503050406030204" pitchFamily="18" charset="0"/>
                            </a:rPr>
                            <m:t>𝑟</m:t>
                          </m:r>
                        </m:den>
                      </m:f>
                      <m:r>
                        <a:rPr lang="cs-CZ" sz="1400" b="0" i="1" smtClean="0">
                          <a:latin typeface="Cambria Math"/>
                          <a:ea typeface="Cambria Math" panose="02040503050406030204" pitchFamily="18" charset="0"/>
                        </a:rPr>
                        <m:t>=</m:t>
                      </m:r>
                      <m:f>
                        <m:fPr>
                          <m:ctrlPr>
                            <a:rPr lang="cs-CZ" sz="1400" i="1" smtClean="0">
                              <a:latin typeface="Cambria Math" panose="02040503050406030204" pitchFamily="18" charset="0"/>
                              <a:ea typeface="Cambria Math" panose="02040503050406030204" pitchFamily="18" charset="0"/>
                            </a:rPr>
                          </m:ctrlPr>
                        </m:fPr>
                        <m:num>
                          <m:r>
                            <a:rPr lang="cs-CZ" sz="1400" b="0" i="1" smtClean="0">
                              <a:latin typeface="Cambria Math" panose="02040503050406030204" pitchFamily="18" charset="0"/>
                              <a:ea typeface="Cambria Math" panose="02040503050406030204" pitchFamily="18" charset="0"/>
                            </a:rPr>
                            <m:t>𝑝</m:t>
                          </m:r>
                          <m:r>
                            <a:rPr lang="cs-CZ" sz="1400" b="0" i="1" smtClean="0">
                              <a:latin typeface="Cambria Math" panose="02040503050406030204" pitchFamily="18" charset="0"/>
                              <a:ea typeface="Cambria Math" panose="02040503050406030204" pitchFamily="18" charset="0"/>
                            </a:rPr>
                            <m:t>×</m:t>
                          </m:r>
                          <m:r>
                            <a:rPr lang="cs-CZ" sz="1400" i="1" smtClean="0">
                              <a:latin typeface="Cambria Math"/>
                              <a:ea typeface="Cambria Math" panose="02040503050406030204" pitchFamily="18" charset="0"/>
                            </a:rPr>
                            <m:t>𝑢</m:t>
                          </m:r>
                          <m:r>
                            <a:rPr lang="cs-CZ" sz="1400" b="0" i="1" smtClean="0">
                              <a:latin typeface="Cambria Math"/>
                              <a:ea typeface="Cambria Math" panose="02040503050406030204" pitchFamily="18" charset="0"/>
                            </a:rPr>
                            <m:t>𝑆</m:t>
                          </m:r>
                          <m:r>
                            <a:rPr lang="cs-CZ" sz="1400" b="0" i="1" smtClean="0">
                              <a:latin typeface="Cambria Math" panose="02040503050406030204" pitchFamily="18" charset="0"/>
                              <a:ea typeface="Cambria Math" panose="02040503050406030204" pitchFamily="18" charset="0"/>
                            </a:rPr>
                            <m:t>+</m:t>
                          </m:r>
                          <m:d>
                            <m:dPr>
                              <m:ctrlPr>
                                <a:rPr lang="cs-CZ" sz="1400" b="0" i="1" smtClean="0">
                                  <a:latin typeface="Cambria Math" panose="02040503050406030204" pitchFamily="18" charset="0"/>
                                  <a:ea typeface="Cambria Math" panose="02040503050406030204" pitchFamily="18" charset="0"/>
                                </a:rPr>
                              </m:ctrlPr>
                            </m:dPr>
                            <m:e>
                              <m:r>
                                <a:rPr lang="cs-CZ" sz="1400" b="0" i="1" smtClean="0">
                                  <a:latin typeface="Cambria Math" panose="02040503050406030204" pitchFamily="18" charset="0"/>
                                  <a:ea typeface="Cambria Math" panose="02040503050406030204" pitchFamily="18" charset="0"/>
                                </a:rPr>
                                <m:t>1−</m:t>
                              </m:r>
                              <m:r>
                                <a:rPr lang="cs-CZ" sz="1400" b="0" i="1" smtClean="0">
                                  <a:latin typeface="Cambria Math" panose="02040503050406030204" pitchFamily="18" charset="0"/>
                                  <a:ea typeface="Cambria Math" panose="02040503050406030204" pitchFamily="18" charset="0"/>
                                </a:rPr>
                                <m:t>𝑝</m:t>
                              </m:r>
                            </m:e>
                          </m:d>
                          <m:r>
                            <a:rPr lang="cs-CZ" sz="1400" b="0" i="1" smtClean="0">
                              <a:latin typeface="Cambria Math"/>
                              <a:ea typeface="Cambria Math"/>
                            </a:rPr>
                            <m:t>×</m:t>
                          </m:r>
                          <m:r>
                            <a:rPr lang="cs-CZ" sz="1400" b="0" i="1" smtClean="0">
                              <a:latin typeface="Cambria Math"/>
                              <a:ea typeface="Cambria Math" panose="02040503050406030204" pitchFamily="18" charset="0"/>
                            </a:rPr>
                            <m:t>𝑑𝑆</m:t>
                          </m:r>
                        </m:num>
                        <m:den>
                          <m:r>
                            <a:rPr lang="cs-CZ" sz="1400" b="0" i="1" smtClean="0">
                              <a:latin typeface="Cambria Math" panose="02040503050406030204" pitchFamily="18" charset="0"/>
                              <a:ea typeface="Cambria Math" panose="02040503050406030204" pitchFamily="18" charset="0"/>
                            </a:rPr>
                            <m:t>1+</m:t>
                          </m:r>
                          <m:r>
                            <a:rPr lang="cs-CZ" sz="1400" b="0" i="1" smtClean="0">
                              <a:latin typeface="Cambria Math" panose="02040503050406030204" pitchFamily="18" charset="0"/>
                              <a:ea typeface="Cambria Math" panose="02040503050406030204" pitchFamily="18" charset="0"/>
                            </a:rPr>
                            <m:t>𝑟</m:t>
                          </m:r>
                        </m:den>
                      </m:f>
                    </m:oMath>
                  </m:oMathPara>
                </a14:m>
                <a:endParaRPr lang="en-GB" sz="1400" dirty="0">
                  <a:latin typeface="Cambria Math" panose="02040503050406030204" pitchFamily="18" charset="0"/>
                  <a:ea typeface="Cambria Math" panose="02040503050406030204" pitchFamily="18" charset="0"/>
                </a:endParaRPr>
              </a:p>
            </p:txBody>
          </p:sp>
        </mc:Choice>
        <mc:Fallback xmlns="">
          <p:sp>
            <p:nvSpPr>
              <p:cNvPr id="61" name="TextovéPole 60">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692000" y="2159178"/>
                <a:ext cx="2880000" cy="514051"/>
              </a:xfrm>
              <a:prstGeom prst="rect">
                <a:avLst/>
              </a:prstGeom>
              <a:blipFill>
                <a:blip r:embed="rId1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TextovéPole 65">
                <a:extLst>
                  <a:ext uri="{FF2B5EF4-FFF2-40B4-BE49-F238E27FC236}">
                    <a16:creationId xmlns:a16="http://schemas.microsoft.com/office/drawing/2014/main" id="{05FC8A4A-3761-4383-881C-9096ADBF4AD7}"/>
                  </a:ext>
                </a:extLst>
              </p:cNvPr>
              <p:cNvSpPr txBox="1"/>
              <p:nvPr/>
            </p:nvSpPr>
            <p:spPr>
              <a:xfrm>
                <a:off x="4499992" y="2151267"/>
                <a:ext cx="3384000" cy="510461"/>
              </a:xfrm>
              <a:prstGeom prst="rect">
                <a:avLst/>
              </a:prstGeom>
              <a:noFill/>
              <a:ln>
                <a:noFill/>
              </a:ln>
            </p:spPr>
            <p:txBody>
              <a:bodyPr wrap="square" rtlCol="0">
                <a:spAutoFit/>
              </a:bodyPr>
              <a:lstStyle/>
              <a:p>
                <a:pPr marL="176213" indent="-176213">
                  <a:buClr>
                    <a:srgbClr val="7030A0"/>
                  </a:buClr>
                  <a:buSzPct val="100000"/>
                </a:pPr>
                <a14:m>
                  <m:oMathPara xmlns:m="http://schemas.openxmlformats.org/officeDocument/2006/math">
                    <m:oMathParaPr>
                      <m:jc m:val="left"/>
                    </m:oMathParaPr>
                    <m:oMath xmlns:m="http://schemas.openxmlformats.org/officeDocument/2006/math">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𝑝</m:t>
                      </m:r>
                      <m:r>
                        <a:rPr lang="cs-CZ" sz="1400" b="0" i="1" smtClean="0">
                          <a:latin typeface="Cambria Math" panose="02040503050406030204" pitchFamily="18" charset="0"/>
                          <a:ea typeface="Cambria Math" panose="02040503050406030204" pitchFamily="18" charset="0"/>
                        </a:rPr>
                        <m:t>=</m:t>
                      </m:r>
                      <m:f>
                        <m:fPr>
                          <m:ctrlPr>
                            <a:rPr lang="cs-CZ" sz="1400" b="0" i="1" smtClean="0">
                              <a:latin typeface="Cambria Math" panose="02040503050406030204" pitchFamily="18" charset="0"/>
                              <a:ea typeface="Cambria Math" panose="02040503050406030204" pitchFamily="18" charset="0"/>
                            </a:rPr>
                          </m:ctrlPr>
                        </m:fPr>
                        <m:num>
                          <m:d>
                            <m:dPr>
                              <m:ctrlPr>
                                <a:rPr lang="cs-CZ" sz="1400" b="0" i="1" smtClean="0">
                                  <a:latin typeface="Cambria Math" panose="02040503050406030204" pitchFamily="18" charset="0"/>
                                  <a:ea typeface="Cambria Math" panose="02040503050406030204" pitchFamily="18" charset="0"/>
                                </a:rPr>
                              </m:ctrlPr>
                            </m:dPr>
                            <m:e>
                              <m:r>
                                <a:rPr lang="cs-CZ" sz="1400" b="0" i="1" smtClean="0">
                                  <a:latin typeface="Cambria Math" panose="02040503050406030204" pitchFamily="18" charset="0"/>
                                  <a:ea typeface="Cambria Math" panose="02040503050406030204" pitchFamily="18" charset="0"/>
                                </a:rPr>
                                <m:t>1+</m:t>
                              </m:r>
                              <m:r>
                                <a:rPr lang="cs-CZ" sz="1400" b="0" i="1" smtClean="0">
                                  <a:latin typeface="Cambria Math" panose="02040503050406030204" pitchFamily="18" charset="0"/>
                                  <a:ea typeface="Cambria Math" panose="02040503050406030204" pitchFamily="18" charset="0"/>
                                </a:rPr>
                                <m:t>𝑟</m:t>
                              </m:r>
                            </m:e>
                          </m:d>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𝑑</m:t>
                          </m:r>
                        </m:num>
                        <m:den>
                          <m:r>
                            <a:rPr lang="cs-CZ" sz="1400" b="0" i="1" smtClean="0">
                              <a:latin typeface="Cambria Math" panose="02040503050406030204" pitchFamily="18" charset="0"/>
                              <a:ea typeface="Cambria Math" panose="02040503050406030204" pitchFamily="18" charset="0"/>
                            </a:rPr>
                            <m:t>𝑢</m:t>
                          </m:r>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𝑑</m:t>
                          </m:r>
                        </m:den>
                      </m:f>
                      <m:r>
                        <a:rPr lang="cs-CZ" sz="1400" b="0" i="1" smtClean="0">
                          <a:latin typeface="Cambria Math"/>
                          <a:ea typeface="Cambria Math" panose="02040503050406030204" pitchFamily="18" charset="0"/>
                        </a:rPr>
                        <m:t>=</m:t>
                      </m:r>
                      <m:f>
                        <m:fPr>
                          <m:ctrlPr>
                            <a:rPr lang="cs-CZ" sz="1400" b="0" i="1" smtClean="0">
                              <a:latin typeface="Cambria Math" panose="02040503050406030204" pitchFamily="18" charset="0"/>
                              <a:ea typeface="Cambria Math" panose="02040503050406030204" pitchFamily="18" charset="0"/>
                            </a:rPr>
                          </m:ctrlPr>
                        </m:fPr>
                        <m:num>
                          <m:r>
                            <a:rPr lang="cs-CZ" sz="1400" b="0" i="1" smtClean="0">
                              <a:latin typeface="Cambria Math" panose="02040503050406030204" pitchFamily="18" charset="0"/>
                              <a:ea typeface="Cambria Math" panose="02040503050406030204" pitchFamily="18" charset="0"/>
                            </a:rPr>
                            <m:t>1.1−0.7</m:t>
                          </m:r>
                        </m:num>
                        <m:den>
                          <m:r>
                            <a:rPr lang="cs-CZ" sz="1400" b="0" i="1" smtClean="0">
                              <a:latin typeface="Cambria Math" panose="02040503050406030204" pitchFamily="18" charset="0"/>
                              <a:ea typeface="Cambria Math" panose="02040503050406030204" pitchFamily="18" charset="0"/>
                            </a:rPr>
                            <m:t>1.3−0.7</m:t>
                          </m:r>
                        </m:den>
                      </m:f>
                      <m:r>
                        <a:rPr lang="cs-CZ" sz="1400" b="0" i="1" smtClean="0">
                          <a:latin typeface="Cambria Math" panose="02040503050406030204" pitchFamily="18" charset="0"/>
                          <a:ea typeface="Cambria Math" panose="02040503050406030204" pitchFamily="18" charset="0"/>
                        </a:rPr>
                        <m:t>=6</m:t>
                      </m:r>
                      <m:r>
                        <a:rPr lang="cs-CZ" sz="1400" b="0" i="1" smtClean="0">
                          <a:latin typeface="Cambria Math"/>
                          <a:ea typeface="Cambria Math" panose="02040503050406030204" pitchFamily="18" charset="0"/>
                        </a:rPr>
                        <m:t>6,67</m:t>
                      </m:r>
                      <m:r>
                        <a:rPr lang="cs-CZ" sz="1400" b="0" i="1" smtClean="0">
                          <a:latin typeface="Cambria Math" panose="02040503050406030204" pitchFamily="18" charset="0"/>
                          <a:ea typeface="Cambria Math" panose="02040503050406030204" pitchFamily="18" charset="0"/>
                        </a:rPr>
                        <m:t>%</m:t>
                      </m:r>
                    </m:oMath>
                  </m:oMathPara>
                </a14:m>
                <a:endParaRPr lang="en-GB" sz="1400" dirty="0">
                  <a:solidFill>
                    <a:srgbClr val="C00000"/>
                  </a:solidFill>
                  <a:latin typeface="Cambria Math" panose="02040503050406030204" pitchFamily="18" charset="0"/>
                  <a:ea typeface="Cambria Math" panose="02040503050406030204" pitchFamily="18" charset="0"/>
                </a:endParaRPr>
              </a:p>
            </p:txBody>
          </p:sp>
        </mc:Choice>
        <mc:Fallback xmlns="">
          <p:sp>
            <p:nvSpPr>
              <p:cNvPr id="66" name="TextovéPole 65">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499992" y="2151267"/>
                <a:ext cx="3384000" cy="510461"/>
              </a:xfrm>
              <a:prstGeom prst="rect">
                <a:avLst/>
              </a:prstGeom>
              <a:blipFill>
                <a:blip r:embed="rId17"/>
                <a:stretch>
                  <a:fillRect b="-1190"/>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ovéPole 67">
                <a:extLst>
                  <a:ext uri="{FF2B5EF4-FFF2-40B4-BE49-F238E27FC236}">
                    <a16:creationId xmlns:a16="http://schemas.microsoft.com/office/drawing/2014/main" id="{05FC8A4A-3761-4383-881C-9096ADBF4AD7}"/>
                  </a:ext>
                </a:extLst>
              </p:cNvPr>
              <p:cNvSpPr txBox="1"/>
              <p:nvPr/>
            </p:nvSpPr>
            <p:spPr>
              <a:xfrm>
                <a:off x="4716016" y="1836586"/>
                <a:ext cx="2358096" cy="307777"/>
              </a:xfrm>
              <a:prstGeom prst="rect">
                <a:avLst/>
              </a:prstGeom>
              <a:noFill/>
              <a:ln>
                <a:noFill/>
              </a:ln>
            </p:spPr>
            <p:txBody>
              <a:bodyPr wrap="square" rtlCol="0">
                <a:spAutoFit/>
              </a:bodyPr>
              <a:lstStyle/>
              <a:p>
                <a:pPr marL="271463" indent="-271463">
                  <a:buClr>
                    <a:srgbClr val="7030A0"/>
                  </a:buClr>
                  <a:buSzPct val="100000"/>
                </a:pPr>
                <a14:m>
                  <m:oMath xmlns:m="http://schemas.openxmlformats.org/officeDocument/2006/math">
                    <m:r>
                      <a:rPr lang="en-GB" sz="1400" b="0" i="1" smtClean="0">
                        <a:latin typeface="Cambria Math" panose="02040503050406030204" pitchFamily="18" charset="0"/>
                        <a:ea typeface="Cambria Math" panose="02040503050406030204" pitchFamily="18" charset="0"/>
                      </a:rPr>
                      <m:t>𝑝</m:t>
                    </m:r>
                  </m:oMath>
                </a14:m>
                <a:r>
                  <a:rPr lang="en-GB" sz="1400" dirty="0">
                    <a:latin typeface="Cambria Math" panose="02040503050406030204" pitchFamily="18" charset="0"/>
                    <a:ea typeface="Cambria Math" panose="02040503050406030204" pitchFamily="18" charset="0"/>
                  </a:rPr>
                  <a:t>… risk-neutral probability</a:t>
                </a:r>
              </a:p>
            </p:txBody>
          </p:sp>
        </mc:Choice>
        <mc:Fallback xmlns="">
          <p:sp>
            <p:nvSpPr>
              <p:cNvPr id="68" name="TextovéPole 67">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716016" y="1836586"/>
                <a:ext cx="2358096" cy="307777"/>
              </a:xfrm>
              <a:prstGeom prst="rect">
                <a:avLst/>
              </a:prstGeom>
              <a:blipFill>
                <a:blip r:embed="rId18"/>
                <a:stretch>
                  <a:fillRect t="-3922" b="-1764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ovéPole 45">
                <a:extLst>
                  <a:ext uri="{FF2B5EF4-FFF2-40B4-BE49-F238E27FC236}">
                    <a16:creationId xmlns:a16="http://schemas.microsoft.com/office/drawing/2014/main" id="{05FC8A4A-3761-4383-881C-9096ADBF4AD7}"/>
                  </a:ext>
                </a:extLst>
              </p:cNvPr>
              <p:cNvSpPr txBox="1"/>
              <p:nvPr/>
            </p:nvSpPr>
            <p:spPr>
              <a:xfrm>
                <a:off x="1691680" y="2925963"/>
                <a:ext cx="6048672" cy="514051"/>
              </a:xfrm>
              <a:prstGeom prst="rect">
                <a:avLst/>
              </a:prstGeom>
              <a:noFill/>
              <a:ln>
                <a:noFill/>
              </a:ln>
            </p:spPr>
            <p:txBody>
              <a:bodyPr wrap="square" rtlCol="0">
                <a:spAutoFit/>
              </a:bodyPr>
              <a:lstStyle/>
              <a:p>
                <a:pPr marL="176213" indent="-176213">
                  <a:buClr>
                    <a:srgbClr val="7030A0"/>
                  </a:buClr>
                  <a:buSzPct val="100000"/>
                </a:pPr>
                <a14:m>
                  <m:oMathPara xmlns:m="http://schemas.openxmlformats.org/officeDocument/2006/math">
                    <m:oMathParaPr>
                      <m:jc m:val="left"/>
                    </m:oMathParaPr>
                    <m:oMath xmlns:m="http://schemas.openxmlformats.org/officeDocument/2006/math">
                      <m:r>
                        <a:rPr lang="cs-CZ" sz="1400" b="0" i="1" smtClean="0">
                          <a:latin typeface="Cambria Math"/>
                          <a:ea typeface="Cambria Math" panose="02040503050406030204" pitchFamily="18" charset="0"/>
                        </a:rPr>
                        <m:t>𝐶</m:t>
                      </m:r>
                      <m:r>
                        <a:rPr lang="cs-CZ" sz="1400" b="0" i="1" smtClean="0">
                          <a:latin typeface="Cambria Math" panose="02040503050406030204" pitchFamily="18" charset="0"/>
                          <a:ea typeface="Cambria Math" panose="02040503050406030204" pitchFamily="18" charset="0"/>
                        </a:rPr>
                        <m:t>=</m:t>
                      </m:r>
                      <m:f>
                        <m:fPr>
                          <m:ctrlPr>
                            <a:rPr lang="cs-CZ" sz="1400" b="0" i="1" smtClean="0">
                              <a:latin typeface="Cambria Math" panose="02040503050406030204" pitchFamily="18" charset="0"/>
                              <a:ea typeface="Cambria Math" panose="02040503050406030204" pitchFamily="18" charset="0"/>
                            </a:rPr>
                          </m:ctrlPr>
                        </m:fPr>
                        <m:num>
                          <m:r>
                            <a:rPr lang="cs-CZ" sz="1400" b="0" i="1" smtClean="0">
                              <a:latin typeface="Cambria Math"/>
                              <a:ea typeface="Cambria Math" panose="02040503050406030204" pitchFamily="18" charset="0"/>
                            </a:rPr>
                            <m:t>𝐸</m:t>
                          </m:r>
                          <m:r>
                            <a:rPr lang="cs-CZ" sz="1400" b="0" i="1" smtClean="0">
                              <a:latin typeface="Cambria Math"/>
                              <a:ea typeface="Cambria Math" panose="02040503050406030204" pitchFamily="18" charset="0"/>
                            </a:rPr>
                            <m:t>(</m:t>
                          </m:r>
                          <m:r>
                            <a:rPr lang="cs-CZ" sz="1400" b="0" i="1" smtClean="0">
                              <a:latin typeface="Cambria Math"/>
                              <a:ea typeface="Cambria Math" panose="02040503050406030204" pitchFamily="18" charset="0"/>
                            </a:rPr>
                            <m:t>𝐶</m:t>
                          </m:r>
                          <m:r>
                            <a:rPr lang="cs-CZ" sz="1400" b="0" i="1" smtClean="0">
                              <a:latin typeface="Cambria Math"/>
                              <a:ea typeface="Cambria Math" panose="02040503050406030204" pitchFamily="18" charset="0"/>
                            </a:rPr>
                            <m:t>)</m:t>
                          </m:r>
                        </m:num>
                        <m:den>
                          <m:r>
                            <a:rPr lang="cs-CZ" sz="1400" b="0" i="1" smtClean="0">
                              <a:latin typeface="Cambria Math"/>
                              <a:ea typeface="Cambria Math" panose="02040503050406030204" pitchFamily="18" charset="0"/>
                            </a:rPr>
                            <m:t>1+</m:t>
                          </m:r>
                          <m:r>
                            <a:rPr lang="cs-CZ" sz="1400" b="0" i="1" smtClean="0">
                              <a:latin typeface="Cambria Math"/>
                              <a:ea typeface="Cambria Math" panose="02040503050406030204" pitchFamily="18" charset="0"/>
                            </a:rPr>
                            <m:t>𝑟</m:t>
                          </m:r>
                        </m:den>
                      </m:f>
                      <m:r>
                        <a:rPr lang="cs-CZ" sz="1400" b="0" i="1" smtClean="0">
                          <a:latin typeface="Cambria Math"/>
                          <a:ea typeface="Cambria Math" panose="02040503050406030204" pitchFamily="18" charset="0"/>
                        </a:rPr>
                        <m:t>=</m:t>
                      </m:r>
                      <m:f>
                        <m:fPr>
                          <m:ctrlPr>
                            <a:rPr lang="cs-CZ" sz="1400" i="1" smtClean="0">
                              <a:latin typeface="Cambria Math" panose="02040503050406030204" pitchFamily="18" charset="0"/>
                              <a:ea typeface="Cambria Math" panose="02040503050406030204" pitchFamily="18" charset="0"/>
                            </a:rPr>
                          </m:ctrlPr>
                        </m:fPr>
                        <m:num>
                          <m:r>
                            <a:rPr lang="cs-CZ" sz="1400" b="0" i="1" smtClean="0">
                              <a:latin typeface="Cambria Math" panose="02040503050406030204" pitchFamily="18" charset="0"/>
                              <a:ea typeface="Cambria Math" panose="02040503050406030204" pitchFamily="18" charset="0"/>
                            </a:rPr>
                            <m:t>𝑝</m:t>
                          </m:r>
                          <m:r>
                            <a:rPr lang="cs-CZ" sz="1400" b="0" i="1" smtClean="0">
                              <a:latin typeface="Cambria Math" panose="02040503050406030204" pitchFamily="18" charset="0"/>
                              <a:ea typeface="Cambria Math" panose="02040503050406030204" pitchFamily="18" charset="0"/>
                            </a:rPr>
                            <m:t>×</m:t>
                          </m:r>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a:ea typeface="Cambria Math" panose="02040503050406030204" pitchFamily="18" charset="0"/>
                                </a:rPr>
                                <m:t>𝐶</m:t>
                              </m:r>
                            </m:e>
                            <m:sub>
                              <m:r>
                                <a:rPr lang="cs-CZ" sz="1400" b="0" i="1" smtClean="0">
                                  <a:latin typeface="Cambria Math"/>
                                  <a:ea typeface="Cambria Math" panose="02040503050406030204" pitchFamily="18" charset="0"/>
                                </a:rPr>
                                <m:t>𝑢</m:t>
                              </m:r>
                            </m:sub>
                          </m:sSub>
                          <m:r>
                            <a:rPr lang="cs-CZ" sz="1400" b="0" i="1" smtClean="0">
                              <a:latin typeface="Cambria Math" panose="02040503050406030204" pitchFamily="18" charset="0"/>
                              <a:ea typeface="Cambria Math" panose="02040503050406030204" pitchFamily="18" charset="0"/>
                            </a:rPr>
                            <m:t>+</m:t>
                          </m:r>
                          <m:d>
                            <m:dPr>
                              <m:ctrlPr>
                                <a:rPr lang="cs-CZ" sz="1400" b="0" i="1" smtClean="0">
                                  <a:latin typeface="Cambria Math" panose="02040503050406030204" pitchFamily="18" charset="0"/>
                                  <a:ea typeface="Cambria Math" panose="02040503050406030204" pitchFamily="18" charset="0"/>
                                </a:rPr>
                              </m:ctrlPr>
                            </m:dPr>
                            <m:e>
                              <m:r>
                                <a:rPr lang="cs-CZ" sz="1400" b="0" i="1" smtClean="0">
                                  <a:latin typeface="Cambria Math" panose="02040503050406030204" pitchFamily="18" charset="0"/>
                                  <a:ea typeface="Cambria Math" panose="02040503050406030204" pitchFamily="18" charset="0"/>
                                </a:rPr>
                                <m:t>1−</m:t>
                              </m:r>
                              <m:r>
                                <a:rPr lang="cs-CZ" sz="1400" b="0" i="1" smtClean="0">
                                  <a:latin typeface="Cambria Math" panose="02040503050406030204" pitchFamily="18" charset="0"/>
                                  <a:ea typeface="Cambria Math" panose="02040503050406030204" pitchFamily="18" charset="0"/>
                                </a:rPr>
                                <m:t>𝑝</m:t>
                              </m:r>
                            </m:e>
                          </m:d>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a:ea typeface="Cambria Math"/>
                                </a:rPr>
                                <m:t>×</m:t>
                              </m:r>
                              <m:r>
                                <a:rPr lang="cs-CZ" sz="1400" b="0" i="1" smtClean="0">
                                  <a:latin typeface="Cambria Math"/>
                                  <a:ea typeface="Cambria Math" panose="02040503050406030204" pitchFamily="18" charset="0"/>
                                </a:rPr>
                                <m:t>𝐶</m:t>
                              </m:r>
                            </m:e>
                            <m:sub>
                              <m:r>
                                <a:rPr lang="cs-CZ" sz="1400" b="0" i="1" smtClean="0">
                                  <a:latin typeface="Cambria Math"/>
                                  <a:ea typeface="Cambria Math" panose="02040503050406030204" pitchFamily="18" charset="0"/>
                                </a:rPr>
                                <m:t>𝑑</m:t>
                              </m:r>
                            </m:sub>
                          </m:sSub>
                        </m:num>
                        <m:den>
                          <m:r>
                            <a:rPr lang="cs-CZ" sz="1400" b="0" i="1" smtClean="0">
                              <a:latin typeface="Cambria Math" panose="02040503050406030204" pitchFamily="18" charset="0"/>
                              <a:ea typeface="Cambria Math" panose="02040503050406030204" pitchFamily="18" charset="0"/>
                            </a:rPr>
                            <m:t>1+</m:t>
                          </m:r>
                          <m:r>
                            <a:rPr lang="cs-CZ" sz="1400" b="0" i="1" smtClean="0">
                              <a:latin typeface="Cambria Math" panose="02040503050406030204" pitchFamily="18" charset="0"/>
                              <a:ea typeface="Cambria Math" panose="02040503050406030204" pitchFamily="18" charset="0"/>
                            </a:rPr>
                            <m:t>𝑟</m:t>
                          </m:r>
                        </m:den>
                      </m:f>
                      <m:r>
                        <a:rPr lang="cs-CZ" sz="1400" b="0" i="1" smtClean="0">
                          <a:latin typeface="Cambria Math"/>
                          <a:ea typeface="Cambria Math" panose="02040503050406030204" pitchFamily="18" charset="0"/>
                        </a:rPr>
                        <m:t>=</m:t>
                      </m:r>
                      <m:f>
                        <m:fPr>
                          <m:ctrlPr>
                            <a:rPr lang="cs-CZ" sz="1400" b="0" i="1" smtClean="0">
                              <a:latin typeface="Cambria Math" panose="02040503050406030204" pitchFamily="18" charset="0"/>
                              <a:ea typeface="Cambria Math" panose="02040503050406030204" pitchFamily="18" charset="0"/>
                            </a:rPr>
                          </m:ctrlPr>
                        </m:fPr>
                        <m:num>
                          <m:r>
                            <a:rPr lang="cs-CZ" sz="1400" b="0" i="1" smtClean="0">
                              <a:latin typeface="Cambria Math"/>
                              <a:ea typeface="Cambria Math" panose="02040503050406030204" pitchFamily="18" charset="0"/>
                            </a:rPr>
                            <m:t>0.6667</m:t>
                          </m:r>
                          <m:r>
                            <a:rPr lang="cs-CZ" sz="1400" b="0" i="1" smtClean="0">
                              <a:latin typeface="Cambria Math"/>
                              <a:ea typeface="Cambria Math"/>
                            </a:rPr>
                            <m:t>×20+0.3333×0</m:t>
                          </m:r>
                        </m:num>
                        <m:den>
                          <m:r>
                            <a:rPr lang="cs-CZ" sz="1400" b="0" i="1" smtClean="0">
                              <a:latin typeface="Cambria Math"/>
                              <a:ea typeface="Cambria Math" panose="02040503050406030204" pitchFamily="18" charset="0"/>
                            </a:rPr>
                            <m:t>1.1</m:t>
                          </m:r>
                        </m:den>
                      </m:f>
                      <m:r>
                        <a:rPr lang="cs-CZ" sz="1400" b="0" i="1" smtClean="0">
                          <a:latin typeface="Cambria Math"/>
                          <a:ea typeface="Cambria Math" panose="02040503050406030204" pitchFamily="18" charset="0"/>
                        </a:rPr>
                        <m:t>=</m:t>
                      </m:r>
                      <m:r>
                        <a:rPr lang="cs-CZ" sz="1400" b="1" i="1" smtClean="0">
                          <a:solidFill>
                            <a:srgbClr val="C00000"/>
                          </a:solidFill>
                          <a:latin typeface="Cambria Math" panose="02040503050406030204" pitchFamily="18" charset="0"/>
                          <a:ea typeface="Cambria Math" panose="02040503050406030204" pitchFamily="18" charset="0"/>
                        </a:rPr>
                        <m:t>€</m:t>
                      </m:r>
                      <m:r>
                        <a:rPr lang="cs-CZ" sz="1400" b="1" i="1" smtClean="0">
                          <a:solidFill>
                            <a:srgbClr val="C00000"/>
                          </a:solidFill>
                          <a:latin typeface="Cambria Math"/>
                          <a:ea typeface="Cambria Math" panose="02040503050406030204" pitchFamily="18" charset="0"/>
                        </a:rPr>
                        <m:t>𝟏𝟐</m:t>
                      </m:r>
                      <m:r>
                        <a:rPr lang="cs-CZ" sz="1400" b="1" i="1" smtClean="0">
                          <a:solidFill>
                            <a:srgbClr val="C00000"/>
                          </a:solidFill>
                          <a:latin typeface="Cambria Math"/>
                          <a:ea typeface="Cambria Math" panose="02040503050406030204" pitchFamily="18" charset="0"/>
                        </a:rPr>
                        <m:t>.</m:t>
                      </m:r>
                      <m:r>
                        <a:rPr lang="cs-CZ" sz="1400" b="1" i="1" smtClean="0">
                          <a:solidFill>
                            <a:srgbClr val="C00000"/>
                          </a:solidFill>
                          <a:latin typeface="Cambria Math"/>
                          <a:ea typeface="Cambria Math" panose="02040503050406030204" pitchFamily="18" charset="0"/>
                        </a:rPr>
                        <m:t>𝟏𝟐</m:t>
                      </m:r>
                      <m:r>
                        <a:rPr lang="cs-CZ" sz="1400" b="1" i="1" smtClean="0">
                          <a:solidFill>
                            <a:srgbClr val="C00000"/>
                          </a:solidFill>
                          <a:latin typeface="Cambria Math"/>
                          <a:ea typeface="Cambria Math" panose="02040503050406030204" pitchFamily="18" charset="0"/>
                        </a:rPr>
                        <m:t> </m:t>
                      </m:r>
                    </m:oMath>
                  </m:oMathPara>
                </a14:m>
                <a:endParaRPr lang="en-GB" sz="1400" b="1" dirty="0">
                  <a:latin typeface="Cambria Math" panose="02040503050406030204" pitchFamily="18" charset="0"/>
                  <a:ea typeface="Cambria Math" panose="02040503050406030204" pitchFamily="18" charset="0"/>
                </a:endParaRPr>
              </a:p>
            </p:txBody>
          </p:sp>
        </mc:Choice>
        <mc:Fallback xmlns="">
          <p:sp>
            <p:nvSpPr>
              <p:cNvPr id="46" name="TextovéPole 45">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691680" y="2925963"/>
                <a:ext cx="6048672" cy="514051"/>
              </a:xfrm>
              <a:prstGeom prst="rect">
                <a:avLst/>
              </a:prstGeom>
              <a:blipFill>
                <a:blip r:embed="rId19"/>
                <a:stretch>
                  <a:fillRect b="-1190"/>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2" name="TextovéPole 61">
                <a:extLst>
                  <a:ext uri="{FF2B5EF4-FFF2-40B4-BE49-F238E27FC236}">
                    <a16:creationId xmlns:a16="http://schemas.microsoft.com/office/drawing/2014/main" id="{05FC8A4A-3761-4383-881C-9096ADBF4AD7}"/>
                  </a:ext>
                </a:extLst>
              </p:cNvPr>
              <p:cNvSpPr txBox="1"/>
              <p:nvPr/>
            </p:nvSpPr>
            <p:spPr>
              <a:xfrm>
                <a:off x="6253585" y="3824842"/>
                <a:ext cx="2782911" cy="1476366"/>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400" b="0" i="1" smtClean="0">
                        <a:latin typeface="Cambria Math" panose="02040503050406030204" pitchFamily="18" charset="0"/>
                        <a:ea typeface="Cambria Math" panose="02040503050406030204" pitchFamily="18" charset="0"/>
                      </a:rPr>
                      <m:t>𝑝</m:t>
                    </m:r>
                  </m:oMath>
                </a14:m>
                <a:r>
                  <a:rPr lang="en-GB" sz="1400" dirty="0">
                    <a:latin typeface="Cambria Math" panose="02040503050406030204" pitchFamily="18" charset="0"/>
                    <a:ea typeface="Cambria Math" panose="02040503050406030204" pitchFamily="18" charset="0"/>
                  </a:rPr>
                  <a:t>… risk-neutral probability</a:t>
                </a:r>
              </a:p>
              <a:p>
                <a:pPr>
                  <a:buClr>
                    <a:srgbClr val="7030A0"/>
                  </a:buClr>
                  <a:buSzPct val="100000"/>
                </a:pPr>
                <a:r>
                  <a:rPr lang="en-GB" sz="1400" b="0" i="1" dirty="0">
                    <a:latin typeface="Cambria Math"/>
                    <a:ea typeface="Cambria Math" panose="02040503050406030204" pitchFamily="18" charset="0"/>
                  </a:rPr>
                  <a:t>k </a:t>
                </a:r>
                <a:r>
                  <a:rPr lang="en-GB" sz="1400" dirty="0">
                    <a:latin typeface="Cambria Math" panose="02040503050406030204" pitchFamily="18" charset="0"/>
                    <a:ea typeface="Cambria Math" panose="02040503050406030204" pitchFamily="18" charset="0"/>
                  </a:rPr>
                  <a:t>… number of jumps up </a:t>
                </a:r>
              </a:p>
              <a:p>
                <a:pPr>
                  <a:buClr>
                    <a:srgbClr val="7030A0"/>
                  </a:buClr>
                  <a:buSzPct val="100000"/>
                </a:pPr>
                <a14:m>
                  <m:oMath xmlns:m="http://schemas.openxmlformats.org/officeDocument/2006/math">
                    <m:r>
                      <a:rPr lang="en-GB" sz="1400" b="0" i="1" smtClean="0">
                        <a:latin typeface="Cambria Math"/>
                        <a:ea typeface="Cambria Math" panose="02040503050406030204" pitchFamily="18" charset="0"/>
                      </a:rPr>
                      <m:t>𝑇</m:t>
                    </m:r>
                  </m:oMath>
                </a14:m>
                <a:r>
                  <a:rPr lang="en-GB" sz="1400" dirty="0">
                    <a:latin typeface="Cambria Math" panose="02040503050406030204" pitchFamily="18" charset="0"/>
                    <a:ea typeface="Cambria Math" panose="02040503050406030204" pitchFamily="18" charset="0"/>
                  </a:rPr>
                  <a:t>… number of periods</a:t>
                </a:r>
              </a:p>
              <a:p>
                <a:pPr marL="269875" indent="-269875">
                  <a:buClr>
                    <a:srgbClr val="7030A0"/>
                  </a:buClr>
                  <a:buSzPct val="100000"/>
                </a:pPr>
                <a14:m>
                  <m:oMath xmlns:m="http://schemas.openxmlformats.org/officeDocument/2006/math">
                    <m:r>
                      <a:rPr lang="cs-CZ" sz="1400" b="0" i="1" smtClean="0">
                        <a:latin typeface="Cambria Math" panose="02040503050406030204" pitchFamily="18" charset="0"/>
                        <a:ea typeface="Cambria Math" panose="02040503050406030204" pitchFamily="18" charset="0"/>
                      </a:rPr>
                      <m:t>𝑎</m:t>
                    </m:r>
                  </m:oMath>
                </a14:m>
                <a:r>
                  <a:rPr lang="en-GB" sz="1400" dirty="0">
                    <a:latin typeface="Cambria Math" panose="02040503050406030204" pitchFamily="18" charset="0"/>
                    <a:ea typeface="Cambria Math" panose="02040503050406030204" pitchFamily="18" charset="0"/>
                  </a:rPr>
                  <a:t>… floor of </a:t>
                </a:r>
                <a:r>
                  <a:rPr lang="cs-CZ" sz="1400" dirty="0">
                    <a:latin typeface="Cambria Math" panose="02040503050406030204" pitchFamily="18" charset="0"/>
                    <a:ea typeface="Cambria Math" panose="02040503050406030204" pitchFamily="18" charset="0"/>
                  </a:rPr>
                  <a:t>positive </a:t>
                </a:r>
                <a:r>
                  <a:rPr lang="en-GB" sz="1400" dirty="0">
                    <a:latin typeface="Cambria Math" panose="02040503050406030204" pitchFamily="18" charset="0"/>
                    <a:ea typeface="Cambria Math" panose="02040503050406030204" pitchFamily="18" charset="0"/>
                  </a:rPr>
                  <a:t>in-the-money </a:t>
                </a:r>
                <a:r>
                  <a:rPr lang="cs-CZ" sz="1400" dirty="0">
                    <a:latin typeface="Cambria Math" panose="02040503050406030204" pitchFamily="18" charset="0"/>
                    <a:ea typeface="Cambria Math" panose="02040503050406030204" pitchFamily="18" charset="0"/>
                  </a:rPr>
                  <a:t>   </a:t>
                </a:r>
                <a:r>
                  <a:rPr lang="en-GB" sz="1400" dirty="0">
                    <a:latin typeface="Cambria Math" panose="02040503050406030204" pitchFamily="18" charset="0"/>
                    <a:ea typeface="Cambria Math" panose="02040503050406030204" pitchFamily="18" charset="0"/>
                  </a:rPr>
                  <a:t>states</a:t>
                </a:r>
              </a:p>
              <a:p>
                <a:pPr>
                  <a:buClr>
                    <a:srgbClr val="7030A0"/>
                  </a:buClr>
                  <a:buSzPct val="100000"/>
                </a:pPr>
                <a14:m>
                  <m:oMath xmlns:m="http://schemas.openxmlformats.org/officeDocument/2006/math">
                    <m:d>
                      <m:dPr>
                        <m:ctrlPr>
                          <a:rPr lang="en-GB" sz="1200" i="1">
                            <a:latin typeface="Cambria Math" panose="02040503050406030204" pitchFamily="18" charset="0"/>
                            <a:ea typeface="Cambria Math" panose="02040503050406030204" pitchFamily="18" charset="0"/>
                          </a:rPr>
                        </m:ctrlPr>
                      </m:dPr>
                      <m:e>
                        <m:m>
                          <m:mPr>
                            <m:mcs>
                              <m:mc>
                                <m:mcPr>
                                  <m:count m:val="1"/>
                                  <m:mcJc m:val="center"/>
                                </m:mcPr>
                              </m:mc>
                            </m:mcs>
                            <m:ctrlPr>
                              <a:rPr lang="en-GB" sz="1200" i="1">
                                <a:latin typeface="Cambria Math" panose="02040503050406030204" pitchFamily="18" charset="0"/>
                                <a:ea typeface="Cambria Math" panose="02040503050406030204" pitchFamily="18" charset="0"/>
                              </a:rPr>
                            </m:ctrlPr>
                          </m:mPr>
                          <m:mr>
                            <m:e>
                              <m:r>
                                <m:rPr>
                                  <m:brk m:alnAt="7"/>
                                </m:rPr>
                                <a:rPr lang="en-GB" sz="1200" i="1">
                                  <a:latin typeface="Cambria Math"/>
                                  <a:ea typeface="Cambria Math" panose="02040503050406030204" pitchFamily="18" charset="0"/>
                                </a:rPr>
                                <m:t>𝑇</m:t>
                              </m:r>
                            </m:e>
                          </m:mr>
                          <m:mr>
                            <m:e>
                              <m:r>
                                <a:rPr lang="en-GB" sz="1200" i="1">
                                  <a:latin typeface="Cambria Math"/>
                                  <a:ea typeface="Cambria Math" panose="02040503050406030204" pitchFamily="18" charset="0"/>
                                </a:rPr>
                                <m:t>𝑘</m:t>
                              </m:r>
                            </m:e>
                          </m:mr>
                        </m:m>
                      </m:e>
                    </m:d>
                    <m:r>
                      <a:rPr lang="en-GB" sz="1200" b="0" i="1" smtClean="0">
                        <a:latin typeface="Cambria Math"/>
                        <a:ea typeface="Cambria Math" panose="02040503050406030204" pitchFamily="18" charset="0"/>
                      </a:rPr>
                      <m:t>=</m:t>
                    </m:r>
                    <m:f>
                      <m:fPr>
                        <m:ctrlPr>
                          <a:rPr lang="en-GB" sz="1200" b="0" i="1" smtClean="0">
                            <a:latin typeface="Cambria Math" panose="02040503050406030204" pitchFamily="18" charset="0"/>
                            <a:ea typeface="Cambria Math" panose="02040503050406030204" pitchFamily="18" charset="0"/>
                          </a:rPr>
                        </m:ctrlPr>
                      </m:fPr>
                      <m:num>
                        <m:r>
                          <a:rPr lang="en-GB" sz="1200" b="0" i="1" smtClean="0">
                            <a:latin typeface="Cambria Math"/>
                            <a:ea typeface="Cambria Math" panose="02040503050406030204" pitchFamily="18" charset="0"/>
                          </a:rPr>
                          <m:t>𝑇</m:t>
                        </m:r>
                        <m:r>
                          <a:rPr lang="en-GB" sz="1200" b="0" i="1" smtClean="0">
                            <a:latin typeface="Cambria Math"/>
                            <a:ea typeface="Cambria Math" panose="02040503050406030204" pitchFamily="18" charset="0"/>
                          </a:rPr>
                          <m:t>!</m:t>
                        </m:r>
                      </m:num>
                      <m:den>
                        <m:r>
                          <a:rPr lang="en-GB" sz="1200" b="0" i="1" smtClean="0">
                            <a:latin typeface="Cambria Math"/>
                            <a:ea typeface="Cambria Math" panose="02040503050406030204" pitchFamily="18" charset="0"/>
                          </a:rPr>
                          <m:t>𝑘</m:t>
                        </m:r>
                        <m:r>
                          <a:rPr lang="en-GB" sz="1200" b="0" i="1" smtClean="0">
                            <a:latin typeface="Cambria Math"/>
                            <a:ea typeface="Cambria Math" panose="02040503050406030204" pitchFamily="18" charset="0"/>
                          </a:rPr>
                          <m:t>!</m:t>
                        </m:r>
                        <m:d>
                          <m:dPr>
                            <m:ctrlPr>
                              <a:rPr lang="en-GB" sz="1200" b="0" i="1" smtClean="0">
                                <a:latin typeface="Cambria Math" panose="02040503050406030204" pitchFamily="18" charset="0"/>
                                <a:ea typeface="Cambria Math" panose="02040503050406030204" pitchFamily="18" charset="0"/>
                              </a:rPr>
                            </m:ctrlPr>
                          </m:dPr>
                          <m:e>
                            <m:r>
                              <a:rPr lang="en-GB" sz="1200" b="0" i="1" smtClean="0">
                                <a:latin typeface="Cambria Math"/>
                                <a:ea typeface="Cambria Math" panose="02040503050406030204" pitchFamily="18" charset="0"/>
                              </a:rPr>
                              <m:t>𝑇</m:t>
                            </m:r>
                            <m:r>
                              <a:rPr lang="en-GB" sz="1200" b="0" i="1" smtClean="0">
                                <a:latin typeface="Cambria Math"/>
                                <a:ea typeface="Cambria Math" panose="02040503050406030204" pitchFamily="18" charset="0"/>
                              </a:rPr>
                              <m:t>−</m:t>
                            </m:r>
                            <m:r>
                              <a:rPr lang="en-GB" sz="1200" b="0" i="1" smtClean="0">
                                <a:latin typeface="Cambria Math"/>
                                <a:ea typeface="Cambria Math" panose="02040503050406030204" pitchFamily="18" charset="0"/>
                              </a:rPr>
                              <m:t>𝑘</m:t>
                            </m:r>
                          </m:e>
                        </m:d>
                        <m:r>
                          <a:rPr lang="en-GB" sz="1200" b="0" i="1" smtClean="0">
                            <a:latin typeface="Cambria Math"/>
                            <a:ea typeface="Cambria Math" panose="02040503050406030204" pitchFamily="18" charset="0"/>
                          </a:rPr>
                          <m:t>!</m:t>
                        </m:r>
                      </m:den>
                    </m:f>
                  </m:oMath>
                </a14:m>
                <a:r>
                  <a:rPr lang="en-GB" sz="1200" dirty="0">
                    <a:latin typeface="Cambria Math" panose="02040503050406030204" pitchFamily="18" charset="0"/>
                    <a:ea typeface="Cambria Math" panose="02040503050406030204" pitchFamily="18" charset="0"/>
                  </a:rPr>
                  <a:t> </a:t>
                </a:r>
                <a:r>
                  <a:rPr lang="en-GB" sz="1400" dirty="0">
                    <a:latin typeface="Cambria Math" panose="02040503050406030204" pitchFamily="18" charset="0"/>
                    <a:ea typeface="Cambria Math" panose="02040503050406030204" pitchFamily="18" charset="0"/>
                  </a:rPr>
                  <a:t>… binomial coefficient</a:t>
                </a:r>
              </a:p>
            </p:txBody>
          </p:sp>
        </mc:Choice>
        <mc:Fallback xmlns="">
          <p:sp>
            <p:nvSpPr>
              <p:cNvPr id="62" name="TextovéPole 61">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6253585" y="3824842"/>
                <a:ext cx="2782911" cy="1476366"/>
              </a:xfrm>
              <a:prstGeom prst="rect">
                <a:avLst/>
              </a:prstGeom>
              <a:blipFill>
                <a:blip r:embed="rId20"/>
                <a:stretch>
                  <a:fillRect l="-658" t="-823" r="-658"/>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ovéPole 11">
                <a:extLst>
                  <a:ext uri="{FF2B5EF4-FFF2-40B4-BE49-F238E27FC236}">
                    <a16:creationId xmlns:a16="http://schemas.microsoft.com/office/drawing/2014/main" id="{8176A21C-85EA-5985-13AB-5FA0DE65E9E8}"/>
                  </a:ext>
                </a:extLst>
              </p:cNvPr>
              <p:cNvSpPr txBox="1"/>
              <p:nvPr/>
            </p:nvSpPr>
            <p:spPr>
              <a:xfrm>
                <a:off x="1043608" y="4108208"/>
                <a:ext cx="4896544" cy="660052"/>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cs-CZ" sz="1600" b="0" i="1" smtClean="0">
                          <a:latin typeface="Cambria Math" panose="02040503050406030204" pitchFamily="18" charset="0"/>
                          <a:ea typeface="Cambria Math" panose="02040503050406030204" pitchFamily="18" charset="0"/>
                        </a:rPr>
                        <m:t>𝐶</m:t>
                      </m:r>
                      <m:r>
                        <a:rPr lang="cs-CZ" sz="1600" b="0" i="1" smtClean="0">
                          <a:latin typeface="Cambria Math" panose="02040503050406030204" pitchFamily="18" charset="0"/>
                          <a:ea typeface="Cambria Math" panose="02040503050406030204" pitchFamily="18" charset="0"/>
                        </a:rPr>
                        <m:t>=</m:t>
                      </m:r>
                      <m:f>
                        <m:fPr>
                          <m:ctrlPr>
                            <a:rPr lang="cs-CZ" sz="1600" b="0" i="1" smtClean="0">
                              <a:latin typeface="Cambria Math" panose="02040503050406030204" pitchFamily="18" charset="0"/>
                              <a:ea typeface="Cambria Math" panose="02040503050406030204" pitchFamily="18" charset="0"/>
                            </a:rPr>
                          </m:ctrlPr>
                        </m:fPr>
                        <m:num>
                          <m:r>
                            <a:rPr lang="cs-CZ" sz="1600" b="0" i="1" smtClean="0">
                              <a:latin typeface="Cambria Math"/>
                              <a:ea typeface="Cambria Math" panose="02040503050406030204" pitchFamily="18" charset="0"/>
                            </a:rPr>
                            <m:t>1</m:t>
                          </m:r>
                        </m:num>
                        <m:den>
                          <m:sSup>
                            <m:sSupPr>
                              <m:ctrlPr>
                                <a:rPr lang="cs-CZ" sz="1600" i="1">
                                  <a:latin typeface="Cambria Math" panose="02040503050406030204" pitchFamily="18" charset="0"/>
                                  <a:ea typeface="Cambria Math" panose="02040503050406030204" pitchFamily="18" charset="0"/>
                                </a:rPr>
                              </m:ctrlPr>
                            </m:sSupPr>
                            <m:e>
                              <m:r>
                                <a:rPr lang="cs-CZ" sz="1600" i="1">
                                  <a:latin typeface="Cambria Math" panose="02040503050406030204" pitchFamily="18" charset="0"/>
                                  <a:ea typeface="Cambria Math" panose="02040503050406030204" pitchFamily="18" charset="0"/>
                                </a:rPr>
                                <m:t>(1+</m:t>
                              </m:r>
                              <m:r>
                                <a:rPr lang="cs-CZ" sz="1600" i="1">
                                  <a:latin typeface="Cambria Math" panose="02040503050406030204" pitchFamily="18" charset="0"/>
                                  <a:ea typeface="Cambria Math" panose="02040503050406030204" pitchFamily="18" charset="0"/>
                                </a:rPr>
                                <m:t>𝑟</m:t>
                              </m:r>
                              <m:r>
                                <a:rPr lang="cs-CZ" sz="1600" i="1">
                                  <a:latin typeface="Cambria Math" panose="02040503050406030204" pitchFamily="18" charset="0"/>
                                  <a:ea typeface="Cambria Math" panose="02040503050406030204" pitchFamily="18" charset="0"/>
                                </a:rPr>
                                <m:t>)</m:t>
                              </m:r>
                            </m:e>
                            <m:sup>
                              <m:r>
                                <a:rPr lang="cs-CZ" sz="1600" i="1">
                                  <a:latin typeface="Cambria Math" panose="02040503050406030204" pitchFamily="18" charset="0"/>
                                  <a:ea typeface="Cambria Math" panose="02040503050406030204" pitchFamily="18" charset="0"/>
                                </a:rPr>
                                <m:t>𝑇</m:t>
                              </m:r>
                            </m:sup>
                          </m:sSup>
                        </m:den>
                      </m:f>
                      <m:d>
                        <m:dPr>
                          <m:begChr m:val="["/>
                          <m:endChr m:val="]"/>
                          <m:ctrlPr>
                            <a:rPr lang="cs-CZ" sz="1600" b="0" i="1" smtClean="0">
                              <a:latin typeface="Cambria Math" panose="02040503050406030204" pitchFamily="18" charset="0"/>
                              <a:ea typeface="Cambria Math" panose="02040503050406030204" pitchFamily="18" charset="0"/>
                            </a:rPr>
                          </m:ctrlPr>
                        </m:dPr>
                        <m:e>
                          <m:nary>
                            <m:naryPr>
                              <m:chr m:val="∑"/>
                              <m:supHide m:val="on"/>
                              <m:ctrlPr>
                                <a:rPr lang="cs-CZ" sz="1600" b="0" i="1" smtClean="0">
                                  <a:latin typeface="Cambria Math" panose="02040503050406030204" pitchFamily="18" charset="0"/>
                                  <a:ea typeface="Cambria Math" panose="02040503050406030204" pitchFamily="18" charset="0"/>
                                </a:rPr>
                              </m:ctrlPr>
                            </m:naryPr>
                            <m:sub>
                              <m:r>
                                <m:rPr>
                                  <m:brk m:alnAt="7"/>
                                </m:rPr>
                                <a:rPr lang="cs-CZ" sz="1600" b="0" i="1" smtClean="0">
                                  <a:latin typeface="Cambria Math" panose="02040503050406030204" pitchFamily="18" charset="0"/>
                                  <a:ea typeface="Cambria Math" panose="02040503050406030204" pitchFamily="18" charset="0"/>
                                </a:rPr>
                                <m:t>𝑘</m:t>
                              </m:r>
                              <m:r>
                                <a:rPr lang="en-GB" sz="1600" b="0" i="1" smtClean="0">
                                  <a:latin typeface="Cambria Math" panose="02040503050406030204" pitchFamily="18" charset="0"/>
                                  <a:ea typeface="Cambria Math" panose="02040503050406030204" pitchFamily="18" charset="0"/>
                                </a:rPr>
                                <m:t>&gt;</m:t>
                              </m:r>
                              <m:r>
                                <a:rPr lang="cs-CZ" sz="1600" b="0" i="1" smtClean="0">
                                  <a:latin typeface="Cambria Math" panose="02040503050406030204" pitchFamily="18" charset="0"/>
                                  <a:ea typeface="Cambria Math" panose="02040503050406030204" pitchFamily="18" charset="0"/>
                                </a:rPr>
                                <m:t>𝑎</m:t>
                              </m:r>
                            </m:sub>
                            <m:sup/>
                            <m:e>
                              <m:d>
                                <m:dPr>
                                  <m:ctrlPr>
                                    <a:rPr lang="cs-CZ" sz="1600" i="1">
                                      <a:latin typeface="Cambria Math" panose="02040503050406030204" pitchFamily="18" charset="0"/>
                                      <a:ea typeface="Cambria Math" panose="02040503050406030204" pitchFamily="18" charset="0"/>
                                    </a:rPr>
                                  </m:ctrlPr>
                                </m:dPr>
                                <m:e>
                                  <m:m>
                                    <m:mPr>
                                      <m:mcs>
                                        <m:mc>
                                          <m:mcPr>
                                            <m:count m:val="1"/>
                                            <m:mcJc m:val="center"/>
                                          </m:mcPr>
                                        </m:mc>
                                      </m:mcs>
                                      <m:ctrlPr>
                                        <a:rPr lang="cs-CZ" sz="1600" i="1">
                                          <a:latin typeface="Cambria Math" panose="02040503050406030204" pitchFamily="18" charset="0"/>
                                          <a:ea typeface="Cambria Math" panose="02040503050406030204" pitchFamily="18" charset="0"/>
                                        </a:rPr>
                                      </m:ctrlPr>
                                    </m:mPr>
                                    <m:mr>
                                      <m:e>
                                        <m:r>
                                          <m:rPr>
                                            <m:brk m:alnAt="7"/>
                                          </m:rPr>
                                          <a:rPr lang="cs-CZ" sz="1600" i="1">
                                            <a:latin typeface="Cambria Math"/>
                                            <a:ea typeface="Cambria Math" panose="02040503050406030204" pitchFamily="18" charset="0"/>
                                          </a:rPr>
                                          <m:t>𝑇</m:t>
                                        </m:r>
                                      </m:e>
                                    </m:mr>
                                    <m:mr>
                                      <m:e>
                                        <m:r>
                                          <a:rPr lang="cs-CZ" sz="1600" i="1">
                                            <a:latin typeface="Cambria Math"/>
                                            <a:ea typeface="Cambria Math" panose="02040503050406030204" pitchFamily="18" charset="0"/>
                                          </a:rPr>
                                          <m:t>𝑘</m:t>
                                        </m:r>
                                      </m:e>
                                    </m:mr>
                                  </m:m>
                                </m:e>
                              </m:d>
                              <m:sSup>
                                <m:sSupPr>
                                  <m:ctrlPr>
                                    <a:rPr lang="cs-CZ" sz="1600" i="1">
                                      <a:latin typeface="Cambria Math" panose="02040503050406030204" pitchFamily="18" charset="0"/>
                                      <a:ea typeface="Cambria Math" panose="02040503050406030204" pitchFamily="18" charset="0"/>
                                    </a:rPr>
                                  </m:ctrlPr>
                                </m:sSupPr>
                                <m:e>
                                  <m:r>
                                    <a:rPr lang="cs-CZ" sz="1600" i="1">
                                      <a:latin typeface="Cambria Math" panose="02040503050406030204" pitchFamily="18" charset="0"/>
                                      <a:ea typeface="Cambria Math" panose="02040503050406030204" pitchFamily="18" charset="0"/>
                                    </a:rPr>
                                    <m:t>𝑝</m:t>
                                  </m:r>
                                </m:e>
                                <m:sup>
                                  <m:r>
                                    <a:rPr lang="cs-CZ" sz="1600" i="1">
                                      <a:latin typeface="Cambria Math"/>
                                      <a:ea typeface="Cambria Math" panose="02040503050406030204" pitchFamily="18" charset="0"/>
                                    </a:rPr>
                                    <m:t>𝑘</m:t>
                                  </m:r>
                                </m:sup>
                              </m:sSup>
                              <m:sSup>
                                <m:sSupPr>
                                  <m:ctrlPr>
                                    <a:rPr lang="cs-CZ" sz="1600" i="1">
                                      <a:latin typeface="Cambria Math" panose="02040503050406030204" pitchFamily="18" charset="0"/>
                                      <a:ea typeface="Cambria Math" panose="02040503050406030204" pitchFamily="18" charset="0"/>
                                    </a:rPr>
                                  </m:ctrlPr>
                                </m:sSupPr>
                                <m:e>
                                  <m:r>
                                    <a:rPr lang="cs-CZ" sz="1600" i="1">
                                      <a:latin typeface="Cambria Math" panose="02040503050406030204" pitchFamily="18" charset="0"/>
                                      <a:ea typeface="Cambria Math" panose="02040503050406030204" pitchFamily="18" charset="0"/>
                                    </a:rPr>
                                    <m:t>(1−</m:t>
                                  </m:r>
                                  <m:r>
                                    <a:rPr lang="cs-CZ" sz="1600" i="1">
                                      <a:latin typeface="Cambria Math" panose="02040503050406030204" pitchFamily="18" charset="0"/>
                                      <a:ea typeface="Cambria Math" panose="02040503050406030204" pitchFamily="18" charset="0"/>
                                    </a:rPr>
                                    <m:t>𝑝</m:t>
                                  </m:r>
                                  <m:r>
                                    <a:rPr lang="cs-CZ" sz="1600" i="1">
                                      <a:latin typeface="Cambria Math" panose="02040503050406030204" pitchFamily="18" charset="0"/>
                                      <a:ea typeface="Cambria Math" panose="02040503050406030204" pitchFamily="18" charset="0"/>
                                    </a:rPr>
                                    <m:t>)</m:t>
                                  </m:r>
                                </m:e>
                                <m:sup>
                                  <m:r>
                                    <a:rPr lang="cs-CZ" sz="1600" i="1">
                                      <a:latin typeface="Cambria Math"/>
                                      <a:ea typeface="Cambria Math" panose="02040503050406030204" pitchFamily="18" charset="0"/>
                                    </a:rPr>
                                    <m:t>𝑇</m:t>
                                  </m:r>
                                  <m:r>
                                    <a:rPr lang="cs-CZ" sz="1600" i="1">
                                      <a:latin typeface="Cambria Math"/>
                                      <a:ea typeface="Cambria Math" panose="02040503050406030204" pitchFamily="18" charset="0"/>
                                    </a:rPr>
                                    <m:t>−</m:t>
                                  </m:r>
                                  <m:r>
                                    <a:rPr lang="cs-CZ" sz="1600" i="1">
                                      <a:latin typeface="Cambria Math"/>
                                      <a:ea typeface="Cambria Math" panose="02040503050406030204" pitchFamily="18" charset="0"/>
                                    </a:rPr>
                                    <m:t>𝑘</m:t>
                                  </m:r>
                                </m:sup>
                              </m:sSup>
                              <m:r>
                                <a:rPr lang="cs-CZ" sz="1600" i="1">
                                  <a:latin typeface="Cambria Math"/>
                                  <a:ea typeface="Cambria Math"/>
                                </a:rPr>
                                <m:t>×</m:t>
                              </m:r>
                              <m:d>
                                <m:dPr>
                                  <m:ctrlPr>
                                    <a:rPr lang="cs-CZ" sz="1600" i="1">
                                      <a:latin typeface="Cambria Math" panose="02040503050406030204" pitchFamily="18" charset="0"/>
                                      <a:ea typeface="Cambria Math"/>
                                    </a:rPr>
                                  </m:ctrlPr>
                                </m:dPr>
                                <m:e>
                                  <m:r>
                                    <a:rPr lang="cs-CZ" sz="1600" i="1">
                                      <a:latin typeface="Cambria Math"/>
                                      <a:ea typeface="Cambria Math"/>
                                    </a:rPr>
                                    <m:t>𝑆</m:t>
                                  </m:r>
                                  <m:sSup>
                                    <m:sSupPr>
                                      <m:ctrlPr>
                                        <a:rPr lang="cs-CZ" sz="1600" i="1">
                                          <a:latin typeface="Cambria Math" panose="02040503050406030204" pitchFamily="18" charset="0"/>
                                          <a:ea typeface="Cambria Math"/>
                                        </a:rPr>
                                      </m:ctrlPr>
                                    </m:sSupPr>
                                    <m:e>
                                      <m:r>
                                        <a:rPr lang="cs-CZ" sz="1600" i="1">
                                          <a:latin typeface="Cambria Math"/>
                                          <a:ea typeface="Cambria Math"/>
                                        </a:rPr>
                                        <m:t>𝑢</m:t>
                                      </m:r>
                                    </m:e>
                                    <m:sup>
                                      <m:r>
                                        <a:rPr lang="cs-CZ" sz="1600" i="1">
                                          <a:latin typeface="Cambria Math"/>
                                          <a:ea typeface="Cambria Math"/>
                                        </a:rPr>
                                        <m:t>𝑘</m:t>
                                      </m:r>
                                    </m:sup>
                                  </m:sSup>
                                  <m:sSup>
                                    <m:sSupPr>
                                      <m:ctrlPr>
                                        <a:rPr lang="cs-CZ" sz="1600" i="1">
                                          <a:latin typeface="Cambria Math" panose="02040503050406030204" pitchFamily="18" charset="0"/>
                                          <a:ea typeface="Cambria Math"/>
                                        </a:rPr>
                                      </m:ctrlPr>
                                    </m:sSupPr>
                                    <m:e>
                                      <m:r>
                                        <a:rPr lang="cs-CZ" sz="1600" i="1">
                                          <a:latin typeface="Cambria Math"/>
                                          <a:ea typeface="Cambria Math"/>
                                        </a:rPr>
                                        <m:t>𝑑</m:t>
                                      </m:r>
                                    </m:e>
                                    <m:sup>
                                      <m:r>
                                        <a:rPr lang="cs-CZ" sz="1600" i="1">
                                          <a:latin typeface="Cambria Math"/>
                                          <a:ea typeface="Cambria Math"/>
                                        </a:rPr>
                                        <m:t>𝑇</m:t>
                                      </m:r>
                                      <m:r>
                                        <a:rPr lang="cs-CZ" sz="1600" i="1">
                                          <a:latin typeface="Cambria Math"/>
                                          <a:ea typeface="Cambria Math"/>
                                        </a:rPr>
                                        <m:t>−</m:t>
                                      </m:r>
                                      <m:r>
                                        <a:rPr lang="cs-CZ" sz="1600" i="1">
                                          <a:latin typeface="Cambria Math"/>
                                          <a:ea typeface="Cambria Math"/>
                                        </a:rPr>
                                        <m:t>𝑘</m:t>
                                      </m:r>
                                    </m:sup>
                                  </m:sSup>
                                  <m:r>
                                    <a:rPr lang="cs-CZ" sz="1600" i="1">
                                      <a:latin typeface="Cambria Math"/>
                                      <a:ea typeface="Cambria Math"/>
                                    </a:rPr>
                                    <m:t>−</m:t>
                                  </m:r>
                                  <m:r>
                                    <a:rPr lang="cs-CZ" sz="1600" i="1">
                                      <a:latin typeface="Cambria Math"/>
                                      <a:ea typeface="Cambria Math"/>
                                    </a:rPr>
                                    <m:t>𝑋</m:t>
                                  </m:r>
                                </m:e>
                              </m:d>
                            </m:e>
                          </m:nary>
                        </m:e>
                      </m:d>
                    </m:oMath>
                  </m:oMathPara>
                </a14:m>
                <a:endParaRPr lang="cs-CZ" sz="1600" i="1" dirty="0">
                  <a:latin typeface="Cambria Math"/>
                  <a:ea typeface="Cambria Math" panose="02040503050406030204" pitchFamily="18" charset="0"/>
                </a:endParaRPr>
              </a:p>
            </p:txBody>
          </p:sp>
        </mc:Choice>
        <mc:Fallback xmlns="">
          <p:sp>
            <p:nvSpPr>
              <p:cNvPr id="12" name="TextovéPole 11">
                <a:extLst>
                  <a:ext uri="{FF2B5EF4-FFF2-40B4-BE49-F238E27FC236}">
                    <a16:creationId xmlns:a16="http://schemas.microsoft.com/office/drawing/2014/main" id="{8176A21C-85EA-5985-13AB-5FA0DE65E9E8}"/>
                  </a:ext>
                </a:extLst>
              </p:cNvPr>
              <p:cNvSpPr txBox="1">
                <a:spLocks noRot="1" noChangeAspect="1" noMove="1" noResize="1" noEditPoints="1" noAdjustHandles="1" noChangeArrowheads="1" noChangeShapeType="1" noTextEdit="1"/>
              </p:cNvSpPr>
              <p:nvPr/>
            </p:nvSpPr>
            <p:spPr>
              <a:xfrm>
                <a:off x="1043608" y="4108208"/>
                <a:ext cx="4896544" cy="660052"/>
              </a:xfrm>
              <a:prstGeom prst="rect">
                <a:avLst/>
              </a:prstGeom>
              <a:blipFill>
                <a:blip r:embed="rId21"/>
                <a:stretch>
                  <a:fillRect/>
                </a:stretch>
              </a:blipFill>
            </p:spPr>
            <p:txBody>
              <a:bodyPr/>
              <a:lstStyle/>
              <a:p>
                <a:r>
                  <a:rPr lang="en-GB">
                    <a:noFill/>
                  </a:rPr>
                  <a:t> </a:t>
                </a:r>
              </a:p>
            </p:txBody>
          </p:sp>
        </mc:Fallback>
      </mc:AlternateContent>
      <p:sp>
        <p:nvSpPr>
          <p:cNvPr id="63" name="Levá složená závorka 62"/>
          <p:cNvSpPr/>
          <p:nvPr/>
        </p:nvSpPr>
        <p:spPr>
          <a:xfrm rot="16200000">
            <a:off x="4740418" y="4211073"/>
            <a:ext cx="258360" cy="844971"/>
          </a:xfrm>
          <a:prstGeom prst="leftBrace">
            <a:avLst>
              <a:gd name="adj1" fmla="val 30572"/>
              <a:gd name="adj2" fmla="val 76072"/>
            </a:avLst>
          </a:prstGeom>
          <a:ln w="25400">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cs-CZ"/>
          </a:p>
        </p:txBody>
      </p:sp>
      <mc:AlternateContent xmlns:mc="http://schemas.openxmlformats.org/markup-compatibility/2006" xmlns:a14="http://schemas.microsoft.com/office/drawing/2010/main">
        <mc:Choice Requires="a14">
          <p:sp>
            <p:nvSpPr>
              <p:cNvPr id="64" name="TextovéPole 63">
                <a:extLst>
                  <a:ext uri="{FF2B5EF4-FFF2-40B4-BE49-F238E27FC236}">
                    <a16:creationId xmlns:a16="http://schemas.microsoft.com/office/drawing/2014/main" id="{05FC8A4A-3761-4383-881C-9096ADBF4AD7}"/>
                  </a:ext>
                </a:extLst>
              </p:cNvPr>
              <p:cNvSpPr txBox="1"/>
              <p:nvPr/>
            </p:nvSpPr>
            <p:spPr>
              <a:xfrm>
                <a:off x="4211960" y="4713270"/>
                <a:ext cx="1862700" cy="646331"/>
              </a:xfrm>
              <a:prstGeom prst="rect">
                <a:avLst/>
              </a:prstGeom>
              <a:noFill/>
              <a:ln>
                <a:noFill/>
              </a:ln>
            </p:spPr>
            <p:txBody>
              <a:bodyPr wrap="square" rtlCol="0">
                <a:spAutoFit/>
              </a:bodyPr>
              <a:lstStyle/>
              <a:p>
                <a:pPr>
                  <a:lnSpc>
                    <a:spcPts val="1440"/>
                  </a:lnSpc>
                  <a:buClr>
                    <a:srgbClr val="7030A0"/>
                  </a:buClr>
                  <a:buSzPct val="100000"/>
                </a:pPr>
                <a:r>
                  <a:rPr lang="en-GB" sz="1200" dirty="0">
                    <a:latin typeface="Cambria Math" panose="02040503050406030204" pitchFamily="18" charset="0"/>
                    <a:ea typeface="Cambria Math" panose="02040503050406030204" pitchFamily="18" charset="0"/>
                  </a:rPr>
                  <a:t>terminal stock price after </a:t>
                </a:r>
                <a14:m>
                  <m:oMath xmlns:m="http://schemas.openxmlformats.org/officeDocument/2006/math">
                    <m:r>
                      <a:rPr lang="en-GB" sz="1200" b="0" i="1" smtClean="0">
                        <a:latin typeface="Cambria Math"/>
                        <a:ea typeface="Cambria Math" panose="02040503050406030204" pitchFamily="18" charset="0"/>
                      </a:rPr>
                      <m:t>𝑘</m:t>
                    </m:r>
                    <m:r>
                      <a:rPr lang="en-GB" sz="1200" i="1">
                        <a:latin typeface="Cambria Math" panose="02040503050406030204" pitchFamily="18" charset="0"/>
                        <a:ea typeface="Cambria Math" panose="02040503050406030204" pitchFamily="18" charset="0"/>
                      </a:rPr>
                      <m:t> </m:t>
                    </m:r>
                  </m:oMath>
                </a14:m>
                <a:r>
                  <a:rPr lang="en-GB" sz="1200" dirty="0">
                    <a:latin typeface="Cambria Math" panose="02040503050406030204" pitchFamily="18" charset="0"/>
                    <a:ea typeface="Cambria Math" panose="02040503050406030204" pitchFamily="18" charset="0"/>
                  </a:rPr>
                  <a:t>jumps up and </a:t>
                </a:r>
                <a14:m>
                  <m:oMath xmlns:m="http://schemas.openxmlformats.org/officeDocument/2006/math">
                    <m:r>
                      <a:rPr lang="en-GB" sz="1200" b="0" i="1" smtClean="0">
                        <a:latin typeface="Cambria Math"/>
                        <a:ea typeface="Cambria Math" panose="02040503050406030204" pitchFamily="18" charset="0"/>
                      </a:rPr>
                      <m:t>(</m:t>
                    </m:r>
                    <m:r>
                      <a:rPr lang="en-GB" sz="1200" b="0" i="1" smtClean="0">
                        <a:latin typeface="Cambria Math"/>
                        <a:ea typeface="Cambria Math" panose="02040503050406030204" pitchFamily="18" charset="0"/>
                      </a:rPr>
                      <m:t>𝑇</m:t>
                    </m:r>
                    <m:r>
                      <a:rPr lang="en-GB" sz="1200" b="0" i="1" smtClean="0">
                        <a:latin typeface="Cambria Math"/>
                        <a:ea typeface="Cambria Math" panose="02040503050406030204" pitchFamily="18" charset="0"/>
                      </a:rPr>
                      <m:t>−</m:t>
                    </m:r>
                    <m:r>
                      <a:rPr lang="en-GB" sz="1200" b="0" i="1" smtClean="0">
                        <a:latin typeface="Cambria Math"/>
                        <a:ea typeface="Cambria Math" panose="02040503050406030204" pitchFamily="18" charset="0"/>
                      </a:rPr>
                      <m:t>𝑘</m:t>
                    </m:r>
                    <m:r>
                      <a:rPr lang="en-GB" sz="1200" b="0" i="1" smtClean="0">
                        <a:latin typeface="Cambria Math"/>
                        <a:ea typeface="Cambria Math" panose="02040503050406030204" pitchFamily="18" charset="0"/>
                      </a:rPr>
                      <m:t>)</m:t>
                    </m:r>
                  </m:oMath>
                </a14:m>
                <a:r>
                  <a:rPr lang="en-GB" sz="1200" dirty="0">
                    <a:latin typeface="Cambria Math" panose="02040503050406030204" pitchFamily="18" charset="0"/>
                    <a:ea typeface="Cambria Math" panose="02040503050406030204" pitchFamily="18" charset="0"/>
                  </a:rPr>
                  <a:t> jumps down</a:t>
                </a:r>
              </a:p>
            </p:txBody>
          </p:sp>
        </mc:Choice>
        <mc:Fallback xmlns="">
          <p:sp>
            <p:nvSpPr>
              <p:cNvPr id="64" name="TextovéPole 63">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211960" y="4713270"/>
                <a:ext cx="1862700" cy="646331"/>
              </a:xfrm>
              <a:prstGeom prst="rect">
                <a:avLst/>
              </a:prstGeom>
              <a:blipFill>
                <a:blip r:embed="rId22"/>
                <a:stretch>
                  <a:fillRect l="-328" t="-943" b="-471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ovéPole 64">
                <a:extLst>
                  <a:ext uri="{FF2B5EF4-FFF2-40B4-BE49-F238E27FC236}">
                    <a16:creationId xmlns:a16="http://schemas.microsoft.com/office/drawing/2014/main" id="{05FC8A4A-3761-4383-881C-9096ADBF4AD7}"/>
                  </a:ext>
                </a:extLst>
              </p:cNvPr>
              <p:cNvSpPr txBox="1"/>
              <p:nvPr/>
            </p:nvSpPr>
            <p:spPr>
              <a:xfrm>
                <a:off x="1998123" y="4726800"/>
                <a:ext cx="2376263" cy="646331"/>
              </a:xfrm>
              <a:prstGeom prst="rect">
                <a:avLst/>
              </a:prstGeom>
              <a:noFill/>
              <a:ln>
                <a:noFill/>
              </a:ln>
            </p:spPr>
            <p:txBody>
              <a:bodyPr wrap="square" rtlCol="0">
                <a:spAutoFit/>
              </a:bodyPr>
              <a:lstStyle/>
              <a:p>
                <a:pPr>
                  <a:lnSpc>
                    <a:spcPts val="1440"/>
                  </a:lnSpc>
                  <a:buClr>
                    <a:srgbClr val="7030A0"/>
                  </a:buClr>
                  <a:buSzPct val="100000"/>
                </a:pPr>
                <a:r>
                  <a:rPr lang="en-GB" sz="1200" dirty="0">
                    <a:latin typeface="Cambria Math" panose="02040503050406030204" pitchFamily="18" charset="0"/>
                    <a:ea typeface="Cambria Math" panose="02040503050406030204" pitchFamily="18" charset="0"/>
                  </a:rPr>
                  <a:t>probability of </a:t>
                </a:r>
                <a:r>
                  <a:rPr lang="cs-CZ" sz="1200" dirty="0">
                    <a:latin typeface="Cambria Math" panose="02040503050406030204" pitchFamily="18" charset="0"/>
                    <a:ea typeface="Cambria Math" panose="02040503050406030204" pitchFamily="18" charset="0"/>
                  </a:rPr>
                  <a:t>a </a:t>
                </a:r>
                <a:r>
                  <a:rPr lang="en-GB" sz="1200" dirty="0">
                    <a:latin typeface="Cambria Math" panose="02040503050406030204" pitchFamily="18" charset="0"/>
                    <a:ea typeface="Cambria Math" panose="02040503050406030204" pitchFamily="18" charset="0"/>
                  </a:rPr>
                  <a:t>stock path with </a:t>
                </a:r>
                <a14:m>
                  <m:oMath xmlns:m="http://schemas.openxmlformats.org/officeDocument/2006/math">
                    <m:r>
                      <a:rPr lang="en-GB" sz="1200" b="0" i="1" smtClean="0">
                        <a:latin typeface="Cambria Math"/>
                        <a:ea typeface="Cambria Math" panose="02040503050406030204" pitchFamily="18" charset="0"/>
                      </a:rPr>
                      <m:t>𝑘</m:t>
                    </m:r>
                    <m:r>
                      <a:rPr lang="en-GB" sz="1200" i="1">
                        <a:latin typeface="Cambria Math" panose="02040503050406030204" pitchFamily="18" charset="0"/>
                        <a:ea typeface="Cambria Math" panose="02040503050406030204" pitchFamily="18" charset="0"/>
                      </a:rPr>
                      <m:t> </m:t>
                    </m:r>
                  </m:oMath>
                </a14:m>
                <a:r>
                  <a:rPr lang="en-GB" sz="1200" dirty="0">
                    <a:latin typeface="Cambria Math" panose="02040503050406030204" pitchFamily="18" charset="0"/>
                    <a:ea typeface="Cambria Math" panose="02040503050406030204" pitchFamily="18" charset="0"/>
                  </a:rPr>
                  <a:t>jumps up and </a:t>
                </a:r>
                <a14:m>
                  <m:oMath xmlns:m="http://schemas.openxmlformats.org/officeDocument/2006/math">
                    <m:r>
                      <a:rPr lang="en-GB" sz="1200" b="0" i="1" smtClean="0">
                        <a:latin typeface="Cambria Math"/>
                        <a:ea typeface="Cambria Math" panose="02040503050406030204" pitchFamily="18" charset="0"/>
                      </a:rPr>
                      <m:t>(</m:t>
                    </m:r>
                    <m:r>
                      <a:rPr lang="en-GB" sz="1200" b="0" i="1" smtClean="0">
                        <a:latin typeface="Cambria Math"/>
                        <a:ea typeface="Cambria Math" panose="02040503050406030204" pitchFamily="18" charset="0"/>
                      </a:rPr>
                      <m:t>𝑇</m:t>
                    </m:r>
                    <m:r>
                      <a:rPr lang="en-GB" sz="1200" b="0" i="1" smtClean="0">
                        <a:latin typeface="Cambria Math"/>
                        <a:ea typeface="Cambria Math" panose="02040503050406030204" pitchFamily="18" charset="0"/>
                      </a:rPr>
                      <m:t>−</m:t>
                    </m:r>
                    <m:r>
                      <a:rPr lang="en-GB" sz="1200" b="0" i="1" smtClean="0">
                        <a:latin typeface="Cambria Math"/>
                        <a:ea typeface="Cambria Math" panose="02040503050406030204" pitchFamily="18" charset="0"/>
                      </a:rPr>
                      <m:t>𝑘</m:t>
                    </m:r>
                    <m:r>
                      <a:rPr lang="en-GB" sz="1200" b="0" i="1" smtClean="0">
                        <a:latin typeface="Cambria Math"/>
                        <a:ea typeface="Cambria Math" panose="02040503050406030204" pitchFamily="18" charset="0"/>
                      </a:rPr>
                      <m:t>)</m:t>
                    </m:r>
                  </m:oMath>
                </a14:m>
                <a:r>
                  <a:rPr lang="en-GB" sz="1200" dirty="0">
                    <a:latin typeface="Cambria Math" panose="02040503050406030204" pitchFamily="18" charset="0"/>
                    <a:ea typeface="Cambria Math" panose="02040503050406030204" pitchFamily="18" charset="0"/>
                  </a:rPr>
                  <a:t> jumps down</a:t>
                </a:r>
              </a:p>
            </p:txBody>
          </p:sp>
        </mc:Choice>
        <mc:Fallback xmlns="">
          <p:sp>
            <p:nvSpPr>
              <p:cNvPr id="65" name="TextovéPole 64">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998123" y="4726800"/>
                <a:ext cx="2376263" cy="646331"/>
              </a:xfrm>
              <a:prstGeom prst="rect">
                <a:avLst/>
              </a:prstGeom>
              <a:blipFill>
                <a:blip r:embed="rId23"/>
                <a:stretch>
                  <a:fillRect l="-256" t="-943" b="-4717"/>
                </a:stretch>
              </a:blipFill>
              <a:ln>
                <a:noFill/>
              </a:ln>
            </p:spPr>
            <p:txBody>
              <a:bodyPr/>
              <a:lstStyle/>
              <a:p>
                <a:r>
                  <a:rPr lang="en-GB">
                    <a:noFill/>
                  </a:rPr>
                  <a:t> </a:t>
                </a:r>
              </a:p>
            </p:txBody>
          </p:sp>
        </mc:Fallback>
      </mc:AlternateContent>
      <p:sp>
        <p:nvSpPr>
          <p:cNvPr id="67" name="Levá složená závorka 66"/>
          <p:cNvSpPr/>
          <p:nvPr/>
        </p:nvSpPr>
        <p:spPr>
          <a:xfrm rot="16200000">
            <a:off x="3502554" y="4009638"/>
            <a:ext cx="258359" cy="1247839"/>
          </a:xfrm>
          <a:prstGeom prst="leftBrace">
            <a:avLst>
              <a:gd name="adj1" fmla="val 30572"/>
              <a:gd name="adj2" fmla="val 20082"/>
            </a:avLst>
          </a:prstGeom>
          <a:ln w="25400">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cs-CZ"/>
          </a:p>
        </p:txBody>
      </p:sp>
      <p:sp>
        <p:nvSpPr>
          <p:cNvPr id="6" name="Levá složená závorka 5"/>
          <p:cNvSpPr/>
          <p:nvPr/>
        </p:nvSpPr>
        <p:spPr>
          <a:xfrm rot="5400000">
            <a:off x="4962000" y="3530968"/>
            <a:ext cx="216000" cy="1308256"/>
          </a:xfrm>
          <a:prstGeom prst="leftBrace">
            <a:avLst/>
          </a:prstGeom>
          <a:ln w="25400">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cs-CZ"/>
          </a:p>
        </p:txBody>
      </p:sp>
      <p:sp>
        <p:nvSpPr>
          <p:cNvPr id="69" name="TextovéPole 68">
            <a:extLst>
              <a:ext uri="{FF2B5EF4-FFF2-40B4-BE49-F238E27FC236}">
                <a16:creationId xmlns:a16="http://schemas.microsoft.com/office/drawing/2014/main" id="{05FC8A4A-3761-4383-881C-9096ADBF4AD7}"/>
              </a:ext>
            </a:extLst>
          </p:cNvPr>
          <p:cNvSpPr txBox="1"/>
          <p:nvPr/>
        </p:nvSpPr>
        <p:spPr>
          <a:xfrm>
            <a:off x="4420672" y="3841303"/>
            <a:ext cx="1303456" cy="276999"/>
          </a:xfrm>
          <a:prstGeom prst="rect">
            <a:avLst/>
          </a:prstGeom>
          <a:noFill/>
          <a:ln>
            <a:noFill/>
          </a:ln>
        </p:spPr>
        <p:txBody>
          <a:bodyPr wrap="square" rtlCol="0">
            <a:spAutoFit/>
          </a:bodyPr>
          <a:lstStyle/>
          <a:p>
            <a:pPr algn="ctr">
              <a:buClr>
                <a:srgbClr val="7030A0"/>
              </a:buClr>
              <a:buSzPct val="100000"/>
            </a:pPr>
            <a:r>
              <a:rPr lang="en-GB" sz="1200" dirty="0">
                <a:latin typeface="Cambria Math" panose="02040503050406030204" pitchFamily="18" charset="0"/>
                <a:ea typeface="Cambria Math" panose="02040503050406030204" pitchFamily="18" charset="0"/>
              </a:rPr>
              <a:t>terminal payoff</a:t>
            </a:r>
          </a:p>
        </p:txBody>
      </p:sp>
      <p:sp>
        <p:nvSpPr>
          <p:cNvPr id="10" name="Levá složená závorka 9">
            <a:extLst>
              <a:ext uri="{FF2B5EF4-FFF2-40B4-BE49-F238E27FC236}">
                <a16:creationId xmlns:a16="http://schemas.microsoft.com/office/drawing/2014/main" id="{6912B7CC-7636-66D9-1466-D562E698B7FC}"/>
              </a:ext>
            </a:extLst>
          </p:cNvPr>
          <p:cNvSpPr/>
          <p:nvPr/>
        </p:nvSpPr>
        <p:spPr>
          <a:xfrm rot="5400000">
            <a:off x="3419884" y="3362920"/>
            <a:ext cx="216000" cy="1512168"/>
          </a:xfrm>
          <a:prstGeom prst="leftBrace">
            <a:avLst/>
          </a:prstGeom>
          <a:ln w="25400">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cs-CZ"/>
          </a:p>
        </p:txBody>
      </p:sp>
      <p:sp>
        <p:nvSpPr>
          <p:cNvPr id="11" name="TextovéPole 10">
            <a:extLst>
              <a:ext uri="{FF2B5EF4-FFF2-40B4-BE49-F238E27FC236}">
                <a16:creationId xmlns:a16="http://schemas.microsoft.com/office/drawing/2014/main" id="{F4FBD003-3A8A-F07A-DD61-969B10BC682F}"/>
              </a:ext>
            </a:extLst>
          </p:cNvPr>
          <p:cNvSpPr txBox="1"/>
          <p:nvPr/>
        </p:nvSpPr>
        <p:spPr>
          <a:xfrm>
            <a:off x="2771800" y="3781662"/>
            <a:ext cx="1512168" cy="276999"/>
          </a:xfrm>
          <a:prstGeom prst="rect">
            <a:avLst/>
          </a:prstGeom>
          <a:noFill/>
          <a:ln>
            <a:noFill/>
          </a:ln>
        </p:spPr>
        <p:txBody>
          <a:bodyPr wrap="square" rtlCol="0">
            <a:spAutoFit/>
          </a:bodyPr>
          <a:lstStyle/>
          <a:p>
            <a:pPr algn="ctr">
              <a:buClr>
                <a:srgbClr val="7030A0"/>
              </a:buClr>
              <a:buSzPct val="100000"/>
            </a:pPr>
            <a:r>
              <a:rPr lang="en-GB" sz="1200" dirty="0">
                <a:latin typeface="Cambria Math" panose="02040503050406030204" pitchFamily="18" charset="0"/>
                <a:ea typeface="Cambria Math" panose="02040503050406030204" pitchFamily="18" charset="0"/>
              </a:rPr>
              <a:t>total probability</a:t>
            </a:r>
          </a:p>
        </p:txBody>
      </p:sp>
      <p:sp>
        <p:nvSpPr>
          <p:cNvPr id="7" name="TextovéPole 6">
            <a:extLst>
              <a:ext uri="{FF2B5EF4-FFF2-40B4-BE49-F238E27FC236}">
                <a16:creationId xmlns:a16="http://schemas.microsoft.com/office/drawing/2014/main" id="{C23579D5-61C6-F993-21BB-52AED78E1BDB}"/>
              </a:ext>
            </a:extLst>
          </p:cNvPr>
          <p:cNvSpPr txBox="1"/>
          <p:nvPr/>
        </p:nvSpPr>
        <p:spPr>
          <a:xfrm>
            <a:off x="1187624" y="5301208"/>
            <a:ext cx="7776376"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The formula for a European put can be written in an analogous way, in line with its payoff profile</a:t>
            </a:r>
          </a:p>
        </p:txBody>
      </p:sp>
      <mc:AlternateContent xmlns:mc="http://schemas.openxmlformats.org/markup-compatibility/2006" xmlns:a14="http://schemas.microsoft.com/office/drawing/2010/main">
        <mc:Choice Requires="a14">
          <p:sp>
            <p:nvSpPr>
              <p:cNvPr id="36" name="TextovéPole 35">
                <a:extLst>
                  <a:ext uri="{FF2B5EF4-FFF2-40B4-BE49-F238E27FC236}">
                    <a16:creationId xmlns:a16="http://schemas.microsoft.com/office/drawing/2014/main" id="{B7A6280D-681D-F508-5298-6090E93F1E06}"/>
                  </a:ext>
                </a:extLst>
              </p:cNvPr>
              <p:cNvSpPr txBox="1"/>
              <p:nvPr/>
            </p:nvSpPr>
            <p:spPr>
              <a:xfrm>
                <a:off x="1692000" y="1841854"/>
                <a:ext cx="2534185" cy="307777"/>
              </a:xfrm>
              <a:prstGeom prst="rect">
                <a:avLst/>
              </a:prstGeom>
              <a:noFill/>
              <a:ln>
                <a:noFill/>
              </a:ln>
            </p:spPr>
            <p:txBody>
              <a:bodyPr wrap="square" rtlCol="0">
                <a:spAutoFit/>
              </a:bodyPr>
              <a:lstStyle/>
              <a:p>
                <a:pPr marL="176213" indent="-176213">
                  <a:buClr>
                    <a:srgbClr val="7030A0"/>
                  </a:buClr>
                  <a:buSzPct val="100000"/>
                </a:pPr>
                <a14:m>
                  <m:oMathPara xmlns:m="http://schemas.openxmlformats.org/officeDocument/2006/math">
                    <m:oMathParaPr>
                      <m:jc m:val="left"/>
                    </m:oMathParaPr>
                    <m:oMath xmlns:m="http://schemas.openxmlformats.org/officeDocument/2006/math">
                      <m:r>
                        <a:rPr lang="cs-CZ" sz="1400" b="0" i="1" smtClean="0">
                          <a:latin typeface="Cambria Math" panose="02040503050406030204" pitchFamily="18" charset="0"/>
                          <a:ea typeface="Cambria Math" panose="02040503050406030204" pitchFamily="18" charset="0"/>
                        </a:rPr>
                        <m:t>𝐸</m:t>
                      </m:r>
                      <m:r>
                        <a:rPr lang="cs-CZ" sz="1400" b="0" i="1" smtClean="0">
                          <a:latin typeface="Cambria Math" panose="02040503050406030204" pitchFamily="18" charset="0"/>
                          <a:ea typeface="Cambria Math" panose="02040503050406030204" pitchFamily="18" charset="0"/>
                        </a:rPr>
                        <m:t>(</m:t>
                      </m:r>
                      <m:r>
                        <a:rPr lang="cs-CZ" sz="1400" b="0" i="1" smtClean="0">
                          <a:latin typeface="Cambria Math"/>
                          <a:ea typeface="Cambria Math" panose="02040503050406030204" pitchFamily="18" charset="0"/>
                        </a:rPr>
                        <m:t>𝑆</m:t>
                      </m:r>
                      <m:r>
                        <a:rPr lang="cs-CZ" sz="1400" b="0" i="1" smtClean="0">
                          <a:latin typeface="Cambria Math" panose="02040503050406030204" pitchFamily="18" charset="0"/>
                          <a:ea typeface="Cambria Math" panose="02040503050406030204" pitchFamily="18" charset="0"/>
                        </a:rPr>
                        <m:t>)=</m:t>
                      </m:r>
                      <m:r>
                        <a:rPr lang="cs-CZ" sz="1400" i="1">
                          <a:latin typeface="Cambria Math" panose="02040503050406030204" pitchFamily="18" charset="0"/>
                          <a:ea typeface="Cambria Math" panose="02040503050406030204" pitchFamily="18" charset="0"/>
                        </a:rPr>
                        <m:t>𝑝</m:t>
                      </m:r>
                      <m:r>
                        <a:rPr lang="cs-CZ" sz="1400" i="1">
                          <a:latin typeface="Cambria Math" panose="02040503050406030204" pitchFamily="18" charset="0"/>
                          <a:ea typeface="Cambria Math" panose="02040503050406030204" pitchFamily="18" charset="0"/>
                        </a:rPr>
                        <m:t>×</m:t>
                      </m:r>
                      <m:r>
                        <a:rPr lang="cs-CZ" sz="1400" i="1">
                          <a:latin typeface="Cambria Math" panose="02040503050406030204" pitchFamily="18" charset="0"/>
                          <a:ea typeface="Cambria Math" panose="02040503050406030204" pitchFamily="18" charset="0"/>
                        </a:rPr>
                        <m:t>𝑢𝑆</m:t>
                      </m:r>
                      <m:r>
                        <a:rPr lang="cs-CZ" sz="1400" i="1">
                          <a:latin typeface="Cambria Math" panose="02040503050406030204" pitchFamily="18" charset="0"/>
                          <a:ea typeface="Cambria Math" panose="02040503050406030204" pitchFamily="18" charset="0"/>
                        </a:rPr>
                        <m:t>+(1−</m:t>
                      </m:r>
                      <m:r>
                        <a:rPr lang="cs-CZ" sz="1400" i="1">
                          <a:latin typeface="Cambria Math" panose="02040503050406030204" pitchFamily="18" charset="0"/>
                          <a:ea typeface="Cambria Math" panose="02040503050406030204" pitchFamily="18" charset="0"/>
                        </a:rPr>
                        <m:t>𝑝</m:t>
                      </m:r>
                      <m:r>
                        <a:rPr lang="cs-CZ" sz="1400" i="1">
                          <a:latin typeface="Cambria Math" panose="02040503050406030204" pitchFamily="18" charset="0"/>
                          <a:ea typeface="Cambria Math" panose="02040503050406030204" pitchFamily="18" charset="0"/>
                        </a:rPr>
                        <m:t>)×</m:t>
                      </m:r>
                      <m:r>
                        <a:rPr lang="cs-CZ" sz="1400" i="1">
                          <a:latin typeface="Cambria Math" panose="02040503050406030204" pitchFamily="18" charset="0"/>
                          <a:ea typeface="Cambria Math" panose="02040503050406030204" pitchFamily="18" charset="0"/>
                        </a:rPr>
                        <m:t>𝑑𝑆</m:t>
                      </m:r>
                    </m:oMath>
                  </m:oMathPara>
                </a14:m>
                <a:endParaRPr lang="en-GB" sz="1400" dirty="0">
                  <a:latin typeface="Cambria Math" panose="02040503050406030204" pitchFamily="18" charset="0"/>
                  <a:ea typeface="Cambria Math" panose="02040503050406030204" pitchFamily="18" charset="0"/>
                </a:endParaRPr>
              </a:p>
            </p:txBody>
          </p:sp>
        </mc:Choice>
        <mc:Fallback xmlns="">
          <p:sp>
            <p:nvSpPr>
              <p:cNvPr id="36" name="TextovéPole 35">
                <a:extLst>
                  <a:ext uri="{FF2B5EF4-FFF2-40B4-BE49-F238E27FC236}">
                    <a16:creationId xmlns:a16="http://schemas.microsoft.com/office/drawing/2014/main" id="{B7A6280D-681D-F508-5298-6090E93F1E06}"/>
                  </a:ext>
                </a:extLst>
              </p:cNvPr>
              <p:cNvSpPr txBox="1">
                <a:spLocks noRot="1" noChangeAspect="1" noMove="1" noResize="1" noEditPoints="1" noAdjustHandles="1" noChangeArrowheads="1" noChangeShapeType="1" noTextEdit="1"/>
              </p:cNvSpPr>
              <p:nvPr/>
            </p:nvSpPr>
            <p:spPr>
              <a:xfrm>
                <a:off x="1692000" y="1841854"/>
                <a:ext cx="2534185" cy="307777"/>
              </a:xfrm>
              <a:prstGeom prst="rect">
                <a:avLst/>
              </a:prstGeom>
              <a:blipFill>
                <a:blip r:embed="rId24"/>
                <a:stretch>
                  <a:fillRect b="-7843"/>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3647591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p:cNvSpPr>
            <a:spLocks noGrp="1"/>
          </p:cNvSpPr>
          <p:nvPr>
            <p:ph type="sldNum" sz="quarter" idx="12"/>
          </p:nvPr>
        </p:nvSpPr>
        <p:spPr>
          <a:xfrm>
            <a:off x="7164000" y="6336000"/>
            <a:ext cx="1800000" cy="360000"/>
          </a:xfrm>
        </p:spPr>
        <p:txBody>
          <a:bodyPr/>
          <a:lstStyle/>
          <a:p>
            <a:pPr algn="r"/>
            <a:fld id="{DFE5482F-2F05-49C5-9E15-73F945A41231}" type="slidenum">
              <a:rPr lang="cs-CZ" smtClean="0"/>
              <a:pPr algn="r"/>
              <a:t>5</a:t>
            </a:fld>
            <a:endParaRPr lang="cs-CZ" dirty="0"/>
          </a:p>
        </p:txBody>
      </p:sp>
      <p:sp>
        <p:nvSpPr>
          <p:cNvPr id="4" name="Nadpis 3"/>
          <p:cNvSpPr>
            <a:spLocks noGrp="1"/>
          </p:cNvSpPr>
          <p:nvPr>
            <p:ph type="title"/>
          </p:nvPr>
        </p:nvSpPr>
        <p:spPr>
          <a:xfrm>
            <a:off x="143999" y="144000"/>
            <a:ext cx="4860049" cy="648072"/>
          </a:xfrm>
        </p:spPr>
        <p:txBody>
          <a:bodyPr/>
          <a:lstStyle/>
          <a:p>
            <a:r>
              <a:rPr lang="en-GB" dirty="0">
                <a:solidFill>
                  <a:srgbClr val="000000"/>
                </a:solidFill>
              </a:rPr>
              <a:t>Binomial model </a:t>
            </a:r>
            <a:r>
              <a:rPr lang="en-GB" dirty="0">
                <a:latin typeface="Cambria Math" panose="02040503050406030204" pitchFamily="18" charset="0"/>
                <a:ea typeface="Cambria Math" panose="02040503050406030204" pitchFamily="18" charset="0"/>
              </a:rPr>
              <a:t>–</a:t>
            </a:r>
            <a:r>
              <a:rPr lang="cs-CZ" dirty="0">
                <a:latin typeface="Cambria Math" panose="02040503050406030204" pitchFamily="18" charset="0"/>
                <a:ea typeface="Cambria Math" panose="02040503050406030204" pitchFamily="18" charset="0"/>
              </a:rPr>
              <a:t> </a:t>
            </a:r>
            <a:r>
              <a:rPr lang="en-GB" dirty="0">
                <a:solidFill>
                  <a:srgbClr val="000000"/>
                </a:solidFill>
              </a:rPr>
              <a:t>example </a:t>
            </a:r>
          </a:p>
        </p:txBody>
      </p:sp>
      <p:sp>
        <p:nvSpPr>
          <p:cNvPr id="29" name="TextovéPole 28"/>
          <p:cNvSpPr txBox="1"/>
          <p:nvPr/>
        </p:nvSpPr>
        <p:spPr>
          <a:xfrm>
            <a:off x="864000" y="864000"/>
            <a:ext cx="1187720"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cs-CZ" sz="2200" dirty="0">
                <a:latin typeface="Cambria Math" panose="02040503050406030204" pitchFamily="18" charset="0"/>
                <a:ea typeface="Cambria Math" panose="02040503050406030204" pitchFamily="18" charset="0"/>
              </a:rPr>
              <a:t>Data</a:t>
            </a:r>
            <a:endParaRPr lang="en-GB" sz="22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59" name="TextovéPole 58"/>
              <p:cNvSpPr txBox="1"/>
              <p:nvPr/>
            </p:nvSpPr>
            <p:spPr>
              <a:xfrm>
                <a:off x="1188000" y="1190945"/>
                <a:ext cx="7452000"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14:m>
                  <m:oMath xmlns:m="http://schemas.openxmlformats.org/officeDocument/2006/math">
                    <m:sSub>
                      <m:sSubPr>
                        <m:ctrlPr>
                          <a:rPr lang="cs-CZ" sz="1600" i="1" smtClean="0">
                            <a:latin typeface="Cambria Math" panose="02040503050406030204" pitchFamily="18" charset="0"/>
                            <a:ea typeface="Cambria Math" panose="02040503050406030204" pitchFamily="18" charset="0"/>
                          </a:rPr>
                        </m:ctrlPr>
                      </m:sSubPr>
                      <m:e>
                        <m:r>
                          <a:rPr lang="cs-CZ" sz="1600">
                            <a:latin typeface="Cambria Math" panose="02040503050406030204" pitchFamily="18" charset="0"/>
                            <a:ea typeface="Cambria Math" panose="02040503050406030204" pitchFamily="18" charset="0"/>
                          </a:rPr>
                          <m:t>𝑆</m:t>
                        </m:r>
                      </m:e>
                      <m:sub>
                        <m:r>
                          <a:rPr lang="cs-CZ" sz="1600">
                            <a:latin typeface="Cambria Math" panose="02040503050406030204" pitchFamily="18" charset="0"/>
                            <a:ea typeface="Cambria Math" panose="02040503050406030204" pitchFamily="18" charset="0"/>
                          </a:rPr>
                          <m:t>0</m:t>
                        </m:r>
                      </m:sub>
                    </m:sSub>
                    <m:r>
                      <a:rPr lang="cs-CZ" sz="1600">
                        <a:latin typeface="Cambria Math" panose="02040503050406030204" pitchFamily="18" charset="0"/>
                        <a:ea typeface="Cambria Math" panose="02040503050406030204" pitchFamily="18" charset="0"/>
                      </a:rPr>
                      <m:t>=</m:t>
                    </m:r>
                    <m:r>
                      <a:rPr lang="cs-CZ" sz="1600" b="0" i="0" smtClean="0">
                        <a:latin typeface="Cambria Math" panose="02040503050406030204" pitchFamily="18" charset="0"/>
                        <a:ea typeface="Cambria Math" panose="02040503050406030204" pitchFamily="18" charset="0"/>
                      </a:rPr>
                      <m:t>€</m:t>
                    </m:r>
                    <m:r>
                      <a:rPr lang="cs-CZ" sz="1600">
                        <a:latin typeface="Cambria Math" panose="02040503050406030204" pitchFamily="18" charset="0"/>
                        <a:ea typeface="Cambria Math" panose="02040503050406030204" pitchFamily="18" charset="0"/>
                      </a:rPr>
                      <m:t>50, </m:t>
                    </m:r>
                    <m:r>
                      <a:rPr lang="cs-CZ" sz="1600">
                        <a:latin typeface="Cambria Math" panose="02040503050406030204" pitchFamily="18" charset="0"/>
                        <a:ea typeface="Cambria Math" panose="02040503050406030204" pitchFamily="18" charset="0"/>
                      </a:rPr>
                      <m:t>𝑋</m:t>
                    </m:r>
                    <m:r>
                      <a:rPr lang="cs-CZ" sz="1600">
                        <a:latin typeface="Cambria Math" panose="02040503050406030204" pitchFamily="18" charset="0"/>
                        <a:ea typeface="Cambria Math" panose="02040503050406030204" pitchFamily="18" charset="0"/>
                      </a:rPr>
                      <m:t>=€45, </m:t>
                    </m:r>
                    <m:r>
                      <a:rPr lang="cs-CZ" sz="1600">
                        <a:latin typeface="Cambria Math" panose="02040503050406030204" pitchFamily="18" charset="0"/>
                        <a:ea typeface="Cambria Math" panose="02040503050406030204" pitchFamily="18" charset="0"/>
                      </a:rPr>
                      <m:t>𝑢</m:t>
                    </m:r>
                    <m:r>
                      <a:rPr lang="cs-CZ" sz="1600">
                        <a:latin typeface="Cambria Math" panose="02040503050406030204" pitchFamily="18" charset="0"/>
                        <a:ea typeface="Cambria Math" panose="02040503050406030204" pitchFamily="18" charset="0"/>
                      </a:rPr>
                      <m:t>=1.3, </m:t>
                    </m:r>
                    <m:r>
                      <a:rPr lang="cs-CZ" sz="1600">
                        <a:latin typeface="Cambria Math" panose="02040503050406030204" pitchFamily="18" charset="0"/>
                        <a:ea typeface="Cambria Math" panose="02040503050406030204" pitchFamily="18" charset="0"/>
                      </a:rPr>
                      <m:t>𝑑</m:t>
                    </m:r>
                    <m:r>
                      <a:rPr lang="cs-CZ" sz="1600">
                        <a:latin typeface="Cambria Math" panose="02040503050406030204" pitchFamily="18" charset="0"/>
                        <a:ea typeface="Cambria Math" panose="02040503050406030204" pitchFamily="18" charset="0"/>
                      </a:rPr>
                      <m:t>=0.7, </m:t>
                    </m:r>
                    <m:r>
                      <a:rPr lang="cs-CZ" sz="1600">
                        <a:latin typeface="Cambria Math" panose="02040503050406030204" pitchFamily="18" charset="0"/>
                        <a:ea typeface="Cambria Math" panose="02040503050406030204" pitchFamily="18" charset="0"/>
                      </a:rPr>
                      <m:t>𝑟</m:t>
                    </m:r>
                    <m:r>
                      <a:rPr lang="cs-CZ" sz="1600">
                        <a:latin typeface="Cambria Math" panose="02040503050406030204" pitchFamily="18" charset="0"/>
                        <a:ea typeface="Cambria Math" panose="02040503050406030204" pitchFamily="18" charset="0"/>
                      </a:rPr>
                      <m:t>=10% </m:t>
                    </m:r>
                    <m:r>
                      <m:rPr>
                        <m:nor/>
                      </m:rPr>
                      <a:rPr lang="cs-CZ" sz="1600" b="0" i="0" smtClean="0">
                        <a:latin typeface="Cambria Math" panose="02040503050406030204" pitchFamily="18" charset="0"/>
                        <a:ea typeface="Cambria Math" panose="02040503050406030204" pitchFamily="18" charset="0"/>
                      </a:rPr>
                      <m:t>p</m:t>
                    </m:r>
                    <m:r>
                      <m:rPr>
                        <m:nor/>
                      </m:rPr>
                      <a:rPr lang="cs-CZ" sz="1600" b="0" i="0" smtClean="0">
                        <a:latin typeface="Cambria Math" panose="02040503050406030204" pitchFamily="18" charset="0"/>
                        <a:ea typeface="Cambria Math" panose="02040503050406030204" pitchFamily="18" charset="0"/>
                      </a:rPr>
                      <m:t>.</m:t>
                    </m:r>
                    <m:r>
                      <m:rPr>
                        <m:nor/>
                      </m:rPr>
                      <a:rPr lang="cs-CZ" sz="1600" b="0" i="0" smtClean="0">
                        <a:latin typeface="Cambria Math" panose="02040503050406030204" pitchFamily="18" charset="0"/>
                        <a:ea typeface="Cambria Math" panose="02040503050406030204" pitchFamily="18" charset="0"/>
                      </a:rPr>
                      <m:t>a</m:t>
                    </m:r>
                    <m:r>
                      <m:rPr>
                        <m:nor/>
                      </m:rPr>
                      <a:rPr lang="cs-CZ" sz="1600" b="0" i="0" smtClean="0">
                        <a:latin typeface="Cambria Math" panose="02040503050406030204" pitchFamily="18" charset="0"/>
                        <a:ea typeface="Cambria Math" panose="02040503050406030204" pitchFamily="18" charset="0"/>
                      </a:rPr>
                      <m:t>. (</m:t>
                    </m:r>
                    <m:r>
                      <m:rPr>
                        <m:nor/>
                      </m:rPr>
                      <a:rPr lang="cs-CZ" sz="1600">
                        <a:latin typeface="Cambria Math" panose="02040503050406030204" pitchFamily="18" charset="0"/>
                        <a:ea typeface="Cambria Math" panose="02040503050406030204" pitchFamily="18" charset="0"/>
                      </a:rPr>
                      <m:t>same</m:t>
                    </m:r>
                    <m:r>
                      <m:rPr>
                        <m:nor/>
                      </m:rPr>
                      <a:rPr lang="cs-CZ" sz="1600">
                        <a:latin typeface="Cambria Math" panose="02040503050406030204" pitchFamily="18" charset="0"/>
                        <a:ea typeface="Cambria Math" panose="02040503050406030204" pitchFamily="18" charset="0"/>
                      </a:rPr>
                      <m:t> </m:t>
                    </m:r>
                    <m:r>
                      <m:rPr>
                        <m:nor/>
                      </m:rPr>
                      <a:rPr lang="cs-CZ" sz="1600">
                        <a:latin typeface="Cambria Math" panose="02040503050406030204" pitchFamily="18" charset="0"/>
                        <a:ea typeface="Cambria Math" panose="02040503050406030204" pitchFamily="18" charset="0"/>
                      </a:rPr>
                      <m:t>as</m:t>
                    </m:r>
                    <m:r>
                      <m:rPr>
                        <m:nor/>
                      </m:rPr>
                      <a:rPr lang="cs-CZ" sz="1600">
                        <a:latin typeface="Cambria Math" panose="02040503050406030204" pitchFamily="18" charset="0"/>
                        <a:ea typeface="Cambria Math" panose="02040503050406030204" pitchFamily="18" charset="0"/>
                      </a:rPr>
                      <m:t> </m:t>
                    </m:r>
                    <m:r>
                      <m:rPr>
                        <m:nor/>
                      </m:rPr>
                      <a:rPr lang="cs-CZ" sz="1600">
                        <a:latin typeface="Cambria Math" panose="02040503050406030204" pitchFamily="18" charset="0"/>
                        <a:ea typeface="Cambria Math" panose="02040503050406030204" pitchFamily="18" charset="0"/>
                      </a:rPr>
                      <m:t>on</m:t>
                    </m:r>
                    <m:r>
                      <m:rPr>
                        <m:nor/>
                      </m:rPr>
                      <a:rPr lang="cs-CZ" sz="1600">
                        <a:latin typeface="Cambria Math" panose="02040503050406030204" pitchFamily="18" charset="0"/>
                        <a:ea typeface="Cambria Math" panose="02040503050406030204" pitchFamily="18" charset="0"/>
                      </a:rPr>
                      <m:t> </m:t>
                    </m:r>
                    <m:r>
                      <m:rPr>
                        <m:nor/>
                      </m:rPr>
                      <a:rPr lang="cs-CZ" sz="1600">
                        <a:latin typeface="Cambria Math" panose="02040503050406030204" pitchFamily="18" charset="0"/>
                        <a:ea typeface="Cambria Math" panose="02040503050406030204" pitchFamily="18" charset="0"/>
                      </a:rPr>
                      <m:t>slide</m:t>
                    </m:r>
                    <m:r>
                      <m:rPr>
                        <m:nor/>
                      </m:rPr>
                      <a:rPr lang="cs-CZ" sz="1600">
                        <a:latin typeface="Cambria Math" panose="02040503050406030204" pitchFamily="18" charset="0"/>
                        <a:ea typeface="Cambria Math" panose="02040503050406030204" pitchFamily="18" charset="0"/>
                      </a:rPr>
                      <m:t> 2)</m:t>
                    </m:r>
                  </m:oMath>
                </a14:m>
                <a:endParaRPr lang="en-GB" sz="1600" dirty="0">
                  <a:latin typeface="Cambria Math" panose="02040503050406030204" pitchFamily="18" charset="0"/>
                  <a:ea typeface="Cambria Math" panose="02040503050406030204" pitchFamily="18" charset="0"/>
                </a:endParaRPr>
              </a:p>
            </p:txBody>
          </p:sp>
        </mc:Choice>
        <mc:Fallback xmlns="">
          <p:sp>
            <p:nvSpPr>
              <p:cNvPr id="59" name="TextovéPole 58"/>
              <p:cNvSpPr txBox="1">
                <a:spLocks noRot="1" noChangeAspect="1" noMove="1" noResize="1" noEditPoints="1" noAdjustHandles="1" noChangeArrowheads="1" noChangeShapeType="1" noTextEdit="1"/>
              </p:cNvSpPr>
              <p:nvPr/>
            </p:nvSpPr>
            <p:spPr>
              <a:xfrm>
                <a:off x="1188000" y="1190945"/>
                <a:ext cx="7452000" cy="338554"/>
              </a:xfrm>
              <a:prstGeom prst="rect">
                <a:avLst/>
              </a:prstGeom>
              <a:blipFill>
                <a:blip r:embed="rId9"/>
                <a:stretch>
                  <a:fillRect l="-327" b="-1785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TextovéPole 60">
                <a:extLst>
                  <a:ext uri="{FF2B5EF4-FFF2-40B4-BE49-F238E27FC236}">
                    <a16:creationId xmlns:a16="http://schemas.microsoft.com/office/drawing/2014/main" id="{05FC8A4A-3761-4383-881C-9096ADBF4AD7}"/>
                  </a:ext>
                </a:extLst>
              </p:cNvPr>
              <p:cNvSpPr txBox="1"/>
              <p:nvPr/>
            </p:nvSpPr>
            <p:spPr>
              <a:xfrm>
                <a:off x="1410408" y="5373216"/>
                <a:ext cx="3377616" cy="603242"/>
              </a:xfrm>
              <a:prstGeom prst="rect">
                <a:avLst/>
              </a:prstGeom>
              <a:noFill/>
              <a:ln>
                <a:noFill/>
              </a:ln>
            </p:spPr>
            <p:txBody>
              <a:bodyPr wrap="square" rtlCol="0">
                <a:spAutoFit/>
              </a:bodyPr>
              <a:lstStyle/>
              <a:p>
                <a:pPr marL="176213" indent="-176213">
                  <a:buClr>
                    <a:srgbClr val="7030A0"/>
                  </a:buClr>
                  <a:buSzPct val="100000"/>
                </a:pPr>
                <a14:m>
                  <m:oMathPara xmlns:m="http://schemas.openxmlformats.org/officeDocument/2006/math">
                    <m:oMathParaPr>
                      <m:jc m:val="left"/>
                    </m:oMathParaPr>
                    <m:oMath xmlns:m="http://schemas.openxmlformats.org/officeDocument/2006/math">
                      <m:r>
                        <a:rPr lang="cs-CZ" sz="1600" b="0" i="1" smtClean="0">
                          <a:latin typeface="Cambria Math"/>
                          <a:ea typeface="Cambria Math" panose="02040503050406030204" pitchFamily="18" charset="0"/>
                        </a:rPr>
                        <m:t>𝐶</m:t>
                      </m:r>
                      <m:r>
                        <a:rPr lang="cs-CZ" sz="1600" b="0" i="1" smtClean="0">
                          <a:latin typeface="Cambria Math"/>
                          <a:ea typeface="Cambria Math" panose="02040503050406030204" pitchFamily="18" charset="0"/>
                        </a:rPr>
                        <m:t>=</m:t>
                      </m:r>
                      <m:f>
                        <m:fPr>
                          <m:ctrlPr>
                            <a:rPr lang="cs-CZ" sz="1600" b="0" i="1" smtClean="0">
                              <a:latin typeface="Cambria Math" panose="02040503050406030204" pitchFamily="18" charset="0"/>
                              <a:ea typeface="Cambria Math" panose="02040503050406030204" pitchFamily="18" charset="0"/>
                            </a:rPr>
                          </m:ctrlPr>
                        </m:fPr>
                        <m:num>
                          <m:nary>
                            <m:naryPr>
                              <m:chr m:val="∑"/>
                              <m:supHide m:val="on"/>
                              <m:ctrlPr>
                                <a:rPr lang="cs-CZ" sz="1600" b="0" i="1" smtClean="0">
                                  <a:latin typeface="Cambria Math" panose="02040503050406030204" pitchFamily="18" charset="0"/>
                                  <a:ea typeface="Cambria Math" panose="02040503050406030204" pitchFamily="18" charset="0"/>
                                </a:rPr>
                              </m:ctrlPr>
                            </m:naryPr>
                            <m:sub>
                              <m:r>
                                <m:rPr>
                                  <m:brk m:alnAt="7"/>
                                </m:rPr>
                                <a:rPr lang="cs-CZ" sz="1600" b="0" i="1" smtClean="0">
                                  <a:latin typeface="Cambria Math"/>
                                  <a:ea typeface="Cambria Math" panose="02040503050406030204" pitchFamily="18" charset="0"/>
                                </a:rPr>
                                <m:t>𝑘</m:t>
                              </m:r>
                            </m:sub>
                            <m:sup/>
                            <m:e>
                              <m:sSub>
                                <m:sSubPr>
                                  <m:ctrlPr>
                                    <a:rPr lang="cs-CZ" sz="1600" b="0" i="1" smtClean="0">
                                      <a:latin typeface="Cambria Math" panose="02040503050406030204" pitchFamily="18" charset="0"/>
                                      <a:ea typeface="Cambria Math" panose="02040503050406030204" pitchFamily="18" charset="0"/>
                                    </a:rPr>
                                  </m:ctrlPr>
                                </m:sSubPr>
                                <m:e>
                                  <m:r>
                                    <a:rPr lang="cs-CZ" sz="1600" b="0" i="1" smtClean="0">
                                      <a:latin typeface="Cambria Math"/>
                                      <a:ea typeface="Cambria Math" panose="02040503050406030204" pitchFamily="18" charset="0"/>
                                    </a:rPr>
                                    <m:t>𝐸</m:t>
                                  </m:r>
                                </m:e>
                                <m:sub>
                                  <m:r>
                                    <a:rPr lang="cs-CZ" sz="1600" b="0" i="1" smtClean="0">
                                      <a:latin typeface="Cambria Math"/>
                                      <a:ea typeface="Cambria Math" panose="02040503050406030204" pitchFamily="18" charset="0"/>
                                    </a:rPr>
                                    <m:t>𝑘</m:t>
                                  </m:r>
                                </m:sub>
                              </m:sSub>
                            </m:e>
                          </m:nary>
                        </m:num>
                        <m:den>
                          <m:sSup>
                            <m:sSupPr>
                              <m:ctrlPr>
                                <a:rPr lang="cs-CZ" sz="1600" b="0" i="1" smtClean="0">
                                  <a:latin typeface="Cambria Math" panose="02040503050406030204" pitchFamily="18" charset="0"/>
                                  <a:ea typeface="Cambria Math" panose="02040503050406030204" pitchFamily="18" charset="0"/>
                                </a:rPr>
                              </m:ctrlPr>
                            </m:sSupPr>
                            <m:e>
                              <m:d>
                                <m:dPr>
                                  <m:ctrlPr>
                                    <a:rPr lang="cs-CZ" sz="1600" b="0" i="1" smtClean="0">
                                      <a:latin typeface="Cambria Math" panose="02040503050406030204" pitchFamily="18" charset="0"/>
                                      <a:ea typeface="Cambria Math" panose="02040503050406030204" pitchFamily="18" charset="0"/>
                                    </a:rPr>
                                  </m:ctrlPr>
                                </m:dPr>
                                <m:e>
                                  <m:r>
                                    <a:rPr lang="cs-CZ" sz="1600" b="0" i="1" smtClean="0">
                                      <a:latin typeface="Cambria Math"/>
                                      <a:ea typeface="Cambria Math" panose="02040503050406030204" pitchFamily="18" charset="0"/>
                                    </a:rPr>
                                    <m:t>1+</m:t>
                                  </m:r>
                                  <m:r>
                                    <a:rPr lang="cs-CZ" sz="1600" b="0" i="1" smtClean="0">
                                      <a:latin typeface="Cambria Math"/>
                                      <a:ea typeface="Cambria Math" panose="02040503050406030204" pitchFamily="18" charset="0"/>
                                    </a:rPr>
                                    <m:t>𝑟</m:t>
                                  </m:r>
                                </m:e>
                              </m:d>
                            </m:e>
                            <m:sup>
                              <m:r>
                                <a:rPr lang="cs-CZ" sz="1600" b="0" i="1" smtClean="0">
                                  <a:latin typeface="Cambria Math"/>
                                  <a:ea typeface="Cambria Math" panose="02040503050406030204" pitchFamily="18" charset="0"/>
                                </a:rPr>
                                <m:t>𝑇</m:t>
                              </m:r>
                            </m:sup>
                          </m:sSup>
                        </m:den>
                      </m:f>
                      <m:r>
                        <a:rPr lang="cs-CZ" sz="1600" b="0" i="1" smtClean="0">
                          <a:latin typeface="Cambria Math"/>
                          <a:ea typeface="Cambria Math" panose="02040503050406030204" pitchFamily="18" charset="0"/>
                        </a:rPr>
                        <m:t>=</m:t>
                      </m:r>
                      <m:f>
                        <m:fPr>
                          <m:ctrlPr>
                            <a:rPr lang="cs-CZ" sz="1600" b="0" i="1" smtClean="0">
                              <a:latin typeface="Cambria Math" panose="02040503050406030204" pitchFamily="18" charset="0"/>
                              <a:ea typeface="Cambria Math" panose="02040503050406030204" pitchFamily="18" charset="0"/>
                            </a:rPr>
                          </m:ctrlPr>
                        </m:fPr>
                        <m:num>
                          <m:r>
                            <a:rPr lang="cs-CZ" sz="1600" b="0" i="1" smtClean="0">
                              <a:latin typeface="Cambria Math"/>
                              <a:ea typeface="Cambria Math" panose="02040503050406030204" pitchFamily="18" charset="0"/>
                            </a:rPr>
                            <m:t>88.90</m:t>
                          </m:r>
                        </m:num>
                        <m:den>
                          <m:sSup>
                            <m:sSupPr>
                              <m:ctrlPr>
                                <a:rPr lang="cs-CZ" sz="1600" b="0" i="1" smtClean="0">
                                  <a:latin typeface="Cambria Math" panose="02040503050406030204" pitchFamily="18" charset="0"/>
                                  <a:ea typeface="Cambria Math" panose="02040503050406030204" pitchFamily="18" charset="0"/>
                                </a:rPr>
                              </m:ctrlPr>
                            </m:sSupPr>
                            <m:e>
                              <m:r>
                                <a:rPr lang="cs-CZ" sz="1600" b="0" i="1" smtClean="0">
                                  <a:latin typeface="Cambria Math"/>
                                  <a:ea typeface="Cambria Math" panose="02040503050406030204" pitchFamily="18" charset="0"/>
                                </a:rPr>
                                <m:t>1.1</m:t>
                              </m:r>
                            </m:e>
                            <m:sup>
                              <m:r>
                                <a:rPr lang="cs-CZ" sz="1600" b="0" i="1" smtClean="0">
                                  <a:latin typeface="Cambria Math"/>
                                  <a:ea typeface="Cambria Math" panose="02040503050406030204" pitchFamily="18" charset="0"/>
                                </a:rPr>
                                <m:t>10</m:t>
                              </m:r>
                            </m:sup>
                          </m:sSup>
                        </m:den>
                      </m:f>
                      <m:r>
                        <a:rPr lang="cs-CZ" sz="1600" b="0" i="1" smtClean="0">
                          <a:latin typeface="Cambria Math"/>
                          <a:ea typeface="Cambria Math" panose="02040503050406030204" pitchFamily="18" charset="0"/>
                        </a:rPr>
                        <m:t>=</m:t>
                      </m:r>
                      <m:r>
                        <a:rPr lang="cs-CZ" sz="1600" b="1" i="1" smtClean="0">
                          <a:solidFill>
                            <a:srgbClr val="C00000"/>
                          </a:solidFill>
                          <a:latin typeface="Cambria Math" panose="02040503050406030204" pitchFamily="18" charset="0"/>
                          <a:ea typeface="Cambria Math" panose="02040503050406030204" pitchFamily="18" charset="0"/>
                        </a:rPr>
                        <m:t>€</m:t>
                      </m:r>
                      <m:r>
                        <a:rPr lang="cs-CZ" sz="1600" b="1" i="1" smtClean="0">
                          <a:solidFill>
                            <a:srgbClr val="C00000"/>
                          </a:solidFill>
                          <a:latin typeface="Cambria Math"/>
                          <a:ea typeface="Cambria Math" panose="02040503050406030204" pitchFamily="18" charset="0"/>
                        </a:rPr>
                        <m:t>𝟑𝟒</m:t>
                      </m:r>
                      <m:r>
                        <a:rPr lang="cs-CZ" sz="1600" b="1" i="1" smtClean="0">
                          <a:solidFill>
                            <a:srgbClr val="C00000"/>
                          </a:solidFill>
                          <a:latin typeface="Cambria Math"/>
                          <a:ea typeface="Cambria Math" panose="02040503050406030204" pitchFamily="18" charset="0"/>
                        </a:rPr>
                        <m:t>.</m:t>
                      </m:r>
                      <m:r>
                        <a:rPr lang="cs-CZ" sz="1600" b="1" i="1" smtClean="0">
                          <a:solidFill>
                            <a:srgbClr val="C00000"/>
                          </a:solidFill>
                          <a:latin typeface="Cambria Math"/>
                          <a:ea typeface="Cambria Math" panose="02040503050406030204" pitchFamily="18" charset="0"/>
                        </a:rPr>
                        <m:t>𝟐𝟕</m:t>
                      </m:r>
                    </m:oMath>
                  </m:oMathPara>
                </a14:m>
                <a:endParaRPr lang="en-GB" sz="1600" b="1" dirty="0">
                  <a:solidFill>
                    <a:srgbClr val="C00000"/>
                  </a:solidFill>
                  <a:latin typeface="Cambria Math" panose="02040503050406030204" pitchFamily="18" charset="0"/>
                  <a:ea typeface="Cambria Math" panose="02040503050406030204" pitchFamily="18" charset="0"/>
                </a:endParaRPr>
              </a:p>
            </p:txBody>
          </p:sp>
        </mc:Choice>
        <mc:Fallback xmlns="">
          <p:sp>
            <p:nvSpPr>
              <p:cNvPr id="61" name="TextovéPole 60">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410408" y="5373216"/>
                <a:ext cx="3377616" cy="603242"/>
              </a:xfrm>
              <a:prstGeom prst="rect">
                <a:avLst/>
              </a:prstGeom>
              <a:blipFill>
                <a:blip r:embed="rId10"/>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ovéPole 67">
                <a:extLst>
                  <a:ext uri="{FF2B5EF4-FFF2-40B4-BE49-F238E27FC236}">
                    <a16:creationId xmlns:a16="http://schemas.microsoft.com/office/drawing/2014/main" id="{05FC8A4A-3761-4383-881C-9096ADBF4AD7}"/>
                  </a:ext>
                </a:extLst>
              </p:cNvPr>
              <p:cNvSpPr txBox="1"/>
              <p:nvPr/>
            </p:nvSpPr>
            <p:spPr>
              <a:xfrm>
                <a:off x="4716016" y="2754486"/>
                <a:ext cx="4320480" cy="2618730"/>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400" b="0" i="1" smtClean="0">
                        <a:latin typeface="Cambria Math"/>
                        <a:ea typeface="Cambria Math" panose="02040503050406030204" pitchFamily="18" charset="0"/>
                      </a:rPr>
                      <m:t>𝑘</m:t>
                    </m:r>
                  </m:oMath>
                </a14:m>
                <a:r>
                  <a:rPr lang="en-GB" sz="1400" dirty="0">
                    <a:latin typeface="Cambria Math" panose="02040503050406030204" pitchFamily="18" charset="0"/>
                    <a:ea typeface="Cambria Math" panose="02040503050406030204" pitchFamily="18" charset="0"/>
                  </a:rPr>
                  <a:t> (number of jumps up)</a:t>
                </a:r>
              </a:p>
              <a:p>
                <a:pPr marL="449263" indent="-449263">
                  <a:buClr>
                    <a:srgbClr val="7030A0"/>
                  </a:buClr>
                  <a:buSzPct val="100000"/>
                </a:pPr>
                <a14:m>
                  <m:oMath xmlns:m="http://schemas.openxmlformats.org/officeDocument/2006/math">
                    <m:sSub>
                      <m:sSubPr>
                        <m:ctrlPr>
                          <a:rPr lang="en-GB" sz="1400" i="1" smtClean="0">
                            <a:latin typeface="Cambria Math" panose="02040503050406030204" pitchFamily="18" charset="0"/>
                            <a:ea typeface="Cambria Math" panose="02040503050406030204" pitchFamily="18" charset="0"/>
                          </a:rPr>
                        </m:ctrlPr>
                      </m:sSubPr>
                      <m:e>
                        <m:r>
                          <a:rPr lang="en-GB" sz="1400" b="0" i="1" smtClean="0">
                            <a:latin typeface="Cambria Math"/>
                            <a:ea typeface="Cambria Math" panose="02040503050406030204" pitchFamily="18" charset="0"/>
                          </a:rPr>
                          <m:t>𝑆</m:t>
                        </m:r>
                      </m:e>
                      <m:sub>
                        <m:r>
                          <a:rPr lang="en-GB" sz="1400" b="0" i="1" smtClean="0">
                            <a:latin typeface="Cambria Math"/>
                            <a:ea typeface="Cambria Math" panose="02040503050406030204" pitchFamily="18" charset="0"/>
                          </a:rPr>
                          <m:t>𝑘</m:t>
                        </m:r>
                      </m:sub>
                    </m:sSub>
                    <m:r>
                      <a:rPr lang="en-GB" sz="1400" b="0" i="1" smtClean="0">
                        <a:latin typeface="Cambria Math"/>
                        <a:ea typeface="Cambria Math" panose="02040503050406030204" pitchFamily="18" charset="0"/>
                      </a:rPr>
                      <m:t>=</m:t>
                    </m:r>
                    <m:sSub>
                      <m:sSubPr>
                        <m:ctrlPr>
                          <a:rPr lang="en-GB" sz="1400" b="0" i="1" smtClean="0">
                            <a:latin typeface="Cambria Math" panose="02040503050406030204" pitchFamily="18" charset="0"/>
                            <a:ea typeface="Cambria Math" panose="02040503050406030204" pitchFamily="18" charset="0"/>
                          </a:rPr>
                        </m:ctrlPr>
                      </m:sSubPr>
                      <m:e>
                        <m:r>
                          <a:rPr lang="en-GB" sz="1400" b="0" i="1" smtClean="0">
                            <a:latin typeface="Cambria Math"/>
                            <a:ea typeface="Cambria Math" panose="02040503050406030204" pitchFamily="18" charset="0"/>
                          </a:rPr>
                          <m:t>𝑆</m:t>
                        </m:r>
                      </m:e>
                      <m:sub>
                        <m:r>
                          <a:rPr lang="en-GB" sz="1400" b="0" i="1" smtClean="0">
                            <a:latin typeface="Cambria Math"/>
                            <a:ea typeface="Cambria Math" panose="02040503050406030204" pitchFamily="18" charset="0"/>
                          </a:rPr>
                          <m:t>0</m:t>
                        </m:r>
                      </m:sub>
                    </m:sSub>
                    <m:sSup>
                      <m:sSupPr>
                        <m:ctrlPr>
                          <a:rPr lang="en-GB" sz="1400" b="0" i="1" smtClean="0">
                            <a:latin typeface="Cambria Math" panose="02040503050406030204" pitchFamily="18" charset="0"/>
                            <a:ea typeface="Cambria Math" panose="02040503050406030204" pitchFamily="18" charset="0"/>
                          </a:rPr>
                        </m:ctrlPr>
                      </m:sSupPr>
                      <m:e>
                        <m:r>
                          <a:rPr lang="en-GB" sz="1400" b="0" i="1" smtClean="0">
                            <a:latin typeface="Cambria Math"/>
                            <a:ea typeface="Cambria Math" panose="02040503050406030204" pitchFamily="18" charset="0"/>
                          </a:rPr>
                          <m:t>𝑢</m:t>
                        </m:r>
                      </m:e>
                      <m:sup>
                        <m:r>
                          <a:rPr lang="en-GB" sz="1400" b="0" i="1" smtClean="0">
                            <a:latin typeface="Cambria Math"/>
                            <a:ea typeface="Cambria Math" panose="02040503050406030204" pitchFamily="18" charset="0"/>
                          </a:rPr>
                          <m:t>𝑘</m:t>
                        </m:r>
                      </m:sup>
                    </m:sSup>
                    <m:sSup>
                      <m:sSupPr>
                        <m:ctrlPr>
                          <a:rPr lang="en-GB" sz="1400" b="0" i="1" smtClean="0">
                            <a:latin typeface="Cambria Math" panose="02040503050406030204" pitchFamily="18" charset="0"/>
                            <a:ea typeface="Cambria Math" panose="02040503050406030204" pitchFamily="18" charset="0"/>
                          </a:rPr>
                        </m:ctrlPr>
                      </m:sSupPr>
                      <m:e>
                        <m:r>
                          <a:rPr lang="en-GB" sz="1400" b="0" i="1" smtClean="0">
                            <a:latin typeface="Cambria Math"/>
                            <a:ea typeface="Cambria Math" panose="02040503050406030204" pitchFamily="18" charset="0"/>
                          </a:rPr>
                          <m:t>𝑑</m:t>
                        </m:r>
                      </m:e>
                      <m:sup>
                        <m:r>
                          <a:rPr lang="en-GB" sz="1400" b="0" i="1" smtClean="0">
                            <a:latin typeface="Cambria Math"/>
                            <a:ea typeface="Cambria Math" panose="02040503050406030204" pitchFamily="18" charset="0"/>
                          </a:rPr>
                          <m:t>𝑇</m:t>
                        </m:r>
                        <m:r>
                          <a:rPr lang="en-GB" sz="1400" b="0" i="1" smtClean="0">
                            <a:latin typeface="Cambria Math"/>
                            <a:ea typeface="Cambria Math" panose="02040503050406030204" pitchFamily="18" charset="0"/>
                          </a:rPr>
                          <m:t>−</m:t>
                        </m:r>
                        <m:r>
                          <a:rPr lang="en-GB" sz="1400" b="0" i="1" smtClean="0">
                            <a:latin typeface="Cambria Math"/>
                            <a:ea typeface="Cambria Math" panose="02040503050406030204" pitchFamily="18" charset="0"/>
                          </a:rPr>
                          <m:t>𝑘</m:t>
                        </m:r>
                      </m:sup>
                    </m:sSup>
                  </m:oMath>
                </a14:m>
                <a:r>
                  <a:rPr lang="en-GB" sz="1400" dirty="0">
                    <a:latin typeface="Cambria Math" panose="02040503050406030204" pitchFamily="18" charset="0"/>
                    <a:ea typeface="Cambria Math" panose="02040503050406030204" pitchFamily="18" charset="0"/>
                  </a:rPr>
                  <a:t> (terminal share price after</a:t>
                </a:r>
                <a14:m>
                  <m:oMath xmlns:m="http://schemas.openxmlformats.org/officeDocument/2006/math">
                    <m:r>
                      <a:rPr lang="en-GB" sz="1400" b="0" i="0" smtClean="0">
                        <a:latin typeface="Cambria Math"/>
                        <a:ea typeface="Cambria Math" panose="02040503050406030204" pitchFamily="18" charset="0"/>
                      </a:rPr>
                      <m:t> </m:t>
                    </m:r>
                    <m:r>
                      <a:rPr lang="en-GB" sz="1400" i="1">
                        <a:latin typeface="Cambria Math"/>
                        <a:ea typeface="Cambria Math" panose="02040503050406030204" pitchFamily="18" charset="0"/>
                      </a:rPr>
                      <m:t>𝑘</m:t>
                    </m:r>
                    <m:r>
                      <a:rPr lang="en-GB" sz="1400" i="1">
                        <a:latin typeface="Cambria Math"/>
                        <a:ea typeface="Cambria Math" panose="02040503050406030204" pitchFamily="18" charset="0"/>
                      </a:rPr>
                      <m:t> </m:t>
                    </m:r>
                  </m:oMath>
                </a14:m>
                <a:r>
                  <a:rPr lang="en-GB" sz="1400" dirty="0">
                    <a:latin typeface="Cambria Math" panose="02040503050406030204" pitchFamily="18" charset="0"/>
                    <a:ea typeface="Cambria Math" panose="02040503050406030204" pitchFamily="18" charset="0"/>
                  </a:rPr>
                  <a:t>jumps up and </a:t>
                </a:r>
                <a14:m>
                  <m:oMath xmlns:m="http://schemas.openxmlformats.org/officeDocument/2006/math">
                    <m:r>
                      <a:rPr lang="en-GB" sz="1400" i="1">
                        <a:latin typeface="Cambria Math"/>
                        <a:ea typeface="Cambria Math" panose="02040503050406030204" pitchFamily="18" charset="0"/>
                      </a:rPr>
                      <m:t>(</m:t>
                    </m:r>
                    <m:r>
                      <a:rPr lang="en-GB" sz="1400" i="1">
                        <a:latin typeface="Cambria Math"/>
                        <a:ea typeface="Cambria Math" panose="02040503050406030204" pitchFamily="18" charset="0"/>
                      </a:rPr>
                      <m:t>𝑇</m:t>
                    </m:r>
                    <m:r>
                      <a:rPr lang="en-GB" sz="1400" i="1">
                        <a:latin typeface="Cambria Math"/>
                        <a:ea typeface="Cambria Math" panose="02040503050406030204" pitchFamily="18" charset="0"/>
                      </a:rPr>
                      <m:t>−</m:t>
                    </m:r>
                    <m:r>
                      <a:rPr lang="en-GB" sz="1400" i="1">
                        <a:latin typeface="Cambria Math"/>
                        <a:ea typeface="Cambria Math" panose="02040503050406030204" pitchFamily="18" charset="0"/>
                      </a:rPr>
                      <m:t>𝑘</m:t>
                    </m:r>
                    <m:r>
                      <a:rPr lang="en-GB" sz="1400" i="1">
                        <a:latin typeface="Cambria Math"/>
                        <a:ea typeface="Cambria Math" panose="02040503050406030204" pitchFamily="18" charset="0"/>
                      </a:rPr>
                      <m:t>)</m:t>
                    </m:r>
                  </m:oMath>
                </a14:m>
                <a:r>
                  <a:rPr lang="en-GB" sz="1400" dirty="0">
                    <a:latin typeface="Cambria Math" panose="02040503050406030204" pitchFamily="18" charset="0"/>
                    <a:ea typeface="Cambria Math" panose="02040503050406030204" pitchFamily="18" charset="0"/>
                  </a:rPr>
                  <a:t> jumps down)</a:t>
                </a:r>
              </a:p>
              <a:p>
                <a:pPr marL="541338" indent="-541338">
                  <a:buClr>
                    <a:srgbClr val="7030A0"/>
                  </a:buClr>
                  <a:buSzPct val="100000"/>
                </a:pPr>
                <a14:m>
                  <m:oMath xmlns:m="http://schemas.openxmlformats.org/officeDocument/2006/math">
                    <m:sSub>
                      <m:sSubPr>
                        <m:ctrlPr>
                          <a:rPr lang="en-GB" sz="1400" i="1" smtClean="0">
                            <a:latin typeface="Cambria Math" panose="02040503050406030204" pitchFamily="18" charset="0"/>
                            <a:ea typeface="Cambria Math" panose="02040503050406030204" pitchFamily="18" charset="0"/>
                          </a:rPr>
                        </m:ctrlPr>
                      </m:sSubPr>
                      <m:e>
                        <m:r>
                          <a:rPr lang="en-GB" sz="1400" b="0" i="1" smtClean="0">
                            <a:latin typeface="Cambria Math"/>
                            <a:ea typeface="Cambria Math" panose="02040503050406030204" pitchFamily="18" charset="0"/>
                          </a:rPr>
                          <m:t>𝐶𝐹</m:t>
                        </m:r>
                      </m:e>
                      <m:sub>
                        <m:r>
                          <a:rPr lang="en-GB" sz="1400" b="0" i="1" smtClean="0">
                            <a:latin typeface="Cambria Math"/>
                            <a:ea typeface="Cambria Math" panose="02040503050406030204" pitchFamily="18" charset="0"/>
                          </a:rPr>
                          <m:t>𝑘</m:t>
                        </m:r>
                      </m:sub>
                    </m:sSub>
                    <m:r>
                      <a:rPr lang="en-GB" sz="1400" b="0" i="1" smtClean="0">
                        <a:latin typeface="Cambria Math"/>
                        <a:ea typeface="Cambria Math" panose="02040503050406030204" pitchFamily="18" charset="0"/>
                      </a:rPr>
                      <m:t>=</m:t>
                    </m:r>
                    <m:func>
                      <m:funcPr>
                        <m:ctrlPr>
                          <a:rPr lang="en-GB" sz="1400" b="0" i="1" smtClean="0">
                            <a:latin typeface="Cambria Math" panose="02040503050406030204" pitchFamily="18" charset="0"/>
                            <a:ea typeface="Cambria Math" panose="02040503050406030204" pitchFamily="18" charset="0"/>
                          </a:rPr>
                        </m:ctrlPr>
                      </m:funcPr>
                      <m:fName>
                        <m:r>
                          <m:rPr>
                            <m:sty m:val="p"/>
                          </m:rPr>
                          <a:rPr lang="en-GB" sz="1400" b="0" i="0" smtClean="0">
                            <a:latin typeface="Cambria Math"/>
                            <a:ea typeface="Cambria Math" panose="02040503050406030204" pitchFamily="18" charset="0"/>
                          </a:rPr>
                          <m:t>max</m:t>
                        </m:r>
                      </m:fName>
                      <m:e>
                        <m:d>
                          <m:dPr>
                            <m:ctrlPr>
                              <a:rPr lang="en-GB" sz="1400" b="0" i="1" smtClean="0">
                                <a:latin typeface="Cambria Math" panose="02040503050406030204" pitchFamily="18" charset="0"/>
                                <a:ea typeface="Cambria Math" panose="02040503050406030204" pitchFamily="18" charset="0"/>
                              </a:rPr>
                            </m:ctrlPr>
                          </m:dPr>
                          <m:e>
                            <m:sSub>
                              <m:sSubPr>
                                <m:ctrlPr>
                                  <a:rPr lang="en-GB" sz="1400" b="0" i="1" smtClean="0">
                                    <a:latin typeface="Cambria Math" panose="02040503050406030204" pitchFamily="18" charset="0"/>
                                    <a:ea typeface="Cambria Math" panose="02040503050406030204" pitchFamily="18" charset="0"/>
                                  </a:rPr>
                                </m:ctrlPr>
                              </m:sSubPr>
                              <m:e>
                                <m:r>
                                  <a:rPr lang="en-GB" sz="1400" b="0" i="1" smtClean="0">
                                    <a:latin typeface="Cambria Math"/>
                                    <a:ea typeface="Cambria Math" panose="02040503050406030204" pitchFamily="18" charset="0"/>
                                  </a:rPr>
                                  <m:t>𝑆</m:t>
                                </m:r>
                              </m:e>
                              <m:sub>
                                <m:r>
                                  <a:rPr lang="en-GB" sz="1400" b="0" i="1" smtClean="0">
                                    <a:latin typeface="Cambria Math"/>
                                    <a:ea typeface="Cambria Math" panose="02040503050406030204" pitchFamily="18" charset="0"/>
                                  </a:rPr>
                                  <m:t>𝑘</m:t>
                                </m:r>
                              </m:sub>
                            </m:sSub>
                            <m:r>
                              <a:rPr lang="en-GB" sz="1400" b="0" i="1" smtClean="0">
                                <a:latin typeface="Cambria Math"/>
                                <a:ea typeface="Cambria Math" panose="02040503050406030204" pitchFamily="18" charset="0"/>
                              </a:rPr>
                              <m:t>−</m:t>
                            </m:r>
                            <m:r>
                              <a:rPr lang="en-GB" sz="1400" b="0" i="1" smtClean="0">
                                <a:latin typeface="Cambria Math"/>
                                <a:ea typeface="Cambria Math" panose="02040503050406030204" pitchFamily="18" charset="0"/>
                              </a:rPr>
                              <m:t>𝑋</m:t>
                            </m:r>
                            <m:r>
                              <a:rPr lang="en-GB" sz="1400" b="0" i="1" smtClean="0">
                                <a:latin typeface="Cambria Math"/>
                                <a:ea typeface="Cambria Math" panose="02040503050406030204" pitchFamily="18" charset="0"/>
                              </a:rPr>
                              <m:t>,0</m:t>
                            </m:r>
                          </m:e>
                        </m:d>
                      </m:e>
                    </m:func>
                    <m:r>
                      <a:rPr lang="en-GB" sz="1400" b="0" i="1" smtClean="0">
                        <a:latin typeface="Cambria Math"/>
                        <a:ea typeface="Cambria Math" panose="02040503050406030204" pitchFamily="18" charset="0"/>
                      </a:rPr>
                      <m:t> </m:t>
                    </m:r>
                  </m:oMath>
                </a14:m>
                <a:r>
                  <a:rPr lang="en-GB" sz="1400" dirty="0">
                    <a:latin typeface="Cambria Math" panose="02040503050406030204" pitchFamily="18" charset="0"/>
                    <a:ea typeface="Cambria Math" panose="02040503050406030204" pitchFamily="18" charset="0"/>
                  </a:rPr>
                  <a:t>(terminal cash flow from call option)</a:t>
                </a:r>
              </a:p>
              <a:p>
                <a:pPr marL="538163" indent="-538163">
                  <a:buClr>
                    <a:srgbClr val="7030A0"/>
                  </a:buClr>
                  <a:buSzPct val="100000"/>
                </a:pPr>
                <a14:m>
                  <m:oMath xmlns:m="http://schemas.openxmlformats.org/officeDocument/2006/math">
                    <m:r>
                      <a:rPr lang="en-GB" sz="1400" b="0" i="1" smtClean="0">
                        <a:latin typeface="Cambria Math"/>
                        <a:ea typeface="Cambria Math" panose="02040503050406030204" pitchFamily="18" charset="0"/>
                      </a:rPr>
                      <m:t>𝐵</m:t>
                    </m:r>
                    <m:sSub>
                      <m:sSubPr>
                        <m:ctrlPr>
                          <a:rPr lang="en-GB" sz="1400" b="0" i="1" smtClean="0">
                            <a:latin typeface="Cambria Math" panose="02040503050406030204" pitchFamily="18" charset="0"/>
                            <a:ea typeface="Cambria Math" panose="02040503050406030204" pitchFamily="18" charset="0"/>
                          </a:rPr>
                        </m:ctrlPr>
                      </m:sSubPr>
                      <m:e>
                        <m:r>
                          <a:rPr lang="en-GB" sz="1400" b="0" i="1" smtClean="0">
                            <a:latin typeface="Cambria Math"/>
                            <a:ea typeface="Cambria Math" panose="02040503050406030204" pitchFamily="18" charset="0"/>
                          </a:rPr>
                          <m:t>𝐶</m:t>
                        </m:r>
                      </m:e>
                      <m:sub>
                        <m:r>
                          <a:rPr lang="en-GB" sz="1400" b="0" i="1" smtClean="0">
                            <a:latin typeface="Cambria Math"/>
                            <a:ea typeface="Cambria Math" panose="02040503050406030204" pitchFamily="18" charset="0"/>
                          </a:rPr>
                          <m:t>𝑘</m:t>
                        </m:r>
                      </m:sub>
                    </m:sSub>
                    <m:r>
                      <a:rPr lang="en-GB" sz="1400" b="0" i="1" smtClean="0">
                        <a:latin typeface="Cambria Math"/>
                        <a:ea typeface="Cambria Math" panose="02040503050406030204" pitchFamily="18" charset="0"/>
                      </a:rPr>
                      <m:t>=</m:t>
                    </m:r>
                    <m:d>
                      <m:dPr>
                        <m:ctrlPr>
                          <a:rPr lang="en-GB" sz="1400" b="0" i="1" smtClean="0">
                            <a:latin typeface="Cambria Math" panose="02040503050406030204" pitchFamily="18" charset="0"/>
                            <a:ea typeface="Cambria Math" panose="02040503050406030204" pitchFamily="18" charset="0"/>
                          </a:rPr>
                        </m:ctrlPr>
                      </m:dPr>
                      <m:e>
                        <m:m>
                          <m:mPr>
                            <m:mcs>
                              <m:mc>
                                <m:mcPr>
                                  <m:count m:val="1"/>
                                  <m:mcJc m:val="center"/>
                                </m:mcPr>
                              </m:mc>
                            </m:mcs>
                            <m:ctrlPr>
                              <a:rPr lang="en-GB" sz="1400" b="0" i="1" smtClean="0">
                                <a:latin typeface="Cambria Math" panose="02040503050406030204" pitchFamily="18" charset="0"/>
                                <a:ea typeface="Cambria Math" panose="02040503050406030204" pitchFamily="18" charset="0"/>
                              </a:rPr>
                            </m:ctrlPr>
                          </m:mPr>
                          <m:mr>
                            <m:e>
                              <m:r>
                                <m:rPr>
                                  <m:brk m:alnAt="7"/>
                                </m:rPr>
                                <a:rPr lang="en-GB" sz="1400" b="0" i="1" smtClean="0">
                                  <a:latin typeface="Cambria Math"/>
                                  <a:ea typeface="Cambria Math" panose="02040503050406030204" pitchFamily="18" charset="0"/>
                                </a:rPr>
                                <m:t>1</m:t>
                              </m:r>
                              <m:r>
                                <a:rPr lang="en-GB" sz="1400" b="0" i="1" smtClean="0">
                                  <a:latin typeface="Cambria Math"/>
                                  <a:ea typeface="Cambria Math" panose="02040503050406030204" pitchFamily="18" charset="0"/>
                                </a:rPr>
                                <m:t>0</m:t>
                              </m:r>
                            </m:e>
                          </m:mr>
                          <m:mr>
                            <m:e>
                              <m:r>
                                <a:rPr lang="en-GB" sz="1400" b="0" i="1" smtClean="0">
                                  <a:latin typeface="Cambria Math"/>
                                  <a:ea typeface="Cambria Math" panose="02040503050406030204" pitchFamily="18" charset="0"/>
                                </a:rPr>
                                <m:t>𝑘</m:t>
                              </m:r>
                            </m:e>
                          </m:mr>
                        </m:m>
                      </m:e>
                    </m:d>
                  </m:oMath>
                </a14:m>
                <a:r>
                  <a:rPr lang="en-GB" sz="1400" dirty="0">
                    <a:latin typeface="Cambria Math" panose="02040503050406030204" pitchFamily="18" charset="0"/>
                    <a:ea typeface="Cambria Math" panose="02040503050406030204" pitchFamily="18" charset="0"/>
                  </a:rPr>
                  <a:t> (binomial coefficient, number of paths with </a:t>
                </a:r>
                <a14:m>
                  <m:oMath xmlns:m="http://schemas.openxmlformats.org/officeDocument/2006/math">
                    <m:r>
                      <a:rPr lang="en-GB" sz="1400" i="1">
                        <a:latin typeface="Cambria Math"/>
                        <a:ea typeface="Cambria Math" panose="02040503050406030204" pitchFamily="18" charset="0"/>
                      </a:rPr>
                      <m:t>𝑘</m:t>
                    </m:r>
                    <m:r>
                      <a:rPr lang="en-GB" sz="1400" i="1">
                        <a:latin typeface="Cambria Math"/>
                        <a:ea typeface="Cambria Math" panose="02040503050406030204" pitchFamily="18" charset="0"/>
                      </a:rPr>
                      <m:t> </m:t>
                    </m:r>
                  </m:oMath>
                </a14:m>
                <a:r>
                  <a:rPr lang="en-GB" sz="1400" dirty="0">
                    <a:latin typeface="Cambria Math" panose="02040503050406030204" pitchFamily="18" charset="0"/>
                    <a:ea typeface="Cambria Math" panose="02040503050406030204" pitchFamily="18" charset="0"/>
                  </a:rPr>
                  <a:t>jumps up and </a:t>
                </a:r>
                <a14:m>
                  <m:oMath xmlns:m="http://schemas.openxmlformats.org/officeDocument/2006/math">
                    <m:r>
                      <a:rPr lang="en-GB" sz="1400" i="1">
                        <a:latin typeface="Cambria Math"/>
                        <a:ea typeface="Cambria Math" panose="02040503050406030204" pitchFamily="18" charset="0"/>
                      </a:rPr>
                      <m:t>(</m:t>
                    </m:r>
                    <m:r>
                      <a:rPr lang="en-GB" sz="1400" i="1">
                        <a:latin typeface="Cambria Math"/>
                        <a:ea typeface="Cambria Math" panose="02040503050406030204" pitchFamily="18" charset="0"/>
                      </a:rPr>
                      <m:t>𝑇</m:t>
                    </m:r>
                    <m:r>
                      <a:rPr lang="en-GB" sz="1400" i="1">
                        <a:latin typeface="Cambria Math"/>
                        <a:ea typeface="Cambria Math" panose="02040503050406030204" pitchFamily="18" charset="0"/>
                      </a:rPr>
                      <m:t>−</m:t>
                    </m:r>
                    <m:r>
                      <a:rPr lang="en-GB" sz="1400" i="1">
                        <a:latin typeface="Cambria Math"/>
                        <a:ea typeface="Cambria Math" panose="02040503050406030204" pitchFamily="18" charset="0"/>
                      </a:rPr>
                      <m:t>𝑘</m:t>
                    </m:r>
                    <m:r>
                      <a:rPr lang="en-GB" sz="1400" i="1">
                        <a:latin typeface="Cambria Math"/>
                        <a:ea typeface="Cambria Math" panose="02040503050406030204" pitchFamily="18" charset="0"/>
                      </a:rPr>
                      <m:t>)</m:t>
                    </m:r>
                  </m:oMath>
                </a14:m>
                <a:r>
                  <a:rPr lang="en-GB" sz="1400" dirty="0">
                    <a:latin typeface="Cambria Math" panose="02040503050406030204" pitchFamily="18" charset="0"/>
                    <a:ea typeface="Cambria Math" panose="02040503050406030204" pitchFamily="18" charset="0"/>
                  </a:rPr>
                  <a:t> jumps down)</a:t>
                </a:r>
              </a:p>
              <a:p>
                <a:pPr marL="449263" indent="-449263">
                  <a:buClr>
                    <a:srgbClr val="7030A0"/>
                  </a:buClr>
                  <a:buSzPct val="100000"/>
                </a:pPr>
                <a14:m>
                  <m:oMath xmlns:m="http://schemas.openxmlformats.org/officeDocument/2006/math">
                    <m:sSub>
                      <m:sSubPr>
                        <m:ctrlPr>
                          <a:rPr lang="en-GB" sz="1400" i="1" smtClean="0">
                            <a:latin typeface="Cambria Math" panose="02040503050406030204" pitchFamily="18" charset="0"/>
                            <a:ea typeface="Cambria Math" panose="02040503050406030204" pitchFamily="18" charset="0"/>
                          </a:rPr>
                        </m:ctrlPr>
                      </m:sSubPr>
                      <m:e>
                        <m:r>
                          <a:rPr lang="en-GB" sz="1400" b="0" i="1" smtClean="0">
                            <a:latin typeface="Cambria Math"/>
                            <a:ea typeface="Cambria Math" panose="02040503050406030204" pitchFamily="18" charset="0"/>
                          </a:rPr>
                          <m:t>𝑝</m:t>
                        </m:r>
                      </m:e>
                      <m:sub>
                        <m:r>
                          <a:rPr lang="en-GB" sz="1400" b="0" i="1" smtClean="0">
                            <a:latin typeface="Cambria Math"/>
                            <a:ea typeface="Cambria Math" panose="02040503050406030204" pitchFamily="18" charset="0"/>
                          </a:rPr>
                          <m:t>𝑘</m:t>
                        </m:r>
                      </m:sub>
                    </m:sSub>
                    <m:r>
                      <a:rPr lang="en-GB" sz="1400" b="0" i="1" smtClean="0">
                        <a:latin typeface="Cambria Math"/>
                        <a:ea typeface="Cambria Math" panose="02040503050406030204" pitchFamily="18" charset="0"/>
                      </a:rPr>
                      <m:t>=</m:t>
                    </m:r>
                    <m:r>
                      <a:rPr lang="en-GB" sz="1400" b="0" i="1" smtClean="0">
                        <a:latin typeface="Cambria Math"/>
                        <a:ea typeface="Cambria Math" panose="02040503050406030204" pitchFamily="18" charset="0"/>
                      </a:rPr>
                      <m:t>𝐵</m:t>
                    </m:r>
                    <m:sSub>
                      <m:sSubPr>
                        <m:ctrlPr>
                          <a:rPr lang="en-GB" sz="1400" b="0" i="1" smtClean="0">
                            <a:latin typeface="Cambria Math" panose="02040503050406030204" pitchFamily="18" charset="0"/>
                            <a:ea typeface="Cambria Math" panose="02040503050406030204" pitchFamily="18" charset="0"/>
                          </a:rPr>
                        </m:ctrlPr>
                      </m:sSubPr>
                      <m:e>
                        <m:r>
                          <a:rPr lang="en-GB" sz="1400" b="0" i="1" smtClean="0">
                            <a:latin typeface="Cambria Math"/>
                            <a:ea typeface="Cambria Math" panose="02040503050406030204" pitchFamily="18" charset="0"/>
                          </a:rPr>
                          <m:t>𝐶</m:t>
                        </m:r>
                      </m:e>
                      <m:sub>
                        <m:r>
                          <a:rPr lang="en-GB" sz="1400" b="0" i="1" smtClean="0">
                            <a:latin typeface="Cambria Math"/>
                            <a:ea typeface="Cambria Math" panose="02040503050406030204" pitchFamily="18" charset="0"/>
                          </a:rPr>
                          <m:t>𝑘</m:t>
                        </m:r>
                      </m:sub>
                    </m:sSub>
                    <m:r>
                      <a:rPr lang="en-GB" sz="1400" b="0" i="1" smtClean="0">
                        <a:latin typeface="Cambria Math"/>
                        <a:ea typeface="Cambria Math"/>
                      </a:rPr>
                      <m:t>×</m:t>
                    </m:r>
                    <m:sSup>
                      <m:sSupPr>
                        <m:ctrlPr>
                          <a:rPr lang="en-GB" sz="1400" b="0" i="1" smtClean="0">
                            <a:latin typeface="Cambria Math" panose="02040503050406030204" pitchFamily="18" charset="0"/>
                            <a:ea typeface="Cambria Math" panose="02040503050406030204" pitchFamily="18" charset="0"/>
                          </a:rPr>
                        </m:ctrlPr>
                      </m:sSupPr>
                      <m:e>
                        <m:r>
                          <a:rPr lang="en-GB" sz="1400" b="0" i="1" smtClean="0">
                            <a:latin typeface="Cambria Math"/>
                            <a:ea typeface="Cambria Math" panose="02040503050406030204" pitchFamily="18" charset="0"/>
                          </a:rPr>
                          <m:t>𝑝</m:t>
                        </m:r>
                      </m:e>
                      <m:sup>
                        <m:r>
                          <a:rPr lang="en-GB" sz="1400" b="0" i="1" smtClean="0">
                            <a:latin typeface="Cambria Math"/>
                            <a:ea typeface="Cambria Math" panose="02040503050406030204" pitchFamily="18" charset="0"/>
                          </a:rPr>
                          <m:t>𝑘</m:t>
                        </m:r>
                      </m:sup>
                    </m:sSup>
                    <m:sSup>
                      <m:sSupPr>
                        <m:ctrlPr>
                          <a:rPr lang="en-GB" sz="1400" b="0" i="1" smtClean="0">
                            <a:latin typeface="Cambria Math" panose="02040503050406030204" pitchFamily="18" charset="0"/>
                            <a:ea typeface="Cambria Math" panose="02040503050406030204" pitchFamily="18" charset="0"/>
                          </a:rPr>
                        </m:ctrlPr>
                      </m:sSupPr>
                      <m:e>
                        <m:r>
                          <a:rPr lang="en-GB" sz="1400" b="0" i="1" smtClean="0">
                            <a:latin typeface="Cambria Math"/>
                            <a:ea typeface="Cambria Math" panose="02040503050406030204" pitchFamily="18" charset="0"/>
                          </a:rPr>
                          <m:t>(1−</m:t>
                        </m:r>
                        <m:r>
                          <a:rPr lang="en-GB" sz="1400" b="0" i="1" smtClean="0">
                            <a:latin typeface="Cambria Math"/>
                            <a:ea typeface="Cambria Math" panose="02040503050406030204" pitchFamily="18" charset="0"/>
                          </a:rPr>
                          <m:t>𝑝</m:t>
                        </m:r>
                        <m:r>
                          <a:rPr lang="en-GB" sz="1400" b="0" i="1" smtClean="0">
                            <a:latin typeface="Cambria Math"/>
                            <a:ea typeface="Cambria Math" panose="02040503050406030204" pitchFamily="18" charset="0"/>
                          </a:rPr>
                          <m:t>)</m:t>
                        </m:r>
                      </m:e>
                      <m:sup>
                        <m:r>
                          <a:rPr lang="en-GB" sz="1400" b="0" i="1" smtClean="0">
                            <a:latin typeface="Cambria Math"/>
                            <a:ea typeface="Cambria Math" panose="02040503050406030204" pitchFamily="18" charset="0"/>
                          </a:rPr>
                          <m:t>(</m:t>
                        </m:r>
                        <m:r>
                          <a:rPr lang="en-GB" sz="1400" b="0" i="1" smtClean="0">
                            <a:latin typeface="Cambria Math"/>
                            <a:ea typeface="Cambria Math" panose="02040503050406030204" pitchFamily="18" charset="0"/>
                          </a:rPr>
                          <m:t>𝑇</m:t>
                        </m:r>
                        <m:r>
                          <a:rPr lang="en-GB" sz="1400" b="0" i="1" smtClean="0">
                            <a:latin typeface="Cambria Math"/>
                            <a:ea typeface="Cambria Math" panose="02040503050406030204" pitchFamily="18" charset="0"/>
                          </a:rPr>
                          <m:t>−</m:t>
                        </m:r>
                        <m:r>
                          <a:rPr lang="en-GB" sz="1400" b="0" i="1" smtClean="0">
                            <a:latin typeface="Cambria Math"/>
                            <a:ea typeface="Cambria Math" panose="02040503050406030204" pitchFamily="18" charset="0"/>
                          </a:rPr>
                          <m:t>𝑘</m:t>
                        </m:r>
                        <m:r>
                          <a:rPr lang="en-GB" sz="1400" b="0" i="1" smtClean="0">
                            <a:latin typeface="Cambria Math"/>
                            <a:ea typeface="Cambria Math" panose="02040503050406030204" pitchFamily="18" charset="0"/>
                          </a:rPr>
                          <m:t>)</m:t>
                        </m:r>
                      </m:sup>
                    </m:sSup>
                  </m:oMath>
                </a14:m>
                <a:r>
                  <a:rPr lang="en-GB" sz="1400" dirty="0">
                    <a:latin typeface="Cambria Math" panose="02040503050406030204" pitchFamily="18" charset="0"/>
                    <a:ea typeface="Cambria Math" panose="02040503050406030204" pitchFamily="18" charset="0"/>
                  </a:rPr>
                  <a:t> (sum of probabilities of all paths composed of </a:t>
                </a:r>
                <a14:m>
                  <m:oMath xmlns:m="http://schemas.openxmlformats.org/officeDocument/2006/math">
                    <m:r>
                      <a:rPr lang="en-GB" sz="1400" i="1" smtClean="0">
                        <a:latin typeface="Cambria Math"/>
                        <a:ea typeface="Cambria Math" panose="02040503050406030204" pitchFamily="18" charset="0"/>
                      </a:rPr>
                      <m:t>𝑘</m:t>
                    </m:r>
                    <m:r>
                      <a:rPr lang="en-GB" sz="1400" i="1" smtClean="0">
                        <a:latin typeface="Cambria Math"/>
                        <a:ea typeface="Cambria Math" panose="02040503050406030204" pitchFamily="18" charset="0"/>
                      </a:rPr>
                      <m:t> </m:t>
                    </m:r>
                  </m:oMath>
                </a14:m>
                <a:r>
                  <a:rPr lang="en-GB" sz="1400" dirty="0">
                    <a:latin typeface="Cambria Math" panose="02040503050406030204" pitchFamily="18" charset="0"/>
                    <a:ea typeface="Cambria Math" panose="02040503050406030204" pitchFamily="18" charset="0"/>
                  </a:rPr>
                  <a:t>jumps up and </a:t>
                </a:r>
                <a14:m>
                  <m:oMath xmlns:m="http://schemas.openxmlformats.org/officeDocument/2006/math">
                    <m:r>
                      <a:rPr lang="en-GB" sz="1400" b="0" i="1" smtClean="0">
                        <a:latin typeface="Cambria Math"/>
                        <a:ea typeface="Cambria Math" panose="02040503050406030204" pitchFamily="18" charset="0"/>
                      </a:rPr>
                      <m:t>(</m:t>
                    </m:r>
                    <m:r>
                      <a:rPr lang="en-GB" sz="1400" b="0" i="1" smtClean="0">
                        <a:latin typeface="Cambria Math"/>
                        <a:ea typeface="Cambria Math" panose="02040503050406030204" pitchFamily="18" charset="0"/>
                      </a:rPr>
                      <m:t>𝑇</m:t>
                    </m:r>
                    <m:r>
                      <a:rPr lang="en-GB" sz="1400" b="0" i="1" smtClean="0">
                        <a:latin typeface="Cambria Math"/>
                        <a:ea typeface="Cambria Math" panose="02040503050406030204" pitchFamily="18" charset="0"/>
                      </a:rPr>
                      <m:t>−</m:t>
                    </m:r>
                    <m:r>
                      <a:rPr lang="en-GB" sz="1400" b="0" i="1" smtClean="0">
                        <a:latin typeface="Cambria Math"/>
                        <a:ea typeface="Cambria Math" panose="02040503050406030204" pitchFamily="18" charset="0"/>
                      </a:rPr>
                      <m:t>𝑘</m:t>
                    </m:r>
                    <m:r>
                      <a:rPr lang="en-GB" sz="1400" b="0" i="1" smtClean="0">
                        <a:latin typeface="Cambria Math"/>
                        <a:ea typeface="Cambria Math" panose="02040503050406030204" pitchFamily="18" charset="0"/>
                      </a:rPr>
                      <m:t>)</m:t>
                    </m:r>
                  </m:oMath>
                </a14:m>
                <a:r>
                  <a:rPr lang="en-GB" sz="1400" dirty="0">
                    <a:latin typeface="Cambria Math" panose="02040503050406030204" pitchFamily="18" charset="0"/>
                    <a:ea typeface="Cambria Math" panose="02040503050406030204" pitchFamily="18" charset="0"/>
                  </a:rPr>
                  <a:t> jumps down</a:t>
                </a:r>
                <a:r>
                  <a:rPr lang="cs-CZ" sz="1400" dirty="0">
                    <a:latin typeface="Cambria Math" panose="02040503050406030204" pitchFamily="18" charset="0"/>
                    <a:ea typeface="Cambria Math" panose="02040503050406030204" pitchFamily="18" charset="0"/>
                  </a:rPr>
                  <a:t>),</a:t>
                </a:r>
                <a:r>
                  <a:rPr lang="en-GB" sz="1400" dirty="0">
                    <a:latin typeface="Cambria Math" panose="02040503050406030204" pitchFamily="18" charset="0"/>
                    <a:ea typeface="Cambria Math" panose="02040503050406030204" pitchFamily="18" charset="0"/>
                  </a:rPr>
                  <a:t> </a:t>
                </a:r>
                <a14:m>
                  <m:oMath xmlns:m="http://schemas.openxmlformats.org/officeDocument/2006/math">
                    <m:r>
                      <m:rPr>
                        <m:sty m:val="p"/>
                      </m:rPr>
                      <a:rPr lang="en-GB" sz="1400" i="1" smtClean="0">
                        <a:latin typeface="Cambria Math"/>
                        <a:ea typeface="Cambria Math"/>
                      </a:rPr>
                      <m:t>Σ</m:t>
                    </m:r>
                    <m:sSub>
                      <m:sSubPr>
                        <m:ctrlPr>
                          <a:rPr lang="en-GB" sz="1400" i="1" smtClean="0">
                            <a:latin typeface="Cambria Math" panose="02040503050406030204" pitchFamily="18" charset="0"/>
                            <a:ea typeface="Cambria Math"/>
                          </a:rPr>
                        </m:ctrlPr>
                      </m:sSubPr>
                      <m:e>
                        <m:r>
                          <a:rPr lang="en-GB" sz="1400" b="0" i="1" smtClean="0">
                            <a:latin typeface="Cambria Math"/>
                            <a:ea typeface="Cambria Math"/>
                          </a:rPr>
                          <m:t>𝑝</m:t>
                        </m:r>
                      </m:e>
                      <m:sub>
                        <m:r>
                          <a:rPr lang="en-GB" sz="1400" b="0" i="1" smtClean="0">
                            <a:latin typeface="Cambria Math"/>
                            <a:ea typeface="Cambria Math"/>
                          </a:rPr>
                          <m:t>𝑘</m:t>
                        </m:r>
                      </m:sub>
                    </m:sSub>
                    <m:r>
                      <a:rPr lang="en-GB" sz="1400" b="0" i="1" smtClean="0">
                        <a:latin typeface="Cambria Math"/>
                        <a:ea typeface="Cambria Math"/>
                      </a:rPr>
                      <m:t>=1</m:t>
                    </m:r>
                  </m:oMath>
                </a14:m>
                <a:endParaRPr lang="en-GB" sz="1400" dirty="0">
                  <a:latin typeface="Cambria Math" panose="02040503050406030204" pitchFamily="18" charset="0"/>
                  <a:ea typeface="Cambria Math" panose="02040503050406030204" pitchFamily="18" charset="0"/>
                </a:endParaRPr>
              </a:p>
              <a:p>
                <a:pPr>
                  <a:buClr>
                    <a:srgbClr val="7030A0"/>
                  </a:buClr>
                  <a:buSzPct val="100000"/>
                </a:pPr>
                <a14:m>
                  <m:oMath xmlns:m="http://schemas.openxmlformats.org/officeDocument/2006/math">
                    <m:sSub>
                      <m:sSubPr>
                        <m:ctrlPr>
                          <a:rPr lang="en-GB" sz="1400" b="0" i="1" smtClean="0">
                            <a:latin typeface="Cambria Math" panose="02040503050406030204" pitchFamily="18" charset="0"/>
                            <a:ea typeface="Cambria Math" panose="02040503050406030204" pitchFamily="18" charset="0"/>
                          </a:rPr>
                        </m:ctrlPr>
                      </m:sSubPr>
                      <m:e>
                        <m:r>
                          <a:rPr lang="en-GB" sz="1400" b="0" i="1" smtClean="0">
                            <a:latin typeface="Cambria Math"/>
                            <a:ea typeface="Cambria Math" panose="02040503050406030204" pitchFamily="18" charset="0"/>
                          </a:rPr>
                          <m:t>𝐸</m:t>
                        </m:r>
                      </m:e>
                      <m:sub>
                        <m:r>
                          <a:rPr lang="en-GB" sz="1400" b="0" i="1" smtClean="0">
                            <a:latin typeface="Cambria Math"/>
                            <a:ea typeface="Cambria Math" panose="02040503050406030204" pitchFamily="18" charset="0"/>
                          </a:rPr>
                          <m:t>𝑘</m:t>
                        </m:r>
                      </m:sub>
                    </m:sSub>
                    <m:r>
                      <a:rPr lang="en-GB" sz="1400" b="0" i="1" smtClean="0">
                        <a:latin typeface="Cambria Math"/>
                        <a:ea typeface="Cambria Math" panose="02040503050406030204" pitchFamily="18" charset="0"/>
                      </a:rPr>
                      <m:t>=</m:t>
                    </m:r>
                    <m:r>
                      <a:rPr lang="en-GB" sz="1400" b="0" i="1" smtClean="0">
                        <a:latin typeface="Cambria Math"/>
                        <a:ea typeface="Cambria Math"/>
                      </a:rPr>
                      <m:t>𝐶</m:t>
                    </m:r>
                    <m:sSub>
                      <m:sSubPr>
                        <m:ctrlPr>
                          <a:rPr lang="en-GB" sz="1400" b="0" i="1" smtClean="0">
                            <a:latin typeface="Cambria Math" panose="02040503050406030204" pitchFamily="18" charset="0"/>
                            <a:ea typeface="Cambria Math"/>
                          </a:rPr>
                        </m:ctrlPr>
                      </m:sSubPr>
                      <m:e>
                        <m:r>
                          <a:rPr lang="en-GB" sz="1400" b="0" i="1" smtClean="0">
                            <a:latin typeface="Cambria Math"/>
                            <a:ea typeface="Cambria Math"/>
                          </a:rPr>
                          <m:t>𝐹</m:t>
                        </m:r>
                      </m:e>
                      <m:sub>
                        <m:r>
                          <a:rPr lang="en-GB" sz="1400" b="0" i="1" smtClean="0">
                            <a:latin typeface="Cambria Math"/>
                            <a:ea typeface="Cambria Math"/>
                          </a:rPr>
                          <m:t>𝑘</m:t>
                        </m:r>
                      </m:sub>
                    </m:sSub>
                    <m:r>
                      <a:rPr lang="en-GB" sz="1400" b="0" i="1" smtClean="0">
                        <a:latin typeface="Cambria Math"/>
                        <a:ea typeface="Cambria Math"/>
                      </a:rPr>
                      <m:t>×</m:t>
                    </m:r>
                    <m:sSub>
                      <m:sSubPr>
                        <m:ctrlPr>
                          <a:rPr lang="en-GB" sz="1400" b="0" i="1" smtClean="0">
                            <a:latin typeface="Cambria Math" panose="02040503050406030204" pitchFamily="18" charset="0"/>
                            <a:ea typeface="Cambria Math"/>
                          </a:rPr>
                        </m:ctrlPr>
                      </m:sSubPr>
                      <m:e>
                        <m:r>
                          <a:rPr lang="en-GB" sz="1400" b="0" i="1" smtClean="0">
                            <a:latin typeface="Cambria Math"/>
                            <a:ea typeface="Cambria Math"/>
                          </a:rPr>
                          <m:t>𝑝</m:t>
                        </m:r>
                      </m:e>
                      <m:sub>
                        <m:r>
                          <a:rPr lang="en-GB" sz="1400" b="0" i="1" smtClean="0">
                            <a:latin typeface="Cambria Math"/>
                            <a:ea typeface="Cambria Math"/>
                          </a:rPr>
                          <m:t>𝑘</m:t>
                        </m:r>
                      </m:sub>
                    </m:sSub>
                  </m:oMath>
                </a14:m>
                <a:r>
                  <a:rPr lang="en-GB" sz="1400" dirty="0">
                    <a:latin typeface="Cambria Math" panose="02040503050406030204" pitchFamily="18" charset="0"/>
                    <a:ea typeface="Cambria Math" panose="02040503050406030204" pitchFamily="18" charset="0"/>
                  </a:rPr>
                  <a:t> (contribution to the expected value)</a:t>
                </a:r>
              </a:p>
            </p:txBody>
          </p:sp>
        </mc:Choice>
        <mc:Fallback xmlns="">
          <p:sp>
            <p:nvSpPr>
              <p:cNvPr id="68" name="TextovéPole 67">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716016" y="2754486"/>
                <a:ext cx="4320480" cy="2618730"/>
              </a:xfrm>
              <a:prstGeom prst="rect">
                <a:avLst/>
              </a:prstGeom>
              <a:blipFill>
                <a:blip r:embed="rId11"/>
                <a:stretch>
                  <a:fillRect t="-699" r="-141" b="-1399"/>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6" name="Tabulka 5"/>
              <p:cNvGraphicFramePr>
                <a:graphicFrameLocks noGrp="1"/>
              </p:cNvGraphicFramePr>
              <p:nvPr>
                <p:extLst>
                  <p:ext uri="{D42A27DB-BD31-4B8C-83A1-F6EECF244321}">
                    <p14:modId xmlns:p14="http://schemas.microsoft.com/office/powerpoint/2010/main" val="165421232"/>
                  </p:ext>
                </p:extLst>
              </p:nvPr>
            </p:nvGraphicFramePr>
            <p:xfrm>
              <a:off x="1259992" y="2564904"/>
              <a:ext cx="3240000" cy="2754000"/>
            </p:xfrm>
            <a:graphic>
              <a:graphicData uri="http://schemas.openxmlformats.org/drawingml/2006/table">
                <a:tbl>
                  <a:tblPr>
                    <a:tableStyleId>{7DF18680-E054-41AD-8BC1-D1AEF772440D}</a:tableStyleId>
                  </a:tblPr>
                  <a:tblGrid>
                    <a:gridCol w="540000">
                      <a:extLst>
                        <a:ext uri="{9D8B030D-6E8A-4147-A177-3AD203B41FA5}">
                          <a16:colId xmlns:a16="http://schemas.microsoft.com/office/drawing/2014/main" val="20000"/>
                        </a:ext>
                      </a:extLst>
                    </a:gridCol>
                    <a:gridCol w="540000">
                      <a:extLst>
                        <a:ext uri="{9D8B030D-6E8A-4147-A177-3AD203B41FA5}">
                          <a16:colId xmlns:a16="http://schemas.microsoft.com/office/drawing/2014/main" val="20001"/>
                        </a:ext>
                      </a:extLst>
                    </a:gridCol>
                    <a:gridCol w="540000">
                      <a:extLst>
                        <a:ext uri="{9D8B030D-6E8A-4147-A177-3AD203B41FA5}">
                          <a16:colId xmlns:a16="http://schemas.microsoft.com/office/drawing/2014/main" val="20002"/>
                        </a:ext>
                      </a:extLst>
                    </a:gridCol>
                    <a:gridCol w="540000">
                      <a:extLst>
                        <a:ext uri="{9D8B030D-6E8A-4147-A177-3AD203B41FA5}">
                          <a16:colId xmlns:a16="http://schemas.microsoft.com/office/drawing/2014/main" val="20003"/>
                        </a:ext>
                      </a:extLst>
                    </a:gridCol>
                    <a:gridCol w="540000">
                      <a:extLst>
                        <a:ext uri="{9D8B030D-6E8A-4147-A177-3AD203B41FA5}">
                          <a16:colId xmlns:a16="http://schemas.microsoft.com/office/drawing/2014/main" val="20004"/>
                        </a:ext>
                      </a:extLst>
                    </a:gridCol>
                    <a:gridCol w="540000">
                      <a:extLst>
                        <a:ext uri="{9D8B030D-6E8A-4147-A177-3AD203B41FA5}">
                          <a16:colId xmlns:a16="http://schemas.microsoft.com/office/drawing/2014/main" val="20005"/>
                        </a:ext>
                      </a:extLst>
                    </a:gridCol>
                  </a:tblGrid>
                  <a:tr h="180000">
                    <a:tc>
                      <a:txBody>
                        <a:bodyPr/>
                        <a:lstStyle/>
                        <a:p>
                          <a:pPr algn="ctr" fontAlgn="b"/>
                          <a:r>
                            <a:rPr lang="en-US" sz="800" b="0" i="0" u="none" strike="noStrike" dirty="0">
                              <a:solidFill>
                                <a:schemeClr val="bg1"/>
                              </a:solidFill>
                              <a:effectLst/>
                              <a:latin typeface="Cambria Math" panose="02040503050406030204" pitchFamily="18" charset="0"/>
                              <a:ea typeface="Cambria Math" panose="02040503050406030204" pitchFamily="18" charset="0"/>
                            </a:rPr>
                            <a:t>1</a:t>
                          </a:r>
                          <a:endParaRPr lang="cs-CZ" sz="8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en-US" sz="800" b="0" i="0" u="none" strike="noStrike" dirty="0">
                              <a:solidFill>
                                <a:schemeClr val="bg1"/>
                              </a:solidFill>
                              <a:effectLst/>
                              <a:latin typeface="Cambria Math" panose="02040503050406030204" pitchFamily="18" charset="0"/>
                              <a:ea typeface="Cambria Math" panose="02040503050406030204" pitchFamily="18" charset="0"/>
                            </a:rPr>
                            <a:t>2</a:t>
                          </a:r>
                          <a:endParaRPr lang="cs-CZ" sz="8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en-US" sz="800" b="0" i="0" u="none" strike="noStrike" dirty="0">
                              <a:solidFill>
                                <a:schemeClr val="bg1"/>
                              </a:solidFill>
                              <a:effectLst/>
                              <a:latin typeface="Cambria Math" panose="02040503050406030204" pitchFamily="18" charset="0"/>
                              <a:ea typeface="Cambria Math" panose="02040503050406030204" pitchFamily="18" charset="0"/>
                            </a:rPr>
                            <a:t>3</a:t>
                          </a:r>
                          <a:endParaRPr lang="cs-CZ" sz="8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en-US" sz="800" b="0" i="0" u="none" strike="noStrike" dirty="0">
                              <a:solidFill>
                                <a:schemeClr val="bg1"/>
                              </a:solidFill>
                              <a:effectLst/>
                              <a:latin typeface="Cambria Math" panose="02040503050406030204" pitchFamily="18" charset="0"/>
                              <a:ea typeface="Cambria Math" panose="02040503050406030204" pitchFamily="18" charset="0"/>
                            </a:rPr>
                            <a:t>4</a:t>
                          </a:r>
                          <a:endParaRPr lang="cs-CZ" sz="8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800" b="0" i="0" u="none" strike="noStrike" dirty="0">
                              <a:solidFill>
                                <a:schemeClr val="bg1"/>
                              </a:solidFill>
                              <a:effectLst/>
                              <a:latin typeface="Cambria Math" panose="02040503050406030204" pitchFamily="18" charset="0"/>
                              <a:ea typeface="Cambria Math" panose="02040503050406030204" pitchFamily="18" charset="0"/>
                            </a:rPr>
                            <a:t>5</a:t>
                          </a:r>
                          <a:endParaRPr lang="cs-CZ" sz="8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en-US" sz="800" b="0" i="0" u="none" strike="noStrike" dirty="0">
                              <a:solidFill>
                                <a:schemeClr val="bg1"/>
                              </a:solidFill>
                              <a:effectLst/>
                              <a:latin typeface="Cambria Math" panose="02040503050406030204" pitchFamily="18" charset="0"/>
                              <a:ea typeface="Cambria Math" panose="02040503050406030204" pitchFamily="18" charset="0"/>
                            </a:rPr>
                            <a:t>6</a:t>
                          </a:r>
                          <a:endParaRPr lang="cs-CZ" sz="8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19065596"/>
                      </a:ext>
                    </a:extLst>
                  </a:tr>
                  <a:tr h="288000">
                    <a:tc>
                      <a:txBody>
                        <a:bodyPr/>
                        <a:lstStyle/>
                        <a:p>
                          <a:pPr algn="ctr" fontAlgn="b"/>
                          <a14:m>
                            <m:oMathPara xmlns:m="http://schemas.openxmlformats.org/officeDocument/2006/math">
                              <m:oMathParaPr>
                                <m:jc m:val="centerGroup"/>
                              </m:oMathParaPr>
                              <m:oMath xmlns:m="http://schemas.openxmlformats.org/officeDocument/2006/math">
                                <m:r>
                                  <a:rPr lang="cs-CZ" sz="1200" i="1" u="none" strike="noStrike" dirty="0" smtClean="0">
                                    <a:solidFill>
                                      <a:schemeClr val="bg1"/>
                                    </a:solidFill>
                                    <a:effectLst/>
                                    <a:latin typeface="Cambria Math"/>
                                    <a:ea typeface="Cambria Math" panose="02040503050406030204" pitchFamily="18" charset="0"/>
                                  </a:rPr>
                                  <m:t>𝑘</m:t>
                                </m:r>
                              </m:oMath>
                            </m:oMathPara>
                          </a14:m>
                          <a:endParaRPr lang="cs-CZ" sz="12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L w="1905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fontAlgn="b"/>
                          <a14:m>
                            <m:oMathPara xmlns:m="http://schemas.openxmlformats.org/officeDocument/2006/math">
                              <m:oMathParaPr>
                                <m:jc m:val="center"/>
                              </m:oMathParaPr>
                              <m:oMath xmlns:m="http://schemas.openxmlformats.org/officeDocument/2006/math">
                                <m:sSub>
                                  <m:sSubPr>
                                    <m:ctrlPr>
                                      <a:rPr lang="cs-CZ" sz="1200" i="1" u="none" strike="noStrike" dirty="0" smtClean="0">
                                        <a:solidFill>
                                          <a:schemeClr val="bg1"/>
                                        </a:solidFill>
                                        <a:effectLst/>
                                        <a:latin typeface="Cambria Math" panose="02040503050406030204" pitchFamily="18" charset="0"/>
                                        <a:ea typeface="Cambria Math" panose="02040503050406030204" pitchFamily="18" charset="0"/>
                                      </a:rPr>
                                    </m:ctrlPr>
                                  </m:sSubPr>
                                  <m:e>
                                    <m:r>
                                      <a:rPr lang="cs-CZ" sz="1200" b="0" i="1" u="none" strike="noStrike" dirty="0" smtClean="0">
                                        <a:solidFill>
                                          <a:schemeClr val="bg1"/>
                                        </a:solidFill>
                                        <a:effectLst/>
                                        <a:latin typeface="Cambria Math"/>
                                        <a:ea typeface="Cambria Math" panose="02040503050406030204" pitchFamily="18" charset="0"/>
                                      </a:rPr>
                                      <m:t>𝑆</m:t>
                                    </m:r>
                                  </m:e>
                                  <m:sub>
                                    <m:r>
                                      <a:rPr lang="cs-CZ" sz="1200" b="0" i="1" u="none" strike="noStrike" dirty="0" smtClean="0">
                                        <a:solidFill>
                                          <a:schemeClr val="bg1"/>
                                        </a:solidFill>
                                        <a:effectLst/>
                                        <a:latin typeface="Cambria Math"/>
                                        <a:ea typeface="Cambria Math" panose="02040503050406030204" pitchFamily="18" charset="0"/>
                                      </a:rPr>
                                      <m:t>𝑘</m:t>
                                    </m:r>
                                  </m:sub>
                                </m:sSub>
                              </m:oMath>
                            </m:oMathPara>
                          </a14:m>
                          <a:endParaRPr lang="cs-CZ" sz="12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fontAlgn="b"/>
                          <a14:m>
                            <m:oMathPara xmlns:m="http://schemas.openxmlformats.org/officeDocument/2006/math">
                              <m:oMathParaPr>
                                <m:jc m:val="center"/>
                              </m:oMathParaPr>
                              <m:oMath xmlns:m="http://schemas.openxmlformats.org/officeDocument/2006/math">
                                <m:sSub>
                                  <m:sSubPr>
                                    <m:ctrlPr>
                                      <a:rPr lang="cs-CZ" sz="1200" i="1" u="none" strike="noStrike" dirty="0" smtClean="0">
                                        <a:solidFill>
                                          <a:schemeClr val="bg1"/>
                                        </a:solidFill>
                                        <a:effectLst/>
                                        <a:latin typeface="Cambria Math" panose="02040503050406030204" pitchFamily="18" charset="0"/>
                                        <a:ea typeface="Cambria Math" panose="02040503050406030204" pitchFamily="18" charset="0"/>
                                      </a:rPr>
                                    </m:ctrlPr>
                                  </m:sSubPr>
                                  <m:e>
                                    <m:r>
                                      <a:rPr lang="cs-CZ" sz="1200" b="0" i="1" u="none" strike="noStrike" dirty="0" smtClean="0">
                                        <a:solidFill>
                                          <a:schemeClr val="bg1"/>
                                        </a:solidFill>
                                        <a:effectLst/>
                                        <a:latin typeface="Cambria Math"/>
                                        <a:ea typeface="Cambria Math" panose="02040503050406030204" pitchFamily="18" charset="0"/>
                                      </a:rPr>
                                      <m:t>𝐶𝐹</m:t>
                                    </m:r>
                                  </m:e>
                                  <m:sub>
                                    <m:r>
                                      <a:rPr lang="cs-CZ" sz="1200" b="0" i="1" u="none" strike="noStrike" dirty="0" smtClean="0">
                                        <a:solidFill>
                                          <a:schemeClr val="bg1"/>
                                        </a:solidFill>
                                        <a:effectLst/>
                                        <a:latin typeface="Cambria Math"/>
                                        <a:ea typeface="Cambria Math" panose="02040503050406030204" pitchFamily="18" charset="0"/>
                                      </a:rPr>
                                      <m:t>𝑘</m:t>
                                    </m:r>
                                  </m:sub>
                                </m:sSub>
                              </m:oMath>
                            </m:oMathPara>
                          </a14:m>
                          <a:endParaRPr lang="cs-CZ" sz="12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cs-CZ" sz="1200" i="1" u="none" strike="noStrike" dirty="0" smtClean="0">
                                        <a:solidFill>
                                          <a:schemeClr val="bg1"/>
                                        </a:solidFill>
                                        <a:effectLst/>
                                        <a:latin typeface="Cambria Math" panose="02040503050406030204" pitchFamily="18" charset="0"/>
                                        <a:ea typeface="Cambria Math" panose="02040503050406030204" pitchFamily="18" charset="0"/>
                                      </a:rPr>
                                    </m:ctrlPr>
                                  </m:sSubPr>
                                  <m:e>
                                    <m:r>
                                      <a:rPr lang="cs-CZ" sz="1200" b="0" i="1" u="none" strike="noStrike" dirty="0" smtClean="0">
                                        <a:solidFill>
                                          <a:schemeClr val="bg1"/>
                                        </a:solidFill>
                                        <a:effectLst/>
                                        <a:latin typeface="Cambria Math"/>
                                        <a:ea typeface="Cambria Math" panose="02040503050406030204" pitchFamily="18" charset="0"/>
                                      </a:rPr>
                                      <m:t>𝐵𝐶</m:t>
                                    </m:r>
                                  </m:e>
                                  <m:sub>
                                    <m:r>
                                      <a:rPr lang="cs-CZ" sz="1200" b="0" i="1" u="none" strike="noStrike" dirty="0" smtClean="0">
                                        <a:solidFill>
                                          <a:schemeClr val="bg1"/>
                                        </a:solidFill>
                                        <a:effectLst/>
                                        <a:latin typeface="Cambria Math"/>
                                        <a:ea typeface="Cambria Math" panose="02040503050406030204" pitchFamily="18" charset="0"/>
                                      </a:rPr>
                                      <m:t>𝑘</m:t>
                                    </m:r>
                                  </m:sub>
                                </m:sSub>
                              </m:oMath>
                            </m:oMathPara>
                          </a14:m>
                          <a:endParaRPr lang="cs-CZ" sz="12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cs-CZ" sz="1200" i="1" u="none" strike="noStrike" dirty="0" smtClean="0">
                                        <a:solidFill>
                                          <a:schemeClr val="bg1"/>
                                        </a:solidFill>
                                        <a:effectLst/>
                                        <a:latin typeface="Cambria Math" panose="02040503050406030204" pitchFamily="18" charset="0"/>
                                        <a:ea typeface="Cambria Math" panose="02040503050406030204" pitchFamily="18" charset="0"/>
                                      </a:rPr>
                                    </m:ctrlPr>
                                  </m:sSubPr>
                                  <m:e>
                                    <m:r>
                                      <a:rPr lang="cs-CZ" sz="1200" b="0" i="1" u="none" strike="noStrike" dirty="0" smtClean="0">
                                        <a:solidFill>
                                          <a:schemeClr val="bg1"/>
                                        </a:solidFill>
                                        <a:effectLst/>
                                        <a:latin typeface="Cambria Math"/>
                                        <a:ea typeface="Cambria Math" panose="02040503050406030204" pitchFamily="18" charset="0"/>
                                      </a:rPr>
                                      <m:t>𝑝</m:t>
                                    </m:r>
                                  </m:e>
                                  <m:sub>
                                    <m:r>
                                      <a:rPr lang="cs-CZ" sz="1200" b="0" i="1" u="none" strike="noStrike" dirty="0" smtClean="0">
                                        <a:solidFill>
                                          <a:schemeClr val="bg1"/>
                                        </a:solidFill>
                                        <a:effectLst/>
                                        <a:latin typeface="Cambria Math"/>
                                        <a:ea typeface="Cambria Math" panose="02040503050406030204" pitchFamily="18" charset="0"/>
                                      </a:rPr>
                                      <m:t>𝑘</m:t>
                                    </m:r>
                                  </m:sub>
                                </m:sSub>
                              </m:oMath>
                            </m:oMathPara>
                          </a14:m>
                          <a:endParaRPr lang="cs-CZ" sz="12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fontAlgn="b"/>
                          <a14:m>
                            <m:oMathPara xmlns:m="http://schemas.openxmlformats.org/officeDocument/2006/math">
                              <m:oMathParaPr>
                                <m:jc m:val="center"/>
                              </m:oMathParaPr>
                              <m:oMath xmlns:m="http://schemas.openxmlformats.org/officeDocument/2006/math">
                                <m:sSub>
                                  <m:sSubPr>
                                    <m:ctrlPr>
                                      <a:rPr lang="cs-CZ" sz="1200" b="0" i="1" u="none" strike="noStrike" dirty="0" smtClean="0">
                                        <a:solidFill>
                                          <a:schemeClr val="bg1"/>
                                        </a:solidFill>
                                        <a:effectLst/>
                                        <a:latin typeface="Cambria Math" panose="02040503050406030204" pitchFamily="18" charset="0"/>
                                        <a:ea typeface="Cambria Math" panose="02040503050406030204" pitchFamily="18" charset="0"/>
                                      </a:rPr>
                                    </m:ctrlPr>
                                  </m:sSubPr>
                                  <m:e>
                                    <m:r>
                                      <a:rPr lang="cs-CZ" sz="1200" b="0" i="1" u="none" strike="noStrike" dirty="0" smtClean="0">
                                        <a:solidFill>
                                          <a:schemeClr val="bg1"/>
                                        </a:solidFill>
                                        <a:effectLst/>
                                        <a:latin typeface="Cambria Math"/>
                                        <a:ea typeface="Cambria Math" panose="02040503050406030204" pitchFamily="18" charset="0"/>
                                      </a:rPr>
                                      <m:t>𝐸</m:t>
                                    </m:r>
                                  </m:e>
                                  <m:sub>
                                    <m:r>
                                      <a:rPr lang="cs-CZ" sz="1200" b="0" i="1" u="none" strike="noStrike" dirty="0" smtClean="0">
                                        <a:solidFill>
                                          <a:schemeClr val="bg1"/>
                                        </a:solidFill>
                                        <a:effectLst/>
                                        <a:latin typeface="Cambria Math"/>
                                        <a:ea typeface="Cambria Math" panose="02040503050406030204" pitchFamily="18" charset="0"/>
                                      </a:rPr>
                                      <m:t>𝑘</m:t>
                                    </m:r>
                                  </m:sub>
                                </m:sSub>
                              </m:oMath>
                            </m:oMathPara>
                          </a14:m>
                          <a:endParaRPr lang="cs-CZ" sz="12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R w="1905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0000"/>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10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689.29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644.29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0.0173</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11.17</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0001"/>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371.16</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326.16</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0.0867</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28.28</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2"/>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8</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199.85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154.85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45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0.1951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30.21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3"/>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7</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107.61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62.61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120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0.2601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16.29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4"/>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6</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57.95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12.95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210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0.2276</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2.95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5"/>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31.20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252</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0.1366</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6"/>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4</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16.80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210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0.0569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7"/>
                      </a:ext>
                    </a:extLst>
                  </a:tr>
                  <a:tr h="190500">
                    <a:tc>
                      <a:txBody>
                        <a:bodyPr/>
                        <a:lstStyle/>
                        <a:p>
                          <a:pPr algn="ctr" fontAlgn="b"/>
                          <a:r>
                            <a:rPr lang="cs-CZ" sz="1000" u="none" strike="noStrike">
                              <a:effectLst/>
                              <a:latin typeface="Cambria Math" panose="02040503050406030204" pitchFamily="18" charset="0"/>
                              <a:ea typeface="Cambria Math" panose="02040503050406030204" pitchFamily="18" charset="0"/>
                            </a:rPr>
                            <a:t>3</a:t>
                          </a:r>
                          <a:endParaRPr lang="cs-CZ" sz="10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9.05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120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0.0163</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8"/>
                      </a:ext>
                    </a:extLst>
                  </a:tr>
                  <a:tr h="190500">
                    <a:tc>
                      <a:txBody>
                        <a:bodyPr/>
                        <a:lstStyle/>
                        <a:p>
                          <a:pPr algn="ctr" fontAlgn="b"/>
                          <a:r>
                            <a:rPr lang="cs-CZ" sz="1000" u="none" strike="noStrike">
                              <a:effectLst/>
                              <a:latin typeface="Cambria Math" panose="02040503050406030204" pitchFamily="18" charset="0"/>
                              <a:ea typeface="Cambria Math" panose="02040503050406030204" pitchFamily="18" charset="0"/>
                            </a:rPr>
                            <a:t>2</a:t>
                          </a:r>
                          <a:endParaRPr lang="cs-CZ" sz="10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4.87</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45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0.0030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9"/>
                      </a:ext>
                    </a:extLst>
                  </a:tr>
                  <a:tr h="190500">
                    <a:tc>
                      <a:txBody>
                        <a:bodyPr/>
                        <a:lstStyle/>
                        <a:p>
                          <a:pPr algn="ctr" fontAlgn="b"/>
                          <a:r>
                            <a:rPr lang="cs-CZ" sz="1000" u="none" strike="noStrike">
                              <a:effectLst/>
                              <a:latin typeface="Cambria Math" panose="02040503050406030204" pitchFamily="18" charset="0"/>
                              <a:ea typeface="Cambria Math" panose="02040503050406030204" pitchFamily="18" charset="0"/>
                            </a:rPr>
                            <a:t>1</a:t>
                          </a:r>
                          <a:endParaRPr lang="cs-CZ" sz="10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2.62</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0.0003</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10"/>
                      </a:ext>
                    </a:extLst>
                  </a:tr>
                  <a:tr h="190500">
                    <a:tc>
                      <a:txBody>
                        <a:bodyPr/>
                        <a:lstStyle/>
                        <a:p>
                          <a:pPr algn="ctr" fontAlgn="b"/>
                          <a:r>
                            <a:rPr lang="cs-CZ" sz="1000" u="none" strike="noStrike">
                              <a:effectLst/>
                              <a:latin typeface="Cambria Math" panose="02040503050406030204" pitchFamily="18" charset="0"/>
                              <a:ea typeface="Cambria Math" panose="02040503050406030204" pitchFamily="18" charset="0"/>
                            </a:rPr>
                            <a:t>0</a:t>
                          </a:r>
                          <a:endParaRPr lang="cs-CZ" sz="10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1.41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1"/>
                      </a:ext>
                    </a:extLst>
                  </a:tr>
                  <a:tr h="190500">
                    <a:tc>
                      <a:txBody>
                        <a:bodyPr/>
                        <a:lstStyle/>
                        <a:p>
                          <a:pPr algn="ctr" fontAlgn="b"/>
                          <a:r>
                            <a:rPr lang="el-GR" sz="1000" b="0" i="0" u="none" strike="noStrike" dirty="0">
                              <a:solidFill>
                                <a:srgbClr val="000000"/>
                              </a:solidFill>
                              <a:effectLst/>
                              <a:latin typeface="Cambria Math" panose="02040503050406030204" pitchFamily="18" charset="0"/>
                              <a:ea typeface="Cambria Math" panose="02040503050406030204" pitchFamily="18" charset="0"/>
                            </a:rPr>
                            <a:t>Σ</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1.0000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88.90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3"/>
                      </a:ext>
                    </a:extLst>
                  </a:tr>
                </a:tbl>
              </a:graphicData>
            </a:graphic>
          </p:graphicFrame>
        </mc:Choice>
        <mc:Fallback xmlns="">
          <p:graphicFrame>
            <p:nvGraphicFramePr>
              <p:cNvPr id="6" name="Tabulka 5"/>
              <p:cNvGraphicFramePr>
                <a:graphicFrameLocks noGrp="1"/>
              </p:cNvGraphicFramePr>
              <p:nvPr>
                <p:extLst>
                  <p:ext uri="{D42A27DB-BD31-4B8C-83A1-F6EECF244321}">
                    <p14:modId xmlns:p14="http://schemas.microsoft.com/office/powerpoint/2010/main" val="165421232"/>
                  </p:ext>
                </p:extLst>
              </p:nvPr>
            </p:nvGraphicFramePr>
            <p:xfrm>
              <a:off x="1259992" y="2564904"/>
              <a:ext cx="3240000" cy="2754000"/>
            </p:xfrm>
            <a:graphic>
              <a:graphicData uri="http://schemas.openxmlformats.org/drawingml/2006/table">
                <a:tbl>
                  <a:tblPr>
                    <a:tableStyleId>{7DF18680-E054-41AD-8BC1-D1AEF772440D}</a:tableStyleId>
                  </a:tblPr>
                  <a:tblGrid>
                    <a:gridCol w="540000">
                      <a:extLst>
                        <a:ext uri="{9D8B030D-6E8A-4147-A177-3AD203B41FA5}">
                          <a16:colId xmlns:a16="http://schemas.microsoft.com/office/drawing/2014/main" val="20000"/>
                        </a:ext>
                      </a:extLst>
                    </a:gridCol>
                    <a:gridCol w="540000">
                      <a:extLst>
                        <a:ext uri="{9D8B030D-6E8A-4147-A177-3AD203B41FA5}">
                          <a16:colId xmlns:a16="http://schemas.microsoft.com/office/drawing/2014/main" val="20001"/>
                        </a:ext>
                      </a:extLst>
                    </a:gridCol>
                    <a:gridCol w="540000">
                      <a:extLst>
                        <a:ext uri="{9D8B030D-6E8A-4147-A177-3AD203B41FA5}">
                          <a16:colId xmlns:a16="http://schemas.microsoft.com/office/drawing/2014/main" val="20002"/>
                        </a:ext>
                      </a:extLst>
                    </a:gridCol>
                    <a:gridCol w="540000">
                      <a:extLst>
                        <a:ext uri="{9D8B030D-6E8A-4147-A177-3AD203B41FA5}">
                          <a16:colId xmlns:a16="http://schemas.microsoft.com/office/drawing/2014/main" val="20003"/>
                        </a:ext>
                      </a:extLst>
                    </a:gridCol>
                    <a:gridCol w="540000">
                      <a:extLst>
                        <a:ext uri="{9D8B030D-6E8A-4147-A177-3AD203B41FA5}">
                          <a16:colId xmlns:a16="http://schemas.microsoft.com/office/drawing/2014/main" val="20004"/>
                        </a:ext>
                      </a:extLst>
                    </a:gridCol>
                    <a:gridCol w="540000">
                      <a:extLst>
                        <a:ext uri="{9D8B030D-6E8A-4147-A177-3AD203B41FA5}">
                          <a16:colId xmlns:a16="http://schemas.microsoft.com/office/drawing/2014/main" val="20005"/>
                        </a:ext>
                      </a:extLst>
                    </a:gridCol>
                  </a:tblGrid>
                  <a:tr h="180000">
                    <a:tc>
                      <a:txBody>
                        <a:bodyPr/>
                        <a:lstStyle/>
                        <a:p>
                          <a:pPr algn="ctr" fontAlgn="b"/>
                          <a:r>
                            <a:rPr lang="en-US" sz="800" b="0" i="0" u="none" strike="noStrike" dirty="0">
                              <a:solidFill>
                                <a:schemeClr val="bg1"/>
                              </a:solidFill>
                              <a:effectLst/>
                              <a:latin typeface="Cambria Math" panose="02040503050406030204" pitchFamily="18" charset="0"/>
                              <a:ea typeface="Cambria Math" panose="02040503050406030204" pitchFamily="18" charset="0"/>
                            </a:rPr>
                            <a:t>1</a:t>
                          </a:r>
                          <a:endParaRPr lang="cs-CZ" sz="8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en-US" sz="800" b="0" i="0" u="none" strike="noStrike" dirty="0">
                              <a:solidFill>
                                <a:schemeClr val="bg1"/>
                              </a:solidFill>
                              <a:effectLst/>
                              <a:latin typeface="Cambria Math" panose="02040503050406030204" pitchFamily="18" charset="0"/>
                              <a:ea typeface="Cambria Math" panose="02040503050406030204" pitchFamily="18" charset="0"/>
                            </a:rPr>
                            <a:t>2</a:t>
                          </a:r>
                          <a:endParaRPr lang="cs-CZ" sz="8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en-US" sz="800" b="0" i="0" u="none" strike="noStrike" dirty="0">
                              <a:solidFill>
                                <a:schemeClr val="bg1"/>
                              </a:solidFill>
                              <a:effectLst/>
                              <a:latin typeface="Cambria Math" panose="02040503050406030204" pitchFamily="18" charset="0"/>
                              <a:ea typeface="Cambria Math" panose="02040503050406030204" pitchFamily="18" charset="0"/>
                            </a:rPr>
                            <a:t>3</a:t>
                          </a:r>
                          <a:endParaRPr lang="cs-CZ" sz="8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en-US" sz="800" b="0" i="0" u="none" strike="noStrike" dirty="0">
                              <a:solidFill>
                                <a:schemeClr val="bg1"/>
                              </a:solidFill>
                              <a:effectLst/>
                              <a:latin typeface="Cambria Math" panose="02040503050406030204" pitchFamily="18" charset="0"/>
                              <a:ea typeface="Cambria Math" panose="02040503050406030204" pitchFamily="18" charset="0"/>
                            </a:rPr>
                            <a:t>4</a:t>
                          </a:r>
                          <a:endParaRPr lang="cs-CZ" sz="8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800" b="0" i="0" u="none" strike="noStrike" dirty="0">
                              <a:solidFill>
                                <a:schemeClr val="bg1"/>
                              </a:solidFill>
                              <a:effectLst/>
                              <a:latin typeface="Cambria Math" panose="02040503050406030204" pitchFamily="18" charset="0"/>
                              <a:ea typeface="Cambria Math" panose="02040503050406030204" pitchFamily="18" charset="0"/>
                            </a:rPr>
                            <a:t>5</a:t>
                          </a:r>
                          <a:endParaRPr lang="cs-CZ" sz="8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en-US" sz="800" b="0" i="0" u="none" strike="noStrike" dirty="0">
                              <a:solidFill>
                                <a:schemeClr val="bg1"/>
                              </a:solidFill>
                              <a:effectLst/>
                              <a:latin typeface="Cambria Math" panose="02040503050406030204" pitchFamily="18" charset="0"/>
                              <a:ea typeface="Cambria Math" panose="02040503050406030204" pitchFamily="18" charset="0"/>
                            </a:rPr>
                            <a:t>6</a:t>
                          </a:r>
                          <a:endParaRPr lang="cs-CZ" sz="8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19065596"/>
                      </a:ext>
                    </a:extLst>
                  </a:tr>
                  <a:tr h="288000">
                    <a:tc>
                      <a:txBody>
                        <a:bodyPr/>
                        <a:lstStyle/>
                        <a:p>
                          <a:endParaRPr lang="en-US"/>
                        </a:p>
                      </a:txBody>
                      <a:tcPr marL="9525" marR="9525" marT="9525" marB="0" anchor="ctr">
                        <a:lnL w="1905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12"/>
                          <a:stretch>
                            <a:fillRect l="-1124" t="-65957" r="-502247" b="-829787"/>
                          </a:stretch>
                        </a:blipFill>
                      </a:tcPr>
                    </a:tc>
                    <a:tc>
                      <a:txBody>
                        <a:bodyPr/>
                        <a:lstStyle/>
                        <a:p>
                          <a:endParaRPr lang="en-US"/>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12"/>
                          <a:stretch>
                            <a:fillRect l="-101124" t="-65957" r="-402247" b="-829787"/>
                          </a:stretch>
                        </a:blipFill>
                      </a:tcPr>
                    </a:tc>
                    <a:tc>
                      <a:txBody>
                        <a:bodyPr/>
                        <a:lstStyle/>
                        <a:p>
                          <a:endParaRPr lang="en-US"/>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12"/>
                          <a:stretch>
                            <a:fillRect l="-201124" t="-65957" r="-302247" b="-829787"/>
                          </a:stretch>
                        </a:blipFill>
                      </a:tcPr>
                    </a:tc>
                    <a:tc>
                      <a:txBody>
                        <a:bodyPr/>
                        <a:lstStyle/>
                        <a:p>
                          <a:endParaRPr lang="en-US"/>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12"/>
                          <a:stretch>
                            <a:fillRect l="-304545" t="-65957" r="-205682" b="-829787"/>
                          </a:stretch>
                        </a:blipFill>
                      </a:tcPr>
                    </a:tc>
                    <a:tc>
                      <a:txBody>
                        <a:bodyPr/>
                        <a:lstStyle/>
                        <a:p>
                          <a:endParaRPr lang="en-US"/>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12"/>
                          <a:stretch>
                            <a:fillRect l="-400000" t="-65957" r="-103371" b="-829787"/>
                          </a:stretch>
                        </a:blipFill>
                      </a:tcPr>
                    </a:tc>
                    <a:tc>
                      <a:txBody>
                        <a:bodyPr/>
                        <a:lstStyle/>
                        <a:p>
                          <a:endParaRPr lang="en-US"/>
                        </a:p>
                      </a:txBody>
                      <a:tcPr marL="9525" marR="9525" marT="9525" marB="0" anchor="ctr">
                        <a:lnR w="1905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12"/>
                          <a:stretch>
                            <a:fillRect l="-500000" t="-65957" r="-3371" b="-829787"/>
                          </a:stretch>
                        </a:blipFill>
                      </a:tcPr>
                    </a:tc>
                    <a:extLst>
                      <a:ext uri="{0D108BD9-81ED-4DB2-BD59-A6C34878D82A}">
                        <a16:rowId xmlns:a16="http://schemas.microsoft.com/office/drawing/2014/main" val="10000"/>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10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689.29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644.29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0.0173</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11.17</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0001"/>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371.16</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326.16</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0.0867</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28.28</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2"/>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8</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199.85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154.85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45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0.1951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30.21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3"/>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7</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107.61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62.61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120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0.2601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16.29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4"/>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6</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57.95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12.95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210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0.2276</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2.95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5"/>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31.20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252</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0.1366</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6"/>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4</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16.80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210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0.0569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7"/>
                      </a:ext>
                    </a:extLst>
                  </a:tr>
                  <a:tr h="190500">
                    <a:tc>
                      <a:txBody>
                        <a:bodyPr/>
                        <a:lstStyle/>
                        <a:p>
                          <a:pPr algn="ctr" fontAlgn="b"/>
                          <a:r>
                            <a:rPr lang="cs-CZ" sz="1000" u="none" strike="noStrike">
                              <a:effectLst/>
                              <a:latin typeface="Cambria Math" panose="02040503050406030204" pitchFamily="18" charset="0"/>
                              <a:ea typeface="Cambria Math" panose="02040503050406030204" pitchFamily="18" charset="0"/>
                            </a:rPr>
                            <a:t>3</a:t>
                          </a:r>
                          <a:endParaRPr lang="cs-CZ" sz="10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9.05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120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0.0163</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8"/>
                      </a:ext>
                    </a:extLst>
                  </a:tr>
                  <a:tr h="190500">
                    <a:tc>
                      <a:txBody>
                        <a:bodyPr/>
                        <a:lstStyle/>
                        <a:p>
                          <a:pPr algn="ctr" fontAlgn="b"/>
                          <a:r>
                            <a:rPr lang="cs-CZ" sz="1000" u="none" strike="noStrike">
                              <a:effectLst/>
                              <a:latin typeface="Cambria Math" panose="02040503050406030204" pitchFamily="18" charset="0"/>
                              <a:ea typeface="Cambria Math" panose="02040503050406030204" pitchFamily="18" charset="0"/>
                            </a:rPr>
                            <a:t>2</a:t>
                          </a:r>
                          <a:endParaRPr lang="cs-CZ" sz="10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4.87</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45</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0.0030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9"/>
                      </a:ext>
                    </a:extLst>
                  </a:tr>
                  <a:tr h="190500">
                    <a:tc>
                      <a:txBody>
                        <a:bodyPr/>
                        <a:lstStyle/>
                        <a:p>
                          <a:pPr algn="ctr" fontAlgn="b"/>
                          <a:r>
                            <a:rPr lang="cs-CZ" sz="1000" u="none" strike="noStrike">
                              <a:effectLst/>
                              <a:latin typeface="Cambria Math" panose="02040503050406030204" pitchFamily="18" charset="0"/>
                              <a:ea typeface="Cambria Math" panose="02040503050406030204" pitchFamily="18" charset="0"/>
                            </a:rPr>
                            <a:t>1</a:t>
                          </a:r>
                          <a:endParaRPr lang="cs-CZ" sz="10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2.62</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0.0003</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10"/>
                      </a:ext>
                    </a:extLst>
                  </a:tr>
                  <a:tr h="190500">
                    <a:tc>
                      <a:txBody>
                        <a:bodyPr/>
                        <a:lstStyle/>
                        <a:p>
                          <a:pPr algn="ctr" fontAlgn="b"/>
                          <a:r>
                            <a:rPr lang="cs-CZ" sz="1000" u="none" strike="noStrike">
                              <a:effectLst/>
                              <a:latin typeface="Cambria Math" panose="02040503050406030204" pitchFamily="18" charset="0"/>
                              <a:ea typeface="Cambria Math" panose="02040503050406030204" pitchFamily="18" charset="0"/>
                            </a:rPr>
                            <a:t>0</a:t>
                          </a:r>
                          <a:endParaRPr lang="cs-CZ" sz="1000" b="0" i="0" u="none" strike="noStrike">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1.41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1"/>
                      </a:ext>
                    </a:extLst>
                  </a:tr>
                  <a:tr h="190500">
                    <a:tc>
                      <a:txBody>
                        <a:bodyPr/>
                        <a:lstStyle/>
                        <a:p>
                          <a:pPr algn="ctr" fontAlgn="b"/>
                          <a:r>
                            <a:rPr lang="el-GR" sz="1000" b="0" i="0" u="none" strike="noStrike" dirty="0">
                              <a:solidFill>
                                <a:srgbClr val="000000"/>
                              </a:solidFill>
                              <a:effectLst/>
                              <a:latin typeface="Cambria Math" panose="02040503050406030204" pitchFamily="18" charset="0"/>
                              <a:ea typeface="Cambria Math" panose="02040503050406030204" pitchFamily="18" charset="0"/>
                            </a:rPr>
                            <a:t>Σ</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1.0000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r>
                            <a:rPr lang="cs-CZ" sz="1000" u="none" strike="noStrike" dirty="0">
                              <a:effectLst/>
                              <a:latin typeface="Cambria Math" panose="02040503050406030204" pitchFamily="18" charset="0"/>
                              <a:ea typeface="Cambria Math" panose="02040503050406030204" pitchFamily="18" charset="0"/>
                            </a:rPr>
                            <a:t>88.90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3"/>
                      </a:ext>
                    </a:extLst>
                  </a:tr>
                </a:tbl>
              </a:graphicData>
            </a:graphic>
          </p:graphicFrame>
        </mc:Fallback>
      </mc:AlternateContent>
      <mc:AlternateContent xmlns:mc="http://schemas.openxmlformats.org/markup-compatibility/2006" xmlns:a14="http://schemas.microsoft.com/office/drawing/2010/main">
        <mc:Choice Requires="a14">
          <p:sp>
            <p:nvSpPr>
              <p:cNvPr id="34" name="TextovéPole 33"/>
              <p:cNvSpPr txBox="1"/>
              <p:nvPr/>
            </p:nvSpPr>
            <p:spPr>
              <a:xfrm>
                <a:off x="1188000" y="1770078"/>
                <a:ext cx="6768000"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14:m>
                  <m:oMath xmlns:m="http://schemas.openxmlformats.org/officeDocument/2006/math">
                    <m:r>
                      <a:rPr lang="en-GB" sz="1600">
                        <a:latin typeface="Cambria Math" panose="02040503050406030204" pitchFamily="18" charset="0"/>
                        <a:ea typeface="Cambria Math" panose="02040503050406030204" pitchFamily="18" charset="0"/>
                      </a:rPr>
                      <m:t>𝑝</m:t>
                    </m:r>
                    <m:r>
                      <a:rPr lang="en-GB" sz="1600">
                        <a:latin typeface="Cambria Math" panose="02040503050406030204" pitchFamily="18" charset="0"/>
                        <a:ea typeface="Cambria Math" panose="02040503050406030204" pitchFamily="18" charset="0"/>
                      </a:rPr>
                      <m:t>=66.67% </m:t>
                    </m:r>
                  </m:oMath>
                </a14:m>
                <a:r>
                  <a:rPr lang="en-GB" sz="1600" dirty="0">
                    <a:latin typeface="Cambria Math" panose="02040503050406030204" pitchFamily="18" charset="0"/>
                    <a:ea typeface="Cambria Math" panose="02040503050406030204" pitchFamily="18" charset="0"/>
                  </a:rPr>
                  <a:t>(risk-neutral probability calculated on the previous slide)</a:t>
                </a:r>
              </a:p>
            </p:txBody>
          </p:sp>
        </mc:Choice>
        <mc:Fallback xmlns="">
          <p:sp>
            <p:nvSpPr>
              <p:cNvPr id="34" name="TextovéPole 33"/>
              <p:cNvSpPr txBox="1">
                <a:spLocks noRot="1" noChangeAspect="1" noMove="1" noResize="1" noEditPoints="1" noAdjustHandles="1" noChangeArrowheads="1" noChangeShapeType="1" noTextEdit="1"/>
              </p:cNvSpPr>
              <p:nvPr/>
            </p:nvSpPr>
            <p:spPr>
              <a:xfrm>
                <a:off x="1188000" y="1770078"/>
                <a:ext cx="6768000" cy="338554"/>
              </a:xfrm>
              <a:prstGeom prst="rect">
                <a:avLst/>
              </a:prstGeom>
              <a:blipFill>
                <a:blip r:embed="rId13"/>
                <a:stretch>
                  <a:fillRect l="-360" t="-7143" b="-19643"/>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ovéPole 45"/>
              <p:cNvSpPr txBox="1"/>
              <p:nvPr/>
            </p:nvSpPr>
            <p:spPr>
              <a:xfrm>
                <a:off x="1188000" y="1496286"/>
                <a:ext cx="4752152"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14:m>
                  <m:oMath xmlns:m="http://schemas.openxmlformats.org/officeDocument/2006/math">
                    <m:r>
                      <a:rPr lang="en-GB" sz="1600" smtClean="0">
                        <a:latin typeface="Cambria Math" panose="02040503050406030204" pitchFamily="18" charset="0"/>
                        <a:ea typeface="Cambria Math" panose="02040503050406030204" pitchFamily="18" charset="0"/>
                      </a:rPr>
                      <m:t>𝑇</m:t>
                    </m:r>
                    <m:r>
                      <a:rPr lang="en-GB" sz="1600" smtClean="0">
                        <a:latin typeface="Cambria Math" panose="02040503050406030204" pitchFamily="18" charset="0"/>
                        <a:ea typeface="Cambria Math" panose="02040503050406030204" pitchFamily="18" charset="0"/>
                      </a:rPr>
                      <m:t>=10 </m:t>
                    </m:r>
                    <m:r>
                      <m:rPr>
                        <m:sty m:val="p"/>
                      </m:rPr>
                      <a:rPr lang="cs-CZ" sz="1600" b="0" i="0" smtClean="0">
                        <a:latin typeface="Cambria Math" panose="02040503050406030204" pitchFamily="18" charset="0"/>
                        <a:ea typeface="Cambria Math" panose="02040503050406030204" pitchFamily="18" charset="0"/>
                      </a:rPr>
                      <m:t>years</m:t>
                    </m:r>
                  </m:oMath>
                </a14:m>
                <a:r>
                  <a:rPr lang="en-GB" sz="1600" dirty="0">
                    <a:latin typeface="Cambria Math" panose="02040503050406030204" pitchFamily="18" charset="0"/>
                    <a:ea typeface="Cambria Math" panose="02040503050406030204" pitchFamily="18" charset="0"/>
                  </a:rPr>
                  <a:t> (model’s extension to 10 periods)</a:t>
                </a:r>
              </a:p>
            </p:txBody>
          </p:sp>
        </mc:Choice>
        <mc:Fallback xmlns="">
          <p:sp>
            <p:nvSpPr>
              <p:cNvPr id="46" name="TextovéPole 45"/>
              <p:cNvSpPr txBox="1">
                <a:spLocks noRot="1" noChangeAspect="1" noMove="1" noResize="1" noEditPoints="1" noAdjustHandles="1" noChangeArrowheads="1" noChangeShapeType="1" noTextEdit="1"/>
              </p:cNvSpPr>
              <p:nvPr/>
            </p:nvSpPr>
            <p:spPr>
              <a:xfrm>
                <a:off x="1188000" y="1496286"/>
                <a:ext cx="4752152" cy="338554"/>
              </a:xfrm>
              <a:prstGeom prst="rect">
                <a:avLst/>
              </a:prstGeom>
              <a:blipFill>
                <a:blip r:embed="rId14"/>
                <a:stretch>
                  <a:fillRect l="-513" t="-7143" b="-19643"/>
                </a:stretch>
              </a:blipFill>
              <a:ln>
                <a:noFill/>
              </a:ln>
            </p:spPr>
            <p:txBody>
              <a:bodyPr/>
              <a:lstStyle/>
              <a:p>
                <a:r>
                  <a:rPr lang="en-GB">
                    <a:noFill/>
                  </a:rPr>
                  <a:t> </a:t>
                </a:r>
              </a:p>
            </p:txBody>
          </p:sp>
        </mc:Fallback>
      </mc:AlternateContent>
      <p:sp>
        <p:nvSpPr>
          <p:cNvPr id="9" name="TextovéPole 8">
            <a:extLst>
              <a:ext uri="{FF2B5EF4-FFF2-40B4-BE49-F238E27FC236}">
                <a16:creationId xmlns:a16="http://schemas.microsoft.com/office/drawing/2014/main" id="{3FF86ABB-1A62-FCC3-3A84-EF2C97D61BE2}"/>
              </a:ext>
            </a:extLst>
          </p:cNvPr>
          <p:cNvSpPr txBox="1"/>
          <p:nvPr/>
        </p:nvSpPr>
        <p:spPr>
          <a:xfrm>
            <a:off x="864000" y="2124000"/>
            <a:ext cx="2089470"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Calculation</a:t>
            </a:r>
          </a:p>
        </p:txBody>
      </p:sp>
      <p:sp>
        <p:nvSpPr>
          <p:cNvPr id="10" name="TextovéPole 9">
            <a:extLst>
              <a:ext uri="{FF2B5EF4-FFF2-40B4-BE49-F238E27FC236}">
                <a16:creationId xmlns:a16="http://schemas.microsoft.com/office/drawing/2014/main" id="{F10D7D0B-6726-3EF6-787F-0EDD91CF4BC3}"/>
              </a:ext>
            </a:extLst>
          </p:cNvPr>
          <p:cNvSpPr txBox="1"/>
          <p:nvPr/>
        </p:nvSpPr>
        <p:spPr>
          <a:xfrm>
            <a:off x="149232" y="3652546"/>
            <a:ext cx="1038767" cy="400110"/>
          </a:xfrm>
          <a:prstGeom prst="rect">
            <a:avLst/>
          </a:prstGeom>
          <a:noFill/>
        </p:spPr>
        <p:txBody>
          <a:bodyPr wrap="square" rtlCol="0">
            <a:spAutoFit/>
          </a:bodyPr>
          <a:lstStyle/>
          <a:p>
            <a:r>
              <a:rPr lang="en-GB" sz="1000" dirty="0">
                <a:latin typeface="Cambria Math"/>
                <a:ea typeface="Cambria Math" panose="02040503050406030204" pitchFamily="18" charset="0"/>
              </a:rPr>
              <a:t>Math. functions</a:t>
            </a:r>
          </a:p>
          <a:p>
            <a:r>
              <a:rPr lang="en-GB" sz="1000" dirty="0">
                <a:latin typeface="Cambria Math"/>
                <a:ea typeface="Cambria Math" panose="02040503050406030204" pitchFamily="18" charset="0"/>
              </a:rPr>
              <a:t>→ COMBIN</a:t>
            </a:r>
          </a:p>
        </p:txBody>
      </p:sp>
      <p:pic>
        <p:nvPicPr>
          <p:cNvPr id="11" name="Obrázek 10">
            <a:extLst>
              <a:ext uri="{FF2B5EF4-FFF2-40B4-BE49-F238E27FC236}">
                <a16:creationId xmlns:a16="http://schemas.microsoft.com/office/drawing/2014/main" id="{9A0240F9-5940-E7C2-9EF8-5BE00CA95CEF}"/>
              </a:ext>
            </a:extLst>
          </p:cNvPr>
          <p:cNvPicPr>
            <a:picLocks noChangeAspect="1"/>
          </p:cNvPicPr>
          <p:nvPr/>
        </p:nvPicPr>
        <p:blipFill>
          <a:blip r:embed="rId15"/>
          <a:stretch>
            <a:fillRect/>
          </a:stretch>
        </p:blipFill>
        <p:spPr>
          <a:xfrm>
            <a:off x="251520" y="3332740"/>
            <a:ext cx="369332" cy="369332"/>
          </a:xfrm>
          <a:prstGeom prst="rect">
            <a:avLst/>
          </a:prstGeom>
        </p:spPr>
      </p:pic>
    </p:spTree>
    <p:extLst>
      <p:ext uri="{BB962C8B-B14F-4D97-AF65-F5344CB8AC3E}">
        <p14:creationId xmlns:p14="http://schemas.microsoft.com/office/powerpoint/2010/main" val="122098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p:cNvSpPr>
            <a:spLocks noGrp="1"/>
          </p:cNvSpPr>
          <p:nvPr>
            <p:ph type="sldNum" sz="quarter" idx="12"/>
          </p:nvPr>
        </p:nvSpPr>
        <p:spPr>
          <a:xfrm>
            <a:off x="7164000" y="6336000"/>
            <a:ext cx="1800000" cy="360000"/>
          </a:xfrm>
        </p:spPr>
        <p:txBody>
          <a:bodyPr/>
          <a:lstStyle/>
          <a:p>
            <a:pPr algn="r"/>
            <a:fld id="{DFE5482F-2F05-49C5-9E15-73F945A41231}" type="slidenum">
              <a:rPr lang="cs-CZ" smtClean="0"/>
              <a:pPr algn="r"/>
              <a:t>6</a:t>
            </a:fld>
            <a:endParaRPr lang="cs-CZ" dirty="0"/>
          </a:p>
        </p:txBody>
      </p:sp>
      <p:sp>
        <p:nvSpPr>
          <p:cNvPr id="4" name="Nadpis 3"/>
          <p:cNvSpPr>
            <a:spLocks noGrp="1"/>
          </p:cNvSpPr>
          <p:nvPr>
            <p:ph type="title"/>
          </p:nvPr>
        </p:nvSpPr>
        <p:spPr>
          <a:xfrm>
            <a:off x="144000" y="144000"/>
            <a:ext cx="4067960" cy="648072"/>
          </a:xfrm>
        </p:spPr>
        <p:txBody>
          <a:bodyPr/>
          <a:lstStyle/>
          <a:p>
            <a:r>
              <a:rPr lang="en-GB" dirty="0">
                <a:solidFill>
                  <a:srgbClr val="000000"/>
                </a:solidFill>
              </a:rPr>
              <a:t>Black–Scholes formula</a:t>
            </a:r>
          </a:p>
        </p:txBody>
      </p:sp>
      <p:sp>
        <p:nvSpPr>
          <p:cNvPr id="29" name="TextovéPole 28"/>
          <p:cNvSpPr txBox="1"/>
          <p:nvPr/>
        </p:nvSpPr>
        <p:spPr>
          <a:xfrm>
            <a:off x="864000" y="864000"/>
            <a:ext cx="2195832"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Description</a:t>
            </a:r>
          </a:p>
        </p:txBody>
      </p:sp>
      <p:sp>
        <p:nvSpPr>
          <p:cNvPr id="83" name="TextovéPole 82">
            <a:extLst>
              <a:ext uri="{FF2B5EF4-FFF2-40B4-BE49-F238E27FC236}">
                <a16:creationId xmlns:a16="http://schemas.microsoft.com/office/drawing/2014/main" id="{EE16E3B3-D303-4859-B2FD-649CC47A3C14}"/>
              </a:ext>
            </a:extLst>
          </p:cNvPr>
          <p:cNvSpPr txBox="1"/>
          <p:nvPr/>
        </p:nvSpPr>
        <p:spPr>
          <a:xfrm>
            <a:off x="1187999" y="1257122"/>
            <a:ext cx="7007291"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The B-S formula is a solution of a second order partial differential equation</a:t>
            </a:r>
          </a:p>
        </p:txBody>
      </p:sp>
      <p:sp>
        <p:nvSpPr>
          <p:cNvPr id="155" name="TextovéPole 154">
            <a:extLst>
              <a:ext uri="{FF2B5EF4-FFF2-40B4-BE49-F238E27FC236}">
                <a16:creationId xmlns:a16="http://schemas.microsoft.com/office/drawing/2014/main" id="{EE16E3B3-D303-4859-B2FD-649CC47A3C14}"/>
              </a:ext>
            </a:extLst>
          </p:cNvPr>
          <p:cNvSpPr txBox="1"/>
          <p:nvPr/>
        </p:nvSpPr>
        <p:spPr>
          <a:xfrm>
            <a:off x="864000" y="3600000"/>
            <a:ext cx="6012256" cy="430887"/>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European call on non-dividend-paying stock  </a:t>
            </a:r>
          </a:p>
        </p:txBody>
      </p:sp>
      <mc:AlternateContent xmlns:mc="http://schemas.openxmlformats.org/markup-compatibility/2006" xmlns:a14="http://schemas.microsoft.com/office/drawing/2010/main">
        <mc:Choice Requires="a14">
          <p:sp>
            <p:nvSpPr>
              <p:cNvPr id="30" name="TextovéPole 29"/>
              <p:cNvSpPr txBox="1"/>
              <p:nvPr/>
            </p:nvSpPr>
            <p:spPr>
              <a:xfrm>
                <a:off x="3923928" y="2912168"/>
                <a:ext cx="1703287" cy="532069"/>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GB" sz="1600" b="0" i="1" smtClean="0">
                          <a:latin typeface="Cambria Math" panose="02040503050406030204" pitchFamily="18" charset="0"/>
                          <a:ea typeface="Cambria Math" panose="02040503050406030204" pitchFamily="18" charset="0"/>
                        </a:rPr>
                        <m:t>𝑁</m:t>
                      </m:r>
                      <m:d>
                        <m:dPr>
                          <m:ctrlPr>
                            <a:rPr lang="en-GB" sz="1600" b="0" i="1" smtClean="0">
                              <a:latin typeface="Cambria Math" panose="02040503050406030204" pitchFamily="18" charset="0"/>
                              <a:ea typeface="Cambria Math" panose="02040503050406030204" pitchFamily="18" charset="0"/>
                            </a:rPr>
                          </m:ctrlPr>
                        </m:dPr>
                        <m:e>
                          <m:r>
                            <a:rPr lang="en-GB" sz="1600" b="0" i="1" smtClean="0">
                              <a:latin typeface="Cambria Math" panose="02040503050406030204" pitchFamily="18" charset="0"/>
                              <a:ea typeface="Cambria Math" panose="02040503050406030204" pitchFamily="18" charset="0"/>
                            </a:rPr>
                            <m:t>𝑥</m:t>
                          </m:r>
                        </m:e>
                      </m:d>
                      <m:r>
                        <a:rPr lang="en-GB" sz="1600" b="0" i="1" smtClean="0">
                          <a:latin typeface="Cambria Math" panose="02040503050406030204" pitchFamily="18" charset="0"/>
                          <a:ea typeface="Cambria Math" panose="02040503050406030204" pitchFamily="18" charset="0"/>
                        </a:rPr>
                        <m:t>=</m:t>
                      </m:r>
                      <m:nary>
                        <m:naryPr>
                          <m:ctrlPr>
                            <a:rPr lang="en-GB" sz="1600" b="0" i="1" smtClean="0">
                              <a:latin typeface="Cambria Math" panose="02040503050406030204" pitchFamily="18" charset="0"/>
                              <a:ea typeface="Cambria Math" panose="02040503050406030204" pitchFamily="18" charset="0"/>
                            </a:rPr>
                          </m:ctrlPr>
                        </m:naryPr>
                        <m:sub>
                          <m:r>
                            <m:rPr>
                              <m:brk m:alnAt="23"/>
                            </m:rP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m:t>
                          </m:r>
                        </m:sub>
                        <m:sup>
                          <m:r>
                            <a:rPr lang="en-GB" sz="1600" b="0" i="1" smtClean="0">
                              <a:latin typeface="Cambria Math" panose="02040503050406030204" pitchFamily="18" charset="0"/>
                              <a:ea typeface="Cambria Math" panose="02040503050406030204" pitchFamily="18" charset="0"/>
                            </a:rPr>
                            <m:t>𝑥</m:t>
                          </m:r>
                        </m:sup>
                        <m:e>
                          <m:r>
                            <a:rPr lang="en-GB" sz="1600" i="1" smtClean="0">
                              <a:latin typeface="Cambria Math" panose="02040503050406030204" pitchFamily="18" charset="0"/>
                              <a:ea typeface="Cambria Math" panose="02040503050406030204" pitchFamily="18" charset="0"/>
                            </a:rPr>
                            <m:t>𝑓</m:t>
                          </m:r>
                          <m:r>
                            <a:rPr lang="en-GB" sz="1600" b="0" i="1" smtClean="0">
                              <a:latin typeface="Cambria Math" panose="02040503050406030204" pitchFamily="18" charset="0"/>
                              <a:ea typeface="Cambria Math" panose="02040503050406030204" pitchFamily="18" charset="0"/>
                            </a:rPr>
                            <m:t>(</m:t>
                          </m:r>
                          <m:r>
                            <a:rPr lang="en-GB" sz="1600" b="0" i="1" smtClean="0">
                              <a:latin typeface="Cambria Math"/>
                              <a:ea typeface="Cambria Math" panose="02040503050406030204" pitchFamily="18" charset="0"/>
                            </a:rPr>
                            <m:t>𝑧</m:t>
                          </m:r>
                          <m: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𝑑𝑧</m:t>
                          </m:r>
                        </m:e>
                      </m:nary>
                    </m:oMath>
                  </m:oMathPara>
                </a14:m>
                <a:endParaRPr lang="en-GB" sz="1600" i="1" dirty="0">
                  <a:latin typeface="Cambria Math"/>
                  <a:ea typeface="Cambria Math" panose="02040503050406030204" pitchFamily="18" charset="0"/>
                </a:endParaRPr>
              </a:p>
            </p:txBody>
          </p:sp>
        </mc:Choice>
        <mc:Fallback xmlns="">
          <p:sp>
            <p:nvSpPr>
              <p:cNvPr id="30" name="TextovéPole 29"/>
              <p:cNvSpPr txBox="1">
                <a:spLocks noRot="1" noChangeAspect="1" noMove="1" noResize="1" noEditPoints="1" noAdjustHandles="1" noChangeArrowheads="1" noChangeShapeType="1" noTextEdit="1"/>
              </p:cNvSpPr>
              <p:nvPr/>
            </p:nvSpPr>
            <p:spPr>
              <a:xfrm>
                <a:off x="3923928" y="2912168"/>
                <a:ext cx="1703287" cy="532069"/>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2" name="TextovéPole 61"/>
              <p:cNvSpPr txBox="1"/>
              <p:nvPr/>
            </p:nvSpPr>
            <p:spPr>
              <a:xfrm>
                <a:off x="1681230" y="4046875"/>
                <a:ext cx="2415661" cy="246221"/>
              </a:xfrm>
              <a:prstGeom prst="rect">
                <a:avLst/>
              </a:prstGeom>
              <a:noFill/>
            </p:spPr>
            <p:txBody>
              <a:bodyPr wrap="none" lIns="0" tIns="0" rIns="0" bIns="0" rtlCol="0">
                <a:spAutoFit/>
              </a:bodyPr>
              <a:lstStyle/>
              <a:p>
                <a:pPr algn="ctr"/>
                <a14:m>
                  <m:oMathPara xmlns:m="http://schemas.openxmlformats.org/officeDocument/2006/math">
                    <m:oMathParaPr>
                      <m:jc m:val="left"/>
                    </m:oMathParaPr>
                    <m:oMath xmlns:m="http://schemas.openxmlformats.org/officeDocument/2006/math">
                      <m:r>
                        <a:rPr lang="cs-CZ" sz="1600" b="0" i="1" smtClean="0">
                          <a:latin typeface="Cambria Math" panose="02040503050406030204" pitchFamily="18" charset="0"/>
                          <a:ea typeface="Cambria Math" panose="02040503050406030204" pitchFamily="18" charset="0"/>
                        </a:rPr>
                        <m:t>𝐶</m:t>
                      </m:r>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𝑆𝑁</m:t>
                      </m:r>
                      <m:d>
                        <m:dPr>
                          <m:ctrlPr>
                            <a:rPr lang="cs-CZ" sz="1600" b="0" i="1" smtClean="0">
                              <a:latin typeface="Cambria Math" panose="02040503050406030204" pitchFamily="18" charset="0"/>
                              <a:ea typeface="Cambria Math" panose="02040503050406030204" pitchFamily="18" charset="0"/>
                            </a:rPr>
                          </m:ctrlPr>
                        </m:dPr>
                        <m:e>
                          <m:sSub>
                            <m:sSubPr>
                              <m:ctrlPr>
                                <a:rPr lang="cs-CZ" sz="1600" b="0" i="1" smtClean="0">
                                  <a:latin typeface="Cambria Math" panose="02040503050406030204" pitchFamily="18" charset="0"/>
                                  <a:ea typeface="Cambria Math" panose="02040503050406030204" pitchFamily="18" charset="0"/>
                                </a:rPr>
                              </m:ctrlPr>
                            </m:sSubPr>
                            <m:e>
                              <m:r>
                                <a:rPr lang="cs-CZ" sz="1600" b="0" i="1" smtClean="0">
                                  <a:latin typeface="Cambria Math" panose="02040503050406030204" pitchFamily="18" charset="0"/>
                                  <a:ea typeface="Cambria Math" panose="02040503050406030204" pitchFamily="18" charset="0"/>
                                </a:rPr>
                                <m:t>𝑑</m:t>
                              </m:r>
                            </m:e>
                            <m:sub>
                              <m:r>
                                <a:rPr lang="cs-CZ" sz="1600" b="0" i="1" smtClean="0">
                                  <a:latin typeface="Cambria Math" panose="02040503050406030204" pitchFamily="18" charset="0"/>
                                  <a:ea typeface="Cambria Math" panose="02040503050406030204" pitchFamily="18" charset="0"/>
                                </a:rPr>
                                <m:t>1</m:t>
                              </m:r>
                            </m:sub>
                          </m:sSub>
                        </m:e>
                      </m:d>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𝑋</m:t>
                      </m:r>
                      <m:sSup>
                        <m:sSupPr>
                          <m:ctrlPr>
                            <a:rPr lang="cs-CZ" sz="1600" b="0" i="1" smtClean="0">
                              <a:latin typeface="Cambria Math" panose="02040503050406030204" pitchFamily="18" charset="0"/>
                              <a:ea typeface="Cambria Math" panose="02040503050406030204" pitchFamily="18" charset="0"/>
                            </a:rPr>
                          </m:ctrlPr>
                        </m:sSupPr>
                        <m:e>
                          <m:r>
                            <a:rPr lang="cs-CZ" sz="1600" b="0" i="1" smtClean="0">
                              <a:latin typeface="Cambria Math" panose="02040503050406030204" pitchFamily="18" charset="0"/>
                              <a:ea typeface="Cambria Math" panose="02040503050406030204" pitchFamily="18" charset="0"/>
                            </a:rPr>
                            <m:t>𝑒</m:t>
                          </m:r>
                        </m:e>
                        <m:sup>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𝑟𝑇</m:t>
                          </m:r>
                        </m:sup>
                      </m:sSup>
                      <m:r>
                        <a:rPr lang="cs-CZ" sz="1600" b="0" i="1" smtClean="0">
                          <a:latin typeface="Cambria Math" panose="02040503050406030204" pitchFamily="18" charset="0"/>
                          <a:ea typeface="Cambria Math" panose="02040503050406030204" pitchFamily="18" charset="0"/>
                        </a:rPr>
                        <m:t>𝑁</m:t>
                      </m:r>
                      <m:r>
                        <a:rPr lang="cs-CZ" sz="1600" b="0" i="1" smtClean="0">
                          <a:latin typeface="Cambria Math" panose="02040503050406030204" pitchFamily="18" charset="0"/>
                          <a:ea typeface="Cambria Math" panose="02040503050406030204" pitchFamily="18" charset="0"/>
                        </a:rPr>
                        <m:t>(</m:t>
                      </m:r>
                      <m:sSub>
                        <m:sSubPr>
                          <m:ctrlPr>
                            <a:rPr lang="cs-CZ" sz="1600" b="0" i="1" smtClean="0">
                              <a:latin typeface="Cambria Math" panose="02040503050406030204" pitchFamily="18" charset="0"/>
                              <a:ea typeface="Cambria Math" panose="02040503050406030204" pitchFamily="18" charset="0"/>
                            </a:rPr>
                          </m:ctrlPr>
                        </m:sSubPr>
                        <m:e>
                          <m:r>
                            <a:rPr lang="cs-CZ" sz="1600" b="0" i="1" smtClean="0">
                              <a:latin typeface="Cambria Math" panose="02040503050406030204" pitchFamily="18" charset="0"/>
                              <a:ea typeface="Cambria Math" panose="02040503050406030204" pitchFamily="18" charset="0"/>
                            </a:rPr>
                            <m:t>𝑑</m:t>
                          </m:r>
                        </m:e>
                        <m:sub>
                          <m:r>
                            <a:rPr lang="cs-CZ" sz="1600" b="0" i="1" smtClean="0">
                              <a:latin typeface="Cambria Math" panose="02040503050406030204" pitchFamily="18" charset="0"/>
                              <a:ea typeface="Cambria Math" panose="02040503050406030204" pitchFamily="18" charset="0"/>
                            </a:rPr>
                            <m:t>2</m:t>
                          </m:r>
                        </m:sub>
                      </m:sSub>
                      <m:r>
                        <a:rPr lang="cs-CZ" sz="1600" b="0" i="1" smtClean="0">
                          <a:latin typeface="Cambria Math" panose="02040503050406030204" pitchFamily="18" charset="0"/>
                          <a:ea typeface="Cambria Math" panose="02040503050406030204" pitchFamily="18" charset="0"/>
                        </a:rPr>
                        <m:t>)</m:t>
                      </m:r>
                    </m:oMath>
                  </m:oMathPara>
                </a14:m>
                <a:endParaRPr lang="cs-CZ" sz="1600" i="1" dirty="0">
                  <a:latin typeface="Cambria Math"/>
                  <a:ea typeface="Cambria Math" panose="02040503050406030204" pitchFamily="18" charset="0"/>
                </a:endParaRPr>
              </a:p>
            </p:txBody>
          </p:sp>
        </mc:Choice>
        <mc:Fallback xmlns="">
          <p:sp>
            <p:nvSpPr>
              <p:cNvPr id="62" name="TextovéPole 61"/>
              <p:cNvSpPr txBox="1">
                <a:spLocks noRot="1" noChangeAspect="1" noMove="1" noResize="1" noEditPoints="1" noAdjustHandles="1" noChangeArrowheads="1" noChangeShapeType="1" noTextEdit="1"/>
              </p:cNvSpPr>
              <p:nvPr/>
            </p:nvSpPr>
            <p:spPr>
              <a:xfrm>
                <a:off x="1681230" y="4046875"/>
                <a:ext cx="2415661" cy="246221"/>
              </a:xfrm>
              <a:prstGeom prst="rect">
                <a:avLst/>
              </a:prstGeom>
              <a:blipFill>
                <a:blip r:embed="rId14"/>
                <a:stretch>
                  <a:fillRect l="-3030" r="-1010" b="-3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3" name="TextovéPole 62"/>
              <p:cNvSpPr txBox="1"/>
              <p:nvPr/>
            </p:nvSpPr>
            <p:spPr>
              <a:xfrm>
                <a:off x="1681230" y="4643392"/>
                <a:ext cx="2475229" cy="523926"/>
              </a:xfrm>
              <a:prstGeom prst="rect">
                <a:avLst/>
              </a:prstGeom>
              <a:noFill/>
            </p:spPr>
            <p:txBody>
              <a:bodyPr wrap="none" lIns="0" tIns="0" rIns="0" bIns="0" rtlCol="0">
                <a:spAutoFit/>
              </a:bodyPr>
              <a:lstStyle/>
              <a:p>
                <a:pPr algn="ctr"/>
                <a14:m>
                  <m:oMathPara xmlns:m="http://schemas.openxmlformats.org/officeDocument/2006/math">
                    <m:oMathParaPr>
                      <m:jc m:val="left"/>
                    </m:oMathParaPr>
                    <m:oMath xmlns:m="http://schemas.openxmlformats.org/officeDocument/2006/math">
                      <m:sSub>
                        <m:sSubPr>
                          <m:ctrlPr>
                            <a:rPr lang="cs-CZ" sz="1600" b="0" i="1" smtClean="0">
                              <a:latin typeface="Cambria Math" panose="02040503050406030204" pitchFamily="18" charset="0"/>
                              <a:ea typeface="Cambria Math" panose="02040503050406030204" pitchFamily="18" charset="0"/>
                            </a:rPr>
                          </m:ctrlPr>
                        </m:sSubPr>
                        <m:e>
                          <m:r>
                            <a:rPr lang="cs-CZ" sz="1600" b="0" i="1" smtClean="0">
                              <a:latin typeface="Cambria Math" panose="02040503050406030204" pitchFamily="18" charset="0"/>
                              <a:ea typeface="Cambria Math" panose="02040503050406030204" pitchFamily="18" charset="0"/>
                            </a:rPr>
                            <m:t>𝑑</m:t>
                          </m:r>
                        </m:e>
                        <m:sub>
                          <m:r>
                            <a:rPr lang="cs-CZ" sz="1600" b="0" i="1" smtClean="0">
                              <a:latin typeface="Cambria Math" panose="02040503050406030204" pitchFamily="18" charset="0"/>
                              <a:ea typeface="Cambria Math" panose="02040503050406030204" pitchFamily="18" charset="0"/>
                            </a:rPr>
                            <m:t>1</m:t>
                          </m:r>
                        </m:sub>
                      </m:sSub>
                      <m:r>
                        <a:rPr lang="cs-CZ" sz="1600" b="0" i="1" smtClean="0">
                          <a:latin typeface="Cambria Math" panose="02040503050406030204" pitchFamily="18" charset="0"/>
                          <a:ea typeface="Cambria Math" panose="02040503050406030204" pitchFamily="18" charset="0"/>
                        </a:rPr>
                        <m:t>=</m:t>
                      </m:r>
                      <m:f>
                        <m:fPr>
                          <m:ctrlPr>
                            <a:rPr lang="cs-CZ" sz="1600" b="0" i="1" smtClean="0">
                              <a:latin typeface="Cambria Math" panose="02040503050406030204" pitchFamily="18" charset="0"/>
                              <a:ea typeface="Cambria Math" panose="02040503050406030204" pitchFamily="18" charset="0"/>
                            </a:rPr>
                          </m:ctrlPr>
                        </m:fPr>
                        <m:num>
                          <m:func>
                            <m:funcPr>
                              <m:ctrlPr>
                                <a:rPr lang="cs-CZ" sz="1600" b="0" i="1" smtClean="0">
                                  <a:latin typeface="Cambria Math" panose="02040503050406030204" pitchFamily="18" charset="0"/>
                                  <a:ea typeface="Cambria Math" panose="02040503050406030204" pitchFamily="18" charset="0"/>
                                </a:rPr>
                              </m:ctrlPr>
                            </m:funcPr>
                            <m:fName>
                              <m:r>
                                <m:rPr>
                                  <m:sty m:val="p"/>
                                </m:rPr>
                                <a:rPr lang="cs-CZ" sz="1600" b="0" i="0" smtClean="0">
                                  <a:latin typeface="Cambria Math" panose="02040503050406030204" pitchFamily="18" charset="0"/>
                                  <a:ea typeface="Cambria Math" panose="02040503050406030204" pitchFamily="18" charset="0"/>
                                </a:rPr>
                                <m:t>ln</m:t>
                              </m:r>
                            </m:fName>
                            <m:e>
                              <m:d>
                                <m:dPr>
                                  <m:ctrlPr>
                                    <a:rPr lang="cs-CZ" sz="1600" b="0" i="1" smtClean="0">
                                      <a:latin typeface="Cambria Math" panose="02040503050406030204" pitchFamily="18" charset="0"/>
                                      <a:ea typeface="Cambria Math" panose="02040503050406030204" pitchFamily="18" charset="0"/>
                                    </a:rPr>
                                  </m:ctrlPr>
                                </m:dPr>
                                <m:e>
                                  <m:f>
                                    <m:fPr>
                                      <m:type m:val="lin"/>
                                      <m:ctrlPr>
                                        <a:rPr lang="cs-CZ" sz="1600" b="0" i="1" smtClean="0">
                                          <a:latin typeface="Cambria Math" panose="02040503050406030204" pitchFamily="18" charset="0"/>
                                          <a:ea typeface="Cambria Math" panose="02040503050406030204" pitchFamily="18" charset="0"/>
                                        </a:rPr>
                                      </m:ctrlPr>
                                    </m:fPr>
                                    <m:num>
                                      <m:r>
                                        <a:rPr lang="cs-CZ" sz="1600" b="0" i="1" smtClean="0">
                                          <a:latin typeface="Cambria Math" panose="02040503050406030204" pitchFamily="18" charset="0"/>
                                          <a:ea typeface="Cambria Math" panose="02040503050406030204" pitchFamily="18" charset="0"/>
                                        </a:rPr>
                                        <m:t>𝑆</m:t>
                                      </m:r>
                                    </m:num>
                                    <m:den>
                                      <m:r>
                                        <a:rPr lang="cs-CZ" sz="1600" b="0" i="1" smtClean="0">
                                          <a:latin typeface="Cambria Math" panose="02040503050406030204" pitchFamily="18" charset="0"/>
                                          <a:ea typeface="Cambria Math" panose="02040503050406030204" pitchFamily="18" charset="0"/>
                                        </a:rPr>
                                        <m:t>𝑋</m:t>
                                      </m:r>
                                    </m:den>
                                  </m:f>
                                </m:e>
                              </m:d>
                            </m:e>
                          </m:func>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𝑟𝑇</m:t>
                          </m:r>
                        </m:num>
                        <m:den>
                          <m:r>
                            <a:rPr lang="cs-CZ" sz="1600" b="0" i="1" smtClean="0">
                              <a:latin typeface="Cambria Math" panose="02040503050406030204" pitchFamily="18" charset="0"/>
                              <a:ea typeface="Cambria Math" panose="02040503050406030204" pitchFamily="18" charset="0"/>
                            </a:rPr>
                            <m:t>𝜎</m:t>
                          </m:r>
                          <m:rad>
                            <m:radPr>
                              <m:degHide m:val="on"/>
                              <m:ctrlPr>
                                <a:rPr lang="cs-CZ" sz="1600" b="0" i="1" smtClean="0">
                                  <a:latin typeface="Cambria Math" panose="02040503050406030204" pitchFamily="18" charset="0"/>
                                  <a:ea typeface="Cambria Math" panose="02040503050406030204" pitchFamily="18" charset="0"/>
                                </a:rPr>
                              </m:ctrlPr>
                            </m:radPr>
                            <m:deg/>
                            <m:e>
                              <m:r>
                                <a:rPr lang="cs-CZ" sz="1600" b="0" i="1" smtClean="0">
                                  <a:latin typeface="Cambria Math" panose="02040503050406030204" pitchFamily="18" charset="0"/>
                                  <a:ea typeface="Cambria Math" panose="02040503050406030204" pitchFamily="18" charset="0"/>
                                </a:rPr>
                                <m:t>𝑇</m:t>
                              </m:r>
                            </m:e>
                          </m:rad>
                        </m:den>
                      </m:f>
                      <m:r>
                        <a:rPr lang="cs-CZ" sz="1600" b="0" i="1" smtClean="0">
                          <a:latin typeface="Cambria Math" panose="02040503050406030204" pitchFamily="18" charset="0"/>
                          <a:ea typeface="Cambria Math" panose="02040503050406030204" pitchFamily="18" charset="0"/>
                        </a:rPr>
                        <m:t>+</m:t>
                      </m:r>
                      <m:f>
                        <m:fPr>
                          <m:ctrlPr>
                            <a:rPr lang="cs-CZ" sz="1600" b="0" i="1" smtClean="0">
                              <a:latin typeface="Cambria Math" panose="02040503050406030204" pitchFamily="18" charset="0"/>
                              <a:ea typeface="Cambria Math" panose="02040503050406030204" pitchFamily="18" charset="0"/>
                            </a:rPr>
                          </m:ctrlPr>
                        </m:fPr>
                        <m:num>
                          <m:r>
                            <a:rPr lang="cs-CZ" sz="1600" b="0" i="1" smtClean="0">
                              <a:latin typeface="Cambria Math" panose="02040503050406030204" pitchFamily="18" charset="0"/>
                              <a:ea typeface="Cambria Math" panose="02040503050406030204" pitchFamily="18" charset="0"/>
                            </a:rPr>
                            <m:t>1</m:t>
                          </m:r>
                        </m:num>
                        <m:den>
                          <m:r>
                            <a:rPr lang="cs-CZ" sz="1600" b="0" i="1" smtClean="0">
                              <a:latin typeface="Cambria Math" panose="02040503050406030204" pitchFamily="18" charset="0"/>
                              <a:ea typeface="Cambria Math" panose="02040503050406030204" pitchFamily="18" charset="0"/>
                            </a:rPr>
                            <m:t>2</m:t>
                          </m:r>
                        </m:den>
                      </m:f>
                      <m:r>
                        <a:rPr lang="cs-CZ" sz="1600" i="1">
                          <a:latin typeface="Cambria Math" panose="02040503050406030204" pitchFamily="18" charset="0"/>
                          <a:ea typeface="Cambria Math" panose="02040503050406030204" pitchFamily="18" charset="0"/>
                        </a:rPr>
                        <m:t>𝜎</m:t>
                      </m:r>
                      <m:rad>
                        <m:radPr>
                          <m:degHide m:val="on"/>
                          <m:ctrlPr>
                            <a:rPr lang="cs-CZ" sz="1600" i="1">
                              <a:latin typeface="Cambria Math" panose="02040503050406030204" pitchFamily="18" charset="0"/>
                              <a:ea typeface="Cambria Math" panose="02040503050406030204" pitchFamily="18" charset="0"/>
                            </a:rPr>
                          </m:ctrlPr>
                        </m:radPr>
                        <m:deg/>
                        <m:e>
                          <m:r>
                            <a:rPr lang="cs-CZ" sz="1600" i="1">
                              <a:latin typeface="Cambria Math" panose="02040503050406030204" pitchFamily="18" charset="0"/>
                              <a:ea typeface="Cambria Math" panose="02040503050406030204" pitchFamily="18" charset="0"/>
                            </a:rPr>
                            <m:t>𝑇</m:t>
                          </m:r>
                        </m:e>
                      </m:rad>
                    </m:oMath>
                  </m:oMathPara>
                </a14:m>
                <a:endParaRPr lang="cs-CZ" sz="1600" i="1" dirty="0">
                  <a:latin typeface="Cambria Math"/>
                  <a:ea typeface="Cambria Math" panose="02040503050406030204" pitchFamily="18" charset="0"/>
                </a:endParaRPr>
              </a:p>
            </p:txBody>
          </p:sp>
        </mc:Choice>
        <mc:Fallback xmlns="">
          <p:sp>
            <p:nvSpPr>
              <p:cNvPr id="63" name="TextovéPole 62"/>
              <p:cNvSpPr txBox="1">
                <a:spLocks noRot="1" noChangeAspect="1" noMove="1" noResize="1" noEditPoints="1" noAdjustHandles="1" noChangeArrowheads="1" noChangeShapeType="1" noTextEdit="1"/>
              </p:cNvSpPr>
              <p:nvPr/>
            </p:nvSpPr>
            <p:spPr>
              <a:xfrm>
                <a:off x="1681230" y="4643392"/>
                <a:ext cx="2475229" cy="523926"/>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ovéPole 63"/>
              <p:cNvSpPr txBox="1"/>
              <p:nvPr/>
            </p:nvSpPr>
            <p:spPr>
              <a:xfrm>
                <a:off x="1681230" y="5222791"/>
                <a:ext cx="1366849" cy="273665"/>
              </a:xfrm>
              <a:prstGeom prst="rect">
                <a:avLst/>
              </a:prstGeom>
              <a:noFill/>
            </p:spPr>
            <p:txBody>
              <a:bodyPr wrap="none" lIns="0" tIns="0" rIns="0" bIns="0" rtlCol="0">
                <a:spAutoFit/>
              </a:bodyPr>
              <a:lstStyle/>
              <a:p>
                <a:pPr algn="ctr"/>
                <a14:m>
                  <m:oMathPara xmlns:m="http://schemas.openxmlformats.org/officeDocument/2006/math">
                    <m:oMathParaPr>
                      <m:jc m:val="left"/>
                    </m:oMathParaPr>
                    <m:oMath xmlns:m="http://schemas.openxmlformats.org/officeDocument/2006/math">
                      <m:sSub>
                        <m:sSubPr>
                          <m:ctrlPr>
                            <a:rPr lang="cs-CZ" sz="1600" b="0" i="1" smtClean="0">
                              <a:latin typeface="Cambria Math" panose="02040503050406030204" pitchFamily="18" charset="0"/>
                              <a:ea typeface="Cambria Math" panose="02040503050406030204" pitchFamily="18" charset="0"/>
                            </a:rPr>
                          </m:ctrlPr>
                        </m:sSubPr>
                        <m:e>
                          <m:r>
                            <a:rPr lang="cs-CZ" sz="1600" b="0" i="1" smtClean="0">
                              <a:latin typeface="Cambria Math" panose="02040503050406030204" pitchFamily="18" charset="0"/>
                              <a:ea typeface="Cambria Math" panose="02040503050406030204" pitchFamily="18" charset="0"/>
                            </a:rPr>
                            <m:t>𝑑</m:t>
                          </m:r>
                        </m:e>
                        <m:sub>
                          <m:r>
                            <a:rPr lang="cs-CZ" sz="1600" b="0" i="1" smtClean="0">
                              <a:latin typeface="Cambria Math" panose="02040503050406030204" pitchFamily="18" charset="0"/>
                              <a:ea typeface="Cambria Math" panose="02040503050406030204" pitchFamily="18" charset="0"/>
                            </a:rPr>
                            <m:t>2</m:t>
                          </m:r>
                        </m:sub>
                      </m:sSub>
                      <m:r>
                        <a:rPr lang="cs-CZ" sz="1600" b="0" i="1" smtClean="0">
                          <a:latin typeface="Cambria Math" panose="02040503050406030204" pitchFamily="18" charset="0"/>
                          <a:ea typeface="Cambria Math" panose="02040503050406030204" pitchFamily="18" charset="0"/>
                        </a:rPr>
                        <m:t>=</m:t>
                      </m:r>
                      <m:sSub>
                        <m:sSubPr>
                          <m:ctrlPr>
                            <a:rPr lang="cs-CZ" sz="1600" b="0" i="1" smtClean="0">
                              <a:latin typeface="Cambria Math" panose="02040503050406030204" pitchFamily="18" charset="0"/>
                              <a:ea typeface="Cambria Math" panose="02040503050406030204" pitchFamily="18" charset="0"/>
                            </a:rPr>
                          </m:ctrlPr>
                        </m:sSubPr>
                        <m:e>
                          <m:r>
                            <a:rPr lang="cs-CZ" sz="1600" b="0" i="1" smtClean="0">
                              <a:latin typeface="Cambria Math" panose="02040503050406030204" pitchFamily="18" charset="0"/>
                              <a:ea typeface="Cambria Math" panose="02040503050406030204" pitchFamily="18" charset="0"/>
                            </a:rPr>
                            <m:t>𝑑</m:t>
                          </m:r>
                        </m:e>
                        <m:sub>
                          <m:r>
                            <a:rPr lang="cs-CZ" sz="1600" b="0" i="1" smtClean="0">
                              <a:latin typeface="Cambria Math" panose="02040503050406030204" pitchFamily="18" charset="0"/>
                              <a:ea typeface="Cambria Math" panose="02040503050406030204" pitchFamily="18" charset="0"/>
                            </a:rPr>
                            <m:t>1</m:t>
                          </m:r>
                        </m:sub>
                      </m:sSub>
                      <m:r>
                        <a:rPr lang="cs-CZ" sz="1600" b="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𝜎</m:t>
                      </m:r>
                      <m:rad>
                        <m:radPr>
                          <m:degHide m:val="on"/>
                          <m:ctrlPr>
                            <a:rPr lang="cs-CZ" sz="1600" i="1">
                              <a:latin typeface="Cambria Math" panose="02040503050406030204" pitchFamily="18" charset="0"/>
                              <a:ea typeface="Cambria Math" panose="02040503050406030204" pitchFamily="18" charset="0"/>
                            </a:rPr>
                          </m:ctrlPr>
                        </m:radPr>
                        <m:deg/>
                        <m:e>
                          <m:r>
                            <a:rPr lang="cs-CZ" sz="1600" i="1">
                              <a:latin typeface="Cambria Math" panose="02040503050406030204" pitchFamily="18" charset="0"/>
                              <a:ea typeface="Cambria Math" panose="02040503050406030204" pitchFamily="18" charset="0"/>
                            </a:rPr>
                            <m:t>𝑇</m:t>
                          </m:r>
                        </m:e>
                      </m:rad>
                    </m:oMath>
                  </m:oMathPara>
                </a14:m>
                <a:endParaRPr lang="cs-CZ" sz="1600" i="1" dirty="0">
                  <a:latin typeface="Cambria Math"/>
                  <a:ea typeface="Cambria Math" panose="02040503050406030204" pitchFamily="18" charset="0"/>
                </a:endParaRPr>
              </a:p>
            </p:txBody>
          </p:sp>
        </mc:Choice>
        <mc:Fallback xmlns="">
          <p:sp>
            <p:nvSpPr>
              <p:cNvPr id="64" name="TextovéPole 63"/>
              <p:cNvSpPr txBox="1">
                <a:spLocks noRot="1" noChangeAspect="1" noMove="1" noResize="1" noEditPoints="1" noAdjustHandles="1" noChangeArrowheads="1" noChangeShapeType="1" noTextEdit="1"/>
              </p:cNvSpPr>
              <p:nvPr/>
            </p:nvSpPr>
            <p:spPr>
              <a:xfrm>
                <a:off x="1681230" y="5222791"/>
                <a:ext cx="1366849" cy="273665"/>
              </a:xfrm>
              <a:prstGeom prst="rect">
                <a:avLst/>
              </a:prstGeom>
              <a:blipFill>
                <a:blip r:embed="rId16"/>
                <a:stretch>
                  <a:fillRect l="-5357" r="-446" b="-1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ovéPole 64">
                <a:extLst>
                  <a:ext uri="{FF2B5EF4-FFF2-40B4-BE49-F238E27FC236}">
                    <a16:creationId xmlns:a16="http://schemas.microsoft.com/office/drawing/2014/main" id="{05FC8A4A-3761-4383-881C-9096ADBF4AD7}"/>
                  </a:ext>
                </a:extLst>
              </p:cNvPr>
              <p:cNvSpPr txBox="1"/>
              <p:nvPr/>
            </p:nvSpPr>
            <p:spPr>
              <a:xfrm>
                <a:off x="4824001" y="4038163"/>
                <a:ext cx="2988360" cy="307777"/>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400" b="0" i="1" smtClean="0">
                        <a:latin typeface="Cambria Math" panose="02040503050406030204" pitchFamily="18" charset="0"/>
                        <a:ea typeface="Cambria Math" panose="02040503050406030204" pitchFamily="18" charset="0"/>
                      </a:rPr>
                      <m:t>𝐶</m:t>
                    </m:r>
                  </m:oMath>
                </a14:m>
                <a:r>
                  <a:rPr lang="en-GB" sz="1400" dirty="0">
                    <a:latin typeface="Cambria Math" panose="02040503050406030204" pitchFamily="18" charset="0"/>
                    <a:ea typeface="Cambria Math" panose="02040503050406030204" pitchFamily="18" charset="0"/>
                  </a:rPr>
                  <a:t>… premium of European call option</a:t>
                </a:r>
              </a:p>
            </p:txBody>
          </p:sp>
        </mc:Choice>
        <mc:Fallback xmlns="">
          <p:sp>
            <p:nvSpPr>
              <p:cNvPr id="65" name="TextovéPole 64">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824001" y="4038163"/>
                <a:ext cx="2988360" cy="307777"/>
              </a:xfrm>
              <a:prstGeom prst="rect">
                <a:avLst/>
              </a:prstGeom>
              <a:blipFill>
                <a:blip r:embed="rId17"/>
                <a:stretch>
                  <a:fillRect t="-3922" b="-1764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TextovéPole 65">
                <a:extLst>
                  <a:ext uri="{FF2B5EF4-FFF2-40B4-BE49-F238E27FC236}">
                    <a16:creationId xmlns:a16="http://schemas.microsoft.com/office/drawing/2014/main" id="{05FC8A4A-3761-4383-881C-9096ADBF4AD7}"/>
                  </a:ext>
                </a:extLst>
              </p:cNvPr>
              <p:cNvSpPr txBox="1"/>
              <p:nvPr/>
            </p:nvSpPr>
            <p:spPr>
              <a:xfrm>
                <a:off x="4824001" y="4272538"/>
                <a:ext cx="2988360" cy="307777"/>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400" b="0" i="1" smtClean="0">
                        <a:latin typeface="Cambria Math" panose="02040503050406030204" pitchFamily="18" charset="0"/>
                        <a:ea typeface="Cambria Math" panose="02040503050406030204" pitchFamily="18" charset="0"/>
                      </a:rPr>
                      <m:t>𝑆</m:t>
                    </m:r>
                  </m:oMath>
                </a14:m>
                <a:r>
                  <a:rPr lang="en-GB" sz="1400" dirty="0">
                    <a:latin typeface="Cambria Math" panose="02040503050406030204" pitchFamily="18" charset="0"/>
                    <a:ea typeface="Cambria Math" panose="02040503050406030204" pitchFamily="18" charset="0"/>
                  </a:rPr>
                  <a:t>… current price of underlying stock</a:t>
                </a:r>
              </a:p>
            </p:txBody>
          </p:sp>
        </mc:Choice>
        <mc:Fallback xmlns="">
          <p:sp>
            <p:nvSpPr>
              <p:cNvPr id="66" name="TextovéPole 65">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824001" y="4272538"/>
                <a:ext cx="2988360" cy="307777"/>
              </a:xfrm>
              <a:prstGeom prst="rect">
                <a:avLst/>
              </a:prstGeom>
              <a:blipFill>
                <a:blip r:embed="rId18"/>
                <a:stretch>
                  <a:fillRect t="-6000" b="-18000"/>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TextovéPole 66">
                <a:extLst>
                  <a:ext uri="{FF2B5EF4-FFF2-40B4-BE49-F238E27FC236}">
                    <a16:creationId xmlns:a16="http://schemas.microsoft.com/office/drawing/2014/main" id="{05FC8A4A-3761-4383-881C-9096ADBF4AD7}"/>
                  </a:ext>
                </a:extLst>
              </p:cNvPr>
              <p:cNvSpPr txBox="1"/>
              <p:nvPr/>
            </p:nvSpPr>
            <p:spPr>
              <a:xfrm>
                <a:off x="4824001" y="4506913"/>
                <a:ext cx="2556312" cy="307777"/>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400" b="0" i="1" smtClean="0">
                        <a:latin typeface="Cambria Math" panose="02040503050406030204" pitchFamily="18" charset="0"/>
                        <a:ea typeface="Cambria Math" panose="02040503050406030204" pitchFamily="18" charset="0"/>
                      </a:rPr>
                      <m:t>𝑋</m:t>
                    </m:r>
                  </m:oMath>
                </a14:m>
                <a:r>
                  <a:rPr lang="en-GB" sz="1400" dirty="0">
                    <a:latin typeface="Cambria Math" panose="02040503050406030204" pitchFamily="18" charset="0"/>
                    <a:ea typeface="Cambria Math" panose="02040503050406030204" pitchFamily="18" charset="0"/>
                  </a:rPr>
                  <a:t>… exercise price of the option</a:t>
                </a:r>
              </a:p>
            </p:txBody>
          </p:sp>
        </mc:Choice>
        <mc:Fallback xmlns="">
          <p:sp>
            <p:nvSpPr>
              <p:cNvPr id="67" name="TextovéPole 66">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824001" y="4506913"/>
                <a:ext cx="2556312" cy="307777"/>
              </a:xfrm>
              <a:prstGeom prst="rect">
                <a:avLst/>
              </a:prstGeom>
              <a:blipFill>
                <a:blip r:embed="rId19"/>
                <a:stretch>
                  <a:fillRect t="-3922" b="-1764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ovéPole 67">
                <a:extLst>
                  <a:ext uri="{FF2B5EF4-FFF2-40B4-BE49-F238E27FC236}">
                    <a16:creationId xmlns:a16="http://schemas.microsoft.com/office/drawing/2014/main" id="{05FC8A4A-3761-4383-881C-9096ADBF4AD7}"/>
                  </a:ext>
                </a:extLst>
              </p:cNvPr>
              <p:cNvSpPr txBox="1"/>
              <p:nvPr/>
            </p:nvSpPr>
            <p:spPr>
              <a:xfrm>
                <a:off x="4824001" y="4975663"/>
                <a:ext cx="2196000" cy="307777"/>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400" b="0" i="1" smtClean="0">
                        <a:latin typeface="Cambria Math" panose="02040503050406030204" pitchFamily="18" charset="0"/>
                        <a:ea typeface="Cambria Math" panose="02040503050406030204" pitchFamily="18" charset="0"/>
                      </a:rPr>
                      <m:t>𝑟</m:t>
                    </m:r>
                  </m:oMath>
                </a14:m>
                <a:r>
                  <a:rPr lang="en-GB" sz="1400" dirty="0">
                    <a:latin typeface="Cambria Math" panose="02040503050406030204" pitchFamily="18" charset="0"/>
                    <a:ea typeface="Cambria Math" panose="02040503050406030204" pitchFamily="18" charset="0"/>
                  </a:rPr>
                  <a:t>… risk-free interest rate</a:t>
                </a:r>
              </a:p>
            </p:txBody>
          </p:sp>
        </mc:Choice>
        <mc:Fallback xmlns="">
          <p:sp>
            <p:nvSpPr>
              <p:cNvPr id="68" name="TextovéPole 67">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824001" y="4975663"/>
                <a:ext cx="2196000" cy="307777"/>
              </a:xfrm>
              <a:prstGeom prst="rect">
                <a:avLst/>
              </a:prstGeom>
              <a:blipFill>
                <a:blip r:embed="rId20"/>
                <a:stretch>
                  <a:fillRect t="-5882" b="-1764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TextovéPole 68">
                <a:extLst>
                  <a:ext uri="{FF2B5EF4-FFF2-40B4-BE49-F238E27FC236}">
                    <a16:creationId xmlns:a16="http://schemas.microsoft.com/office/drawing/2014/main" id="{05FC8A4A-3761-4383-881C-9096ADBF4AD7}"/>
                  </a:ext>
                </a:extLst>
              </p:cNvPr>
              <p:cNvSpPr txBox="1"/>
              <p:nvPr/>
            </p:nvSpPr>
            <p:spPr>
              <a:xfrm>
                <a:off x="4824001" y="4742316"/>
                <a:ext cx="2807480" cy="307777"/>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400" b="0" i="1" smtClean="0">
                        <a:latin typeface="Cambria Math" panose="02040503050406030204" pitchFamily="18" charset="0"/>
                        <a:ea typeface="Cambria Math" panose="02040503050406030204" pitchFamily="18" charset="0"/>
                      </a:rPr>
                      <m:t>𝑇</m:t>
                    </m:r>
                  </m:oMath>
                </a14:m>
                <a:r>
                  <a:rPr lang="en-GB" sz="1400" dirty="0">
                    <a:latin typeface="Cambria Math" panose="02040503050406030204" pitchFamily="18" charset="0"/>
                    <a:ea typeface="Cambria Math" panose="02040503050406030204" pitchFamily="18" charset="0"/>
                  </a:rPr>
                  <a:t>… time to maturity of the option</a:t>
                </a:r>
              </a:p>
            </p:txBody>
          </p:sp>
        </mc:Choice>
        <mc:Fallback xmlns="">
          <p:sp>
            <p:nvSpPr>
              <p:cNvPr id="69" name="TextovéPole 68">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824001" y="4742316"/>
                <a:ext cx="2807480" cy="307777"/>
              </a:xfrm>
              <a:prstGeom prst="rect">
                <a:avLst/>
              </a:prstGeom>
              <a:blipFill>
                <a:blip r:embed="rId21"/>
                <a:stretch>
                  <a:fillRect t="-6000" b="-18000"/>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0" name="TextovéPole 69">
                <a:extLst>
                  <a:ext uri="{FF2B5EF4-FFF2-40B4-BE49-F238E27FC236}">
                    <a16:creationId xmlns:a16="http://schemas.microsoft.com/office/drawing/2014/main" id="{05FC8A4A-3761-4383-881C-9096ADBF4AD7}"/>
                  </a:ext>
                </a:extLst>
              </p:cNvPr>
              <p:cNvSpPr txBox="1"/>
              <p:nvPr/>
            </p:nvSpPr>
            <p:spPr>
              <a:xfrm>
                <a:off x="4824000" y="5210036"/>
                <a:ext cx="4140000" cy="738664"/>
              </a:xfrm>
              <a:prstGeom prst="rect">
                <a:avLst/>
              </a:prstGeom>
              <a:noFill/>
              <a:ln>
                <a:noFill/>
              </a:ln>
            </p:spPr>
            <p:txBody>
              <a:bodyPr wrap="square" rtlCol="0">
                <a:spAutoFit/>
              </a:bodyPr>
              <a:lstStyle/>
              <a:p>
                <a:pPr marL="268288" indent="-268288" defTabSz="864000">
                  <a:buClr>
                    <a:srgbClr val="7030A0"/>
                  </a:buClr>
                  <a:buSzPct val="100000"/>
                  <a:tabLst>
                    <a:tab pos="268288" algn="l"/>
                  </a:tabLst>
                </a:pPr>
                <a14:m>
                  <m:oMath xmlns:m="http://schemas.openxmlformats.org/officeDocument/2006/math">
                    <m:r>
                      <a:rPr lang="en-GB" sz="1400" b="0" i="1" smtClean="0">
                        <a:latin typeface="Cambria Math" panose="02040503050406030204" pitchFamily="18" charset="0"/>
                        <a:ea typeface="Cambria Math" panose="02040503050406030204" pitchFamily="18" charset="0"/>
                      </a:rPr>
                      <m:t>𝜎</m:t>
                    </m:r>
                  </m:oMath>
                </a14:m>
                <a:r>
                  <a:rPr lang="en-GB" sz="1400" dirty="0">
                    <a:latin typeface="Cambria Math" panose="02040503050406030204" pitchFamily="18" charset="0"/>
                    <a:ea typeface="Cambria Math" panose="02040503050406030204" pitchFamily="18" charset="0"/>
                  </a:rPr>
                  <a:t>… volatility (standard deviation) of percentage price changes of the underlying stock</a:t>
                </a:r>
                <a:endParaRPr lang="cs-CZ" sz="1400" dirty="0">
                  <a:latin typeface="Cambria Math" panose="02040503050406030204" pitchFamily="18" charset="0"/>
                  <a:ea typeface="Cambria Math" panose="02040503050406030204" pitchFamily="18" charset="0"/>
                </a:endParaRPr>
              </a:p>
              <a:p>
                <a:pPr marL="268288" indent="-268288" defTabSz="864000">
                  <a:buClr>
                    <a:srgbClr val="7030A0"/>
                  </a:buClr>
                  <a:buSzPct val="100000"/>
                  <a:tabLst>
                    <a:tab pos="268288" algn="l"/>
                  </a:tabLst>
                </a:pPr>
                <a:r>
                  <a:rPr lang="cs-CZ" sz="1400" dirty="0">
                    <a:latin typeface="Cambria Math" panose="02040503050406030204" pitchFamily="18" charset="0"/>
                    <a:ea typeface="Cambria Math" panose="02040503050406030204" pitchFamily="18" charset="0"/>
                  </a:rPr>
                  <a:t>	</a:t>
                </a:r>
                <a:r>
                  <a:rPr lang="en-US" sz="1400" dirty="0">
                    <a:latin typeface="Cambria Math" panose="02040503050406030204" pitchFamily="18" charset="0"/>
                    <a:ea typeface="Cambria Math" panose="02040503050406030204" pitchFamily="18" charset="0"/>
                  </a:rPr>
                  <a:t>(measured in percentage or percentage points?)</a:t>
                </a:r>
                <a:endParaRPr lang="en-GB" sz="1400" dirty="0">
                  <a:latin typeface="Cambria Math" panose="02040503050406030204" pitchFamily="18" charset="0"/>
                  <a:ea typeface="Cambria Math" panose="02040503050406030204" pitchFamily="18" charset="0"/>
                </a:endParaRPr>
              </a:p>
            </p:txBody>
          </p:sp>
        </mc:Choice>
        <mc:Fallback xmlns="">
          <p:sp>
            <p:nvSpPr>
              <p:cNvPr id="70" name="TextovéPole 69">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824000" y="5210036"/>
                <a:ext cx="4140000" cy="738664"/>
              </a:xfrm>
              <a:prstGeom prst="rect">
                <a:avLst/>
              </a:prstGeom>
              <a:blipFill>
                <a:blip r:embed="rId22"/>
                <a:stretch>
                  <a:fillRect t="-2479" b="-6612"/>
                </a:stretch>
              </a:blipFill>
              <a:ln>
                <a:noFill/>
              </a:ln>
            </p:spPr>
            <p:txBody>
              <a:bodyPr/>
              <a:lstStyle/>
              <a:p>
                <a:r>
                  <a:rPr lang="en-GB">
                    <a:noFill/>
                  </a:rPr>
                  <a:t> </a:t>
                </a:r>
              </a:p>
            </p:txBody>
          </p:sp>
        </mc:Fallback>
      </mc:AlternateContent>
      <p:grpSp>
        <p:nvGrpSpPr>
          <p:cNvPr id="57" name="Skupina 56"/>
          <p:cNvGrpSpPr/>
          <p:nvPr/>
        </p:nvGrpSpPr>
        <p:grpSpPr>
          <a:xfrm>
            <a:off x="119616" y="2720368"/>
            <a:ext cx="1167758" cy="593367"/>
            <a:chOff x="2252114" y="2708920"/>
            <a:chExt cx="1167758" cy="593367"/>
          </a:xfrm>
        </p:grpSpPr>
        <p:grpSp>
          <p:nvGrpSpPr>
            <p:cNvPr id="74" name="Skupina 73"/>
            <p:cNvGrpSpPr>
              <a:grpSpLocks noChangeAspect="1"/>
            </p:cNvGrpSpPr>
            <p:nvPr/>
          </p:nvGrpSpPr>
          <p:grpSpPr>
            <a:xfrm>
              <a:off x="2339752" y="2780322"/>
              <a:ext cx="1002541" cy="396131"/>
              <a:chOff x="3662783" y="2905361"/>
              <a:chExt cx="1824892" cy="721064"/>
            </a:xfrm>
          </p:grpSpPr>
          <p:sp>
            <p:nvSpPr>
              <p:cNvPr id="77" name="Volný tvar 76"/>
              <p:cNvSpPr/>
              <p:nvPr/>
            </p:nvSpPr>
            <p:spPr>
              <a:xfrm rot="20346039">
                <a:off x="3662783" y="2905361"/>
                <a:ext cx="1072194" cy="715991"/>
              </a:xfrm>
              <a:custGeom>
                <a:avLst/>
                <a:gdLst>
                  <a:gd name="connsiteX0" fmla="*/ 0 w 1029660"/>
                  <a:gd name="connsiteY0" fmla="*/ 751089 h 795978"/>
                  <a:gd name="connsiteX1" fmla="*/ 384202 w 1029660"/>
                  <a:gd name="connsiteY1" fmla="*/ 728037 h 795978"/>
                  <a:gd name="connsiteX2" fmla="*/ 753035 w 1029660"/>
                  <a:gd name="connsiteY2" fmla="*/ 105631 h 795978"/>
                  <a:gd name="connsiteX3" fmla="*/ 1029660 w 1029660"/>
                  <a:gd name="connsiteY3" fmla="*/ 5738 h 795978"/>
                </a:gdLst>
                <a:ahLst/>
                <a:cxnLst>
                  <a:cxn ang="0">
                    <a:pos x="connsiteX0" y="connsiteY0"/>
                  </a:cxn>
                  <a:cxn ang="0">
                    <a:pos x="connsiteX1" y="connsiteY1"/>
                  </a:cxn>
                  <a:cxn ang="0">
                    <a:pos x="connsiteX2" y="connsiteY2"/>
                  </a:cxn>
                  <a:cxn ang="0">
                    <a:pos x="connsiteX3" y="connsiteY3"/>
                  </a:cxn>
                </a:cxnLst>
                <a:rect l="l" t="t" r="r" b="b"/>
                <a:pathLst>
                  <a:path w="1029660" h="795978">
                    <a:moveTo>
                      <a:pt x="0" y="751089"/>
                    </a:moveTo>
                    <a:cubicBezTo>
                      <a:pt x="129348" y="793351"/>
                      <a:pt x="258696" y="835613"/>
                      <a:pt x="384202" y="728037"/>
                    </a:cubicBezTo>
                    <a:cubicBezTo>
                      <a:pt x="509708" y="620461"/>
                      <a:pt x="645459" y="226014"/>
                      <a:pt x="753035" y="105631"/>
                    </a:cubicBezTo>
                    <a:cubicBezTo>
                      <a:pt x="860611" y="-14752"/>
                      <a:pt x="945135" y="-4507"/>
                      <a:pt x="1029660" y="5738"/>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78" name="Volný tvar 77"/>
              <p:cNvSpPr/>
              <p:nvPr/>
            </p:nvSpPr>
            <p:spPr>
              <a:xfrm rot="1253961" flipH="1">
                <a:off x="4415481" y="2910434"/>
                <a:ext cx="1072194" cy="715991"/>
              </a:xfrm>
              <a:custGeom>
                <a:avLst/>
                <a:gdLst>
                  <a:gd name="connsiteX0" fmla="*/ 0 w 1029660"/>
                  <a:gd name="connsiteY0" fmla="*/ 751089 h 795978"/>
                  <a:gd name="connsiteX1" fmla="*/ 384202 w 1029660"/>
                  <a:gd name="connsiteY1" fmla="*/ 728037 h 795978"/>
                  <a:gd name="connsiteX2" fmla="*/ 753035 w 1029660"/>
                  <a:gd name="connsiteY2" fmla="*/ 105631 h 795978"/>
                  <a:gd name="connsiteX3" fmla="*/ 1029660 w 1029660"/>
                  <a:gd name="connsiteY3" fmla="*/ 5738 h 795978"/>
                </a:gdLst>
                <a:ahLst/>
                <a:cxnLst>
                  <a:cxn ang="0">
                    <a:pos x="connsiteX0" y="connsiteY0"/>
                  </a:cxn>
                  <a:cxn ang="0">
                    <a:pos x="connsiteX1" y="connsiteY1"/>
                  </a:cxn>
                  <a:cxn ang="0">
                    <a:pos x="connsiteX2" y="connsiteY2"/>
                  </a:cxn>
                  <a:cxn ang="0">
                    <a:pos x="connsiteX3" y="connsiteY3"/>
                  </a:cxn>
                </a:cxnLst>
                <a:rect l="l" t="t" r="r" b="b"/>
                <a:pathLst>
                  <a:path w="1029660" h="795978">
                    <a:moveTo>
                      <a:pt x="0" y="751089"/>
                    </a:moveTo>
                    <a:cubicBezTo>
                      <a:pt x="129348" y="793351"/>
                      <a:pt x="258696" y="835613"/>
                      <a:pt x="384202" y="728037"/>
                    </a:cubicBezTo>
                    <a:cubicBezTo>
                      <a:pt x="509708" y="620461"/>
                      <a:pt x="645459" y="226014"/>
                      <a:pt x="753035" y="105631"/>
                    </a:cubicBezTo>
                    <a:cubicBezTo>
                      <a:pt x="860611" y="-14752"/>
                      <a:pt x="945135" y="-4507"/>
                      <a:pt x="1029660" y="5738"/>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grpSp>
        <p:cxnSp>
          <p:nvCxnSpPr>
            <p:cNvPr id="75" name="Přímá spojnice 74"/>
            <p:cNvCxnSpPr/>
            <p:nvPr/>
          </p:nvCxnSpPr>
          <p:spPr>
            <a:xfrm>
              <a:off x="2252114" y="3302287"/>
              <a:ext cx="1167758" cy="0"/>
            </a:xfrm>
            <a:prstGeom prst="line">
              <a:avLst/>
            </a:prstGeom>
            <a:ln w="15875">
              <a:solidFill>
                <a:schemeClr val="tx1"/>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6" name="Přímá spojnice se šipkou 75"/>
            <p:cNvCxnSpPr/>
            <p:nvPr/>
          </p:nvCxnSpPr>
          <p:spPr>
            <a:xfrm>
              <a:off x="2843808" y="2708920"/>
              <a:ext cx="0" cy="593367"/>
            </a:xfrm>
            <a:prstGeom prst="straightConnector1">
              <a:avLst/>
            </a:prstGeom>
            <a:ln w="15875">
              <a:solidFill>
                <a:schemeClr val="tx1"/>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5" name="TextovéPole 84">
            <a:extLst>
              <a:ext uri="{FF2B5EF4-FFF2-40B4-BE49-F238E27FC236}">
                <a16:creationId xmlns:a16="http://schemas.microsoft.com/office/drawing/2014/main" id="{05FC8A4A-3761-4383-881C-9096ADBF4AD7}"/>
              </a:ext>
            </a:extLst>
          </p:cNvPr>
          <p:cNvSpPr txBox="1"/>
          <p:nvPr/>
        </p:nvSpPr>
        <p:spPr>
          <a:xfrm>
            <a:off x="1188001" y="2054792"/>
            <a:ext cx="5544239"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The underlying asset follows a geometric Brownian motion</a:t>
            </a:r>
          </a:p>
        </p:txBody>
      </p:sp>
      <mc:AlternateContent xmlns:mc="http://schemas.openxmlformats.org/markup-compatibility/2006" xmlns:a14="http://schemas.microsoft.com/office/drawing/2010/main">
        <mc:Choice Requires="a14">
          <p:sp>
            <p:nvSpPr>
              <p:cNvPr id="86" name="TextovéPole 85">
                <a:extLst>
                  <a:ext uri="{FF2B5EF4-FFF2-40B4-BE49-F238E27FC236}">
                    <a16:creationId xmlns:a16="http://schemas.microsoft.com/office/drawing/2014/main" id="{05FC8A4A-3761-4383-881C-9096ADBF4AD7}"/>
                  </a:ext>
                </a:extLst>
              </p:cNvPr>
              <p:cNvSpPr txBox="1"/>
              <p:nvPr/>
            </p:nvSpPr>
            <p:spPr>
              <a:xfrm>
                <a:off x="1188000" y="2634174"/>
                <a:ext cx="7525199"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The random error </a:t>
                </a:r>
                <a14:m>
                  <m:oMath xmlns:m="http://schemas.openxmlformats.org/officeDocument/2006/math">
                    <m:r>
                      <a:rPr lang="en-GB" sz="1600" b="0" i="1" smtClean="0">
                        <a:latin typeface="Cambria Math" panose="02040503050406030204" pitchFamily="18" charset="0"/>
                        <a:ea typeface="Cambria Math" panose="02040503050406030204" pitchFamily="18" charset="0"/>
                      </a:rPr>
                      <m:t>𝜖</m:t>
                    </m:r>
                  </m:oMath>
                </a14:m>
                <a:r>
                  <a:rPr lang="en-GB" sz="1600" dirty="0">
                    <a:latin typeface="Cambria Math" panose="02040503050406030204" pitchFamily="18" charset="0"/>
                    <a:ea typeface="Cambria Math" panose="02040503050406030204" pitchFamily="18" charset="0"/>
                  </a:rPr>
                  <a:t> is subject to ‘bell-shaped’ standardized normal distribution</a:t>
                </a:r>
              </a:p>
            </p:txBody>
          </p:sp>
        </mc:Choice>
        <mc:Fallback xmlns="">
          <p:sp>
            <p:nvSpPr>
              <p:cNvPr id="86" name="TextovéPole 85">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188000" y="2634174"/>
                <a:ext cx="7525199" cy="338554"/>
              </a:xfrm>
              <a:prstGeom prst="rect">
                <a:avLst/>
              </a:prstGeom>
              <a:blipFill>
                <a:blip r:embed="rId24"/>
                <a:stretch>
                  <a:fillRect l="-324" t="-7143" b="-19643"/>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7" name="TextovéPole 86"/>
              <p:cNvSpPr txBox="1"/>
              <p:nvPr/>
            </p:nvSpPr>
            <p:spPr>
              <a:xfrm>
                <a:off x="1442789" y="2924944"/>
                <a:ext cx="2406172" cy="508665"/>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GB" sz="1600" b="0" i="1" smtClean="0">
                          <a:latin typeface="Cambria Math" panose="02040503050406030204" pitchFamily="18" charset="0"/>
                          <a:ea typeface="Cambria Math" panose="02040503050406030204" pitchFamily="18" charset="0"/>
                        </a:rPr>
                        <m:t>𝑓</m:t>
                      </m:r>
                      <m:r>
                        <a:rPr lang="en-GB" sz="1600" b="0" i="1" smtClean="0">
                          <a:latin typeface="Cambria Math" panose="02040503050406030204" pitchFamily="18" charset="0"/>
                          <a:ea typeface="Cambria Math" panose="02040503050406030204" pitchFamily="18" charset="0"/>
                        </a:rPr>
                        <m:t>(</m:t>
                      </m:r>
                      <m:r>
                        <a:rPr lang="en-GB" sz="1600" b="0" i="1" smtClean="0">
                          <a:latin typeface="Cambria Math"/>
                          <a:ea typeface="Cambria Math" panose="02040503050406030204" pitchFamily="18" charset="0"/>
                        </a:rPr>
                        <m:t>𝑥</m:t>
                      </m:r>
                      <m:r>
                        <a:rPr lang="en-GB" sz="1600" b="0" i="1" smtClean="0">
                          <a:latin typeface="Cambria Math" panose="02040503050406030204" pitchFamily="18" charset="0"/>
                          <a:ea typeface="Cambria Math" panose="02040503050406030204" pitchFamily="18" charset="0"/>
                        </a:rPr>
                        <m:t>)=</m:t>
                      </m:r>
                      <m:f>
                        <m:fPr>
                          <m:ctrlPr>
                            <a:rPr lang="en-GB" sz="1600" i="1">
                              <a:latin typeface="Cambria Math" panose="02040503050406030204" pitchFamily="18" charset="0"/>
                              <a:ea typeface="Cambria Math" panose="02040503050406030204" pitchFamily="18" charset="0"/>
                            </a:rPr>
                          </m:ctrlPr>
                        </m:fPr>
                        <m:num>
                          <m:r>
                            <a:rPr lang="en-GB" sz="1600" i="1">
                              <a:latin typeface="Cambria Math" panose="02040503050406030204" pitchFamily="18" charset="0"/>
                              <a:ea typeface="Cambria Math" panose="02040503050406030204" pitchFamily="18" charset="0"/>
                            </a:rPr>
                            <m:t>1</m:t>
                          </m:r>
                        </m:num>
                        <m:den>
                          <m:r>
                            <a:rPr lang="en-GB" sz="1600" i="1" smtClean="0">
                              <a:latin typeface="Cambria Math" panose="02040503050406030204" pitchFamily="18" charset="0"/>
                              <a:ea typeface="Cambria Math" panose="02040503050406030204" pitchFamily="18" charset="0"/>
                            </a:rPr>
                            <m:t>𝜎</m:t>
                          </m:r>
                          <m:rad>
                            <m:radPr>
                              <m:degHide m:val="on"/>
                              <m:ctrlPr>
                                <a:rPr lang="en-GB" sz="1600" i="1">
                                  <a:latin typeface="Cambria Math" panose="02040503050406030204" pitchFamily="18" charset="0"/>
                                  <a:ea typeface="Cambria Math" panose="02040503050406030204" pitchFamily="18" charset="0"/>
                                </a:rPr>
                              </m:ctrlPr>
                            </m:radPr>
                            <m:deg/>
                            <m:e>
                              <m:r>
                                <a:rPr lang="en-GB" sz="1600" i="1">
                                  <a:latin typeface="Cambria Math" panose="02040503050406030204" pitchFamily="18" charset="0"/>
                                  <a:ea typeface="Cambria Math" panose="02040503050406030204" pitchFamily="18" charset="0"/>
                                </a:rPr>
                                <m:t>2</m:t>
                              </m:r>
                              <m:r>
                                <a:rPr lang="en-GB" sz="1600" i="1">
                                  <a:latin typeface="Cambria Math" panose="02040503050406030204" pitchFamily="18" charset="0"/>
                                  <a:ea typeface="Cambria Math" panose="02040503050406030204" pitchFamily="18" charset="0"/>
                                </a:rPr>
                                <m:t>𝜋</m:t>
                              </m:r>
                            </m:e>
                          </m:rad>
                        </m:den>
                      </m:f>
                      <m:sSup>
                        <m:sSupPr>
                          <m:ctrlPr>
                            <a:rPr lang="en-GB" sz="1600" i="1">
                              <a:latin typeface="Cambria Math" panose="02040503050406030204" pitchFamily="18" charset="0"/>
                              <a:ea typeface="Cambria Math" panose="02040503050406030204" pitchFamily="18" charset="0"/>
                            </a:rPr>
                          </m:ctrlPr>
                        </m:sSupPr>
                        <m:e>
                          <m:r>
                            <a:rPr lang="en-GB" sz="1600" i="1">
                              <a:latin typeface="Cambria Math" panose="02040503050406030204" pitchFamily="18" charset="0"/>
                              <a:ea typeface="Cambria Math" panose="02040503050406030204" pitchFamily="18" charset="0"/>
                            </a:rPr>
                            <m:t>𝑒</m:t>
                          </m:r>
                        </m:e>
                        <m:sup>
                          <m:r>
                            <a:rPr lang="en-GB" sz="1600" i="1">
                              <a:latin typeface="Cambria Math" panose="02040503050406030204" pitchFamily="18" charset="0"/>
                              <a:ea typeface="Cambria Math" panose="02040503050406030204" pitchFamily="18" charset="0"/>
                            </a:rPr>
                            <m:t>−</m:t>
                          </m:r>
                          <m:sSup>
                            <m:sSupPr>
                              <m:ctrlPr>
                                <a:rPr lang="en-GB" sz="1600" i="1" smtClean="0">
                                  <a:latin typeface="Cambria Math" panose="02040503050406030204" pitchFamily="18" charset="0"/>
                                  <a:ea typeface="Cambria Math" panose="02040503050406030204" pitchFamily="18" charset="0"/>
                                </a:rPr>
                              </m:ctrlPr>
                            </m:sSupPr>
                            <m:e>
                              <m:r>
                                <a:rPr lang="cs-CZ"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𝑥</m:t>
                              </m:r>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𝜇</m:t>
                              </m:r>
                              <m:r>
                                <a:rPr lang="cs-CZ" sz="1600" b="0" i="1" smtClean="0">
                                  <a:latin typeface="Cambria Math" panose="02040503050406030204" pitchFamily="18" charset="0"/>
                                  <a:ea typeface="Cambria Math" panose="02040503050406030204" pitchFamily="18" charset="0"/>
                                </a:rPr>
                                <m:t>)</m:t>
                              </m:r>
                            </m:e>
                            <m:sup>
                              <m:r>
                                <a:rPr lang="en-GB" sz="1600" b="0" i="1" smtClean="0">
                                  <a:latin typeface="Cambria Math" panose="02040503050406030204" pitchFamily="18" charset="0"/>
                                  <a:ea typeface="Cambria Math" panose="02040503050406030204" pitchFamily="18" charset="0"/>
                                </a:rPr>
                                <m:t>2</m:t>
                              </m:r>
                            </m:sup>
                          </m:sSup>
                          <m:r>
                            <a:rPr lang="en-GB" sz="1600" i="1">
                              <a:latin typeface="Cambria Math" panose="02040503050406030204" pitchFamily="18" charset="0"/>
                              <a:ea typeface="Cambria Math" panose="02040503050406030204" pitchFamily="18" charset="0"/>
                            </a:rPr>
                            <m:t>/2</m:t>
                          </m:r>
                          <m:sSup>
                            <m:sSupPr>
                              <m:ctrlPr>
                                <a:rPr lang="en-GB" sz="1600" i="1" smtClean="0">
                                  <a:latin typeface="Cambria Math" panose="02040503050406030204" pitchFamily="18" charset="0"/>
                                  <a:ea typeface="Cambria Math" panose="02040503050406030204" pitchFamily="18" charset="0"/>
                                </a:rPr>
                              </m:ctrlPr>
                            </m:sSupPr>
                            <m:e>
                              <m:r>
                                <a:rPr lang="en-GB" sz="1600" i="1" smtClean="0">
                                  <a:latin typeface="Cambria Math" panose="02040503050406030204" pitchFamily="18" charset="0"/>
                                  <a:ea typeface="Cambria Math" panose="02040503050406030204" pitchFamily="18" charset="0"/>
                                </a:rPr>
                                <m:t>𝜎</m:t>
                              </m:r>
                            </m:e>
                            <m:sup>
                              <m:r>
                                <a:rPr lang="cs-CZ" sz="1600" b="0" i="1" smtClean="0">
                                  <a:latin typeface="Cambria Math" panose="02040503050406030204" pitchFamily="18" charset="0"/>
                                  <a:ea typeface="Cambria Math" panose="02040503050406030204" pitchFamily="18" charset="0"/>
                                </a:rPr>
                                <m:t>2</m:t>
                              </m:r>
                            </m:sup>
                          </m:sSup>
                        </m:sup>
                      </m:sSup>
                    </m:oMath>
                  </m:oMathPara>
                </a14:m>
                <a:endParaRPr lang="en-GB" sz="1600" i="1" dirty="0">
                  <a:latin typeface="Cambria Math"/>
                  <a:ea typeface="Cambria Math" panose="02040503050406030204" pitchFamily="18" charset="0"/>
                </a:endParaRPr>
              </a:p>
            </p:txBody>
          </p:sp>
        </mc:Choice>
        <mc:Fallback xmlns="">
          <p:sp>
            <p:nvSpPr>
              <p:cNvPr id="87" name="TextovéPole 86"/>
              <p:cNvSpPr txBox="1">
                <a:spLocks noRot="1" noChangeAspect="1" noMove="1" noResize="1" noEditPoints="1" noAdjustHandles="1" noChangeArrowheads="1" noChangeShapeType="1" noTextEdit="1"/>
              </p:cNvSpPr>
              <p:nvPr/>
            </p:nvSpPr>
            <p:spPr>
              <a:xfrm>
                <a:off x="1442789" y="2924944"/>
                <a:ext cx="2406172" cy="508665"/>
              </a:xfrm>
              <a:prstGeom prst="rect">
                <a:avLst/>
              </a:prstGeom>
              <a:blipFill>
                <a:blip r:embed="rId25"/>
                <a:stretch>
                  <a:fillRect b="-120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9" name="TextovéPole 58">
                <a:extLst>
                  <a:ext uri="{FF2B5EF4-FFF2-40B4-BE49-F238E27FC236}">
                    <a16:creationId xmlns:a16="http://schemas.microsoft.com/office/drawing/2014/main" id="{05FC8A4A-3761-4383-881C-9096ADBF4AD7}"/>
                  </a:ext>
                </a:extLst>
              </p:cNvPr>
              <p:cNvSpPr txBox="1"/>
              <p:nvPr/>
            </p:nvSpPr>
            <p:spPr>
              <a:xfrm>
                <a:off x="5724128" y="2977788"/>
                <a:ext cx="3312368" cy="461665"/>
              </a:xfrm>
              <a:prstGeom prst="rect">
                <a:avLst/>
              </a:prstGeom>
              <a:noFill/>
              <a:ln>
                <a:noFill/>
              </a:ln>
            </p:spPr>
            <p:txBody>
              <a:bodyPr wrap="square" rtlCol="0">
                <a:spAutoFit/>
              </a:bodyPr>
              <a:lstStyle/>
              <a:p>
                <a:pPr marL="538163" indent="-538163">
                  <a:buClr>
                    <a:srgbClr val="7030A0"/>
                  </a:buClr>
                  <a:buSzPct val="100000"/>
                </a:pPr>
                <a14:m>
                  <m:oMath xmlns:m="http://schemas.openxmlformats.org/officeDocument/2006/math">
                    <m:r>
                      <a:rPr lang="en-GB" sz="1200" b="0" i="1" smtClean="0">
                        <a:latin typeface="Cambria Math" panose="02040503050406030204" pitchFamily="18" charset="0"/>
                        <a:ea typeface="Cambria Math" panose="02040503050406030204" pitchFamily="18" charset="0"/>
                      </a:rPr>
                      <m:t>𝑓</m:t>
                    </m:r>
                    <m:d>
                      <m:dPr>
                        <m:ctrlPr>
                          <a:rPr lang="en-GB" sz="1200" i="1">
                            <a:latin typeface="Cambria Math" panose="02040503050406030204" pitchFamily="18" charset="0"/>
                            <a:ea typeface="Cambria Math" panose="02040503050406030204" pitchFamily="18" charset="0"/>
                          </a:rPr>
                        </m:ctrlPr>
                      </m:dPr>
                      <m:e>
                        <m:r>
                          <a:rPr lang="en-GB" sz="1200" b="0" i="1" smtClean="0">
                            <a:latin typeface="Cambria Math"/>
                            <a:ea typeface="Cambria Math" panose="02040503050406030204" pitchFamily="18" charset="0"/>
                          </a:rPr>
                          <m:t>𝑥</m:t>
                        </m:r>
                      </m:e>
                    </m:d>
                  </m:oMath>
                </a14:m>
                <a:r>
                  <a:rPr lang="en-GB" sz="1200" dirty="0">
                    <a:latin typeface="Cambria Math" panose="02040503050406030204" pitchFamily="18" charset="0"/>
                    <a:ea typeface="Cambria Math" panose="02040503050406030204" pitchFamily="18" charset="0"/>
                  </a:rPr>
                  <a:t>… normal distribution function</a:t>
                </a:r>
              </a:p>
              <a:p>
                <a:pPr marL="538163" indent="-538163">
                  <a:buClr>
                    <a:srgbClr val="7030A0"/>
                  </a:buClr>
                  <a:buSzPct val="100000"/>
                </a:pPr>
                <a14:m>
                  <m:oMath xmlns:m="http://schemas.openxmlformats.org/officeDocument/2006/math">
                    <m:r>
                      <a:rPr lang="en-GB" sz="1200" i="1">
                        <a:latin typeface="Cambria Math" panose="02040503050406030204" pitchFamily="18" charset="0"/>
                        <a:ea typeface="Cambria Math" panose="02040503050406030204" pitchFamily="18" charset="0"/>
                      </a:rPr>
                      <m:t>𝑁</m:t>
                    </m:r>
                    <m:d>
                      <m:dPr>
                        <m:ctrlPr>
                          <a:rPr lang="en-GB" sz="1200" i="1">
                            <a:latin typeface="Cambria Math" panose="02040503050406030204" pitchFamily="18" charset="0"/>
                            <a:ea typeface="Cambria Math" panose="02040503050406030204" pitchFamily="18" charset="0"/>
                          </a:rPr>
                        </m:ctrlPr>
                      </m:dPr>
                      <m:e>
                        <m:r>
                          <a:rPr lang="en-GB" sz="1200" i="1">
                            <a:latin typeface="Cambria Math" panose="02040503050406030204" pitchFamily="18" charset="0"/>
                            <a:ea typeface="Cambria Math" panose="02040503050406030204" pitchFamily="18" charset="0"/>
                          </a:rPr>
                          <m:t>𝑥</m:t>
                        </m:r>
                      </m:e>
                    </m:d>
                  </m:oMath>
                </a14:m>
                <a:r>
                  <a:rPr lang="en-GB" sz="1200" dirty="0">
                    <a:latin typeface="Cambria Math" panose="02040503050406030204" pitchFamily="18" charset="0"/>
                    <a:ea typeface="Cambria Math" panose="02040503050406030204" pitchFamily="18" charset="0"/>
                  </a:rPr>
                  <a:t>… cumulative distribution function</a:t>
                </a:r>
              </a:p>
            </p:txBody>
          </p:sp>
        </mc:Choice>
        <mc:Fallback xmlns="">
          <p:sp>
            <p:nvSpPr>
              <p:cNvPr id="59" name="TextovéPole 58">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5724128" y="2977788"/>
                <a:ext cx="3312368" cy="461665"/>
              </a:xfrm>
              <a:prstGeom prst="rect">
                <a:avLst/>
              </a:prstGeom>
              <a:blipFill>
                <a:blip r:embed="rId26"/>
                <a:stretch>
                  <a:fillRect b="-9211"/>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0" name="TextovéPole 59"/>
              <p:cNvSpPr txBox="1"/>
              <p:nvPr/>
            </p:nvSpPr>
            <p:spPr>
              <a:xfrm>
                <a:off x="1800000" y="2358000"/>
                <a:ext cx="3296543" cy="28014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cs-CZ" sz="1600" b="0" i="1" smtClean="0">
                          <a:latin typeface="Cambria Math" panose="02040503050406030204" pitchFamily="18" charset="0"/>
                          <a:ea typeface="Cambria Math" panose="02040503050406030204" pitchFamily="18" charset="0"/>
                        </a:rPr>
                        <m:t>𝑑𝑆</m:t>
                      </m:r>
                      <m:r>
                        <a:rPr lang="en-GB"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𝑆</m:t>
                      </m:r>
                      <m:acc>
                        <m:accPr>
                          <m:chr m:val="̇"/>
                          <m:ctrlPr>
                            <a:rPr lang="cs-CZ" sz="1600" i="1">
                              <a:latin typeface="Cambria Math" panose="02040503050406030204" pitchFamily="18" charset="0"/>
                              <a:ea typeface="Cambria Math" panose="02040503050406030204" pitchFamily="18" charset="0"/>
                            </a:rPr>
                          </m:ctrlPr>
                        </m:accPr>
                        <m:e>
                          <m:r>
                            <a:rPr lang="cs-CZ" sz="1600" i="1">
                              <a:latin typeface="Cambria Math" panose="02040503050406030204" pitchFamily="18" charset="0"/>
                              <a:ea typeface="Cambria Math" panose="02040503050406030204" pitchFamily="18" charset="0"/>
                            </a:rPr>
                            <m:t>=</m:t>
                          </m:r>
                        </m:e>
                      </m:acc>
                      <m:r>
                        <m:rPr>
                          <m:sty m:val="p"/>
                        </m:rPr>
                        <a:rPr lang="cs-CZ" sz="1600">
                          <a:latin typeface="Cambria Math" panose="02040503050406030204" pitchFamily="18" charset="0"/>
                          <a:ea typeface="Cambria Math" panose="02040503050406030204" pitchFamily="18" charset="0"/>
                        </a:rPr>
                        <m:t>ln</m:t>
                      </m:r>
                      <m:r>
                        <a:rPr lang="cs-CZ" sz="1600" i="1">
                          <a:latin typeface="Cambria Math" panose="02040503050406030204" pitchFamily="18" charset="0"/>
                          <a:ea typeface="Cambria Math" panose="02040503050406030204" pitchFamily="18" charset="0"/>
                        </a:rPr>
                        <m:t>⁡(1+</m:t>
                      </m:r>
                      <m:r>
                        <a:rPr lang="cs-CZ" sz="1600" i="1">
                          <a:latin typeface="Cambria Math" panose="02040503050406030204" pitchFamily="18" charset="0"/>
                          <a:ea typeface="Cambria Math" panose="02040503050406030204" pitchFamily="18" charset="0"/>
                        </a:rPr>
                        <m:t>𝑑𝑆</m:t>
                      </m:r>
                      <m:r>
                        <a:rPr lang="en-GB"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𝑆</m:t>
                      </m:r>
                      <m:r>
                        <a:rPr lang="cs-CZ" sz="1600" i="1">
                          <a:latin typeface="Cambria Math" panose="02040503050406030204" pitchFamily="18" charset="0"/>
                          <a:ea typeface="Cambria Math" panose="02040503050406030204" pitchFamily="18" charset="0"/>
                        </a:rPr>
                        <m:t>)=</m:t>
                      </m:r>
                      <m:r>
                        <a:rPr lang="en-GB" sz="1600" b="0" i="1" smtClean="0">
                          <a:latin typeface="Cambria Math"/>
                          <a:ea typeface="Cambria Math"/>
                        </a:rPr>
                        <m:t>𝜇</m:t>
                      </m:r>
                      <m:r>
                        <a:rPr lang="cs-CZ" sz="1600" b="0" i="1" smtClean="0">
                          <a:latin typeface="Cambria Math" panose="02040503050406030204" pitchFamily="18" charset="0"/>
                          <a:ea typeface="Cambria Math"/>
                        </a:rPr>
                        <m:t>𝑑𝑡</m:t>
                      </m:r>
                      <m:r>
                        <a:rPr lang="en-GB" sz="1600" b="0" i="1" smtClean="0">
                          <a:latin typeface="Cambria Math"/>
                          <a:ea typeface="Cambria Math"/>
                        </a:rPr>
                        <m:t>+</m:t>
                      </m:r>
                      <m:r>
                        <a:rPr lang="en-GB" sz="1600" b="0" i="1" smtClean="0">
                          <a:latin typeface="Cambria Math"/>
                          <a:ea typeface="Cambria Math"/>
                        </a:rPr>
                        <m:t>𝜎𝜖</m:t>
                      </m:r>
                      <m:rad>
                        <m:radPr>
                          <m:degHide m:val="on"/>
                          <m:ctrlPr>
                            <a:rPr lang="en-GB" sz="1600" b="0" i="1" smtClean="0">
                              <a:latin typeface="Cambria Math" panose="02040503050406030204" pitchFamily="18" charset="0"/>
                              <a:ea typeface="Cambria Math" panose="02040503050406030204" pitchFamily="18" charset="0"/>
                            </a:rPr>
                          </m:ctrlPr>
                        </m:radPr>
                        <m:deg/>
                        <m:e>
                          <m:r>
                            <a:rPr lang="cs-CZ" sz="1600" b="0" i="1" smtClean="0">
                              <a:latin typeface="Cambria Math" panose="02040503050406030204" pitchFamily="18" charset="0"/>
                              <a:ea typeface="Cambria Math" panose="02040503050406030204" pitchFamily="18" charset="0"/>
                            </a:rPr>
                            <m:t>𝑑𝑡</m:t>
                          </m:r>
                        </m:e>
                      </m:rad>
                    </m:oMath>
                  </m:oMathPara>
                </a14:m>
                <a:endParaRPr lang="en-GB" sz="1600" i="1" dirty="0">
                  <a:latin typeface="Cambria Math"/>
                  <a:ea typeface="Cambria Math" panose="02040503050406030204" pitchFamily="18" charset="0"/>
                </a:endParaRPr>
              </a:p>
            </p:txBody>
          </p:sp>
        </mc:Choice>
        <mc:Fallback xmlns="">
          <p:sp>
            <p:nvSpPr>
              <p:cNvPr id="60" name="TextovéPole 59"/>
              <p:cNvSpPr txBox="1">
                <a:spLocks noRot="1" noChangeAspect="1" noMove="1" noResize="1" noEditPoints="1" noAdjustHandles="1" noChangeArrowheads="1" noChangeShapeType="1" noTextEdit="1"/>
              </p:cNvSpPr>
              <p:nvPr/>
            </p:nvSpPr>
            <p:spPr>
              <a:xfrm>
                <a:off x="1800000" y="2358000"/>
                <a:ext cx="3296543" cy="280141"/>
              </a:xfrm>
              <a:prstGeom prst="rect">
                <a:avLst/>
              </a:prstGeom>
              <a:blipFill>
                <a:blip r:embed="rId27"/>
                <a:stretch>
                  <a:fillRect l="-1664" r="-185" b="-3043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ovéPole 9">
                <a:extLst>
                  <a:ext uri="{FF2B5EF4-FFF2-40B4-BE49-F238E27FC236}">
                    <a16:creationId xmlns:a16="http://schemas.microsoft.com/office/drawing/2014/main" id="{BC682BE2-3829-16C8-7667-FEB26269160B}"/>
                  </a:ext>
                </a:extLst>
              </p:cNvPr>
              <p:cNvSpPr txBox="1"/>
              <p:nvPr/>
            </p:nvSpPr>
            <p:spPr>
              <a:xfrm>
                <a:off x="1800000" y="1574766"/>
                <a:ext cx="3097963" cy="494174"/>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f>
                        <m:fPr>
                          <m:ctrlPr>
                            <a:rPr lang="en-GB" sz="1600" b="0" i="1" smtClean="0">
                              <a:latin typeface="Cambria Math" panose="02040503050406030204" pitchFamily="18" charset="0"/>
                              <a:ea typeface="Cambria Math" panose="02040503050406030204" pitchFamily="18" charset="0"/>
                            </a:rPr>
                          </m:ctrlPr>
                        </m:fPr>
                        <m:num>
                          <m: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𝐶</m:t>
                          </m:r>
                        </m:num>
                        <m:den>
                          <m: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𝑡</m:t>
                          </m:r>
                        </m:den>
                      </m:f>
                      <m:r>
                        <a:rPr lang="en-GB" sz="1600" b="0" i="1" smtClean="0">
                          <a:latin typeface="Cambria Math" panose="02040503050406030204" pitchFamily="18" charset="0"/>
                          <a:ea typeface="Cambria Math" panose="02040503050406030204" pitchFamily="18" charset="0"/>
                        </a:rPr>
                        <m:t>+</m:t>
                      </m:r>
                      <m:f>
                        <m:fPr>
                          <m:ctrlPr>
                            <a:rPr lang="en-GB" sz="1600" b="0" i="1" smtClean="0">
                              <a:latin typeface="Cambria Math" panose="02040503050406030204" pitchFamily="18" charset="0"/>
                              <a:ea typeface="Cambria Math" panose="02040503050406030204" pitchFamily="18" charset="0"/>
                            </a:rPr>
                          </m:ctrlPr>
                        </m:fPr>
                        <m:num>
                          <m:r>
                            <a:rPr lang="en-GB" sz="1600" b="0" i="1" smtClean="0">
                              <a:latin typeface="Cambria Math" panose="02040503050406030204" pitchFamily="18" charset="0"/>
                              <a:ea typeface="Cambria Math" panose="02040503050406030204" pitchFamily="18" charset="0"/>
                            </a:rPr>
                            <m:t>1</m:t>
                          </m:r>
                        </m:num>
                        <m:den>
                          <m:r>
                            <a:rPr lang="en-GB" sz="1600" b="0" i="1" smtClean="0">
                              <a:latin typeface="Cambria Math" panose="02040503050406030204" pitchFamily="18" charset="0"/>
                              <a:ea typeface="Cambria Math" panose="02040503050406030204" pitchFamily="18" charset="0"/>
                            </a:rPr>
                            <m:t>2</m:t>
                          </m:r>
                        </m:den>
                      </m:f>
                      <m:sSup>
                        <m:sSupPr>
                          <m:ctrlPr>
                            <a:rPr lang="en-GB" sz="1600" b="0" i="1" smtClean="0">
                              <a:latin typeface="Cambria Math" panose="02040503050406030204" pitchFamily="18" charset="0"/>
                              <a:ea typeface="Cambria Math" panose="02040503050406030204" pitchFamily="18" charset="0"/>
                            </a:rPr>
                          </m:ctrlPr>
                        </m:sSupPr>
                        <m:e>
                          <m:r>
                            <a:rPr lang="en-GB" sz="1600" b="0" i="1" smtClean="0">
                              <a:latin typeface="Cambria Math" panose="02040503050406030204" pitchFamily="18" charset="0"/>
                              <a:ea typeface="Cambria Math" panose="02040503050406030204" pitchFamily="18" charset="0"/>
                            </a:rPr>
                            <m:t>𝜎</m:t>
                          </m:r>
                        </m:e>
                        <m:sup>
                          <m:r>
                            <a:rPr lang="en-GB" sz="1600" b="0" i="1" smtClean="0">
                              <a:latin typeface="Cambria Math" panose="02040503050406030204" pitchFamily="18" charset="0"/>
                              <a:ea typeface="Cambria Math" panose="02040503050406030204" pitchFamily="18" charset="0"/>
                            </a:rPr>
                            <m:t>2</m:t>
                          </m:r>
                        </m:sup>
                      </m:sSup>
                      <m:sSup>
                        <m:sSupPr>
                          <m:ctrlPr>
                            <a:rPr lang="en-GB" sz="1600" b="0" i="1" smtClean="0">
                              <a:latin typeface="Cambria Math" panose="02040503050406030204" pitchFamily="18" charset="0"/>
                              <a:ea typeface="Cambria Math" panose="02040503050406030204" pitchFamily="18" charset="0"/>
                            </a:rPr>
                          </m:ctrlPr>
                        </m:sSupPr>
                        <m:e>
                          <m:r>
                            <a:rPr lang="en-GB" sz="1600" b="0" i="1" smtClean="0">
                              <a:latin typeface="Cambria Math" panose="02040503050406030204" pitchFamily="18" charset="0"/>
                              <a:ea typeface="Cambria Math" panose="02040503050406030204" pitchFamily="18" charset="0"/>
                            </a:rPr>
                            <m:t>𝑆</m:t>
                          </m:r>
                        </m:e>
                        <m:sup>
                          <m:r>
                            <a:rPr lang="en-GB" sz="1600" b="0" i="1" smtClean="0">
                              <a:latin typeface="Cambria Math" panose="02040503050406030204" pitchFamily="18" charset="0"/>
                              <a:ea typeface="Cambria Math" panose="02040503050406030204" pitchFamily="18" charset="0"/>
                            </a:rPr>
                            <m:t>2</m:t>
                          </m:r>
                        </m:sup>
                      </m:sSup>
                      <m:f>
                        <m:fPr>
                          <m:ctrlPr>
                            <a:rPr lang="en-GB" sz="1600" b="0" i="1" smtClean="0">
                              <a:latin typeface="Cambria Math" panose="02040503050406030204" pitchFamily="18" charset="0"/>
                              <a:ea typeface="Cambria Math" panose="02040503050406030204" pitchFamily="18" charset="0"/>
                            </a:rPr>
                          </m:ctrlPr>
                        </m:fPr>
                        <m:num>
                          <m:sSup>
                            <m:sSupPr>
                              <m:ctrlPr>
                                <a:rPr lang="en-GB" sz="1600" b="0" i="1" smtClean="0">
                                  <a:latin typeface="Cambria Math" panose="02040503050406030204" pitchFamily="18" charset="0"/>
                                  <a:ea typeface="Cambria Math" panose="02040503050406030204" pitchFamily="18" charset="0"/>
                                </a:rPr>
                              </m:ctrlPr>
                            </m:sSupPr>
                            <m:e>
                              <m:r>
                                <a:rPr lang="en-GB" sz="1600" b="0" i="1" smtClean="0">
                                  <a:latin typeface="Cambria Math" panose="02040503050406030204" pitchFamily="18" charset="0"/>
                                  <a:ea typeface="Cambria Math" panose="02040503050406030204" pitchFamily="18" charset="0"/>
                                </a:rPr>
                                <m:t>𝜕</m:t>
                              </m:r>
                            </m:e>
                            <m:sup>
                              <m:r>
                                <a:rPr lang="en-GB" sz="1600" b="0" i="1" smtClean="0">
                                  <a:latin typeface="Cambria Math" panose="02040503050406030204" pitchFamily="18" charset="0"/>
                                  <a:ea typeface="Cambria Math" panose="02040503050406030204" pitchFamily="18" charset="0"/>
                                </a:rPr>
                                <m:t>2</m:t>
                              </m:r>
                            </m:sup>
                          </m:sSup>
                          <m:r>
                            <a:rPr lang="en-GB" sz="1600" b="0" i="1" smtClean="0">
                              <a:latin typeface="Cambria Math" panose="02040503050406030204" pitchFamily="18" charset="0"/>
                              <a:ea typeface="Cambria Math" panose="02040503050406030204" pitchFamily="18" charset="0"/>
                            </a:rPr>
                            <m:t>𝐶</m:t>
                          </m:r>
                        </m:num>
                        <m:den>
                          <m:r>
                            <a:rPr lang="en-GB" sz="1600" b="0" i="1" smtClean="0">
                              <a:latin typeface="Cambria Math" panose="02040503050406030204" pitchFamily="18" charset="0"/>
                              <a:ea typeface="Cambria Math" panose="02040503050406030204" pitchFamily="18" charset="0"/>
                            </a:rPr>
                            <m:t>𝜕</m:t>
                          </m:r>
                          <m:sSup>
                            <m:sSupPr>
                              <m:ctrlPr>
                                <a:rPr lang="en-GB" sz="1600" b="0" i="1" smtClean="0">
                                  <a:latin typeface="Cambria Math" panose="02040503050406030204" pitchFamily="18" charset="0"/>
                                  <a:ea typeface="Cambria Math" panose="02040503050406030204" pitchFamily="18" charset="0"/>
                                </a:rPr>
                              </m:ctrlPr>
                            </m:sSupPr>
                            <m:e>
                              <m:r>
                                <a:rPr lang="en-GB" sz="1600" b="0" i="1" smtClean="0">
                                  <a:latin typeface="Cambria Math" panose="02040503050406030204" pitchFamily="18" charset="0"/>
                                  <a:ea typeface="Cambria Math" panose="02040503050406030204" pitchFamily="18" charset="0"/>
                                </a:rPr>
                                <m:t>𝑆</m:t>
                              </m:r>
                            </m:e>
                            <m:sup>
                              <m:r>
                                <a:rPr lang="en-GB" sz="1600" b="0" i="1" smtClean="0">
                                  <a:latin typeface="Cambria Math" panose="02040503050406030204" pitchFamily="18" charset="0"/>
                                  <a:ea typeface="Cambria Math" panose="02040503050406030204" pitchFamily="18" charset="0"/>
                                </a:rPr>
                                <m:t>2</m:t>
                              </m:r>
                            </m:sup>
                          </m:sSup>
                        </m:den>
                      </m:f>
                      <m: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𝑟𝑆</m:t>
                      </m:r>
                      <m:f>
                        <m:fPr>
                          <m:ctrlPr>
                            <a:rPr lang="en-GB" sz="1600" b="0" i="1" smtClean="0">
                              <a:latin typeface="Cambria Math" panose="02040503050406030204" pitchFamily="18" charset="0"/>
                              <a:ea typeface="Cambria Math" panose="02040503050406030204" pitchFamily="18" charset="0"/>
                            </a:rPr>
                          </m:ctrlPr>
                        </m:fPr>
                        <m:num>
                          <m: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𝐶</m:t>
                          </m:r>
                        </m:num>
                        <m:den>
                          <m: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𝑆</m:t>
                          </m:r>
                        </m:den>
                      </m:f>
                      <m: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𝑟𝐶</m:t>
                      </m:r>
                      <m:r>
                        <a:rPr lang="en-GB" sz="1600" b="0" i="1" smtClean="0">
                          <a:latin typeface="Cambria Math" panose="02040503050406030204" pitchFamily="18" charset="0"/>
                          <a:ea typeface="Cambria Math" panose="02040503050406030204" pitchFamily="18" charset="0"/>
                        </a:rPr>
                        <m:t>=0</m:t>
                      </m:r>
                    </m:oMath>
                  </m:oMathPara>
                </a14:m>
                <a:endParaRPr lang="en-GB" sz="1600" i="1" dirty="0">
                  <a:latin typeface="Cambria Math"/>
                  <a:ea typeface="Cambria Math" panose="02040503050406030204" pitchFamily="18" charset="0"/>
                </a:endParaRPr>
              </a:p>
            </p:txBody>
          </p:sp>
        </mc:Choice>
        <mc:Fallback xmlns="">
          <p:sp>
            <p:nvSpPr>
              <p:cNvPr id="10" name="TextovéPole 9">
                <a:extLst>
                  <a:ext uri="{FF2B5EF4-FFF2-40B4-BE49-F238E27FC236}">
                    <a16:creationId xmlns:a16="http://schemas.microsoft.com/office/drawing/2014/main" id="{BC682BE2-3829-16C8-7667-FEB26269160B}"/>
                  </a:ext>
                </a:extLst>
              </p:cNvPr>
              <p:cNvSpPr txBox="1">
                <a:spLocks noRot="1" noChangeAspect="1" noMove="1" noResize="1" noEditPoints="1" noAdjustHandles="1" noChangeArrowheads="1" noChangeShapeType="1" noTextEdit="1"/>
              </p:cNvSpPr>
              <p:nvPr/>
            </p:nvSpPr>
            <p:spPr>
              <a:xfrm>
                <a:off x="1800000" y="1574766"/>
                <a:ext cx="3097963" cy="494174"/>
              </a:xfrm>
              <a:prstGeom prst="rect">
                <a:avLst/>
              </a:prstGeom>
              <a:blipFill>
                <a:blip r:embed="rId2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ovéPole 8">
                <a:extLst>
                  <a:ext uri="{FF2B5EF4-FFF2-40B4-BE49-F238E27FC236}">
                    <a16:creationId xmlns:a16="http://schemas.microsoft.com/office/drawing/2014/main" id="{DFF74927-98DD-86BB-5597-1B2D16C0FE18}"/>
                  </a:ext>
                </a:extLst>
              </p:cNvPr>
              <p:cNvSpPr txBox="1"/>
              <p:nvPr/>
            </p:nvSpPr>
            <p:spPr>
              <a:xfrm>
                <a:off x="5508104" y="2421468"/>
                <a:ext cx="3589124" cy="184666"/>
              </a:xfrm>
              <a:prstGeom prst="rect">
                <a:avLst/>
              </a:prstGeom>
              <a:noFill/>
            </p:spPr>
            <p:txBody>
              <a:bodyPr wrap="none" lIns="0" tIns="0" rIns="0" bIns="0" rtlCol="0">
                <a:spAutoFit/>
              </a:bodyPr>
              <a:lstStyle/>
              <a:p>
                <a:r>
                  <a:rPr lang="en-GB" sz="1200" dirty="0">
                    <a:latin typeface="Cambria Math" panose="02040503050406030204" pitchFamily="18" charset="0"/>
                    <a:ea typeface="Cambria Math" panose="02040503050406030204" pitchFamily="18" charset="0"/>
                  </a:rPr>
                  <a:t>logarithmic approximation: </a:t>
                </a:r>
                <a14:m>
                  <m:oMath xmlns:m="http://schemas.openxmlformats.org/officeDocument/2006/math">
                    <m:func>
                      <m:funcPr>
                        <m:ctrlPr>
                          <a:rPr lang="en-GB" sz="1200" i="1">
                            <a:latin typeface="Cambria Math" panose="02040503050406030204" pitchFamily="18" charset="0"/>
                            <a:ea typeface="Cambria Math" panose="02040503050406030204" pitchFamily="18" charset="0"/>
                          </a:rPr>
                        </m:ctrlPr>
                      </m:funcPr>
                      <m:fName>
                        <m:r>
                          <m:rPr>
                            <m:sty m:val="p"/>
                          </m:rPr>
                          <a:rPr lang="en-GB" sz="1200">
                            <a:latin typeface="Cambria Math" panose="02040503050406030204" pitchFamily="18" charset="0"/>
                            <a:ea typeface="Cambria Math" panose="02040503050406030204" pitchFamily="18" charset="0"/>
                          </a:rPr>
                          <m:t>ln</m:t>
                        </m:r>
                      </m:fName>
                      <m:e>
                        <m:d>
                          <m:dPr>
                            <m:ctrlPr>
                              <a:rPr lang="en-GB" sz="1200" i="1">
                                <a:latin typeface="Cambria Math" panose="02040503050406030204" pitchFamily="18" charset="0"/>
                                <a:ea typeface="Cambria Math" panose="02040503050406030204" pitchFamily="18" charset="0"/>
                              </a:rPr>
                            </m:ctrlPr>
                          </m:dPr>
                          <m:e>
                            <m:r>
                              <a:rPr lang="en-GB" sz="1200" i="1">
                                <a:latin typeface="Cambria Math" panose="02040503050406030204" pitchFamily="18" charset="0"/>
                                <a:ea typeface="Cambria Math" panose="02040503050406030204" pitchFamily="18" charset="0"/>
                              </a:rPr>
                              <m:t>1+</m:t>
                            </m:r>
                            <m:r>
                              <a:rPr lang="en-GB" sz="1200" i="1">
                                <a:latin typeface="Cambria Math" panose="02040503050406030204" pitchFamily="18" charset="0"/>
                                <a:ea typeface="Cambria Math" panose="02040503050406030204" pitchFamily="18" charset="0"/>
                              </a:rPr>
                              <m:t>𝑥</m:t>
                            </m:r>
                          </m:e>
                        </m:d>
                      </m:e>
                    </m:func>
                    <m:acc>
                      <m:accPr>
                        <m:chr m:val="̇"/>
                        <m:ctrlPr>
                          <a:rPr lang="en-GB" sz="1200" i="1">
                            <a:latin typeface="Cambria Math" panose="02040503050406030204" pitchFamily="18" charset="0"/>
                            <a:ea typeface="Cambria Math" panose="02040503050406030204" pitchFamily="18" charset="0"/>
                          </a:rPr>
                        </m:ctrlPr>
                      </m:accPr>
                      <m:e>
                        <m:r>
                          <a:rPr lang="en-GB" sz="1200" i="1">
                            <a:latin typeface="Cambria Math" panose="02040503050406030204" pitchFamily="18" charset="0"/>
                            <a:ea typeface="Cambria Math" panose="02040503050406030204" pitchFamily="18" charset="0"/>
                          </a:rPr>
                          <m:t>=</m:t>
                        </m:r>
                      </m:e>
                    </m:acc>
                    <m:r>
                      <a:rPr lang="en-GB" sz="1200" i="1">
                        <a:latin typeface="Cambria Math" panose="02040503050406030204" pitchFamily="18" charset="0"/>
                        <a:ea typeface="Cambria Math" panose="02040503050406030204" pitchFamily="18" charset="0"/>
                      </a:rPr>
                      <m:t>𝑥</m:t>
                    </m:r>
                    <m:r>
                      <a:rPr lang="en-GB" sz="1200" b="0" i="1" smtClean="0">
                        <a:latin typeface="Cambria Math" panose="02040503050406030204" pitchFamily="18" charset="0"/>
                        <a:ea typeface="Cambria Math" panose="02040503050406030204" pitchFamily="18" charset="0"/>
                      </a:rPr>
                      <m:t> </m:t>
                    </m:r>
                    <m:r>
                      <m:rPr>
                        <m:sty m:val="p"/>
                      </m:rPr>
                      <a:rPr lang="en-GB" sz="1200" b="0" i="0" smtClean="0">
                        <a:latin typeface="Cambria Math" panose="02040503050406030204" pitchFamily="18" charset="0"/>
                        <a:ea typeface="Cambria Math" panose="02040503050406030204" pitchFamily="18" charset="0"/>
                      </a:rPr>
                      <m:t>for</m:t>
                    </m:r>
                    <m:r>
                      <a:rPr lang="en-GB" sz="1200" b="0" i="0" smtClean="0">
                        <a:latin typeface="Cambria Math" panose="02040503050406030204" pitchFamily="18" charset="0"/>
                        <a:ea typeface="Cambria Math" panose="02040503050406030204" pitchFamily="18" charset="0"/>
                      </a:rPr>
                      <m:t> </m:t>
                    </m:r>
                    <m:r>
                      <m:rPr>
                        <m:sty m:val="p"/>
                      </m:rPr>
                      <a:rPr lang="en-GB" sz="1200" b="0" i="0" smtClean="0">
                        <a:latin typeface="Cambria Math" panose="02040503050406030204" pitchFamily="18" charset="0"/>
                        <a:ea typeface="Cambria Math" panose="02040503050406030204" pitchFamily="18" charset="0"/>
                      </a:rPr>
                      <m:t>small</m:t>
                    </m:r>
                    <m:r>
                      <a:rPr lang="en-GB" sz="1200" b="0" i="0" smtClean="0">
                        <a:latin typeface="Cambria Math" panose="02040503050406030204" pitchFamily="18" charset="0"/>
                        <a:ea typeface="Cambria Math" panose="02040503050406030204" pitchFamily="18" charset="0"/>
                      </a:rPr>
                      <m:t> </m:t>
                    </m:r>
                    <m:r>
                      <a:rPr lang="en-GB" sz="1200" i="1">
                        <a:latin typeface="Cambria Math" panose="02040503050406030204" pitchFamily="18" charset="0"/>
                        <a:ea typeface="Cambria Math" panose="02040503050406030204" pitchFamily="18" charset="0"/>
                      </a:rPr>
                      <m:t>𝑥</m:t>
                    </m:r>
                  </m:oMath>
                </a14:m>
                <a:endParaRPr lang="en-GB" sz="1200" dirty="0">
                  <a:latin typeface="Cambria Math" panose="02040503050406030204" pitchFamily="18" charset="0"/>
                  <a:ea typeface="Cambria Math" panose="02040503050406030204" pitchFamily="18" charset="0"/>
                </a:endParaRPr>
              </a:p>
            </p:txBody>
          </p:sp>
        </mc:Choice>
        <mc:Fallback xmlns="">
          <p:sp>
            <p:nvSpPr>
              <p:cNvPr id="9" name="TextovéPole 8">
                <a:extLst>
                  <a:ext uri="{FF2B5EF4-FFF2-40B4-BE49-F238E27FC236}">
                    <a16:creationId xmlns:a16="http://schemas.microsoft.com/office/drawing/2014/main" id="{DFF74927-98DD-86BB-5597-1B2D16C0FE18}"/>
                  </a:ext>
                </a:extLst>
              </p:cNvPr>
              <p:cNvSpPr txBox="1">
                <a:spLocks noRot="1" noChangeAspect="1" noMove="1" noResize="1" noEditPoints="1" noAdjustHandles="1" noChangeArrowheads="1" noChangeShapeType="1" noTextEdit="1"/>
              </p:cNvSpPr>
              <p:nvPr/>
            </p:nvSpPr>
            <p:spPr>
              <a:xfrm>
                <a:off x="5508104" y="2421468"/>
                <a:ext cx="3589124" cy="184666"/>
              </a:xfrm>
              <a:prstGeom prst="rect">
                <a:avLst/>
              </a:prstGeom>
              <a:blipFill>
                <a:blip r:embed="rId29"/>
                <a:stretch>
                  <a:fillRect l="-2721" t="-25806" b="-4838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ovéPole 4">
                <a:extLst>
                  <a:ext uri="{FF2B5EF4-FFF2-40B4-BE49-F238E27FC236}">
                    <a16:creationId xmlns:a16="http://schemas.microsoft.com/office/drawing/2014/main" id="{7EEA95B7-52DD-3607-4A59-89BF6AEE3C77}"/>
                  </a:ext>
                </a:extLst>
              </p:cNvPr>
              <p:cNvSpPr txBox="1"/>
              <p:nvPr/>
            </p:nvSpPr>
            <p:spPr>
              <a:xfrm>
                <a:off x="1681230" y="4353441"/>
                <a:ext cx="2724592" cy="246221"/>
              </a:xfrm>
              <a:prstGeom prst="rect">
                <a:avLst/>
              </a:prstGeom>
              <a:noFill/>
            </p:spPr>
            <p:txBody>
              <a:bodyPr wrap="none" lIns="0" tIns="0" rIns="0" bIns="0" rtlCol="0">
                <a:spAutoFit/>
              </a:bodyPr>
              <a:lstStyle/>
              <a:p>
                <a:pPr algn="ctr"/>
                <a14:m>
                  <m:oMathPara xmlns:m="http://schemas.openxmlformats.org/officeDocument/2006/math">
                    <m:oMathParaPr>
                      <m:jc m:val="left"/>
                    </m:oMathParaPr>
                    <m:oMath xmlns:m="http://schemas.openxmlformats.org/officeDocument/2006/math">
                      <m:r>
                        <a:rPr lang="cs-CZ" sz="1600" b="0" i="1" smtClean="0">
                          <a:latin typeface="Cambria Math" panose="02040503050406030204" pitchFamily="18" charset="0"/>
                          <a:ea typeface="Cambria Math" panose="02040503050406030204" pitchFamily="18" charset="0"/>
                        </a:rPr>
                        <m:t>𝑃</m:t>
                      </m:r>
                      <m:r>
                        <a:rPr lang="cs-CZ" sz="1600" b="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𝑋</m:t>
                      </m:r>
                      <m:sSup>
                        <m:sSupPr>
                          <m:ctrlPr>
                            <a:rPr lang="cs-CZ" sz="1600" i="1">
                              <a:latin typeface="Cambria Math" panose="02040503050406030204" pitchFamily="18" charset="0"/>
                              <a:ea typeface="Cambria Math" panose="02040503050406030204" pitchFamily="18" charset="0"/>
                            </a:rPr>
                          </m:ctrlPr>
                        </m:sSupPr>
                        <m:e>
                          <m:r>
                            <a:rPr lang="cs-CZ" sz="1600" i="1">
                              <a:latin typeface="Cambria Math" panose="02040503050406030204" pitchFamily="18" charset="0"/>
                              <a:ea typeface="Cambria Math" panose="02040503050406030204" pitchFamily="18" charset="0"/>
                            </a:rPr>
                            <m:t>𝑒</m:t>
                          </m:r>
                        </m:e>
                        <m:sup>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𝑟𝑇</m:t>
                          </m:r>
                        </m:sup>
                      </m:sSup>
                      <m:r>
                        <a:rPr lang="cs-CZ" sz="1600" i="1">
                          <a:latin typeface="Cambria Math" panose="02040503050406030204" pitchFamily="18" charset="0"/>
                          <a:ea typeface="Cambria Math" panose="02040503050406030204" pitchFamily="18" charset="0"/>
                        </a:rPr>
                        <m:t>𝑁</m:t>
                      </m:r>
                      <m:d>
                        <m:dPr>
                          <m:ctrlPr>
                            <a:rPr lang="cs-CZ" sz="1600" i="1">
                              <a:latin typeface="Cambria Math" panose="02040503050406030204" pitchFamily="18" charset="0"/>
                              <a:ea typeface="Cambria Math" panose="02040503050406030204" pitchFamily="18" charset="0"/>
                            </a:rPr>
                          </m:ctrlPr>
                        </m:dPr>
                        <m:e>
                          <m:sSub>
                            <m:sSubPr>
                              <m:ctrlPr>
                                <a:rPr lang="cs-CZ" sz="1600" i="1">
                                  <a:latin typeface="Cambria Math" panose="02040503050406030204" pitchFamily="18" charset="0"/>
                                  <a:ea typeface="Cambria Math" panose="02040503050406030204" pitchFamily="18" charset="0"/>
                                </a:rPr>
                              </m:ctrlPr>
                            </m:sSubPr>
                            <m:e>
                              <m:r>
                                <a:rPr lang="cs-CZ" sz="1600" b="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𝑑</m:t>
                              </m:r>
                            </m:e>
                            <m:sub>
                              <m:r>
                                <a:rPr lang="cs-CZ" sz="1600" i="1">
                                  <a:latin typeface="Cambria Math" panose="02040503050406030204" pitchFamily="18" charset="0"/>
                                  <a:ea typeface="Cambria Math" panose="02040503050406030204" pitchFamily="18" charset="0"/>
                                </a:rPr>
                                <m:t>2</m:t>
                              </m:r>
                            </m:sub>
                          </m:sSub>
                        </m:e>
                      </m:d>
                      <m:r>
                        <a:rPr lang="cs-CZ" sz="1600" b="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𝑆𝑁</m:t>
                      </m:r>
                      <m:d>
                        <m:dPr>
                          <m:ctrlPr>
                            <a:rPr lang="cs-CZ" sz="1600" b="0" i="1" smtClean="0">
                              <a:latin typeface="Cambria Math" panose="02040503050406030204" pitchFamily="18" charset="0"/>
                              <a:ea typeface="Cambria Math" panose="02040503050406030204" pitchFamily="18" charset="0"/>
                            </a:rPr>
                          </m:ctrlPr>
                        </m:dPr>
                        <m:e>
                          <m:r>
                            <a:rPr lang="cs-CZ" sz="1600" b="0" i="1" smtClean="0">
                              <a:latin typeface="Cambria Math" panose="02040503050406030204" pitchFamily="18" charset="0"/>
                              <a:ea typeface="Cambria Math" panose="02040503050406030204" pitchFamily="18" charset="0"/>
                            </a:rPr>
                            <m:t>−</m:t>
                          </m:r>
                          <m:sSub>
                            <m:sSubPr>
                              <m:ctrlPr>
                                <a:rPr lang="cs-CZ" sz="1600" b="0" i="1" smtClean="0">
                                  <a:latin typeface="Cambria Math" panose="02040503050406030204" pitchFamily="18" charset="0"/>
                                  <a:ea typeface="Cambria Math" panose="02040503050406030204" pitchFamily="18" charset="0"/>
                                </a:rPr>
                              </m:ctrlPr>
                            </m:sSubPr>
                            <m:e>
                              <m:r>
                                <a:rPr lang="cs-CZ" sz="1600" b="0" i="1" smtClean="0">
                                  <a:latin typeface="Cambria Math" panose="02040503050406030204" pitchFamily="18" charset="0"/>
                                  <a:ea typeface="Cambria Math" panose="02040503050406030204" pitchFamily="18" charset="0"/>
                                </a:rPr>
                                <m:t>𝑑</m:t>
                              </m:r>
                            </m:e>
                            <m:sub>
                              <m:r>
                                <a:rPr lang="cs-CZ" sz="1600" b="0" i="1" smtClean="0">
                                  <a:latin typeface="Cambria Math" panose="02040503050406030204" pitchFamily="18" charset="0"/>
                                  <a:ea typeface="Cambria Math" panose="02040503050406030204" pitchFamily="18" charset="0"/>
                                </a:rPr>
                                <m:t>1</m:t>
                              </m:r>
                            </m:sub>
                          </m:sSub>
                        </m:e>
                      </m:d>
                    </m:oMath>
                  </m:oMathPara>
                </a14:m>
                <a:endParaRPr lang="cs-CZ" sz="1600" i="1" dirty="0">
                  <a:latin typeface="Cambria Math"/>
                  <a:ea typeface="Cambria Math" panose="02040503050406030204" pitchFamily="18" charset="0"/>
                </a:endParaRPr>
              </a:p>
            </p:txBody>
          </p:sp>
        </mc:Choice>
        <mc:Fallback xmlns="">
          <p:sp>
            <p:nvSpPr>
              <p:cNvPr id="5" name="TextovéPole 4">
                <a:extLst>
                  <a:ext uri="{FF2B5EF4-FFF2-40B4-BE49-F238E27FC236}">
                    <a16:creationId xmlns:a16="http://schemas.microsoft.com/office/drawing/2014/main" id="{7EEA95B7-52DD-3607-4A59-89BF6AEE3C77}"/>
                  </a:ext>
                </a:extLst>
              </p:cNvPr>
              <p:cNvSpPr txBox="1">
                <a:spLocks noRot="1" noChangeAspect="1" noMove="1" noResize="1" noEditPoints="1" noAdjustHandles="1" noChangeArrowheads="1" noChangeShapeType="1" noTextEdit="1"/>
              </p:cNvSpPr>
              <p:nvPr/>
            </p:nvSpPr>
            <p:spPr>
              <a:xfrm>
                <a:off x="1681230" y="4353441"/>
                <a:ext cx="2724592" cy="246221"/>
              </a:xfrm>
              <a:prstGeom prst="rect">
                <a:avLst/>
              </a:prstGeom>
              <a:blipFill>
                <a:blip r:embed="rId30"/>
                <a:stretch>
                  <a:fillRect l="-2685" b="-14634"/>
                </a:stretch>
              </a:blipFill>
            </p:spPr>
            <p:txBody>
              <a:bodyPr/>
              <a:lstStyle/>
              <a:p>
                <a:r>
                  <a:rPr lang="en-GB">
                    <a:noFill/>
                  </a:rPr>
                  <a:t> </a:t>
                </a:r>
              </a:p>
            </p:txBody>
          </p:sp>
        </mc:Fallback>
      </mc:AlternateContent>
    </p:spTree>
    <p:extLst>
      <p:ext uri="{BB962C8B-B14F-4D97-AF65-F5344CB8AC3E}">
        <p14:creationId xmlns:p14="http://schemas.microsoft.com/office/powerpoint/2010/main" val="688552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p:cNvSpPr>
            <a:spLocks noGrp="1"/>
          </p:cNvSpPr>
          <p:nvPr>
            <p:ph type="sldNum" sz="quarter" idx="12"/>
          </p:nvPr>
        </p:nvSpPr>
        <p:spPr>
          <a:xfrm>
            <a:off x="7164000" y="6336000"/>
            <a:ext cx="1800000" cy="360000"/>
          </a:xfrm>
        </p:spPr>
        <p:txBody>
          <a:bodyPr/>
          <a:lstStyle/>
          <a:p>
            <a:pPr algn="r"/>
            <a:fld id="{DFE5482F-2F05-49C5-9E15-73F945A41231}" type="slidenum">
              <a:rPr lang="cs-CZ" smtClean="0"/>
              <a:pPr algn="r"/>
              <a:t>7</a:t>
            </a:fld>
            <a:endParaRPr lang="cs-CZ" dirty="0"/>
          </a:p>
        </p:txBody>
      </p:sp>
      <p:sp>
        <p:nvSpPr>
          <p:cNvPr id="4" name="Nadpis 3"/>
          <p:cNvSpPr>
            <a:spLocks noGrp="1"/>
          </p:cNvSpPr>
          <p:nvPr>
            <p:ph type="title"/>
          </p:nvPr>
        </p:nvSpPr>
        <p:spPr>
          <a:xfrm>
            <a:off x="144000" y="144000"/>
            <a:ext cx="5724144" cy="648072"/>
          </a:xfrm>
        </p:spPr>
        <p:txBody>
          <a:bodyPr/>
          <a:lstStyle/>
          <a:p>
            <a:r>
              <a:rPr lang="en-GB" dirty="0">
                <a:solidFill>
                  <a:srgbClr val="000000"/>
                </a:solidFill>
              </a:rPr>
              <a:t>Black–Scholes formula </a:t>
            </a:r>
            <a:r>
              <a:rPr lang="en-GB" dirty="0">
                <a:latin typeface="Cambria Math" panose="02040503050406030204" pitchFamily="18" charset="0"/>
                <a:ea typeface="Cambria Math" panose="02040503050406030204" pitchFamily="18" charset="0"/>
              </a:rPr>
              <a:t>–</a:t>
            </a:r>
            <a:r>
              <a:rPr lang="cs-CZ" dirty="0">
                <a:latin typeface="Cambria Math" panose="02040503050406030204" pitchFamily="18" charset="0"/>
                <a:ea typeface="Cambria Math" panose="02040503050406030204" pitchFamily="18" charset="0"/>
              </a:rPr>
              <a:t> </a:t>
            </a:r>
            <a:r>
              <a:rPr lang="en-GB" dirty="0">
                <a:solidFill>
                  <a:srgbClr val="000000"/>
                </a:solidFill>
              </a:rPr>
              <a:t>example</a:t>
            </a:r>
          </a:p>
        </p:txBody>
      </p:sp>
      <p:sp>
        <p:nvSpPr>
          <p:cNvPr id="29" name="TextovéPole 28"/>
          <p:cNvSpPr txBox="1"/>
          <p:nvPr/>
        </p:nvSpPr>
        <p:spPr>
          <a:xfrm>
            <a:off x="864000" y="864000"/>
            <a:ext cx="1115712"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Data</a:t>
            </a:r>
          </a:p>
        </p:txBody>
      </p:sp>
      <mc:AlternateContent xmlns:mc="http://schemas.openxmlformats.org/markup-compatibility/2006" xmlns:a14="http://schemas.microsoft.com/office/drawing/2010/main">
        <mc:Choice Requires="a14">
          <p:sp>
            <p:nvSpPr>
              <p:cNvPr id="83" name="TextovéPole 82">
                <a:extLst>
                  <a:ext uri="{FF2B5EF4-FFF2-40B4-BE49-F238E27FC236}">
                    <a16:creationId xmlns:a16="http://schemas.microsoft.com/office/drawing/2014/main" id="{EE16E3B3-D303-4859-B2FD-649CC47A3C14}"/>
                  </a:ext>
                </a:extLst>
              </p:cNvPr>
              <p:cNvSpPr txBox="1"/>
              <p:nvPr/>
            </p:nvSpPr>
            <p:spPr>
              <a:xfrm>
                <a:off x="1188000" y="1273477"/>
                <a:ext cx="7092000"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14:m>
                  <m:oMath xmlns:m="http://schemas.openxmlformats.org/officeDocument/2006/math">
                    <m:sSub>
                      <m:sSubPr>
                        <m:ctrlPr>
                          <a:rPr lang="cs-CZ" i="1" smtClean="0">
                            <a:latin typeface="Cambria Math" panose="02040503050406030204" pitchFamily="18" charset="0"/>
                            <a:ea typeface="Cambria Math" panose="02040503050406030204" pitchFamily="18" charset="0"/>
                          </a:rPr>
                        </m:ctrlPr>
                      </m:sSubPr>
                      <m:e>
                        <m:r>
                          <a:rPr lang="cs-CZ">
                            <a:latin typeface="Cambria Math" panose="02040503050406030204" pitchFamily="18" charset="0"/>
                            <a:ea typeface="Cambria Math" panose="02040503050406030204" pitchFamily="18" charset="0"/>
                          </a:rPr>
                          <m:t>𝑆</m:t>
                        </m:r>
                      </m:e>
                      <m:sub>
                        <m:r>
                          <a:rPr lang="cs-CZ">
                            <a:latin typeface="Cambria Math" panose="02040503050406030204" pitchFamily="18" charset="0"/>
                            <a:ea typeface="Cambria Math" panose="02040503050406030204" pitchFamily="18" charset="0"/>
                          </a:rPr>
                          <m:t>0</m:t>
                        </m:r>
                      </m:sub>
                    </m:sSub>
                    <m:r>
                      <a:rPr lang="cs-CZ">
                        <a:latin typeface="Cambria Math" panose="02040503050406030204" pitchFamily="18" charset="0"/>
                        <a:ea typeface="Cambria Math" panose="02040503050406030204" pitchFamily="18" charset="0"/>
                      </a:rPr>
                      <m:t>=</m:t>
                    </m:r>
                    <m:r>
                      <a:rPr lang="cs-CZ" b="0" i="0" smtClean="0">
                        <a:latin typeface="Cambria Math" panose="02040503050406030204" pitchFamily="18" charset="0"/>
                        <a:ea typeface="Cambria Math" panose="02040503050406030204" pitchFamily="18" charset="0"/>
                      </a:rPr>
                      <m:t>€</m:t>
                    </m:r>
                    <m:r>
                      <a:rPr lang="cs-CZ">
                        <a:latin typeface="Cambria Math" panose="02040503050406030204" pitchFamily="18" charset="0"/>
                        <a:ea typeface="Cambria Math" panose="02040503050406030204" pitchFamily="18" charset="0"/>
                      </a:rPr>
                      <m:t>50, </m:t>
                    </m:r>
                    <m:r>
                      <a:rPr lang="cs-CZ" smtClean="0">
                        <a:latin typeface="Cambria Math" panose="02040503050406030204" pitchFamily="18" charset="0"/>
                        <a:ea typeface="Cambria Math" panose="02040503050406030204" pitchFamily="18" charset="0"/>
                      </a:rPr>
                      <m:t>𝑋</m:t>
                    </m:r>
                    <m:r>
                      <a:rPr lang="cs-CZ">
                        <a:latin typeface="Cambria Math" panose="02040503050406030204" pitchFamily="18" charset="0"/>
                        <a:ea typeface="Cambria Math" panose="02040503050406030204" pitchFamily="18" charset="0"/>
                      </a:rPr>
                      <m:t>=</m:t>
                    </m:r>
                    <m:r>
                      <a:rPr lang="cs-CZ" b="0" i="0" smtClean="0">
                        <a:latin typeface="Cambria Math" panose="02040503050406030204" pitchFamily="18" charset="0"/>
                        <a:ea typeface="Cambria Math" panose="02040503050406030204" pitchFamily="18" charset="0"/>
                      </a:rPr>
                      <m:t>€</m:t>
                    </m:r>
                    <m:r>
                      <a:rPr lang="cs-CZ">
                        <a:latin typeface="Cambria Math" panose="02040503050406030204" pitchFamily="18" charset="0"/>
                        <a:ea typeface="Cambria Math" panose="02040503050406030204" pitchFamily="18" charset="0"/>
                      </a:rPr>
                      <m:t>45, </m:t>
                    </m:r>
                    <m:r>
                      <a:rPr lang="cs-CZ">
                        <a:latin typeface="Cambria Math" panose="02040503050406030204" pitchFamily="18" charset="0"/>
                        <a:ea typeface="Cambria Math" panose="02040503050406030204" pitchFamily="18" charset="0"/>
                      </a:rPr>
                      <m:t>𝑢</m:t>
                    </m:r>
                    <m:r>
                      <a:rPr lang="cs-CZ">
                        <a:latin typeface="Cambria Math" panose="02040503050406030204" pitchFamily="18" charset="0"/>
                        <a:ea typeface="Cambria Math" panose="02040503050406030204" pitchFamily="18" charset="0"/>
                      </a:rPr>
                      <m:t>=1.3, </m:t>
                    </m:r>
                    <m:r>
                      <a:rPr lang="cs-CZ" smtClean="0">
                        <a:latin typeface="Cambria Math" panose="02040503050406030204" pitchFamily="18" charset="0"/>
                        <a:ea typeface="Cambria Math" panose="02040503050406030204" pitchFamily="18" charset="0"/>
                      </a:rPr>
                      <m:t>𝑑</m:t>
                    </m:r>
                    <m:r>
                      <a:rPr lang="cs-CZ">
                        <a:latin typeface="Cambria Math" panose="02040503050406030204" pitchFamily="18" charset="0"/>
                        <a:ea typeface="Cambria Math" panose="02040503050406030204" pitchFamily="18" charset="0"/>
                      </a:rPr>
                      <m:t>=0.7</m:t>
                    </m:r>
                    <m:r>
                      <a:rPr lang="cs-CZ" b="0" i="0" smtClean="0">
                        <a:latin typeface="Cambria Math" panose="02040503050406030204" pitchFamily="18" charset="0"/>
                        <a:ea typeface="Cambria Math" panose="02040503050406030204" pitchFamily="18" charset="0"/>
                      </a:rPr>
                      <m:t>,</m:t>
                    </m:r>
                    <m:r>
                      <a:rPr lang="cs-CZ" i="1">
                        <a:latin typeface="Cambria Math" panose="02040503050406030204" pitchFamily="18" charset="0"/>
                        <a:ea typeface="Cambria Math" panose="02040503050406030204" pitchFamily="18" charset="0"/>
                      </a:rPr>
                      <m:t>𝑇</m:t>
                    </m:r>
                    <m:r>
                      <a:rPr lang="cs-CZ" i="1">
                        <a:latin typeface="Cambria Math" panose="02040503050406030204" pitchFamily="18" charset="0"/>
                        <a:ea typeface="Cambria Math" panose="02040503050406030204" pitchFamily="18" charset="0"/>
                      </a:rPr>
                      <m:t>=10</m:t>
                    </m:r>
                    <m:r>
                      <a:rPr lang="cs-CZ">
                        <a:latin typeface="Cambria Math" panose="02040503050406030204" pitchFamily="18" charset="0"/>
                        <a:ea typeface="Cambria Math" panose="02040503050406030204" pitchFamily="18" charset="0"/>
                      </a:rPr>
                      <m:t> </m:t>
                    </m:r>
                    <m:r>
                      <m:rPr>
                        <m:sty m:val="p"/>
                      </m:rPr>
                      <a:rPr lang="cs-CZ" b="0" i="0" smtClean="0">
                        <a:latin typeface="Cambria Math" panose="02040503050406030204" pitchFamily="18" charset="0"/>
                        <a:ea typeface="Cambria Math" panose="02040503050406030204" pitchFamily="18" charset="0"/>
                      </a:rPr>
                      <m:t>years</m:t>
                    </m:r>
                    <m:r>
                      <a:rPr lang="cs-CZ" b="0" i="1" smtClean="0">
                        <a:latin typeface="Cambria Math" panose="02040503050406030204" pitchFamily="18" charset="0"/>
                        <a:ea typeface="Cambria Math" panose="02040503050406030204" pitchFamily="18" charset="0"/>
                      </a:rPr>
                      <m:t>,</m:t>
                    </m:r>
                    <m:r>
                      <a:rPr lang="cs-CZ">
                        <a:latin typeface="Cambria Math" panose="02040503050406030204" pitchFamily="18" charset="0"/>
                        <a:ea typeface="Cambria Math" panose="02040503050406030204" pitchFamily="18" charset="0"/>
                      </a:rPr>
                      <m:t>𝑟</m:t>
                    </m:r>
                    <m:r>
                      <a:rPr lang="cs-CZ">
                        <a:latin typeface="Cambria Math" panose="02040503050406030204" pitchFamily="18" charset="0"/>
                        <a:ea typeface="Cambria Math" panose="02040503050406030204" pitchFamily="18" charset="0"/>
                      </a:rPr>
                      <m:t>=10%,</m:t>
                    </m:r>
                  </m:oMath>
                </a14:m>
                <a:endParaRPr lang="cs-CZ" dirty="0">
                  <a:latin typeface="Cambria Math" panose="02040503050406030204" pitchFamily="18" charset="0"/>
                  <a:ea typeface="Cambria Math" panose="02040503050406030204" pitchFamily="18" charset="0"/>
                </a:endParaRPr>
              </a:p>
              <a:p>
                <a:pPr marL="357188">
                  <a:buClr>
                    <a:srgbClr val="7030A0"/>
                  </a:buClr>
                  <a:buSzPct val="80000"/>
                </a:pPr>
                <a14:m>
                  <m:oMathPara xmlns:m="http://schemas.openxmlformats.org/officeDocument/2006/math">
                    <m:oMathParaPr>
                      <m:jc m:val="left"/>
                    </m:oMathParaPr>
                    <m:oMath xmlns:m="http://schemas.openxmlformats.org/officeDocument/2006/math">
                      <m:r>
                        <a:rPr lang="cs-CZ" b="0" i="1" smtClean="0">
                          <a:latin typeface="Cambria Math" panose="02040503050406030204" pitchFamily="18" charset="0"/>
                          <a:ea typeface="Cambria Math" panose="02040503050406030204" pitchFamily="18" charset="0"/>
                        </a:rPr>
                        <m:t>𝑝</m:t>
                      </m:r>
                      <m:r>
                        <a:rPr lang="cs-CZ" b="0" i="1" smtClean="0">
                          <a:latin typeface="Cambria Math" panose="02040503050406030204" pitchFamily="18" charset="0"/>
                          <a:ea typeface="Cambria Math" panose="02040503050406030204" pitchFamily="18" charset="0"/>
                        </a:rPr>
                        <m:t>=66.67%</m:t>
                      </m:r>
                      <m:r>
                        <m:rPr>
                          <m:nor/>
                        </m:rPr>
                        <a:rPr lang="cs-CZ" b="0" i="0" smtClean="0">
                          <a:latin typeface="Cambria Math" panose="02040503050406030204" pitchFamily="18" charset="0"/>
                          <a:ea typeface="Cambria Math" panose="02040503050406030204" pitchFamily="18" charset="0"/>
                        </a:rPr>
                        <m:t> (</m:t>
                      </m:r>
                      <m:r>
                        <m:rPr>
                          <m:nor/>
                        </m:rPr>
                        <a:rPr lang="en-GB" dirty="0" smtClean="0">
                          <a:latin typeface="Cambria Math" panose="02040503050406030204" pitchFamily="18" charset="0"/>
                          <a:ea typeface="Cambria Math" panose="02040503050406030204" pitchFamily="18" charset="0"/>
                        </a:rPr>
                        <m:t>same</m:t>
                      </m:r>
                      <m:r>
                        <m:rPr>
                          <m:nor/>
                        </m:rPr>
                        <a:rPr lang="en-GB" dirty="0" smtClean="0">
                          <a:latin typeface="Cambria Math" panose="02040503050406030204" pitchFamily="18" charset="0"/>
                          <a:ea typeface="Cambria Math" panose="02040503050406030204" pitchFamily="18" charset="0"/>
                        </a:rPr>
                        <m:t> </m:t>
                      </m:r>
                      <m:r>
                        <m:rPr>
                          <m:nor/>
                        </m:rPr>
                        <a:rPr lang="en-GB" dirty="0" smtClean="0">
                          <a:latin typeface="Cambria Math" panose="02040503050406030204" pitchFamily="18" charset="0"/>
                          <a:ea typeface="Cambria Math" panose="02040503050406030204" pitchFamily="18" charset="0"/>
                        </a:rPr>
                        <m:t>as</m:t>
                      </m:r>
                      <m:r>
                        <m:rPr>
                          <m:nor/>
                        </m:rPr>
                        <a:rPr lang="en-GB" dirty="0" smtClean="0">
                          <a:latin typeface="Cambria Math" panose="02040503050406030204" pitchFamily="18" charset="0"/>
                          <a:ea typeface="Cambria Math" panose="02040503050406030204" pitchFamily="18" charset="0"/>
                        </a:rPr>
                        <m:t> </m:t>
                      </m:r>
                      <m:r>
                        <m:rPr>
                          <m:nor/>
                        </m:rPr>
                        <a:rPr lang="en-GB" dirty="0" smtClean="0">
                          <a:latin typeface="Cambria Math" panose="02040503050406030204" pitchFamily="18" charset="0"/>
                          <a:ea typeface="Cambria Math" panose="02040503050406030204" pitchFamily="18" charset="0"/>
                        </a:rPr>
                        <m:t>in</m:t>
                      </m:r>
                      <m:r>
                        <m:rPr>
                          <m:nor/>
                        </m:rPr>
                        <a:rPr lang="en-GB" dirty="0" smtClean="0">
                          <a:latin typeface="Cambria Math" panose="02040503050406030204" pitchFamily="18" charset="0"/>
                          <a:ea typeface="Cambria Math" panose="02040503050406030204" pitchFamily="18" charset="0"/>
                        </a:rPr>
                        <m:t> </m:t>
                      </m:r>
                      <m:r>
                        <m:rPr>
                          <m:nor/>
                        </m:rPr>
                        <a:rPr lang="en-GB" dirty="0" smtClean="0">
                          <a:latin typeface="Cambria Math" panose="02040503050406030204" pitchFamily="18" charset="0"/>
                          <a:ea typeface="Cambria Math" panose="02040503050406030204" pitchFamily="18" charset="0"/>
                        </a:rPr>
                        <m:t>the</m:t>
                      </m:r>
                      <m:r>
                        <m:rPr>
                          <m:nor/>
                        </m:rPr>
                        <a:rPr lang="en-GB" dirty="0" smtClean="0">
                          <a:latin typeface="Cambria Math" panose="02040503050406030204" pitchFamily="18" charset="0"/>
                          <a:ea typeface="Cambria Math" panose="02040503050406030204" pitchFamily="18" charset="0"/>
                        </a:rPr>
                        <m:t> </m:t>
                      </m:r>
                      <m:r>
                        <m:rPr>
                          <m:nor/>
                        </m:rPr>
                        <a:rPr lang="en-GB" dirty="0" smtClean="0">
                          <a:latin typeface="Cambria Math" panose="02040503050406030204" pitchFamily="18" charset="0"/>
                          <a:ea typeface="Cambria Math" panose="02040503050406030204" pitchFamily="18" charset="0"/>
                        </a:rPr>
                        <m:t>extended</m:t>
                      </m:r>
                      <m:r>
                        <m:rPr>
                          <m:nor/>
                        </m:rPr>
                        <a:rPr lang="en-GB" dirty="0" smtClean="0">
                          <a:latin typeface="Cambria Math" panose="02040503050406030204" pitchFamily="18" charset="0"/>
                          <a:ea typeface="Cambria Math" panose="02040503050406030204" pitchFamily="18" charset="0"/>
                        </a:rPr>
                        <m:t> </m:t>
                      </m:r>
                      <m:r>
                        <m:rPr>
                          <m:nor/>
                        </m:rPr>
                        <a:rPr lang="en-GB" dirty="0" smtClean="0">
                          <a:latin typeface="Cambria Math" panose="02040503050406030204" pitchFamily="18" charset="0"/>
                          <a:ea typeface="Cambria Math" panose="02040503050406030204" pitchFamily="18" charset="0"/>
                        </a:rPr>
                        <m:t>binomial</m:t>
                      </m:r>
                      <m:r>
                        <m:rPr>
                          <m:nor/>
                        </m:rPr>
                        <a:rPr lang="en-GB" dirty="0" smtClean="0">
                          <a:latin typeface="Cambria Math" panose="02040503050406030204" pitchFamily="18" charset="0"/>
                          <a:ea typeface="Cambria Math" panose="02040503050406030204" pitchFamily="18" charset="0"/>
                        </a:rPr>
                        <m:t> </m:t>
                      </m:r>
                      <m:r>
                        <m:rPr>
                          <m:nor/>
                        </m:rPr>
                        <a:rPr lang="en-GB" dirty="0" smtClean="0">
                          <a:latin typeface="Cambria Math" panose="02040503050406030204" pitchFamily="18" charset="0"/>
                          <a:ea typeface="Cambria Math" panose="02040503050406030204" pitchFamily="18" charset="0"/>
                        </a:rPr>
                        <m:t>model</m:t>
                      </m:r>
                      <m:r>
                        <m:rPr>
                          <m:nor/>
                        </m:rPr>
                        <a:rPr lang="cs-CZ" b="0" i="0" dirty="0" smtClean="0">
                          <a:latin typeface="Cambria Math" panose="02040503050406030204" pitchFamily="18" charset="0"/>
                          <a:ea typeface="Cambria Math" panose="02040503050406030204" pitchFamily="18" charset="0"/>
                        </a:rPr>
                        <m:t>)</m:t>
                      </m:r>
                    </m:oMath>
                  </m:oMathPara>
                </a14:m>
                <a:endParaRPr lang="en-GB" dirty="0">
                  <a:latin typeface="Cambria Math" panose="02040503050406030204" pitchFamily="18" charset="0"/>
                  <a:ea typeface="Cambria Math" panose="02040503050406030204" pitchFamily="18" charset="0"/>
                </a:endParaRPr>
              </a:p>
            </p:txBody>
          </p:sp>
        </mc:Choice>
        <mc:Fallback xmlns="">
          <p:sp>
            <p:nvSpPr>
              <p:cNvPr id="83" name="TextovéPole 82">
                <a:extLst>
                  <a:ext uri="{FF2B5EF4-FFF2-40B4-BE49-F238E27FC236}">
                    <a16:creationId xmlns:a16="http://schemas.microsoft.com/office/drawing/2014/main" id="{EE16E3B3-D303-4859-B2FD-649CC47A3C14}"/>
                  </a:ext>
                </a:extLst>
              </p:cNvPr>
              <p:cNvSpPr txBox="1">
                <a:spLocks noRot="1" noChangeAspect="1" noMove="1" noResize="1" noEditPoints="1" noAdjustHandles="1" noChangeArrowheads="1" noChangeShapeType="1" noTextEdit="1"/>
              </p:cNvSpPr>
              <p:nvPr/>
            </p:nvSpPr>
            <p:spPr>
              <a:xfrm>
                <a:off x="1188000" y="1273477"/>
                <a:ext cx="7092000" cy="646331"/>
              </a:xfrm>
              <a:prstGeom prst="rect">
                <a:avLst/>
              </a:prstGeom>
              <a:blipFill>
                <a:blip r:embed="rId14"/>
                <a:stretch>
                  <a:fillRect l="-172" b="-754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2" name="TextovéPole 61"/>
              <p:cNvSpPr txBox="1"/>
              <p:nvPr/>
            </p:nvSpPr>
            <p:spPr>
              <a:xfrm>
                <a:off x="1548000" y="4412888"/>
                <a:ext cx="6059287" cy="215444"/>
              </a:xfrm>
              <a:prstGeom prst="rect">
                <a:avLst/>
              </a:prstGeom>
              <a:noFill/>
            </p:spPr>
            <p:txBody>
              <a:bodyPr wrap="none" lIns="0" tIns="0" rIns="0" bIns="0" rtlCol="0">
                <a:spAutoFit/>
              </a:bodyPr>
              <a:lstStyle/>
              <a:p>
                <a:pPr algn="ctr"/>
                <a14:m>
                  <m:oMathPara xmlns:m="http://schemas.openxmlformats.org/officeDocument/2006/math">
                    <m:oMathParaPr>
                      <m:jc m:val="left"/>
                    </m:oMathParaPr>
                    <m:oMath xmlns:m="http://schemas.openxmlformats.org/officeDocument/2006/math">
                      <m:r>
                        <a:rPr lang="cs-CZ" sz="1400" b="0" i="1" smtClean="0">
                          <a:latin typeface="Cambria Math" panose="02040503050406030204" pitchFamily="18" charset="0"/>
                          <a:ea typeface="Cambria Math" panose="02040503050406030204" pitchFamily="18" charset="0"/>
                        </a:rPr>
                        <m:t>𝐶</m:t>
                      </m:r>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𝑆𝑁</m:t>
                      </m:r>
                      <m:d>
                        <m:dPr>
                          <m:ctrlPr>
                            <a:rPr lang="cs-CZ" sz="1400" b="0" i="1" smtClean="0">
                              <a:latin typeface="Cambria Math" panose="02040503050406030204" pitchFamily="18" charset="0"/>
                              <a:ea typeface="Cambria Math" panose="02040503050406030204" pitchFamily="18" charset="0"/>
                            </a:rPr>
                          </m:ctrlPr>
                        </m:dPr>
                        <m:e>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𝑑</m:t>
                              </m:r>
                            </m:e>
                            <m:sub>
                              <m:r>
                                <a:rPr lang="cs-CZ" sz="1400" b="0" i="1" smtClean="0">
                                  <a:latin typeface="Cambria Math" panose="02040503050406030204" pitchFamily="18" charset="0"/>
                                  <a:ea typeface="Cambria Math" panose="02040503050406030204" pitchFamily="18" charset="0"/>
                                </a:rPr>
                                <m:t>1</m:t>
                              </m:r>
                            </m:sub>
                          </m:sSub>
                        </m:e>
                      </m:d>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𝑋</m:t>
                      </m:r>
                      <m:sSup>
                        <m:sSupPr>
                          <m:ctrlPr>
                            <a:rPr lang="cs-CZ" sz="1400" b="0" i="1" smtClean="0">
                              <a:latin typeface="Cambria Math" panose="02040503050406030204" pitchFamily="18" charset="0"/>
                              <a:ea typeface="Cambria Math" panose="02040503050406030204" pitchFamily="18" charset="0"/>
                            </a:rPr>
                          </m:ctrlPr>
                        </m:sSupPr>
                        <m:e>
                          <m:r>
                            <a:rPr lang="cs-CZ" sz="1400" b="0" i="1" smtClean="0">
                              <a:latin typeface="Cambria Math" panose="02040503050406030204" pitchFamily="18" charset="0"/>
                              <a:ea typeface="Cambria Math" panose="02040503050406030204" pitchFamily="18" charset="0"/>
                            </a:rPr>
                            <m:t>𝑒</m:t>
                          </m:r>
                        </m:e>
                        <m:sup>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𝑟𝑇</m:t>
                          </m:r>
                        </m:sup>
                      </m:sSup>
                      <m:r>
                        <a:rPr lang="cs-CZ" sz="1400" b="0" i="1" smtClean="0">
                          <a:latin typeface="Cambria Math" panose="02040503050406030204" pitchFamily="18" charset="0"/>
                          <a:ea typeface="Cambria Math" panose="02040503050406030204" pitchFamily="18" charset="0"/>
                        </a:rPr>
                        <m:t>𝑁</m:t>
                      </m:r>
                      <m:d>
                        <m:dPr>
                          <m:ctrlPr>
                            <a:rPr lang="cs-CZ" sz="1400" b="0" i="1" smtClean="0">
                              <a:latin typeface="Cambria Math" panose="02040503050406030204" pitchFamily="18" charset="0"/>
                              <a:ea typeface="Cambria Math" panose="02040503050406030204" pitchFamily="18" charset="0"/>
                            </a:rPr>
                          </m:ctrlPr>
                        </m:dPr>
                        <m:e>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𝑑</m:t>
                              </m:r>
                            </m:e>
                            <m:sub>
                              <m:r>
                                <a:rPr lang="cs-CZ" sz="1400" b="0" i="1" smtClean="0">
                                  <a:latin typeface="Cambria Math" panose="02040503050406030204" pitchFamily="18" charset="0"/>
                                  <a:ea typeface="Cambria Math" panose="02040503050406030204" pitchFamily="18" charset="0"/>
                                </a:rPr>
                                <m:t>2</m:t>
                              </m:r>
                            </m:sub>
                          </m:sSub>
                        </m:e>
                      </m:d>
                      <m:r>
                        <a:rPr lang="cs-CZ" sz="1400" b="0" i="1" smtClean="0">
                          <a:latin typeface="Cambria Math"/>
                          <a:ea typeface="Cambria Math" panose="02040503050406030204" pitchFamily="18" charset="0"/>
                        </a:rPr>
                        <m:t>=50</m:t>
                      </m:r>
                      <m:r>
                        <a:rPr lang="cs-CZ" sz="1400" b="0" i="1" smtClean="0">
                          <a:latin typeface="Cambria Math"/>
                          <a:ea typeface="Cambria Math"/>
                        </a:rPr>
                        <m:t>×0.9515</m:t>
                      </m:r>
                      <m:r>
                        <a:rPr lang="cs-CZ" sz="1400" i="1">
                          <a:latin typeface="Cambria Math" panose="02040503050406030204" pitchFamily="18" charset="0"/>
                          <a:ea typeface="Cambria Math" panose="02040503050406030204" pitchFamily="18" charset="0"/>
                        </a:rPr>
                        <m:t>−</m:t>
                      </m:r>
                      <m:r>
                        <a:rPr lang="cs-CZ" sz="1400" b="0" i="1" smtClean="0">
                          <a:latin typeface="Cambria Math"/>
                          <a:ea typeface="Cambria Math" panose="02040503050406030204" pitchFamily="18" charset="0"/>
                        </a:rPr>
                        <m:t>45</m:t>
                      </m:r>
                      <m:sSup>
                        <m:sSupPr>
                          <m:ctrlPr>
                            <a:rPr lang="cs-CZ" sz="1400" i="1">
                              <a:latin typeface="Cambria Math" panose="02040503050406030204" pitchFamily="18" charset="0"/>
                              <a:ea typeface="Cambria Math" panose="02040503050406030204" pitchFamily="18" charset="0"/>
                            </a:rPr>
                          </m:ctrlPr>
                        </m:sSupPr>
                        <m:e>
                          <m:r>
                            <a:rPr lang="cs-CZ" sz="1400" i="1">
                              <a:latin typeface="Cambria Math" panose="02040503050406030204" pitchFamily="18" charset="0"/>
                              <a:ea typeface="Cambria Math" panose="02040503050406030204" pitchFamily="18" charset="0"/>
                            </a:rPr>
                            <m:t>𝑒</m:t>
                          </m:r>
                        </m:e>
                        <m:sup>
                          <m:r>
                            <a:rPr lang="cs-CZ" sz="1400" i="1">
                              <a:latin typeface="Cambria Math" panose="02040503050406030204" pitchFamily="18" charset="0"/>
                              <a:ea typeface="Cambria Math" panose="02040503050406030204" pitchFamily="18" charset="0"/>
                            </a:rPr>
                            <m:t>−</m:t>
                          </m:r>
                          <m:r>
                            <a:rPr lang="cs-CZ" sz="1400" b="0" i="1" smtClean="0">
                              <a:latin typeface="Cambria Math"/>
                              <a:ea typeface="Cambria Math" panose="02040503050406030204" pitchFamily="18" charset="0"/>
                            </a:rPr>
                            <m:t>0.1</m:t>
                          </m:r>
                          <m:r>
                            <a:rPr lang="cs-CZ" sz="1400" b="0" i="1" smtClean="0">
                              <a:latin typeface="Cambria Math"/>
                              <a:ea typeface="Cambria Math"/>
                            </a:rPr>
                            <m:t>×10</m:t>
                          </m:r>
                        </m:sup>
                      </m:sSup>
                      <m:r>
                        <a:rPr lang="cs-CZ" sz="1400" i="1" smtClean="0">
                          <a:latin typeface="Cambria Math"/>
                          <a:ea typeface="Cambria Math"/>
                        </a:rPr>
                        <m:t>×</m:t>
                      </m:r>
                      <m:r>
                        <a:rPr lang="cs-CZ" sz="1400" b="0" i="1" smtClean="0">
                          <a:latin typeface="Cambria Math"/>
                          <a:ea typeface="Cambria Math"/>
                        </a:rPr>
                        <m:t>0.7693</m:t>
                      </m:r>
                      <m:r>
                        <a:rPr lang="cs-CZ" sz="1400" i="1">
                          <a:latin typeface="Cambria Math"/>
                          <a:ea typeface="Cambria Math" panose="02040503050406030204" pitchFamily="18" charset="0"/>
                        </a:rPr>
                        <m:t>=</m:t>
                      </m:r>
                      <m:r>
                        <a:rPr lang="cs-CZ" sz="1400" b="1" i="1" smtClean="0">
                          <a:solidFill>
                            <a:srgbClr val="C00000"/>
                          </a:solidFill>
                          <a:latin typeface="Cambria Math" panose="02040503050406030204" pitchFamily="18" charset="0"/>
                          <a:ea typeface="Cambria Math" panose="02040503050406030204" pitchFamily="18" charset="0"/>
                        </a:rPr>
                        <m:t>€</m:t>
                      </m:r>
                      <m:r>
                        <a:rPr lang="cs-CZ" sz="1400" b="1" i="1" smtClean="0">
                          <a:solidFill>
                            <a:srgbClr val="C00000"/>
                          </a:solidFill>
                          <a:latin typeface="Cambria Math"/>
                          <a:ea typeface="Cambria Math" panose="02040503050406030204" pitchFamily="18" charset="0"/>
                        </a:rPr>
                        <m:t>𝟑𝟒</m:t>
                      </m:r>
                      <m:r>
                        <a:rPr lang="cs-CZ" sz="1400" b="1" i="1" smtClean="0">
                          <a:solidFill>
                            <a:srgbClr val="C00000"/>
                          </a:solidFill>
                          <a:latin typeface="Cambria Math"/>
                          <a:ea typeface="Cambria Math" panose="02040503050406030204" pitchFamily="18" charset="0"/>
                        </a:rPr>
                        <m:t>.</m:t>
                      </m:r>
                      <m:r>
                        <a:rPr lang="cs-CZ" sz="1400" b="1" i="1" smtClean="0">
                          <a:solidFill>
                            <a:srgbClr val="C00000"/>
                          </a:solidFill>
                          <a:latin typeface="Cambria Math"/>
                          <a:ea typeface="Cambria Math" panose="02040503050406030204" pitchFamily="18" charset="0"/>
                        </a:rPr>
                        <m:t>𝟖𝟒</m:t>
                      </m:r>
                    </m:oMath>
                  </m:oMathPara>
                </a14:m>
                <a:endParaRPr lang="cs-CZ" sz="1400" b="1" i="1" dirty="0">
                  <a:latin typeface="Cambria Math"/>
                  <a:ea typeface="Cambria Math" panose="02040503050406030204" pitchFamily="18" charset="0"/>
                </a:endParaRPr>
              </a:p>
            </p:txBody>
          </p:sp>
        </mc:Choice>
        <mc:Fallback xmlns="">
          <p:sp>
            <p:nvSpPr>
              <p:cNvPr id="62" name="TextovéPole 61"/>
              <p:cNvSpPr txBox="1">
                <a:spLocks noRot="1" noChangeAspect="1" noMove="1" noResize="1" noEditPoints="1" noAdjustHandles="1" noChangeArrowheads="1" noChangeShapeType="1" noTextEdit="1"/>
              </p:cNvSpPr>
              <p:nvPr/>
            </p:nvSpPr>
            <p:spPr>
              <a:xfrm>
                <a:off x="1548000" y="4412888"/>
                <a:ext cx="6059287" cy="215444"/>
              </a:xfrm>
              <a:prstGeom prst="rect">
                <a:avLst/>
              </a:prstGeom>
              <a:blipFill>
                <a:blip r:embed="rId15"/>
                <a:stretch>
                  <a:fillRect l="-1006" b="-171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3" name="TextovéPole 62"/>
              <p:cNvSpPr txBox="1"/>
              <p:nvPr/>
            </p:nvSpPr>
            <p:spPr>
              <a:xfrm>
                <a:off x="1548000" y="3471335"/>
                <a:ext cx="5983433" cy="458395"/>
              </a:xfrm>
              <a:prstGeom prst="rect">
                <a:avLst/>
              </a:prstGeom>
              <a:noFill/>
            </p:spPr>
            <p:txBody>
              <a:bodyPr wrap="none" lIns="0" tIns="0" rIns="0" bIns="0" rtlCol="0">
                <a:spAutoFit/>
              </a:bodyPr>
              <a:lstStyle/>
              <a:p>
                <a:pPr algn="ctr"/>
                <a14:m>
                  <m:oMathPara xmlns:m="http://schemas.openxmlformats.org/officeDocument/2006/math">
                    <m:oMathParaPr>
                      <m:jc m:val="left"/>
                    </m:oMathParaPr>
                    <m:oMath xmlns:m="http://schemas.openxmlformats.org/officeDocument/2006/math">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𝑑</m:t>
                          </m:r>
                        </m:e>
                        <m:sub>
                          <m:r>
                            <a:rPr lang="cs-CZ" sz="1400" b="0" i="1" smtClean="0">
                              <a:latin typeface="Cambria Math" panose="02040503050406030204" pitchFamily="18" charset="0"/>
                              <a:ea typeface="Cambria Math" panose="02040503050406030204" pitchFamily="18" charset="0"/>
                            </a:rPr>
                            <m:t>1</m:t>
                          </m:r>
                        </m:sub>
                      </m:sSub>
                      <m:r>
                        <a:rPr lang="cs-CZ" sz="1400" b="0" i="1" smtClean="0">
                          <a:latin typeface="Cambria Math" panose="02040503050406030204" pitchFamily="18" charset="0"/>
                          <a:ea typeface="Cambria Math" panose="02040503050406030204" pitchFamily="18" charset="0"/>
                        </a:rPr>
                        <m:t>=</m:t>
                      </m:r>
                      <m:f>
                        <m:fPr>
                          <m:ctrlPr>
                            <a:rPr lang="cs-CZ" sz="1400" b="0" i="1" smtClean="0">
                              <a:latin typeface="Cambria Math" panose="02040503050406030204" pitchFamily="18" charset="0"/>
                              <a:ea typeface="Cambria Math" panose="02040503050406030204" pitchFamily="18" charset="0"/>
                            </a:rPr>
                          </m:ctrlPr>
                        </m:fPr>
                        <m:num>
                          <m:func>
                            <m:funcPr>
                              <m:ctrlPr>
                                <a:rPr lang="cs-CZ" sz="1400" b="0" i="1" smtClean="0">
                                  <a:latin typeface="Cambria Math" panose="02040503050406030204" pitchFamily="18" charset="0"/>
                                  <a:ea typeface="Cambria Math" panose="02040503050406030204" pitchFamily="18" charset="0"/>
                                </a:rPr>
                              </m:ctrlPr>
                            </m:funcPr>
                            <m:fName>
                              <m:r>
                                <m:rPr>
                                  <m:sty m:val="p"/>
                                </m:rPr>
                                <a:rPr lang="cs-CZ" sz="1400" b="0" i="0" smtClean="0">
                                  <a:latin typeface="Cambria Math" panose="02040503050406030204" pitchFamily="18" charset="0"/>
                                  <a:ea typeface="Cambria Math" panose="02040503050406030204" pitchFamily="18" charset="0"/>
                                </a:rPr>
                                <m:t>ln</m:t>
                              </m:r>
                            </m:fName>
                            <m:e>
                              <m:d>
                                <m:dPr>
                                  <m:ctrlPr>
                                    <a:rPr lang="cs-CZ" sz="1400" b="0" i="1" smtClean="0">
                                      <a:latin typeface="Cambria Math" panose="02040503050406030204" pitchFamily="18" charset="0"/>
                                      <a:ea typeface="Cambria Math" panose="02040503050406030204" pitchFamily="18" charset="0"/>
                                    </a:rPr>
                                  </m:ctrlPr>
                                </m:dPr>
                                <m:e>
                                  <m:f>
                                    <m:fPr>
                                      <m:type m:val="lin"/>
                                      <m:ctrlPr>
                                        <a:rPr lang="cs-CZ" sz="1400" b="0" i="1" smtClean="0">
                                          <a:latin typeface="Cambria Math" panose="02040503050406030204" pitchFamily="18" charset="0"/>
                                          <a:ea typeface="Cambria Math" panose="02040503050406030204" pitchFamily="18" charset="0"/>
                                        </a:rPr>
                                      </m:ctrlPr>
                                    </m:fPr>
                                    <m:num>
                                      <m:r>
                                        <a:rPr lang="cs-CZ" sz="1400" b="0" i="1" smtClean="0">
                                          <a:latin typeface="Cambria Math" panose="02040503050406030204" pitchFamily="18" charset="0"/>
                                          <a:ea typeface="Cambria Math" panose="02040503050406030204" pitchFamily="18" charset="0"/>
                                        </a:rPr>
                                        <m:t>𝑆</m:t>
                                      </m:r>
                                    </m:num>
                                    <m:den>
                                      <m:r>
                                        <a:rPr lang="cs-CZ" sz="1400" b="0" i="1" smtClean="0">
                                          <a:latin typeface="Cambria Math" panose="02040503050406030204" pitchFamily="18" charset="0"/>
                                          <a:ea typeface="Cambria Math" panose="02040503050406030204" pitchFamily="18" charset="0"/>
                                        </a:rPr>
                                        <m:t>𝑋</m:t>
                                      </m:r>
                                    </m:den>
                                  </m:f>
                                </m:e>
                              </m:d>
                            </m:e>
                          </m:func>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𝑟𝑇</m:t>
                          </m:r>
                        </m:num>
                        <m:den>
                          <m:r>
                            <a:rPr lang="cs-CZ" sz="1400" b="0" i="1" smtClean="0">
                              <a:latin typeface="Cambria Math" panose="02040503050406030204" pitchFamily="18" charset="0"/>
                              <a:ea typeface="Cambria Math" panose="02040503050406030204" pitchFamily="18" charset="0"/>
                            </a:rPr>
                            <m:t>𝜎</m:t>
                          </m:r>
                          <m:rad>
                            <m:radPr>
                              <m:degHide m:val="on"/>
                              <m:ctrlPr>
                                <a:rPr lang="cs-CZ" sz="1400" b="0" i="1" smtClean="0">
                                  <a:latin typeface="Cambria Math" panose="02040503050406030204" pitchFamily="18" charset="0"/>
                                  <a:ea typeface="Cambria Math" panose="02040503050406030204" pitchFamily="18" charset="0"/>
                                </a:rPr>
                              </m:ctrlPr>
                            </m:radPr>
                            <m:deg/>
                            <m:e>
                              <m:r>
                                <a:rPr lang="cs-CZ" sz="1400" b="0" i="1" smtClean="0">
                                  <a:latin typeface="Cambria Math" panose="02040503050406030204" pitchFamily="18" charset="0"/>
                                  <a:ea typeface="Cambria Math" panose="02040503050406030204" pitchFamily="18" charset="0"/>
                                </a:rPr>
                                <m:t>𝑇</m:t>
                              </m:r>
                            </m:e>
                          </m:rad>
                        </m:den>
                      </m:f>
                      <m:r>
                        <a:rPr lang="cs-CZ" sz="1400" b="0" i="1" smtClean="0">
                          <a:latin typeface="Cambria Math" panose="02040503050406030204" pitchFamily="18" charset="0"/>
                          <a:ea typeface="Cambria Math" panose="02040503050406030204" pitchFamily="18" charset="0"/>
                        </a:rPr>
                        <m:t>+</m:t>
                      </m:r>
                      <m:f>
                        <m:fPr>
                          <m:ctrlPr>
                            <a:rPr lang="cs-CZ" sz="1400" b="0" i="1" smtClean="0">
                              <a:latin typeface="Cambria Math" panose="02040503050406030204" pitchFamily="18" charset="0"/>
                              <a:ea typeface="Cambria Math" panose="02040503050406030204" pitchFamily="18" charset="0"/>
                            </a:rPr>
                          </m:ctrlPr>
                        </m:fPr>
                        <m:num>
                          <m:r>
                            <a:rPr lang="cs-CZ" sz="1400" b="0" i="1" smtClean="0">
                              <a:latin typeface="Cambria Math" panose="02040503050406030204" pitchFamily="18" charset="0"/>
                              <a:ea typeface="Cambria Math" panose="02040503050406030204" pitchFamily="18" charset="0"/>
                            </a:rPr>
                            <m:t>1</m:t>
                          </m:r>
                        </m:num>
                        <m:den>
                          <m:r>
                            <a:rPr lang="cs-CZ" sz="1400" b="0" i="1" smtClean="0">
                              <a:latin typeface="Cambria Math" panose="02040503050406030204" pitchFamily="18" charset="0"/>
                              <a:ea typeface="Cambria Math" panose="02040503050406030204" pitchFamily="18" charset="0"/>
                            </a:rPr>
                            <m:t>2</m:t>
                          </m:r>
                        </m:den>
                      </m:f>
                      <m:r>
                        <a:rPr lang="cs-CZ" sz="1400" i="1">
                          <a:latin typeface="Cambria Math" panose="02040503050406030204" pitchFamily="18" charset="0"/>
                          <a:ea typeface="Cambria Math" panose="02040503050406030204" pitchFamily="18" charset="0"/>
                        </a:rPr>
                        <m:t>𝜎</m:t>
                      </m:r>
                      <m:rad>
                        <m:radPr>
                          <m:degHide m:val="on"/>
                          <m:ctrlPr>
                            <a:rPr lang="cs-CZ" sz="1400" i="1">
                              <a:latin typeface="Cambria Math" panose="02040503050406030204" pitchFamily="18" charset="0"/>
                              <a:ea typeface="Cambria Math" panose="02040503050406030204" pitchFamily="18" charset="0"/>
                            </a:rPr>
                          </m:ctrlPr>
                        </m:radPr>
                        <m:deg/>
                        <m:e>
                          <m:r>
                            <a:rPr lang="cs-CZ" sz="1400" i="1">
                              <a:latin typeface="Cambria Math" panose="02040503050406030204" pitchFamily="18" charset="0"/>
                              <a:ea typeface="Cambria Math" panose="02040503050406030204" pitchFamily="18" charset="0"/>
                            </a:rPr>
                            <m:t>𝑇</m:t>
                          </m:r>
                        </m:e>
                      </m:rad>
                      <m:r>
                        <a:rPr lang="cs-CZ" sz="1400" b="0" i="1" smtClean="0">
                          <a:latin typeface="Cambria Math"/>
                          <a:ea typeface="Cambria Math" panose="02040503050406030204" pitchFamily="18" charset="0"/>
                        </a:rPr>
                        <m:t>=</m:t>
                      </m:r>
                      <m:f>
                        <m:fPr>
                          <m:ctrlPr>
                            <a:rPr lang="cs-CZ" sz="1400" i="1">
                              <a:latin typeface="Cambria Math" panose="02040503050406030204" pitchFamily="18" charset="0"/>
                              <a:ea typeface="Cambria Math" panose="02040503050406030204" pitchFamily="18" charset="0"/>
                            </a:rPr>
                          </m:ctrlPr>
                        </m:fPr>
                        <m:num>
                          <m:func>
                            <m:funcPr>
                              <m:ctrlPr>
                                <a:rPr lang="cs-CZ" sz="1400" i="1">
                                  <a:latin typeface="Cambria Math" panose="02040503050406030204" pitchFamily="18" charset="0"/>
                                  <a:ea typeface="Cambria Math" panose="02040503050406030204" pitchFamily="18" charset="0"/>
                                </a:rPr>
                              </m:ctrlPr>
                            </m:funcPr>
                            <m:fName>
                              <m:r>
                                <m:rPr>
                                  <m:sty m:val="p"/>
                                </m:rPr>
                                <a:rPr lang="cs-CZ" sz="1400">
                                  <a:latin typeface="Cambria Math" panose="02040503050406030204" pitchFamily="18" charset="0"/>
                                  <a:ea typeface="Cambria Math" panose="02040503050406030204" pitchFamily="18" charset="0"/>
                                </a:rPr>
                                <m:t>ln</m:t>
                              </m:r>
                            </m:fName>
                            <m:e>
                              <m:d>
                                <m:dPr>
                                  <m:ctrlPr>
                                    <a:rPr lang="cs-CZ" sz="1400" i="1">
                                      <a:latin typeface="Cambria Math" panose="02040503050406030204" pitchFamily="18" charset="0"/>
                                      <a:ea typeface="Cambria Math" panose="02040503050406030204" pitchFamily="18" charset="0"/>
                                    </a:rPr>
                                  </m:ctrlPr>
                                </m:dPr>
                                <m:e>
                                  <m:r>
                                    <a:rPr lang="cs-CZ" sz="1400" b="0" i="1" smtClean="0">
                                      <a:latin typeface="Cambria Math"/>
                                      <a:ea typeface="Cambria Math" panose="02040503050406030204" pitchFamily="18" charset="0"/>
                                    </a:rPr>
                                    <m:t>50/45</m:t>
                                  </m:r>
                                </m:e>
                              </m:d>
                            </m:e>
                          </m:func>
                          <m:r>
                            <a:rPr lang="cs-CZ" sz="1400" i="1">
                              <a:latin typeface="Cambria Math" panose="02040503050406030204" pitchFamily="18" charset="0"/>
                              <a:ea typeface="Cambria Math" panose="02040503050406030204" pitchFamily="18" charset="0"/>
                            </a:rPr>
                            <m:t>+</m:t>
                          </m:r>
                          <m:r>
                            <a:rPr lang="cs-CZ" sz="1400" b="0" i="1" smtClean="0">
                              <a:latin typeface="Cambria Math"/>
                              <a:ea typeface="Cambria Math" panose="02040503050406030204" pitchFamily="18" charset="0"/>
                            </a:rPr>
                            <m:t>0.1</m:t>
                          </m:r>
                          <m:r>
                            <a:rPr lang="cs-CZ" sz="1400" b="0" i="1" smtClean="0">
                              <a:latin typeface="Cambria Math"/>
                              <a:ea typeface="Cambria Math"/>
                            </a:rPr>
                            <m:t>×10</m:t>
                          </m:r>
                        </m:num>
                        <m:den>
                          <m:r>
                            <a:rPr lang="cs-CZ" sz="1400" b="0" i="1" smtClean="0">
                              <a:latin typeface="Cambria Math"/>
                              <a:ea typeface="Cambria Math" panose="02040503050406030204" pitchFamily="18" charset="0"/>
                            </a:rPr>
                            <m:t>0.292</m:t>
                          </m:r>
                          <m:rad>
                            <m:radPr>
                              <m:degHide m:val="on"/>
                              <m:ctrlPr>
                                <a:rPr lang="cs-CZ" sz="1400" i="1">
                                  <a:latin typeface="Cambria Math" panose="02040503050406030204" pitchFamily="18" charset="0"/>
                                  <a:ea typeface="Cambria Math" panose="02040503050406030204" pitchFamily="18" charset="0"/>
                                </a:rPr>
                              </m:ctrlPr>
                            </m:radPr>
                            <m:deg/>
                            <m:e>
                              <m:r>
                                <a:rPr lang="cs-CZ" sz="1400" b="0" i="1" smtClean="0">
                                  <a:latin typeface="Cambria Math"/>
                                  <a:ea typeface="Cambria Math" panose="02040503050406030204" pitchFamily="18" charset="0"/>
                                </a:rPr>
                                <m:t>10</m:t>
                              </m:r>
                            </m:e>
                          </m:rad>
                        </m:den>
                      </m:f>
                      <m:r>
                        <a:rPr lang="cs-CZ" sz="1400" i="1">
                          <a:latin typeface="Cambria Math" panose="02040503050406030204" pitchFamily="18" charset="0"/>
                          <a:ea typeface="Cambria Math" panose="02040503050406030204" pitchFamily="18" charset="0"/>
                        </a:rPr>
                        <m:t>+</m:t>
                      </m:r>
                      <m:f>
                        <m:fPr>
                          <m:ctrlPr>
                            <a:rPr lang="cs-CZ" sz="1400" i="1">
                              <a:latin typeface="Cambria Math" panose="02040503050406030204" pitchFamily="18" charset="0"/>
                              <a:ea typeface="Cambria Math" panose="02040503050406030204" pitchFamily="18" charset="0"/>
                            </a:rPr>
                          </m:ctrlPr>
                        </m:fPr>
                        <m:num>
                          <m:r>
                            <a:rPr lang="cs-CZ" sz="1400" b="0" i="1" smtClean="0">
                              <a:latin typeface="Cambria Math"/>
                              <a:ea typeface="Cambria Math" panose="02040503050406030204" pitchFamily="18" charset="0"/>
                            </a:rPr>
                            <m:t>0.292</m:t>
                          </m:r>
                        </m:num>
                        <m:den>
                          <m:r>
                            <a:rPr lang="cs-CZ" sz="1400" i="1">
                              <a:latin typeface="Cambria Math" panose="02040503050406030204" pitchFamily="18" charset="0"/>
                              <a:ea typeface="Cambria Math" panose="02040503050406030204" pitchFamily="18" charset="0"/>
                            </a:rPr>
                            <m:t>2</m:t>
                          </m:r>
                        </m:den>
                      </m:f>
                      <m:r>
                        <a:rPr lang="cs-CZ" sz="1400" i="1" smtClean="0">
                          <a:latin typeface="Cambria Math"/>
                          <a:ea typeface="Cambria Math"/>
                        </a:rPr>
                        <m:t>×</m:t>
                      </m:r>
                      <m:rad>
                        <m:radPr>
                          <m:degHide m:val="on"/>
                          <m:ctrlPr>
                            <a:rPr lang="cs-CZ" sz="1400" i="1">
                              <a:latin typeface="Cambria Math" panose="02040503050406030204" pitchFamily="18" charset="0"/>
                              <a:ea typeface="Cambria Math" panose="02040503050406030204" pitchFamily="18" charset="0"/>
                            </a:rPr>
                          </m:ctrlPr>
                        </m:radPr>
                        <m:deg/>
                        <m:e>
                          <m:r>
                            <a:rPr lang="cs-CZ" sz="1400" b="0" i="1" smtClean="0">
                              <a:latin typeface="Cambria Math"/>
                              <a:ea typeface="Cambria Math" panose="02040503050406030204" pitchFamily="18" charset="0"/>
                            </a:rPr>
                            <m:t>10</m:t>
                          </m:r>
                        </m:e>
                      </m:rad>
                      <m:r>
                        <a:rPr lang="cs-CZ" sz="1400" b="0" i="1" smtClean="0">
                          <a:latin typeface="Cambria Math"/>
                          <a:ea typeface="Cambria Math" panose="02040503050406030204" pitchFamily="18" charset="0"/>
                        </a:rPr>
                        <m:t>=1.6592</m:t>
                      </m:r>
                    </m:oMath>
                  </m:oMathPara>
                </a14:m>
                <a:endParaRPr lang="cs-CZ" sz="1400" i="1" dirty="0">
                  <a:latin typeface="Cambria Math"/>
                  <a:ea typeface="Cambria Math" panose="02040503050406030204" pitchFamily="18" charset="0"/>
                </a:endParaRPr>
              </a:p>
            </p:txBody>
          </p:sp>
        </mc:Choice>
        <mc:Fallback xmlns="">
          <p:sp>
            <p:nvSpPr>
              <p:cNvPr id="63" name="TextovéPole 62"/>
              <p:cNvSpPr txBox="1">
                <a:spLocks noRot="1" noChangeAspect="1" noMove="1" noResize="1" noEditPoints="1" noAdjustHandles="1" noChangeArrowheads="1" noChangeShapeType="1" noTextEdit="1"/>
              </p:cNvSpPr>
              <p:nvPr/>
            </p:nvSpPr>
            <p:spPr>
              <a:xfrm>
                <a:off x="1548000" y="3471335"/>
                <a:ext cx="5983433" cy="458395"/>
              </a:xfrm>
              <a:prstGeom prst="rect">
                <a:avLst/>
              </a:prstGeom>
              <a:blipFill>
                <a:blip r:embed="rId16"/>
                <a:stretch>
                  <a:fillRect l="-1121" t="-73684" b="-5789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ovéPole 63"/>
              <p:cNvSpPr txBox="1"/>
              <p:nvPr/>
            </p:nvSpPr>
            <p:spPr>
              <a:xfrm>
                <a:off x="1548000" y="4145720"/>
                <a:ext cx="3700115" cy="240835"/>
              </a:xfrm>
              <a:prstGeom prst="rect">
                <a:avLst/>
              </a:prstGeom>
              <a:noFill/>
            </p:spPr>
            <p:txBody>
              <a:bodyPr wrap="none" lIns="0" tIns="0" rIns="0" bIns="0" rtlCol="0">
                <a:spAutoFit/>
              </a:bodyPr>
              <a:lstStyle/>
              <a:p>
                <a:pPr algn="ctr"/>
                <a14:m>
                  <m:oMathPara xmlns:m="http://schemas.openxmlformats.org/officeDocument/2006/math">
                    <m:oMathParaPr>
                      <m:jc m:val="left"/>
                    </m:oMathParaPr>
                    <m:oMath xmlns:m="http://schemas.openxmlformats.org/officeDocument/2006/math">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𝑑</m:t>
                          </m:r>
                        </m:e>
                        <m:sub>
                          <m:r>
                            <a:rPr lang="cs-CZ" sz="1400" b="0" i="1" smtClean="0">
                              <a:latin typeface="Cambria Math" panose="02040503050406030204" pitchFamily="18" charset="0"/>
                              <a:ea typeface="Cambria Math" panose="02040503050406030204" pitchFamily="18" charset="0"/>
                            </a:rPr>
                            <m:t>2</m:t>
                          </m:r>
                        </m:sub>
                      </m:sSub>
                      <m:r>
                        <a:rPr lang="cs-CZ" sz="1400" b="0" i="1" smtClean="0">
                          <a:latin typeface="Cambria Math" panose="02040503050406030204" pitchFamily="18" charset="0"/>
                          <a:ea typeface="Cambria Math" panose="02040503050406030204" pitchFamily="18" charset="0"/>
                        </a:rPr>
                        <m:t>=</m:t>
                      </m:r>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𝑑</m:t>
                          </m:r>
                        </m:e>
                        <m:sub>
                          <m:r>
                            <a:rPr lang="cs-CZ" sz="1400" b="0" i="1" smtClean="0">
                              <a:latin typeface="Cambria Math" panose="02040503050406030204" pitchFamily="18" charset="0"/>
                              <a:ea typeface="Cambria Math" panose="02040503050406030204" pitchFamily="18" charset="0"/>
                            </a:rPr>
                            <m:t>1</m:t>
                          </m:r>
                        </m:sub>
                      </m:sSub>
                      <m:r>
                        <a:rPr lang="cs-CZ" sz="1400" b="0" i="1" smtClean="0">
                          <a:latin typeface="Cambria Math" panose="02040503050406030204" pitchFamily="18" charset="0"/>
                          <a:ea typeface="Cambria Math" panose="02040503050406030204" pitchFamily="18" charset="0"/>
                        </a:rPr>
                        <m:t>−</m:t>
                      </m:r>
                      <m:r>
                        <a:rPr lang="cs-CZ" sz="1400" i="1">
                          <a:latin typeface="Cambria Math" panose="02040503050406030204" pitchFamily="18" charset="0"/>
                          <a:ea typeface="Cambria Math" panose="02040503050406030204" pitchFamily="18" charset="0"/>
                        </a:rPr>
                        <m:t>𝜎</m:t>
                      </m:r>
                      <m:rad>
                        <m:radPr>
                          <m:degHide m:val="on"/>
                          <m:ctrlPr>
                            <a:rPr lang="cs-CZ" sz="1400" i="1">
                              <a:latin typeface="Cambria Math" panose="02040503050406030204" pitchFamily="18" charset="0"/>
                              <a:ea typeface="Cambria Math" panose="02040503050406030204" pitchFamily="18" charset="0"/>
                            </a:rPr>
                          </m:ctrlPr>
                        </m:radPr>
                        <m:deg/>
                        <m:e>
                          <m:r>
                            <a:rPr lang="cs-CZ" sz="1400" i="1">
                              <a:latin typeface="Cambria Math" panose="02040503050406030204" pitchFamily="18" charset="0"/>
                              <a:ea typeface="Cambria Math" panose="02040503050406030204" pitchFamily="18" charset="0"/>
                            </a:rPr>
                            <m:t>𝑇</m:t>
                          </m:r>
                        </m:e>
                      </m:rad>
                      <m:r>
                        <a:rPr lang="cs-CZ" sz="1400" b="0" i="1" smtClean="0">
                          <a:latin typeface="Cambria Math"/>
                          <a:ea typeface="Cambria Math" panose="02040503050406030204" pitchFamily="18" charset="0"/>
                        </a:rPr>
                        <m:t>=1.6592−0.292</m:t>
                      </m:r>
                      <m:rad>
                        <m:radPr>
                          <m:degHide m:val="on"/>
                          <m:ctrlPr>
                            <a:rPr lang="cs-CZ" sz="1400" b="0" i="1" smtClean="0">
                              <a:latin typeface="Cambria Math" panose="02040503050406030204" pitchFamily="18" charset="0"/>
                              <a:ea typeface="Cambria Math" panose="02040503050406030204" pitchFamily="18" charset="0"/>
                            </a:rPr>
                          </m:ctrlPr>
                        </m:radPr>
                        <m:deg/>
                        <m:e>
                          <m:r>
                            <a:rPr lang="cs-CZ" sz="1400" b="0" i="1" smtClean="0">
                              <a:latin typeface="Cambria Math"/>
                              <a:ea typeface="Cambria Math" panose="02040503050406030204" pitchFamily="18" charset="0"/>
                            </a:rPr>
                            <m:t>10</m:t>
                          </m:r>
                        </m:e>
                      </m:rad>
                      <m:r>
                        <a:rPr lang="cs-CZ" sz="1400" b="0" i="1" smtClean="0">
                          <a:latin typeface="Cambria Math"/>
                          <a:ea typeface="Cambria Math" panose="02040503050406030204" pitchFamily="18" charset="0"/>
                        </a:rPr>
                        <m:t>=0.7365</m:t>
                      </m:r>
                    </m:oMath>
                  </m:oMathPara>
                </a14:m>
                <a:endParaRPr lang="cs-CZ" sz="1400" i="1" dirty="0">
                  <a:latin typeface="Cambria Math"/>
                  <a:ea typeface="Cambria Math" panose="02040503050406030204" pitchFamily="18" charset="0"/>
                </a:endParaRPr>
              </a:p>
            </p:txBody>
          </p:sp>
        </mc:Choice>
        <mc:Fallback xmlns="">
          <p:sp>
            <p:nvSpPr>
              <p:cNvPr id="64" name="TextovéPole 63"/>
              <p:cNvSpPr txBox="1">
                <a:spLocks noRot="1" noChangeAspect="1" noMove="1" noResize="1" noEditPoints="1" noAdjustHandles="1" noChangeArrowheads="1" noChangeShapeType="1" noTextEdit="1"/>
              </p:cNvSpPr>
              <p:nvPr/>
            </p:nvSpPr>
            <p:spPr>
              <a:xfrm>
                <a:off x="1548000" y="4145720"/>
                <a:ext cx="3700115" cy="240835"/>
              </a:xfrm>
              <a:prstGeom prst="rect">
                <a:avLst/>
              </a:prstGeom>
              <a:blipFill>
                <a:blip r:embed="rId17"/>
                <a:stretch>
                  <a:fillRect l="-1812"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ovéPole 70"/>
              <p:cNvSpPr txBox="1"/>
              <p:nvPr/>
            </p:nvSpPr>
            <p:spPr>
              <a:xfrm>
                <a:off x="1548000" y="3927000"/>
                <a:ext cx="2328971" cy="215444"/>
              </a:xfrm>
              <a:prstGeom prst="rect">
                <a:avLst/>
              </a:prstGeom>
              <a:noFill/>
            </p:spPr>
            <p:txBody>
              <a:bodyPr wrap="none" lIns="0" tIns="0" rIns="0" bIns="0" rtlCol="0">
                <a:spAutoFit/>
              </a:bodyPr>
              <a:lstStyle/>
              <a:p>
                <a:pPr algn="ctr"/>
                <a14:m>
                  <m:oMathPara xmlns:m="http://schemas.openxmlformats.org/officeDocument/2006/math">
                    <m:oMathParaPr>
                      <m:jc m:val="left"/>
                    </m:oMathParaPr>
                    <m:oMath xmlns:m="http://schemas.openxmlformats.org/officeDocument/2006/math">
                      <m:r>
                        <a:rPr lang="cs-CZ" sz="1400" b="0" i="1" smtClean="0">
                          <a:latin typeface="Cambria Math"/>
                          <a:ea typeface="Cambria Math" panose="02040503050406030204" pitchFamily="18" charset="0"/>
                        </a:rPr>
                        <m:t>𝑁</m:t>
                      </m:r>
                      <m:d>
                        <m:dPr>
                          <m:ctrlPr>
                            <a:rPr lang="cs-CZ" sz="1400" b="0" i="1" smtClean="0">
                              <a:latin typeface="Cambria Math" panose="02040503050406030204" pitchFamily="18" charset="0"/>
                              <a:ea typeface="Cambria Math" panose="02040503050406030204" pitchFamily="18" charset="0"/>
                            </a:rPr>
                          </m:ctrlPr>
                        </m:dPr>
                        <m:e>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a:ea typeface="Cambria Math" panose="02040503050406030204" pitchFamily="18" charset="0"/>
                                </a:rPr>
                                <m:t>𝑑</m:t>
                              </m:r>
                            </m:e>
                            <m:sub>
                              <m:r>
                                <a:rPr lang="cs-CZ" sz="1400" b="0" i="1" smtClean="0">
                                  <a:latin typeface="Cambria Math"/>
                                  <a:ea typeface="Cambria Math" panose="02040503050406030204" pitchFamily="18" charset="0"/>
                                </a:rPr>
                                <m:t>1</m:t>
                              </m:r>
                            </m:sub>
                          </m:sSub>
                        </m:e>
                      </m:d>
                      <m:r>
                        <a:rPr lang="cs-CZ" sz="1400" b="0" i="1" smtClean="0">
                          <a:latin typeface="Cambria Math" panose="02040503050406030204" pitchFamily="18" charset="0"/>
                          <a:ea typeface="Cambria Math" panose="02040503050406030204" pitchFamily="18" charset="0"/>
                        </a:rPr>
                        <m:t>=</m:t>
                      </m:r>
                      <m:r>
                        <a:rPr lang="cs-CZ" sz="1400" b="0" i="1" smtClean="0">
                          <a:latin typeface="Cambria Math"/>
                          <a:ea typeface="Cambria Math" panose="02040503050406030204" pitchFamily="18" charset="0"/>
                        </a:rPr>
                        <m:t>𝑁</m:t>
                      </m:r>
                      <m:d>
                        <m:dPr>
                          <m:ctrlPr>
                            <a:rPr lang="cs-CZ" sz="1400" b="0" i="1" smtClean="0">
                              <a:latin typeface="Cambria Math" panose="02040503050406030204" pitchFamily="18" charset="0"/>
                              <a:ea typeface="Cambria Math" panose="02040503050406030204" pitchFamily="18" charset="0"/>
                            </a:rPr>
                          </m:ctrlPr>
                        </m:dPr>
                        <m:e>
                          <m:r>
                            <a:rPr lang="cs-CZ" sz="1400" b="0" i="1" smtClean="0">
                              <a:latin typeface="Cambria Math"/>
                              <a:ea typeface="Cambria Math" panose="02040503050406030204" pitchFamily="18" charset="0"/>
                            </a:rPr>
                            <m:t>1.6595</m:t>
                          </m:r>
                        </m:e>
                      </m:d>
                      <m:r>
                        <a:rPr lang="cs-CZ" sz="1400" b="0" i="1" smtClean="0">
                          <a:latin typeface="Cambria Math"/>
                          <a:ea typeface="Cambria Math" panose="02040503050406030204" pitchFamily="18" charset="0"/>
                        </a:rPr>
                        <m:t>=0.9515</m:t>
                      </m:r>
                    </m:oMath>
                  </m:oMathPara>
                </a14:m>
                <a:endParaRPr lang="cs-CZ" sz="1400" i="1" dirty="0">
                  <a:latin typeface="Cambria Math"/>
                  <a:ea typeface="Cambria Math" panose="02040503050406030204" pitchFamily="18" charset="0"/>
                </a:endParaRPr>
              </a:p>
            </p:txBody>
          </p:sp>
        </mc:Choice>
        <mc:Fallback xmlns="">
          <p:sp>
            <p:nvSpPr>
              <p:cNvPr id="71" name="TextovéPole 70"/>
              <p:cNvSpPr txBox="1">
                <a:spLocks noRot="1" noChangeAspect="1" noMove="1" noResize="1" noEditPoints="1" noAdjustHandles="1" noChangeArrowheads="1" noChangeShapeType="1" noTextEdit="1"/>
              </p:cNvSpPr>
              <p:nvPr/>
            </p:nvSpPr>
            <p:spPr>
              <a:xfrm>
                <a:off x="1548000" y="3927000"/>
                <a:ext cx="2328971" cy="215444"/>
              </a:xfrm>
              <a:prstGeom prst="rect">
                <a:avLst/>
              </a:prstGeom>
              <a:blipFill>
                <a:blip r:embed="rId18"/>
                <a:stretch>
                  <a:fillRect l="-2618" b="-13889"/>
                </a:stretch>
              </a:blipFill>
            </p:spPr>
            <p:txBody>
              <a:bodyPr/>
              <a:lstStyle/>
              <a:p>
                <a:r>
                  <a:rPr lang="en-GB">
                    <a:noFill/>
                  </a:rPr>
                  <a:t> </a:t>
                </a:r>
              </a:p>
            </p:txBody>
          </p:sp>
        </mc:Fallback>
      </mc:AlternateContent>
      <p:sp>
        <p:nvSpPr>
          <p:cNvPr id="85" name="TextovéPole 84">
            <a:extLst>
              <a:ext uri="{FF2B5EF4-FFF2-40B4-BE49-F238E27FC236}">
                <a16:creationId xmlns:a16="http://schemas.microsoft.com/office/drawing/2014/main" id="{05FC8A4A-3761-4383-881C-9096ADBF4AD7}"/>
              </a:ext>
            </a:extLst>
          </p:cNvPr>
          <p:cNvSpPr txBox="1"/>
          <p:nvPr/>
        </p:nvSpPr>
        <p:spPr>
          <a:xfrm>
            <a:off x="1188000" y="4948364"/>
            <a:ext cx="7920504"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solidFill>
                  <a:srgbClr val="7030A0"/>
                </a:solidFill>
                <a:latin typeface="Cambria Math"/>
                <a:ea typeface="Cambria Math" panose="02040503050406030204" pitchFamily="18" charset="0"/>
              </a:rPr>
              <a:t>Historical volatility</a:t>
            </a:r>
            <a:r>
              <a:rPr lang="en-GB" dirty="0">
                <a:latin typeface="Cambria Math"/>
                <a:ea typeface="Cambria Math" panose="02040503050406030204" pitchFamily="18" charset="0"/>
              </a:rPr>
              <a:t> is calculated as the standard deviation of historical price changes of the underlying asset</a:t>
            </a:r>
          </a:p>
        </p:txBody>
      </p:sp>
      <p:sp>
        <p:nvSpPr>
          <p:cNvPr id="86" name="TextovéPole 85">
            <a:extLst>
              <a:ext uri="{FF2B5EF4-FFF2-40B4-BE49-F238E27FC236}">
                <a16:creationId xmlns:a16="http://schemas.microsoft.com/office/drawing/2014/main" id="{05FC8A4A-3761-4383-881C-9096ADBF4AD7}"/>
              </a:ext>
            </a:extLst>
          </p:cNvPr>
          <p:cNvSpPr txBox="1"/>
          <p:nvPr/>
        </p:nvSpPr>
        <p:spPr>
          <a:xfrm>
            <a:off x="1188000" y="5503222"/>
            <a:ext cx="7848496"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solidFill>
                  <a:srgbClr val="7030A0"/>
                </a:solidFill>
                <a:latin typeface="Cambria Math"/>
                <a:ea typeface="Cambria Math" panose="02040503050406030204" pitchFamily="18" charset="0"/>
              </a:rPr>
              <a:t>Implied volatility</a:t>
            </a:r>
            <a:r>
              <a:rPr lang="en-GB" dirty="0">
                <a:latin typeface="Cambria Math"/>
                <a:ea typeface="Cambria Math" panose="02040503050406030204" pitchFamily="18" charset="0"/>
              </a:rPr>
              <a:t> is numerically extracted from the B-S formula given all other variables are observable</a:t>
            </a:r>
          </a:p>
        </p:txBody>
      </p:sp>
      <mc:AlternateContent xmlns:mc="http://schemas.openxmlformats.org/markup-compatibility/2006" xmlns:a14="http://schemas.microsoft.com/office/drawing/2010/main">
        <mc:Choice Requires="a14">
          <p:sp>
            <p:nvSpPr>
              <p:cNvPr id="87" name="TextovéPole 86"/>
              <p:cNvSpPr txBox="1"/>
              <p:nvPr/>
            </p:nvSpPr>
            <p:spPr>
              <a:xfrm>
                <a:off x="1872000" y="2399682"/>
                <a:ext cx="5523628" cy="430887"/>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sSup>
                        <m:sSupPr>
                          <m:ctrlPr>
                            <a:rPr lang="cs-CZ" sz="1400" b="0" i="1" smtClean="0">
                              <a:latin typeface="Cambria Math" panose="02040503050406030204" pitchFamily="18" charset="0"/>
                              <a:ea typeface="Cambria Math" panose="02040503050406030204" pitchFamily="18" charset="0"/>
                            </a:rPr>
                          </m:ctrlPr>
                        </m:sSupPr>
                        <m:e>
                          <m:r>
                            <a:rPr lang="cs-CZ" sz="1400" b="0" i="1" smtClean="0">
                              <a:latin typeface="Cambria Math"/>
                              <a:ea typeface="Cambria Math"/>
                            </a:rPr>
                            <m:t>𝜎</m:t>
                          </m:r>
                        </m:e>
                        <m:sup>
                          <m:r>
                            <a:rPr lang="cs-CZ" sz="1400" b="0" i="1" smtClean="0">
                              <a:latin typeface="Cambria Math"/>
                              <a:ea typeface="Cambria Math" panose="02040503050406030204" pitchFamily="18" charset="0"/>
                            </a:rPr>
                            <m:t>2</m:t>
                          </m:r>
                        </m:sup>
                      </m:sSup>
                      <m:r>
                        <a:rPr lang="cs-CZ" sz="1400" b="0" i="1" smtClean="0">
                          <a:latin typeface="Cambria Math" panose="02040503050406030204" pitchFamily="18" charset="0"/>
                          <a:ea typeface="Cambria Math" panose="02040503050406030204" pitchFamily="18" charset="0"/>
                        </a:rPr>
                        <m:t>=</m:t>
                      </m:r>
                      <m:r>
                        <a:rPr lang="cs-CZ" sz="1400" b="0" i="1" smtClean="0">
                          <a:latin typeface="Cambria Math"/>
                          <a:ea typeface="Cambria Math" panose="02040503050406030204" pitchFamily="18" charset="0"/>
                        </a:rPr>
                        <m:t>𝑝</m:t>
                      </m:r>
                      <m:r>
                        <a:rPr lang="cs-CZ" sz="1400" b="0" i="1" smtClean="0">
                          <a:latin typeface="Cambria Math"/>
                          <a:ea typeface="Cambria Math"/>
                        </a:rPr>
                        <m:t>×</m:t>
                      </m:r>
                      <m:sSup>
                        <m:sSupPr>
                          <m:ctrlPr>
                            <a:rPr lang="cs-CZ" sz="1400" b="0" i="1" smtClean="0">
                              <a:latin typeface="Cambria Math" panose="02040503050406030204" pitchFamily="18" charset="0"/>
                              <a:ea typeface="Cambria Math"/>
                            </a:rPr>
                          </m:ctrlPr>
                        </m:sSupPr>
                        <m:e>
                          <m:d>
                            <m:dPr>
                              <m:begChr m:val="["/>
                              <m:endChr m:val="]"/>
                              <m:ctrlPr>
                                <a:rPr lang="cs-CZ" sz="1400" b="0" i="1" smtClean="0">
                                  <a:latin typeface="Cambria Math" panose="02040503050406030204" pitchFamily="18" charset="0"/>
                                  <a:ea typeface="Cambria Math"/>
                                </a:rPr>
                              </m:ctrlPr>
                            </m:dPr>
                            <m:e>
                              <m:func>
                                <m:funcPr>
                                  <m:ctrlPr>
                                    <a:rPr lang="cs-CZ" sz="1400" b="0" i="1" smtClean="0">
                                      <a:latin typeface="Cambria Math" panose="02040503050406030204" pitchFamily="18" charset="0"/>
                                      <a:ea typeface="Cambria Math"/>
                                    </a:rPr>
                                  </m:ctrlPr>
                                </m:funcPr>
                                <m:fName>
                                  <m:r>
                                    <m:rPr>
                                      <m:sty m:val="p"/>
                                    </m:rPr>
                                    <a:rPr lang="cs-CZ" sz="1400" b="0" i="0" smtClean="0">
                                      <a:latin typeface="Cambria Math"/>
                                      <a:ea typeface="Cambria Math"/>
                                    </a:rPr>
                                    <m:t>ln</m:t>
                                  </m:r>
                                </m:fName>
                                <m:e>
                                  <m:r>
                                    <a:rPr lang="cs-CZ" sz="1400" b="0" i="1" smtClean="0">
                                      <a:latin typeface="Cambria Math"/>
                                      <a:ea typeface="Cambria Math"/>
                                    </a:rPr>
                                    <m:t>𝑢</m:t>
                                  </m:r>
                                  <m:r>
                                    <a:rPr lang="cs-CZ" sz="1400" b="0" i="1" smtClean="0">
                                      <a:latin typeface="Cambria Math"/>
                                      <a:ea typeface="Cambria Math"/>
                                    </a:rPr>
                                    <m:t>−</m:t>
                                  </m:r>
                                  <m:r>
                                    <a:rPr lang="cs-CZ" sz="1400" b="0" i="1" smtClean="0">
                                      <a:latin typeface="Cambria Math"/>
                                      <a:ea typeface="Cambria Math"/>
                                    </a:rPr>
                                    <m:t>𝜇</m:t>
                                  </m:r>
                                </m:e>
                              </m:func>
                            </m:e>
                          </m:d>
                        </m:e>
                        <m:sup>
                          <m:r>
                            <a:rPr lang="cs-CZ" sz="1400" b="0" i="1" smtClean="0">
                              <a:latin typeface="Cambria Math"/>
                              <a:ea typeface="Cambria Math"/>
                            </a:rPr>
                            <m:t>2</m:t>
                          </m:r>
                        </m:sup>
                      </m:sSup>
                      <m:r>
                        <a:rPr lang="cs-CZ" sz="1400" b="0" i="1" smtClean="0">
                          <a:latin typeface="Cambria Math"/>
                          <a:ea typeface="Cambria Math"/>
                        </a:rPr>
                        <m:t>+</m:t>
                      </m:r>
                      <m:d>
                        <m:dPr>
                          <m:ctrlPr>
                            <a:rPr lang="cs-CZ" sz="1400" b="0" i="1" smtClean="0">
                              <a:latin typeface="Cambria Math" panose="02040503050406030204" pitchFamily="18" charset="0"/>
                              <a:ea typeface="Cambria Math"/>
                            </a:rPr>
                          </m:ctrlPr>
                        </m:dPr>
                        <m:e>
                          <m:r>
                            <a:rPr lang="cs-CZ" sz="1400" b="0" i="1" smtClean="0">
                              <a:latin typeface="Cambria Math"/>
                              <a:ea typeface="Cambria Math"/>
                            </a:rPr>
                            <m:t>1−</m:t>
                          </m:r>
                          <m:r>
                            <a:rPr lang="cs-CZ" sz="1400" b="0" i="1" smtClean="0">
                              <a:latin typeface="Cambria Math"/>
                              <a:ea typeface="Cambria Math"/>
                            </a:rPr>
                            <m:t>𝑝</m:t>
                          </m:r>
                        </m:e>
                      </m:d>
                      <m:r>
                        <a:rPr lang="cs-CZ" sz="1400" b="0" i="1" smtClean="0">
                          <a:latin typeface="Cambria Math"/>
                          <a:ea typeface="Cambria Math"/>
                        </a:rPr>
                        <m:t>×</m:t>
                      </m:r>
                      <m:sSup>
                        <m:sSupPr>
                          <m:ctrlPr>
                            <a:rPr lang="cs-CZ" sz="1400" b="0" i="1" smtClean="0">
                              <a:latin typeface="Cambria Math" panose="02040503050406030204" pitchFamily="18" charset="0"/>
                              <a:ea typeface="Cambria Math"/>
                            </a:rPr>
                          </m:ctrlPr>
                        </m:sSupPr>
                        <m:e>
                          <m:d>
                            <m:dPr>
                              <m:begChr m:val="["/>
                              <m:endChr m:val="]"/>
                              <m:ctrlPr>
                                <a:rPr lang="cs-CZ" sz="1400" b="0" i="1" smtClean="0">
                                  <a:latin typeface="Cambria Math" panose="02040503050406030204" pitchFamily="18" charset="0"/>
                                  <a:ea typeface="Cambria Math"/>
                                </a:rPr>
                              </m:ctrlPr>
                            </m:dPr>
                            <m:e>
                              <m:func>
                                <m:funcPr>
                                  <m:ctrlPr>
                                    <a:rPr lang="cs-CZ" sz="1400" b="0" i="1" smtClean="0">
                                      <a:latin typeface="Cambria Math" panose="02040503050406030204" pitchFamily="18" charset="0"/>
                                      <a:ea typeface="Cambria Math"/>
                                    </a:rPr>
                                  </m:ctrlPr>
                                </m:funcPr>
                                <m:fName>
                                  <m:r>
                                    <m:rPr>
                                      <m:sty m:val="p"/>
                                    </m:rPr>
                                    <a:rPr lang="cs-CZ" sz="1400" b="0" i="0" smtClean="0">
                                      <a:latin typeface="Cambria Math"/>
                                      <a:ea typeface="Cambria Math"/>
                                    </a:rPr>
                                    <m:t>ln</m:t>
                                  </m:r>
                                </m:fName>
                                <m:e>
                                  <m:r>
                                    <a:rPr lang="cs-CZ" sz="1400" b="0" i="1" smtClean="0">
                                      <a:latin typeface="Cambria Math"/>
                                      <a:ea typeface="Cambria Math"/>
                                    </a:rPr>
                                    <m:t>𝑑</m:t>
                                  </m:r>
                                  <m:r>
                                    <a:rPr lang="cs-CZ" sz="1400" b="0" i="1" smtClean="0">
                                      <a:latin typeface="Cambria Math"/>
                                      <a:ea typeface="Cambria Math"/>
                                    </a:rPr>
                                    <m:t>−</m:t>
                                  </m:r>
                                  <m:r>
                                    <a:rPr lang="cs-CZ" sz="1400" b="0" i="1" smtClean="0">
                                      <a:latin typeface="Cambria Math"/>
                                      <a:ea typeface="Cambria Math"/>
                                    </a:rPr>
                                    <m:t>𝜇</m:t>
                                  </m:r>
                                </m:e>
                              </m:func>
                            </m:e>
                          </m:d>
                        </m:e>
                        <m:sup>
                          <m:r>
                            <a:rPr lang="cs-CZ" sz="1400" b="0" i="1" smtClean="0">
                              <a:latin typeface="Cambria Math"/>
                              <a:ea typeface="Cambria Math"/>
                            </a:rPr>
                            <m:t>2</m:t>
                          </m:r>
                        </m:sup>
                      </m:sSup>
                    </m:oMath>
                  </m:oMathPara>
                </a14:m>
                <a:endParaRPr lang="cs-CZ" sz="1400" b="0" i="1" dirty="0">
                  <a:latin typeface="Cambria Math"/>
                  <a:ea typeface="Cambria Math"/>
                </a:endParaRPr>
              </a:p>
              <a:p>
                <a:pPr marL="85725" indent="92075"/>
                <a:r>
                  <a:rPr lang="cs-CZ" sz="1400" dirty="0">
                    <a:ea typeface="Cambria Math"/>
                  </a:rPr>
                  <a:t> </a:t>
                </a:r>
                <a14:m>
                  <m:oMath xmlns:m="http://schemas.openxmlformats.org/officeDocument/2006/math">
                    <m:r>
                      <a:rPr lang="cs-CZ" sz="1400" i="1">
                        <a:latin typeface="Cambria Math"/>
                        <a:ea typeface="Cambria Math"/>
                      </a:rPr>
                      <m:t>=0.6667×</m:t>
                    </m:r>
                    <m:sSup>
                      <m:sSupPr>
                        <m:ctrlPr>
                          <a:rPr lang="cs-CZ" sz="1400" i="1">
                            <a:latin typeface="Cambria Math" panose="02040503050406030204" pitchFamily="18" charset="0"/>
                            <a:ea typeface="Cambria Math"/>
                          </a:rPr>
                        </m:ctrlPr>
                      </m:sSupPr>
                      <m:e>
                        <m:d>
                          <m:dPr>
                            <m:begChr m:val="["/>
                            <m:endChr m:val="]"/>
                            <m:ctrlPr>
                              <a:rPr lang="cs-CZ" sz="1400" i="1">
                                <a:latin typeface="Cambria Math" panose="02040503050406030204" pitchFamily="18" charset="0"/>
                                <a:ea typeface="Cambria Math"/>
                              </a:rPr>
                            </m:ctrlPr>
                          </m:dPr>
                          <m:e>
                            <m:func>
                              <m:funcPr>
                                <m:ctrlPr>
                                  <a:rPr lang="cs-CZ" sz="1400" i="1">
                                    <a:latin typeface="Cambria Math" panose="02040503050406030204" pitchFamily="18" charset="0"/>
                                    <a:ea typeface="Cambria Math"/>
                                  </a:rPr>
                                </m:ctrlPr>
                              </m:funcPr>
                              <m:fName>
                                <m:r>
                                  <m:rPr>
                                    <m:sty m:val="p"/>
                                  </m:rPr>
                                  <a:rPr lang="cs-CZ" sz="1400">
                                    <a:latin typeface="Cambria Math"/>
                                    <a:ea typeface="Cambria Math"/>
                                  </a:rPr>
                                  <m:t>ln</m:t>
                                </m:r>
                              </m:fName>
                              <m:e>
                                <m:r>
                                  <a:rPr lang="cs-CZ" sz="1400" b="0" i="1" smtClean="0">
                                    <a:latin typeface="Cambria Math"/>
                                    <a:ea typeface="Cambria Math"/>
                                  </a:rPr>
                                  <m:t>1.3</m:t>
                                </m:r>
                                <m:r>
                                  <a:rPr lang="cs-CZ" sz="1400" i="1">
                                    <a:latin typeface="Cambria Math"/>
                                    <a:ea typeface="Cambria Math"/>
                                  </a:rPr>
                                  <m:t>−</m:t>
                                </m:r>
                                <m:r>
                                  <a:rPr lang="cs-CZ" sz="1400" b="0" i="1" smtClean="0">
                                    <a:latin typeface="Cambria Math"/>
                                    <a:ea typeface="Cambria Math"/>
                                  </a:rPr>
                                  <m:t>0.056</m:t>
                                </m:r>
                              </m:e>
                            </m:func>
                          </m:e>
                        </m:d>
                      </m:e>
                      <m:sup>
                        <m:r>
                          <a:rPr lang="cs-CZ" sz="1400" i="1">
                            <a:latin typeface="Cambria Math"/>
                            <a:ea typeface="Cambria Math"/>
                          </a:rPr>
                          <m:t>2</m:t>
                        </m:r>
                      </m:sup>
                    </m:sSup>
                    <m:r>
                      <a:rPr lang="cs-CZ" sz="1400" i="1">
                        <a:latin typeface="Cambria Math"/>
                        <a:ea typeface="Cambria Math"/>
                      </a:rPr>
                      <m:t>+</m:t>
                    </m:r>
                    <m:r>
                      <a:rPr lang="cs-CZ" sz="1400" b="0" i="1" smtClean="0">
                        <a:latin typeface="Cambria Math"/>
                        <a:ea typeface="Cambria Math"/>
                      </a:rPr>
                      <m:t>0.3333</m:t>
                    </m:r>
                    <m:r>
                      <a:rPr lang="cs-CZ" sz="1400" i="1">
                        <a:latin typeface="Cambria Math"/>
                        <a:ea typeface="Cambria Math"/>
                      </a:rPr>
                      <m:t>×</m:t>
                    </m:r>
                    <m:sSup>
                      <m:sSupPr>
                        <m:ctrlPr>
                          <a:rPr lang="cs-CZ" sz="1400" i="1">
                            <a:latin typeface="Cambria Math" panose="02040503050406030204" pitchFamily="18" charset="0"/>
                            <a:ea typeface="Cambria Math"/>
                          </a:rPr>
                        </m:ctrlPr>
                      </m:sSupPr>
                      <m:e>
                        <m:d>
                          <m:dPr>
                            <m:begChr m:val="["/>
                            <m:endChr m:val="]"/>
                            <m:ctrlPr>
                              <a:rPr lang="cs-CZ" sz="1400" i="1">
                                <a:latin typeface="Cambria Math" panose="02040503050406030204" pitchFamily="18" charset="0"/>
                                <a:ea typeface="Cambria Math"/>
                              </a:rPr>
                            </m:ctrlPr>
                          </m:dPr>
                          <m:e>
                            <m:func>
                              <m:funcPr>
                                <m:ctrlPr>
                                  <a:rPr lang="cs-CZ" sz="1400" i="1">
                                    <a:latin typeface="Cambria Math" panose="02040503050406030204" pitchFamily="18" charset="0"/>
                                    <a:ea typeface="Cambria Math"/>
                                  </a:rPr>
                                </m:ctrlPr>
                              </m:funcPr>
                              <m:fName>
                                <m:r>
                                  <m:rPr>
                                    <m:sty m:val="p"/>
                                  </m:rPr>
                                  <a:rPr lang="cs-CZ" sz="1400">
                                    <a:latin typeface="Cambria Math"/>
                                    <a:ea typeface="Cambria Math"/>
                                  </a:rPr>
                                  <m:t>ln</m:t>
                                </m:r>
                              </m:fName>
                              <m:e>
                                <m:r>
                                  <a:rPr lang="cs-CZ" sz="1400" b="0" i="1" smtClean="0">
                                    <a:latin typeface="Cambria Math"/>
                                    <a:ea typeface="Cambria Math"/>
                                  </a:rPr>
                                  <m:t>0.7</m:t>
                                </m:r>
                                <m:r>
                                  <a:rPr lang="cs-CZ" sz="1400" i="1">
                                    <a:latin typeface="Cambria Math"/>
                                    <a:ea typeface="Cambria Math"/>
                                  </a:rPr>
                                  <m:t>−</m:t>
                                </m:r>
                                <m:r>
                                  <a:rPr lang="cs-CZ" sz="1400" b="0" i="1" smtClean="0">
                                    <a:latin typeface="Cambria Math"/>
                                    <a:ea typeface="Cambria Math"/>
                                  </a:rPr>
                                  <m:t>0.056</m:t>
                                </m:r>
                              </m:e>
                            </m:func>
                          </m:e>
                        </m:d>
                      </m:e>
                      <m:sup>
                        <m:r>
                          <a:rPr lang="cs-CZ" sz="1400" i="1">
                            <a:latin typeface="Cambria Math"/>
                            <a:ea typeface="Cambria Math"/>
                          </a:rPr>
                          <m:t>2</m:t>
                        </m:r>
                      </m:sup>
                    </m:sSup>
                    <m:r>
                      <a:rPr lang="cs-CZ" sz="1400" b="0" i="1" smtClean="0">
                        <a:latin typeface="Cambria Math"/>
                        <a:ea typeface="Cambria Math"/>
                      </a:rPr>
                      <m:t>=0.0852</m:t>
                    </m:r>
                  </m:oMath>
                </a14:m>
                <a:endParaRPr lang="cs-CZ" sz="1400" i="1" dirty="0">
                  <a:latin typeface="Cambria Math"/>
                  <a:ea typeface="Cambria Math" panose="02040503050406030204" pitchFamily="18" charset="0"/>
                </a:endParaRPr>
              </a:p>
            </p:txBody>
          </p:sp>
        </mc:Choice>
        <mc:Fallback xmlns="">
          <p:sp>
            <p:nvSpPr>
              <p:cNvPr id="87" name="TextovéPole 86"/>
              <p:cNvSpPr txBox="1">
                <a:spLocks noRot="1" noChangeAspect="1" noMove="1" noResize="1" noEditPoints="1" noAdjustHandles="1" noChangeArrowheads="1" noChangeShapeType="1" noTextEdit="1"/>
              </p:cNvSpPr>
              <p:nvPr/>
            </p:nvSpPr>
            <p:spPr>
              <a:xfrm>
                <a:off x="1872000" y="2399682"/>
                <a:ext cx="5523628" cy="430887"/>
              </a:xfrm>
              <a:prstGeom prst="rect">
                <a:avLst/>
              </a:prstGeom>
              <a:blipFill>
                <a:blip r:embed="rId19"/>
                <a:stretch>
                  <a:fillRect l="-773" b="-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8" name="TextovéPole 87"/>
              <p:cNvSpPr txBox="1"/>
              <p:nvPr/>
            </p:nvSpPr>
            <p:spPr>
              <a:xfrm>
                <a:off x="1872000" y="2832662"/>
                <a:ext cx="2123935" cy="268663"/>
              </a:xfrm>
              <a:prstGeom prst="rect">
                <a:avLst/>
              </a:prstGeom>
              <a:noFill/>
            </p:spPr>
            <p:txBody>
              <a:bodyPr wrap="square" lIns="0" tIns="0" rIns="0" bIns="0" rtlCol="0">
                <a:spAutoFit/>
              </a:bodyPr>
              <a:lstStyle/>
              <a:p>
                <a:pPr algn="ctr"/>
                <a14:m>
                  <m:oMathPara xmlns:m="http://schemas.openxmlformats.org/officeDocument/2006/math">
                    <m:oMathParaPr>
                      <m:jc m:val="left"/>
                    </m:oMathParaPr>
                    <m:oMath xmlns:m="http://schemas.openxmlformats.org/officeDocument/2006/math">
                      <m:r>
                        <a:rPr lang="cs-CZ" sz="1400" b="0" i="1" smtClean="0">
                          <a:latin typeface="Cambria Math"/>
                          <a:ea typeface="Cambria Math"/>
                        </a:rPr>
                        <m:t>𝜎</m:t>
                      </m:r>
                      <m:r>
                        <a:rPr lang="cs-CZ" sz="1400" b="0" i="1" smtClean="0">
                          <a:latin typeface="Cambria Math" panose="02040503050406030204" pitchFamily="18" charset="0"/>
                          <a:ea typeface="Cambria Math" panose="02040503050406030204" pitchFamily="18" charset="0"/>
                        </a:rPr>
                        <m:t>=</m:t>
                      </m:r>
                      <m:rad>
                        <m:radPr>
                          <m:degHide m:val="on"/>
                          <m:ctrlPr>
                            <a:rPr lang="cs-CZ" sz="1400" b="0" i="1" smtClean="0">
                              <a:latin typeface="Cambria Math" panose="02040503050406030204" pitchFamily="18" charset="0"/>
                              <a:ea typeface="Cambria Math" panose="02040503050406030204" pitchFamily="18" charset="0"/>
                            </a:rPr>
                          </m:ctrlPr>
                        </m:radPr>
                        <m:deg/>
                        <m:e>
                          <m:sSup>
                            <m:sSupPr>
                              <m:ctrlPr>
                                <a:rPr lang="cs-CZ" sz="1400" b="0" i="1" smtClean="0">
                                  <a:latin typeface="Cambria Math" panose="02040503050406030204" pitchFamily="18" charset="0"/>
                                  <a:ea typeface="Cambria Math" panose="02040503050406030204" pitchFamily="18" charset="0"/>
                                </a:rPr>
                              </m:ctrlPr>
                            </m:sSupPr>
                            <m:e>
                              <m:r>
                                <a:rPr lang="cs-CZ" sz="1400" b="0" i="1" smtClean="0">
                                  <a:latin typeface="Cambria Math"/>
                                  <a:ea typeface="Cambria Math"/>
                                </a:rPr>
                                <m:t>𝜎</m:t>
                              </m:r>
                            </m:e>
                            <m:sup>
                              <m:r>
                                <a:rPr lang="cs-CZ" sz="1400" b="0" i="1" smtClean="0">
                                  <a:latin typeface="Cambria Math"/>
                                  <a:ea typeface="Cambria Math" panose="02040503050406030204" pitchFamily="18" charset="0"/>
                                </a:rPr>
                                <m:t>2</m:t>
                              </m:r>
                            </m:sup>
                          </m:sSup>
                        </m:e>
                      </m:rad>
                      <m:r>
                        <a:rPr lang="cs-CZ" sz="1400" b="0" i="1" smtClean="0">
                          <a:latin typeface="Cambria Math"/>
                          <a:ea typeface="Cambria Math" panose="02040503050406030204" pitchFamily="18" charset="0"/>
                        </a:rPr>
                        <m:t>=0.292</m:t>
                      </m:r>
                      <m:r>
                        <a:rPr lang="cs-CZ" sz="1400" b="0" i="1" smtClean="0">
                          <a:latin typeface="Cambria Math" panose="02040503050406030204" pitchFamily="18" charset="0"/>
                          <a:ea typeface="Cambria Math" panose="02040503050406030204" pitchFamily="18" charset="0"/>
                        </a:rPr>
                        <m:t>=29.2%</m:t>
                      </m:r>
                    </m:oMath>
                  </m:oMathPara>
                </a14:m>
                <a:endParaRPr lang="cs-CZ" sz="1400" i="1" dirty="0">
                  <a:latin typeface="Cambria Math"/>
                  <a:ea typeface="Cambria Math" panose="02040503050406030204" pitchFamily="18" charset="0"/>
                </a:endParaRPr>
              </a:p>
            </p:txBody>
          </p:sp>
        </mc:Choice>
        <mc:Fallback xmlns="">
          <p:sp>
            <p:nvSpPr>
              <p:cNvPr id="88" name="TextovéPole 87"/>
              <p:cNvSpPr txBox="1">
                <a:spLocks noRot="1" noChangeAspect="1" noMove="1" noResize="1" noEditPoints="1" noAdjustHandles="1" noChangeArrowheads="1" noChangeShapeType="1" noTextEdit="1"/>
              </p:cNvSpPr>
              <p:nvPr/>
            </p:nvSpPr>
            <p:spPr>
              <a:xfrm>
                <a:off x="1872000" y="2832662"/>
                <a:ext cx="2123935" cy="268663"/>
              </a:xfrm>
              <a:prstGeom prst="rect">
                <a:avLst/>
              </a:prstGeom>
              <a:blipFill>
                <a:blip r:embed="rId20"/>
                <a:stretch>
                  <a:fillRect l="-2006" b="-9091"/>
                </a:stretch>
              </a:blipFill>
            </p:spPr>
            <p:txBody>
              <a:bodyPr/>
              <a:lstStyle/>
              <a:p>
                <a:r>
                  <a:rPr lang="en-GB">
                    <a:noFill/>
                  </a:rPr>
                  <a:t> </a:t>
                </a:r>
              </a:p>
            </p:txBody>
          </p:sp>
        </mc:Fallback>
      </mc:AlternateContent>
      <p:sp>
        <p:nvSpPr>
          <p:cNvPr id="72" name="TextovéPole 71">
            <a:extLst>
              <a:ext uri="{FF2B5EF4-FFF2-40B4-BE49-F238E27FC236}">
                <a16:creationId xmlns:a16="http://schemas.microsoft.com/office/drawing/2014/main" id="{05FC8A4A-3761-4383-881C-9096ADBF4AD7}"/>
              </a:ext>
            </a:extLst>
          </p:cNvPr>
          <p:cNvSpPr txBox="1"/>
          <p:nvPr/>
        </p:nvSpPr>
        <p:spPr>
          <a:xfrm>
            <a:off x="864001" y="3096000"/>
            <a:ext cx="5148160" cy="430887"/>
          </a:xfrm>
          <a:prstGeom prst="rect">
            <a:avLst/>
          </a:prstGeom>
          <a:noFill/>
          <a:ln>
            <a:noFill/>
          </a:ln>
        </p:spPr>
        <p:txBody>
          <a:bodyPr wrap="square" rtlCol="0">
            <a:spAutoFit/>
          </a:bodyPr>
          <a:lstStyle/>
          <a:p>
            <a:pPr marL="324000" indent="-324000">
              <a:buClr>
                <a:srgbClr val="7030A0"/>
              </a:buClr>
              <a:buSzPct val="100000"/>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Calculation of the call option premium</a:t>
            </a:r>
          </a:p>
        </p:txBody>
      </p:sp>
      <mc:AlternateContent xmlns:mc="http://schemas.openxmlformats.org/markup-compatibility/2006" xmlns:a14="http://schemas.microsoft.com/office/drawing/2010/main">
        <mc:Choice Requires="a14">
          <p:sp>
            <p:nvSpPr>
              <p:cNvPr id="60" name="TextovéPole 59"/>
              <p:cNvSpPr txBox="1"/>
              <p:nvPr/>
            </p:nvSpPr>
            <p:spPr>
              <a:xfrm>
                <a:off x="1871999" y="2144994"/>
                <a:ext cx="6551649" cy="215444"/>
              </a:xfrm>
              <a:prstGeom prst="rect">
                <a:avLst/>
              </a:prstGeom>
              <a:noFill/>
            </p:spPr>
            <p:txBody>
              <a:bodyPr wrap="square" lIns="0" tIns="0" rIns="0" bIns="0" rtlCol="0">
                <a:spAutoFit/>
              </a:bodyPr>
              <a:lstStyle/>
              <a:p>
                <a:pPr algn="ctr"/>
                <a14:m>
                  <m:oMathPara xmlns:m="http://schemas.openxmlformats.org/officeDocument/2006/math">
                    <m:oMathParaPr>
                      <m:jc m:val="left"/>
                    </m:oMathParaPr>
                    <m:oMath xmlns:m="http://schemas.openxmlformats.org/officeDocument/2006/math">
                      <m:r>
                        <a:rPr lang="cs-CZ" sz="1400" b="0" i="1" smtClean="0">
                          <a:latin typeface="Cambria Math"/>
                          <a:ea typeface="Cambria Math"/>
                        </a:rPr>
                        <m:t>𝜇</m:t>
                      </m:r>
                      <m:r>
                        <a:rPr lang="cs-CZ" sz="1400" b="0" i="1" smtClean="0">
                          <a:latin typeface="Cambria Math" panose="02040503050406030204" pitchFamily="18" charset="0"/>
                          <a:ea typeface="Cambria Math" panose="02040503050406030204" pitchFamily="18" charset="0"/>
                        </a:rPr>
                        <m:t>=</m:t>
                      </m:r>
                      <m:r>
                        <a:rPr lang="cs-CZ" sz="1400" b="0" i="1" smtClean="0">
                          <a:latin typeface="Cambria Math"/>
                          <a:ea typeface="Cambria Math" panose="02040503050406030204" pitchFamily="18" charset="0"/>
                        </a:rPr>
                        <m:t>𝑝</m:t>
                      </m:r>
                      <m:r>
                        <a:rPr lang="cs-CZ" sz="1400" b="0" i="1" smtClean="0">
                          <a:latin typeface="Cambria Math"/>
                          <a:ea typeface="Cambria Math"/>
                        </a:rPr>
                        <m:t>×</m:t>
                      </m:r>
                      <m:func>
                        <m:funcPr>
                          <m:ctrlPr>
                            <a:rPr lang="cs-CZ" sz="1400" b="0" i="1" smtClean="0">
                              <a:latin typeface="Cambria Math" panose="02040503050406030204" pitchFamily="18" charset="0"/>
                              <a:ea typeface="Cambria Math" panose="02040503050406030204" pitchFamily="18" charset="0"/>
                            </a:rPr>
                          </m:ctrlPr>
                        </m:funcPr>
                        <m:fName>
                          <m:r>
                            <m:rPr>
                              <m:sty m:val="p"/>
                            </m:rPr>
                            <a:rPr lang="cs-CZ" sz="1400" b="0" i="0" smtClean="0">
                              <a:latin typeface="Cambria Math"/>
                              <a:ea typeface="Cambria Math" panose="02040503050406030204" pitchFamily="18" charset="0"/>
                            </a:rPr>
                            <m:t>ln</m:t>
                          </m:r>
                        </m:fName>
                        <m:e>
                          <m:r>
                            <a:rPr lang="cs-CZ" sz="1400" b="0" i="1" smtClean="0">
                              <a:latin typeface="Cambria Math"/>
                              <a:ea typeface="Cambria Math" panose="02040503050406030204" pitchFamily="18" charset="0"/>
                            </a:rPr>
                            <m:t>𝑢</m:t>
                          </m:r>
                        </m:e>
                      </m:func>
                      <m:r>
                        <a:rPr lang="cs-CZ" sz="1400" b="0" i="1" smtClean="0">
                          <a:latin typeface="Cambria Math"/>
                          <a:ea typeface="Cambria Math" panose="02040503050406030204" pitchFamily="18" charset="0"/>
                        </a:rPr>
                        <m:t>+</m:t>
                      </m:r>
                      <m:d>
                        <m:dPr>
                          <m:ctrlPr>
                            <a:rPr lang="cs-CZ" sz="1400" b="0" i="1" smtClean="0">
                              <a:latin typeface="Cambria Math" panose="02040503050406030204" pitchFamily="18" charset="0"/>
                              <a:ea typeface="Cambria Math" panose="02040503050406030204" pitchFamily="18" charset="0"/>
                            </a:rPr>
                          </m:ctrlPr>
                        </m:dPr>
                        <m:e>
                          <m:r>
                            <a:rPr lang="cs-CZ" sz="1400" b="0" i="1" smtClean="0">
                              <a:latin typeface="Cambria Math"/>
                              <a:ea typeface="Cambria Math" panose="02040503050406030204" pitchFamily="18" charset="0"/>
                            </a:rPr>
                            <m:t>1−</m:t>
                          </m:r>
                          <m:r>
                            <a:rPr lang="cs-CZ" sz="1400" b="0" i="1" smtClean="0">
                              <a:latin typeface="Cambria Math"/>
                              <a:ea typeface="Cambria Math" panose="02040503050406030204" pitchFamily="18" charset="0"/>
                            </a:rPr>
                            <m:t>𝑝</m:t>
                          </m:r>
                        </m:e>
                      </m:d>
                      <m:r>
                        <a:rPr lang="cs-CZ" sz="1400" b="0" i="1" smtClean="0">
                          <a:latin typeface="Cambria Math"/>
                          <a:ea typeface="Cambria Math"/>
                        </a:rPr>
                        <m:t>×</m:t>
                      </m:r>
                      <m:func>
                        <m:funcPr>
                          <m:ctrlPr>
                            <a:rPr lang="cs-CZ" sz="1400" b="0" i="1" smtClean="0">
                              <a:latin typeface="Cambria Math" panose="02040503050406030204" pitchFamily="18" charset="0"/>
                              <a:ea typeface="Cambria Math"/>
                            </a:rPr>
                          </m:ctrlPr>
                        </m:funcPr>
                        <m:fName>
                          <m:r>
                            <m:rPr>
                              <m:sty m:val="p"/>
                            </m:rPr>
                            <a:rPr lang="cs-CZ" sz="1400" b="0" i="0" smtClean="0">
                              <a:latin typeface="Cambria Math"/>
                              <a:ea typeface="Cambria Math"/>
                            </a:rPr>
                            <m:t>ln</m:t>
                          </m:r>
                        </m:fName>
                        <m:e>
                          <m:r>
                            <a:rPr lang="cs-CZ" sz="1400" b="0" i="1" smtClean="0">
                              <a:latin typeface="Cambria Math"/>
                              <a:ea typeface="Cambria Math"/>
                            </a:rPr>
                            <m:t>𝑑</m:t>
                          </m:r>
                          <m:r>
                            <a:rPr lang="cs-CZ" sz="1400" b="0" i="1" smtClean="0">
                              <a:latin typeface="Cambria Math"/>
                              <a:ea typeface="Cambria Math"/>
                            </a:rPr>
                            <m:t>=0.6667×</m:t>
                          </m:r>
                          <m:func>
                            <m:funcPr>
                              <m:ctrlPr>
                                <a:rPr lang="cs-CZ" sz="1400" b="0" i="1" smtClean="0">
                                  <a:latin typeface="Cambria Math" panose="02040503050406030204" pitchFamily="18" charset="0"/>
                                  <a:ea typeface="Cambria Math"/>
                                </a:rPr>
                              </m:ctrlPr>
                            </m:funcPr>
                            <m:fName>
                              <m:r>
                                <m:rPr>
                                  <m:sty m:val="p"/>
                                </m:rPr>
                                <a:rPr lang="cs-CZ" sz="1400" b="0" i="0" smtClean="0">
                                  <a:latin typeface="Cambria Math"/>
                                  <a:ea typeface="Cambria Math"/>
                                </a:rPr>
                                <m:t>ln</m:t>
                              </m:r>
                            </m:fName>
                            <m:e>
                              <m:r>
                                <a:rPr lang="cs-CZ" sz="1400" b="0" i="1" smtClean="0">
                                  <a:latin typeface="Cambria Math"/>
                                  <a:ea typeface="Cambria Math"/>
                                </a:rPr>
                                <m:t>1.3+0.3333×</m:t>
                              </m:r>
                              <m:func>
                                <m:funcPr>
                                  <m:ctrlPr>
                                    <a:rPr lang="cs-CZ" sz="1400" b="0" i="1" smtClean="0">
                                      <a:latin typeface="Cambria Math" panose="02040503050406030204" pitchFamily="18" charset="0"/>
                                      <a:ea typeface="Cambria Math"/>
                                    </a:rPr>
                                  </m:ctrlPr>
                                </m:funcPr>
                                <m:fName>
                                  <m:r>
                                    <m:rPr>
                                      <m:sty m:val="p"/>
                                    </m:rPr>
                                    <a:rPr lang="cs-CZ" sz="1400" b="0" i="0" smtClean="0">
                                      <a:latin typeface="Cambria Math"/>
                                      <a:ea typeface="Cambria Math"/>
                                    </a:rPr>
                                    <m:t>ln</m:t>
                                  </m:r>
                                </m:fName>
                                <m:e>
                                  <m:r>
                                    <a:rPr lang="cs-CZ" sz="1400" b="0" i="1" smtClean="0">
                                      <a:latin typeface="Cambria Math"/>
                                      <a:ea typeface="Cambria Math"/>
                                    </a:rPr>
                                    <m:t>0.7=0.056</m:t>
                                  </m:r>
                                  <m:r>
                                    <a:rPr lang="cs-CZ" sz="1400" b="0" i="1" smtClean="0">
                                      <a:latin typeface="Cambria Math" panose="02040503050406030204" pitchFamily="18" charset="0"/>
                                      <a:ea typeface="Cambria Math"/>
                                    </a:rPr>
                                    <m:t>=5.6%</m:t>
                                  </m:r>
                                </m:e>
                              </m:func>
                            </m:e>
                          </m:func>
                        </m:e>
                      </m:func>
                    </m:oMath>
                  </m:oMathPara>
                </a14:m>
                <a:endParaRPr lang="cs-CZ" sz="1400" i="1" dirty="0">
                  <a:latin typeface="Cambria Math"/>
                  <a:ea typeface="Cambria Math" panose="02040503050406030204" pitchFamily="18" charset="0"/>
                </a:endParaRPr>
              </a:p>
            </p:txBody>
          </p:sp>
        </mc:Choice>
        <mc:Fallback xmlns="">
          <p:sp>
            <p:nvSpPr>
              <p:cNvPr id="60" name="TextovéPole 59"/>
              <p:cNvSpPr txBox="1">
                <a:spLocks noRot="1" noChangeAspect="1" noMove="1" noResize="1" noEditPoints="1" noAdjustHandles="1" noChangeArrowheads="1" noChangeShapeType="1" noTextEdit="1"/>
              </p:cNvSpPr>
              <p:nvPr/>
            </p:nvSpPr>
            <p:spPr>
              <a:xfrm>
                <a:off x="1871999" y="2144994"/>
                <a:ext cx="6551649" cy="215444"/>
              </a:xfrm>
              <a:prstGeom prst="rect">
                <a:avLst/>
              </a:prstGeom>
              <a:blipFill>
                <a:blip r:embed="rId21"/>
                <a:stretch>
                  <a:fillRect l="-930" b="-25714"/>
                </a:stretch>
              </a:blipFill>
            </p:spPr>
            <p:txBody>
              <a:bodyPr/>
              <a:lstStyle/>
              <a:p>
                <a:r>
                  <a:rPr lang="en-GB">
                    <a:noFill/>
                  </a:rPr>
                  <a:t> </a:t>
                </a:r>
              </a:p>
            </p:txBody>
          </p:sp>
        </mc:Fallback>
      </mc:AlternateContent>
      <p:sp>
        <p:nvSpPr>
          <p:cNvPr id="61" name="TextovéPole 60">
            <a:extLst>
              <a:ext uri="{FF2B5EF4-FFF2-40B4-BE49-F238E27FC236}">
                <a16:creationId xmlns:a16="http://schemas.microsoft.com/office/drawing/2014/main" id="{EE16E3B3-D303-4859-B2FD-649CC47A3C14}"/>
              </a:ext>
            </a:extLst>
          </p:cNvPr>
          <p:cNvSpPr txBox="1"/>
          <p:nvPr/>
        </p:nvSpPr>
        <p:spPr>
          <a:xfrm>
            <a:off x="1188000" y="1818598"/>
            <a:ext cx="7632000"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Calculation of the price volatility (standard deviation of price changes)</a:t>
            </a:r>
          </a:p>
        </p:txBody>
      </p:sp>
      <mc:AlternateContent xmlns:mc="http://schemas.openxmlformats.org/markup-compatibility/2006" xmlns:a14="http://schemas.microsoft.com/office/drawing/2010/main">
        <mc:Choice Requires="a14">
          <p:sp>
            <p:nvSpPr>
              <p:cNvPr id="73" name="TextovéPole 72"/>
              <p:cNvSpPr txBox="1"/>
              <p:nvPr/>
            </p:nvSpPr>
            <p:spPr>
              <a:xfrm>
                <a:off x="5436096" y="4145720"/>
                <a:ext cx="2333139" cy="215444"/>
              </a:xfrm>
              <a:prstGeom prst="rect">
                <a:avLst/>
              </a:prstGeom>
              <a:noFill/>
            </p:spPr>
            <p:txBody>
              <a:bodyPr wrap="none" lIns="0" tIns="0" rIns="0" bIns="0" rtlCol="0">
                <a:spAutoFit/>
              </a:bodyPr>
              <a:lstStyle/>
              <a:p>
                <a:pPr algn="ctr"/>
                <a14:m>
                  <m:oMathPara xmlns:m="http://schemas.openxmlformats.org/officeDocument/2006/math">
                    <m:oMathParaPr>
                      <m:jc m:val="left"/>
                    </m:oMathParaPr>
                    <m:oMath xmlns:m="http://schemas.openxmlformats.org/officeDocument/2006/math">
                      <m:r>
                        <a:rPr lang="cs-CZ" sz="1400" b="0" i="1" smtClean="0">
                          <a:latin typeface="Cambria Math"/>
                          <a:ea typeface="Cambria Math" panose="02040503050406030204" pitchFamily="18" charset="0"/>
                        </a:rPr>
                        <m:t>𝑁</m:t>
                      </m:r>
                      <m:d>
                        <m:dPr>
                          <m:ctrlPr>
                            <a:rPr lang="cs-CZ" sz="1400" b="0" i="1" smtClean="0">
                              <a:latin typeface="Cambria Math" panose="02040503050406030204" pitchFamily="18" charset="0"/>
                              <a:ea typeface="Cambria Math" panose="02040503050406030204" pitchFamily="18" charset="0"/>
                            </a:rPr>
                          </m:ctrlPr>
                        </m:dPr>
                        <m:e>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a:ea typeface="Cambria Math" panose="02040503050406030204" pitchFamily="18" charset="0"/>
                                </a:rPr>
                                <m:t>𝑑</m:t>
                              </m:r>
                            </m:e>
                            <m:sub>
                              <m:r>
                                <a:rPr lang="cs-CZ" sz="1400" b="0" i="1" smtClean="0">
                                  <a:latin typeface="Cambria Math"/>
                                  <a:ea typeface="Cambria Math" panose="02040503050406030204" pitchFamily="18" charset="0"/>
                                </a:rPr>
                                <m:t>2</m:t>
                              </m:r>
                            </m:sub>
                          </m:sSub>
                        </m:e>
                      </m:d>
                      <m:r>
                        <a:rPr lang="cs-CZ" sz="1400" b="0" i="1" smtClean="0">
                          <a:latin typeface="Cambria Math" panose="02040503050406030204" pitchFamily="18" charset="0"/>
                          <a:ea typeface="Cambria Math" panose="02040503050406030204" pitchFamily="18" charset="0"/>
                        </a:rPr>
                        <m:t>=</m:t>
                      </m:r>
                      <m:r>
                        <a:rPr lang="cs-CZ" sz="1400" b="0" i="1" smtClean="0">
                          <a:latin typeface="Cambria Math"/>
                          <a:ea typeface="Cambria Math" panose="02040503050406030204" pitchFamily="18" charset="0"/>
                        </a:rPr>
                        <m:t>𝑁</m:t>
                      </m:r>
                      <m:d>
                        <m:dPr>
                          <m:ctrlPr>
                            <a:rPr lang="cs-CZ" sz="1400" b="0" i="1" smtClean="0">
                              <a:latin typeface="Cambria Math" panose="02040503050406030204" pitchFamily="18" charset="0"/>
                              <a:ea typeface="Cambria Math" panose="02040503050406030204" pitchFamily="18" charset="0"/>
                            </a:rPr>
                          </m:ctrlPr>
                        </m:dPr>
                        <m:e>
                          <m:r>
                            <a:rPr lang="cs-CZ" sz="1400" b="0" i="1" smtClean="0">
                              <a:latin typeface="Cambria Math"/>
                              <a:ea typeface="Cambria Math" panose="02040503050406030204" pitchFamily="18" charset="0"/>
                            </a:rPr>
                            <m:t>0.7365</m:t>
                          </m:r>
                        </m:e>
                      </m:d>
                      <m:r>
                        <a:rPr lang="cs-CZ" sz="1400" b="0" i="1" smtClean="0">
                          <a:latin typeface="Cambria Math"/>
                          <a:ea typeface="Cambria Math" panose="02040503050406030204" pitchFamily="18" charset="0"/>
                        </a:rPr>
                        <m:t>=0.7693</m:t>
                      </m:r>
                    </m:oMath>
                  </m:oMathPara>
                </a14:m>
                <a:endParaRPr lang="cs-CZ" sz="1400" i="1" dirty="0">
                  <a:latin typeface="Cambria Math"/>
                  <a:ea typeface="Cambria Math" panose="02040503050406030204" pitchFamily="18" charset="0"/>
                </a:endParaRPr>
              </a:p>
            </p:txBody>
          </p:sp>
        </mc:Choice>
        <mc:Fallback xmlns="">
          <p:sp>
            <p:nvSpPr>
              <p:cNvPr id="73" name="TextovéPole 72"/>
              <p:cNvSpPr txBox="1">
                <a:spLocks noRot="1" noChangeAspect="1" noMove="1" noResize="1" noEditPoints="1" noAdjustHandles="1" noChangeArrowheads="1" noChangeShapeType="1" noTextEdit="1"/>
              </p:cNvSpPr>
              <p:nvPr/>
            </p:nvSpPr>
            <p:spPr>
              <a:xfrm>
                <a:off x="5436096" y="4145720"/>
                <a:ext cx="2333139" cy="215444"/>
              </a:xfrm>
              <a:prstGeom prst="rect">
                <a:avLst/>
              </a:prstGeom>
              <a:blipFill>
                <a:blip r:embed="rId22"/>
                <a:stretch>
                  <a:fillRect l="-2618" b="-17143"/>
                </a:stretch>
              </a:blipFill>
            </p:spPr>
            <p:txBody>
              <a:bodyPr/>
              <a:lstStyle/>
              <a:p>
                <a:r>
                  <a:rPr lang="en-GB">
                    <a:noFill/>
                  </a:rPr>
                  <a:t> </a:t>
                </a:r>
              </a:p>
            </p:txBody>
          </p:sp>
        </mc:Fallback>
      </mc:AlternateContent>
      <p:sp>
        <p:nvSpPr>
          <p:cNvPr id="80" name="TextovéPole 79"/>
          <p:cNvSpPr txBox="1"/>
          <p:nvPr/>
        </p:nvSpPr>
        <p:spPr>
          <a:xfrm>
            <a:off x="864000" y="4608000"/>
            <a:ext cx="1691776"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cs-CZ" sz="2200" dirty="0">
                <a:latin typeface="Cambria Math" panose="02040503050406030204" pitchFamily="18" charset="0"/>
                <a:ea typeface="Cambria Math" panose="02040503050406030204" pitchFamily="18" charset="0"/>
              </a:rPr>
              <a:t>Volatility</a:t>
            </a:r>
            <a:endParaRPr lang="en-GB" sz="2200" dirty="0">
              <a:latin typeface="Cambria Math" panose="02040503050406030204" pitchFamily="18" charset="0"/>
              <a:ea typeface="Cambria Math" panose="02040503050406030204" pitchFamily="18" charset="0"/>
            </a:endParaRPr>
          </a:p>
        </p:txBody>
      </p:sp>
      <p:sp>
        <p:nvSpPr>
          <p:cNvPr id="6" name="TextovéPole 5">
            <a:extLst>
              <a:ext uri="{FF2B5EF4-FFF2-40B4-BE49-F238E27FC236}">
                <a16:creationId xmlns:a16="http://schemas.microsoft.com/office/drawing/2014/main" id="{BCA0D07D-E207-3673-4B0D-0FC679660722}"/>
              </a:ext>
            </a:extLst>
          </p:cNvPr>
          <p:cNvSpPr txBox="1"/>
          <p:nvPr/>
        </p:nvSpPr>
        <p:spPr>
          <a:xfrm>
            <a:off x="149233" y="4037002"/>
            <a:ext cx="966384" cy="400110"/>
          </a:xfrm>
          <a:prstGeom prst="rect">
            <a:avLst/>
          </a:prstGeom>
          <a:noFill/>
        </p:spPr>
        <p:txBody>
          <a:bodyPr wrap="square" rtlCol="0">
            <a:spAutoFit/>
          </a:bodyPr>
          <a:lstStyle/>
          <a:p>
            <a:r>
              <a:rPr lang="en-GB" sz="1000">
                <a:latin typeface="Cambria Math"/>
                <a:ea typeface="Cambria Math" panose="02040503050406030204" pitchFamily="18" charset="0"/>
              </a:rPr>
              <a:t>Stat. </a:t>
            </a:r>
            <a:r>
              <a:rPr lang="en-GB" sz="1000" dirty="0">
                <a:latin typeface="Cambria Math"/>
                <a:ea typeface="Cambria Math" panose="02040503050406030204" pitchFamily="18" charset="0"/>
              </a:rPr>
              <a:t>functions</a:t>
            </a:r>
          </a:p>
          <a:p>
            <a:r>
              <a:rPr lang="en-GB" sz="1000" dirty="0">
                <a:latin typeface="Cambria Math"/>
                <a:ea typeface="Cambria Math" panose="02040503050406030204" pitchFamily="18" charset="0"/>
              </a:rPr>
              <a:t>→ NORM.DIST</a:t>
            </a:r>
          </a:p>
        </p:txBody>
      </p:sp>
      <p:pic>
        <p:nvPicPr>
          <p:cNvPr id="10" name="Obrázek 9">
            <a:extLst>
              <a:ext uri="{FF2B5EF4-FFF2-40B4-BE49-F238E27FC236}">
                <a16:creationId xmlns:a16="http://schemas.microsoft.com/office/drawing/2014/main" id="{FB5AAC56-11CA-E92F-0D1B-7AF355929639}"/>
              </a:ext>
            </a:extLst>
          </p:cNvPr>
          <p:cNvPicPr>
            <a:picLocks noChangeAspect="1"/>
          </p:cNvPicPr>
          <p:nvPr/>
        </p:nvPicPr>
        <p:blipFill>
          <a:blip r:embed="rId23"/>
          <a:stretch>
            <a:fillRect/>
          </a:stretch>
        </p:blipFill>
        <p:spPr>
          <a:xfrm>
            <a:off x="251520" y="3717196"/>
            <a:ext cx="369332" cy="369332"/>
          </a:xfrm>
          <a:prstGeom prst="rect">
            <a:avLst/>
          </a:prstGeom>
        </p:spPr>
      </p:pic>
      <p:sp>
        <p:nvSpPr>
          <p:cNvPr id="7" name="TextovéPole 6">
            <a:extLst>
              <a:ext uri="{FF2B5EF4-FFF2-40B4-BE49-F238E27FC236}">
                <a16:creationId xmlns:a16="http://schemas.microsoft.com/office/drawing/2014/main" id="{6AE520BB-C6A8-81B8-98E7-3967A05EE585}"/>
              </a:ext>
            </a:extLst>
          </p:cNvPr>
          <p:cNvSpPr txBox="1"/>
          <p:nvPr/>
        </p:nvSpPr>
        <p:spPr>
          <a:xfrm>
            <a:off x="7452320" y="4412971"/>
            <a:ext cx="1020829" cy="246221"/>
          </a:xfrm>
          <a:prstGeom prst="rect">
            <a:avLst/>
          </a:prstGeom>
          <a:noFill/>
        </p:spPr>
        <p:txBody>
          <a:bodyPr wrap="square" rtlCol="0">
            <a:spAutoFit/>
          </a:bodyPr>
          <a:lstStyle/>
          <a:p>
            <a:r>
              <a:rPr lang="cs-CZ" sz="1000" dirty="0">
                <a:latin typeface="Cambria Math"/>
                <a:ea typeface="Cambria Math" panose="02040503050406030204" pitchFamily="18" charset="0"/>
              </a:rPr>
              <a:t>(€34.27 in BM)</a:t>
            </a:r>
            <a:endParaRPr lang="cs-CZ" sz="1600" dirty="0">
              <a:latin typeface="Cambria Math"/>
              <a:ea typeface="Cambria Math" panose="02040503050406030204" pitchFamily="18" charset="0"/>
            </a:endParaRPr>
          </a:p>
        </p:txBody>
      </p:sp>
      <mc:AlternateContent xmlns:mc="http://schemas.openxmlformats.org/markup-compatibility/2006" xmlns:a14="http://schemas.microsoft.com/office/drawing/2010/main">
        <mc:Choice Requires="a14">
          <p:sp>
            <p:nvSpPr>
              <p:cNvPr id="9" name="TextovéPole 8">
                <a:extLst>
                  <a:ext uri="{FF2B5EF4-FFF2-40B4-BE49-F238E27FC236}">
                    <a16:creationId xmlns:a16="http://schemas.microsoft.com/office/drawing/2014/main" id="{B5CE3347-6149-B4E4-29B5-2CEF359D66F8}"/>
                  </a:ext>
                </a:extLst>
              </p:cNvPr>
              <p:cNvSpPr txBox="1"/>
              <p:nvPr/>
            </p:nvSpPr>
            <p:spPr>
              <a:xfrm>
                <a:off x="6012160" y="2414921"/>
                <a:ext cx="3096344" cy="169277"/>
              </a:xfrm>
              <a:prstGeom prst="rect">
                <a:avLst/>
              </a:prstGeom>
              <a:noFill/>
            </p:spPr>
            <p:txBody>
              <a:bodyPr wrap="square" lIns="0" tIns="0" rIns="0" bIns="0" rtlCol="0">
                <a:spAutoFit/>
              </a:bodyPr>
              <a:lstStyle/>
              <a:p>
                <a:pPr algn="ctr"/>
                <a14:m>
                  <m:oMathPara xmlns:m="http://schemas.openxmlformats.org/officeDocument/2006/math">
                    <m:oMathParaPr>
                      <m:jc m:val="left"/>
                    </m:oMathParaPr>
                    <m:oMath xmlns:m="http://schemas.openxmlformats.org/officeDocument/2006/math">
                      <m:d>
                        <m:dPr>
                          <m:begChr m:val="["/>
                          <m:endChr m:val="]"/>
                          <m:ctrlPr>
                            <a:rPr lang="cs-CZ" sz="1100" i="1" smtClean="0">
                              <a:latin typeface="Cambria Math" panose="02040503050406030204" pitchFamily="18" charset="0"/>
                              <a:ea typeface="Cambria Math" panose="02040503050406030204" pitchFamily="18" charset="0"/>
                            </a:rPr>
                          </m:ctrlPr>
                        </m:dPr>
                        <m:e>
                          <m:f>
                            <m:fPr>
                              <m:type m:val="lin"/>
                              <m:ctrlPr>
                                <a:rPr lang="cs-CZ" sz="1100" i="1" smtClean="0">
                                  <a:latin typeface="Cambria Math" panose="02040503050406030204" pitchFamily="18" charset="0"/>
                                  <a:ea typeface="Cambria Math" panose="02040503050406030204" pitchFamily="18" charset="0"/>
                                </a:rPr>
                              </m:ctrlPr>
                            </m:fPr>
                            <m:num>
                              <m:r>
                                <a:rPr lang="cs-CZ" sz="1100" i="1" smtClean="0">
                                  <a:latin typeface="Cambria Math" panose="02040503050406030204" pitchFamily="18" charset="0"/>
                                  <a:ea typeface="Cambria Math" panose="02040503050406030204" pitchFamily="18" charset="0"/>
                                </a:rPr>
                                <m:t>∆</m:t>
                              </m:r>
                              <m:r>
                                <a:rPr lang="cs-CZ" sz="1100" b="0" i="1" smtClean="0">
                                  <a:latin typeface="Cambria Math" panose="02040503050406030204" pitchFamily="18" charset="0"/>
                                  <a:ea typeface="Cambria Math" panose="02040503050406030204" pitchFamily="18" charset="0"/>
                                </a:rPr>
                                <m:t>𝑆</m:t>
                              </m:r>
                            </m:num>
                            <m:den>
                              <m:sSub>
                                <m:sSubPr>
                                  <m:ctrlPr>
                                    <a:rPr lang="cs-CZ" sz="1100" i="1">
                                      <a:latin typeface="Cambria Math" panose="02040503050406030204" pitchFamily="18" charset="0"/>
                                      <a:ea typeface="Cambria Math" panose="02040503050406030204" pitchFamily="18" charset="0"/>
                                    </a:rPr>
                                  </m:ctrlPr>
                                </m:sSubPr>
                                <m:e>
                                  <m:r>
                                    <a:rPr lang="cs-CZ" sz="1100" i="1">
                                      <a:latin typeface="Cambria Math" panose="02040503050406030204" pitchFamily="18" charset="0"/>
                                      <a:ea typeface="Cambria Math" panose="02040503050406030204" pitchFamily="18" charset="0"/>
                                    </a:rPr>
                                    <m:t>𝑆</m:t>
                                  </m:r>
                                </m:e>
                                <m:sub>
                                  <m:r>
                                    <a:rPr lang="cs-CZ" sz="1100" i="1">
                                      <a:latin typeface="Cambria Math" panose="02040503050406030204" pitchFamily="18" charset="0"/>
                                      <a:ea typeface="Cambria Math" panose="02040503050406030204" pitchFamily="18" charset="0"/>
                                    </a:rPr>
                                    <m:t>0</m:t>
                                  </m:r>
                                </m:sub>
                              </m:sSub>
                            </m:den>
                          </m:f>
                          <m:acc>
                            <m:accPr>
                              <m:chr m:val="̇"/>
                              <m:ctrlPr>
                                <a:rPr lang="cs-CZ" sz="1100" i="1" smtClean="0">
                                  <a:latin typeface="Cambria Math" panose="02040503050406030204" pitchFamily="18" charset="0"/>
                                  <a:ea typeface="Cambria Math" panose="02040503050406030204" pitchFamily="18" charset="0"/>
                                </a:rPr>
                              </m:ctrlPr>
                            </m:accPr>
                            <m:e>
                              <m:r>
                                <a:rPr lang="cs-CZ" sz="1100" i="1">
                                  <a:latin typeface="Cambria Math" panose="02040503050406030204" pitchFamily="18" charset="0"/>
                                  <a:ea typeface="Cambria Math" panose="02040503050406030204" pitchFamily="18" charset="0"/>
                                </a:rPr>
                                <m:t>=</m:t>
                              </m:r>
                            </m:e>
                          </m:acc>
                          <m:func>
                            <m:funcPr>
                              <m:ctrlPr>
                                <a:rPr lang="cs-CZ" sz="1100" i="1">
                                  <a:latin typeface="Cambria Math" panose="02040503050406030204" pitchFamily="18" charset="0"/>
                                  <a:ea typeface="Cambria Math" panose="02040503050406030204" pitchFamily="18" charset="0"/>
                                </a:rPr>
                              </m:ctrlPr>
                            </m:funcPr>
                            <m:fName>
                              <m:r>
                                <m:rPr>
                                  <m:sty m:val="p"/>
                                </m:rPr>
                                <a:rPr lang="cs-CZ" sz="1100" b="0" i="1" smtClean="0">
                                  <a:latin typeface="Cambria Math" panose="02040503050406030204" pitchFamily="18" charset="0"/>
                                  <a:ea typeface="Cambria Math" panose="02040503050406030204" pitchFamily="18" charset="0"/>
                                </a:rPr>
                                <m:t>ln</m:t>
                              </m:r>
                              <m:r>
                                <m:rPr>
                                  <m:nor/>
                                </m:rPr>
                                <a:rPr lang="cs-CZ" sz="1100" b="0" i="1" smtClean="0">
                                  <a:latin typeface="Cambria Math" panose="02040503050406030204" pitchFamily="18" charset="0"/>
                                  <a:ea typeface="Cambria Math" panose="02040503050406030204" pitchFamily="18" charset="0"/>
                                </a:rPr>
                                <m:t> </m:t>
                              </m:r>
                            </m:fName>
                            <m:e>
                              <m:d>
                                <m:dPr>
                                  <m:ctrlPr>
                                    <a:rPr lang="cs-CZ" sz="1100" i="1">
                                      <a:latin typeface="Cambria Math" panose="02040503050406030204" pitchFamily="18" charset="0"/>
                                      <a:ea typeface="Cambria Math" panose="02040503050406030204" pitchFamily="18" charset="0"/>
                                    </a:rPr>
                                  </m:ctrlPr>
                                </m:dPr>
                                <m:e>
                                  <m:r>
                                    <a:rPr lang="cs-CZ" sz="1100" i="1">
                                      <a:latin typeface="Cambria Math" panose="02040503050406030204" pitchFamily="18" charset="0"/>
                                      <a:ea typeface="Cambria Math" panose="02040503050406030204" pitchFamily="18" charset="0"/>
                                    </a:rPr>
                                    <m:t>1+</m:t>
                                  </m:r>
                                  <m:f>
                                    <m:fPr>
                                      <m:type m:val="lin"/>
                                      <m:ctrlPr>
                                        <a:rPr lang="cs-CZ" sz="1100" i="1">
                                          <a:latin typeface="Cambria Math" panose="02040503050406030204" pitchFamily="18" charset="0"/>
                                          <a:ea typeface="Cambria Math" panose="02040503050406030204" pitchFamily="18" charset="0"/>
                                        </a:rPr>
                                      </m:ctrlPr>
                                    </m:fPr>
                                    <m:num>
                                      <m:r>
                                        <a:rPr lang="cs-CZ" sz="1100" i="1">
                                          <a:latin typeface="Cambria Math" panose="02040503050406030204" pitchFamily="18" charset="0"/>
                                          <a:ea typeface="Cambria Math" panose="02040503050406030204" pitchFamily="18" charset="0"/>
                                        </a:rPr>
                                        <m:t>∆</m:t>
                                      </m:r>
                                      <m:r>
                                        <a:rPr lang="cs-CZ" sz="1100" i="1">
                                          <a:latin typeface="Cambria Math" panose="02040503050406030204" pitchFamily="18" charset="0"/>
                                          <a:ea typeface="Cambria Math" panose="02040503050406030204" pitchFamily="18" charset="0"/>
                                        </a:rPr>
                                        <m:t>𝑆</m:t>
                                      </m:r>
                                    </m:num>
                                    <m:den>
                                      <m:sSub>
                                        <m:sSubPr>
                                          <m:ctrlPr>
                                            <a:rPr lang="cs-CZ" sz="1100" i="1">
                                              <a:latin typeface="Cambria Math" panose="02040503050406030204" pitchFamily="18" charset="0"/>
                                              <a:ea typeface="Cambria Math" panose="02040503050406030204" pitchFamily="18" charset="0"/>
                                            </a:rPr>
                                          </m:ctrlPr>
                                        </m:sSubPr>
                                        <m:e>
                                          <m:r>
                                            <a:rPr lang="cs-CZ" sz="1100" i="1">
                                              <a:latin typeface="Cambria Math" panose="02040503050406030204" pitchFamily="18" charset="0"/>
                                              <a:ea typeface="Cambria Math" panose="02040503050406030204" pitchFamily="18" charset="0"/>
                                            </a:rPr>
                                            <m:t>𝑆</m:t>
                                          </m:r>
                                        </m:e>
                                        <m:sub>
                                          <m:r>
                                            <a:rPr lang="cs-CZ" sz="1100" i="1">
                                              <a:latin typeface="Cambria Math" panose="02040503050406030204" pitchFamily="18" charset="0"/>
                                              <a:ea typeface="Cambria Math" panose="02040503050406030204" pitchFamily="18" charset="0"/>
                                            </a:rPr>
                                            <m:t>0</m:t>
                                          </m:r>
                                        </m:sub>
                                      </m:sSub>
                                    </m:den>
                                  </m:f>
                                </m:e>
                              </m:d>
                              <m:r>
                                <a:rPr lang="cs-CZ" sz="1100" i="1">
                                  <a:latin typeface="Cambria Math" panose="02040503050406030204" pitchFamily="18" charset="0"/>
                                  <a:ea typeface="Cambria Math" panose="02040503050406030204" pitchFamily="18" charset="0"/>
                                </a:rPr>
                                <m:t>=</m:t>
                              </m:r>
                              <m:func>
                                <m:funcPr>
                                  <m:ctrlPr>
                                    <a:rPr lang="cs-CZ" sz="1100" b="0" i="1" smtClean="0">
                                      <a:latin typeface="Cambria Math" panose="02040503050406030204" pitchFamily="18" charset="0"/>
                                      <a:ea typeface="Cambria Math" panose="02040503050406030204" pitchFamily="18" charset="0"/>
                                    </a:rPr>
                                  </m:ctrlPr>
                                </m:funcPr>
                                <m:fName>
                                  <m:r>
                                    <m:rPr>
                                      <m:sty m:val="p"/>
                                    </m:rPr>
                                    <a:rPr lang="cs-CZ" sz="1100" b="0" i="0" smtClean="0">
                                      <a:latin typeface="Cambria Math" panose="02040503050406030204" pitchFamily="18" charset="0"/>
                                      <a:ea typeface="Cambria Math" panose="02040503050406030204" pitchFamily="18" charset="0"/>
                                    </a:rPr>
                                    <m:t>ln</m:t>
                                  </m:r>
                                </m:fName>
                                <m:e>
                                  <m:f>
                                    <m:fPr>
                                      <m:type m:val="lin"/>
                                      <m:ctrlPr>
                                        <a:rPr lang="cs-CZ" sz="1100" i="1">
                                          <a:latin typeface="Cambria Math" panose="02040503050406030204" pitchFamily="18" charset="0"/>
                                          <a:ea typeface="Cambria Math" panose="02040503050406030204" pitchFamily="18" charset="0"/>
                                        </a:rPr>
                                      </m:ctrlPr>
                                    </m:fPr>
                                    <m:num>
                                      <m:sSub>
                                        <m:sSubPr>
                                          <m:ctrlPr>
                                            <a:rPr lang="cs-CZ" sz="1100" i="1">
                                              <a:latin typeface="Cambria Math" panose="02040503050406030204" pitchFamily="18" charset="0"/>
                                              <a:ea typeface="Cambria Math" panose="02040503050406030204" pitchFamily="18" charset="0"/>
                                            </a:rPr>
                                          </m:ctrlPr>
                                        </m:sSubPr>
                                        <m:e>
                                          <m:r>
                                            <a:rPr lang="cs-CZ" sz="1100" i="1">
                                              <a:latin typeface="Cambria Math" panose="02040503050406030204" pitchFamily="18" charset="0"/>
                                              <a:ea typeface="Cambria Math" panose="02040503050406030204" pitchFamily="18" charset="0"/>
                                            </a:rPr>
                                            <m:t>𝑆</m:t>
                                          </m:r>
                                        </m:e>
                                        <m:sub>
                                          <m:r>
                                            <a:rPr lang="cs-CZ" sz="1100" i="1">
                                              <a:latin typeface="Cambria Math" panose="02040503050406030204" pitchFamily="18" charset="0"/>
                                              <a:ea typeface="Cambria Math" panose="02040503050406030204" pitchFamily="18" charset="0"/>
                                            </a:rPr>
                                            <m:t>1</m:t>
                                          </m:r>
                                        </m:sub>
                                      </m:sSub>
                                    </m:num>
                                    <m:den>
                                      <m:sSub>
                                        <m:sSubPr>
                                          <m:ctrlPr>
                                            <a:rPr lang="cs-CZ" sz="1100" i="1">
                                              <a:latin typeface="Cambria Math" panose="02040503050406030204" pitchFamily="18" charset="0"/>
                                              <a:ea typeface="Cambria Math" panose="02040503050406030204" pitchFamily="18" charset="0"/>
                                            </a:rPr>
                                          </m:ctrlPr>
                                        </m:sSubPr>
                                        <m:e>
                                          <m:r>
                                            <a:rPr lang="cs-CZ" sz="1100" i="1">
                                              <a:latin typeface="Cambria Math" panose="02040503050406030204" pitchFamily="18" charset="0"/>
                                              <a:ea typeface="Cambria Math" panose="02040503050406030204" pitchFamily="18" charset="0"/>
                                            </a:rPr>
                                            <m:t>𝑆</m:t>
                                          </m:r>
                                        </m:e>
                                        <m:sub>
                                          <m:r>
                                            <a:rPr lang="cs-CZ" sz="1100" i="1">
                                              <a:latin typeface="Cambria Math" panose="02040503050406030204" pitchFamily="18" charset="0"/>
                                              <a:ea typeface="Cambria Math" panose="02040503050406030204" pitchFamily="18" charset="0"/>
                                            </a:rPr>
                                            <m:t>0</m:t>
                                          </m:r>
                                        </m:sub>
                                      </m:sSub>
                                    </m:den>
                                  </m:f>
                                  <m:r>
                                    <a:rPr lang="cs-CZ" sz="1100" b="0" i="1" smtClean="0">
                                      <a:latin typeface="Cambria Math" panose="02040503050406030204" pitchFamily="18" charset="0"/>
                                      <a:ea typeface="Cambria Math" panose="02040503050406030204" pitchFamily="18" charset="0"/>
                                    </a:rPr>
                                    <m:t>=</m:t>
                                  </m:r>
                                </m:e>
                              </m:func>
                            </m:e>
                          </m:func>
                          <m:func>
                            <m:funcPr>
                              <m:ctrlPr>
                                <a:rPr lang="cs-CZ" sz="1100" i="1">
                                  <a:latin typeface="Cambria Math" panose="02040503050406030204" pitchFamily="18" charset="0"/>
                                  <a:ea typeface="Cambria Math" panose="02040503050406030204" pitchFamily="18" charset="0"/>
                                </a:rPr>
                              </m:ctrlPr>
                            </m:funcPr>
                            <m:fName>
                              <m:r>
                                <m:rPr>
                                  <m:sty m:val="p"/>
                                </m:rPr>
                                <a:rPr lang="cs-CZ" sz="1100" i="1">
                                  <a:latin typeface="Cambria Math" panose="02040503050406030204" pitchFamily="18" charset="0"/>
                                  <a:ea typeface="Cambria Math" panose="02040503050406030204" pitchFamily="18" charset="0"/>
                                </a:rPr>
                                <m:t>ln</m:t>
                              </m:r>
                            </m:fName>
                            <m:e>
                              <m:r>
                                <a:rPr lang="cs-CZ" sz="1100" i="1">
                                  <a:latin typeface="Cambria Math" panose="02040503050406030204" pitchFamily="18" charset="0"/>
                                  <a:ea typeface="Cambria Math" panose="02040503050406030204" pitchFamily="18" charset="0"/>
                                </a:rPr>
                                <m:t>𝑢</m:t>
                              </m:r>
                            </m:e>
                          </m:func>
                          <m:r>
                            <m:rPr>
                              <m:nor/>
                            </m:rPr>
                            <a:rPr lang="cs-CZ" sz="1100" b="0" i="0" smtClean="0">
                              <a:latin typeface="Cambria Math" panose="02040503050406030204" pitchFamily="18" charset="0"/>
                              <a:ea typeface="Cambria Math" panose="02040503050406030204" pitchFamily="18" charset="0"/>
                            </a:rPr>
                            <m:t>or</m:t>
                          </m:r>
                          <m:r>
                            <a:rPr lang="cs-CZ" sz="1100" b="0" i="1" smtClean="0">
                              <a:latin typeface="Cambria Math" panose="02040503050406030204" pitchFamily="18" charset="0"/>
                              <a:ea typeface="Cambria Math" panose="02040503050406030204" pitchFamily="18" charset="0"/>
                            </a:rPr>
                            <m:t> </m:t>
                          </m:r>
                          <m:r>
                            <m:rPr>
                              <m:nor/>
                            </m:rPr>
                            <a:rPr lang="cs-CZ" sz="1100" b="0" i="0" smtClean="0">
                              <a:latin typeface="Cambria Math" panose="02040503050406030204" pitchFamily="18" charset="0"/>
                              <a:ea typeface="Cambria Math" panose="02040503050406030204" pitchFamily="18" charset="0"/>
                            </a:rPr>
                            <m:t>ln</m:t>
                          </m:r>
                          <m:r>
                            <m:rPr>
                              <m:nor/>
                            </m:rPr>
                            <a:rPr lang="cs-CZ" sz="1100" b="0" i="1" smtClean="0">
                              <a:latin typeface="Cambria Math" panose="02040503050406030204" pitchFamily="18" charset="0"/>
                              <a:ea typeface="Cambria Math" panose="02040503050406030204" pitchFamily="18" charset="0"/>
                            </a:rPr>
                            <m:t> </m:t>
                          </m:r>
                          <m:r>
                            <m:rPr>
                              <m:nor/>
                            </m:rPr>
                            <a:rPr lang="cs-CZ" sz="1100" b="0" i="1" smtClean="0">
                              <a:latin typeface="Cambria Math" panose="02040503050406030204" pitchFamily="18" charset="0"/>
                              <a:ea typeface="Cambria Math" panose="02040503050406030204" pitchFamily="18" charset="0"/>
                            </a:rPr>
                            <m:t>d</m:t>
                          </m:r>
                          <m:r>
                            <m:rPr>
                              <m:nor/>
                            </m:rPr>
                            <a:rPr lang="cs-CZ" sz="1100" b="0" i="1" smtClean="0">
                              <a:latin typeface="Cambria Math" panose="02040503050406030204" pitchFamily="18" charset="0"/>
                              <a:ea typeface="Cambria Math" panose="02040503050406030204" pitchFamily="18" charset="0"/>
                            </a:rPr>
                            <m:t> </m:t>
                          </m:r>
                        </m:e>
                      </m:d>
                    </m:oMath>
                  </m:oMathPara>
                </a14:m>
                <a:endParaRPr lang="cs-CZ" sz="1100" i="1" dirty="0">
                  <a:latin typeface="Cambria Math" panose="02040503050406030204" pitchFamily="18" charset="0"/>
                  <a:ea typeface="Cambria Math" panose="02040503050406030204" pitchFamily="18" charset="0"/>
                </a:endParaRPr>
              </a:p>
            </p:txBody>
          </p:sp>
        </mc:Choice>
        <mc:Fallback xmlns="">
          <p:sp>
            <p:nvSpPr>
              <p:cNvPr id="9" name="TextovéPole 8">
                <a:extLst>
                  <a:ext uri="{FF2B5EF4-FFF2-40B4-BE49-F238E27FC236}">
                    <a16:creationId xmlns:a16="http://schemas.microsoft.com/office/drawing/2014/main" id="{B5CE3347-6149-B4E4-29B5-2CEF359D66F8}"/>
                  </a:ext>
                </a:extLst>
              </p:cNvPr>
              <p:cNvSpPr txBox="1">
                <a:spLocks noRot="1" noChangeAspect="1" noMove="1" noResize="1" noEditPoints="1" noAdjustHandles="1" noChangeArrowheads="1" noChangeShapeType="1" noTextEdit="1"/>
              </p:cNvSpPr>
              <p:nvPr/>
            </p:nvSpPr>
            <p:spPr>
              <a:xfrm>
                <a:off x="6012160" y="2414921"/>
                <a:ext cx="3096344" cy="169277"/>
              </a:xfrm>
              <a:prstGeom prst="rect">
                <a:avLst/>
              </a:prstGeom>
              <a:blipFill>
                <a:blip r:embed="rId24"/>
                <a:stretch>
                  <a:fillRect l="-1181" t="-160714" b="-242857"/>
                </a:stretch>
              </a:blipFill>
            </p:spPr>
            <p:txBody>
              <a:bodyPr/>
              <a:lstStyle/>
              <a:p>
                <a:r>
                  <a:rPr lang="en-GB">
                    <a:noFill/>
                  </a:rPr>
                  <a:t> </a:t>
                </a:r>
              </a:p>
            </p:txBody>
          </p:sp>
        </mc:Fallback>
      </mc:AlternateContent>
    </p:spTree>
    <p:extLst>
      <p:ext uri="{BB962C8B-B14F-4D97-AF65-F5344CB8AC3E}">
        <p14:creationId xmlns:p14="http://schemas.microsoft.com/office/powerpoint/2010/main" val="1105716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p:cNvSpPr>
            <a:spLocks noGrp="1"/>
          </p:cNvSpPr>
          <p:nvPr>
            <p:ph type="ftr" sz="quarter" idx="11"/>
          </p:nvPr>
        </p:nvSpPr>
        <p:spPr>
          <a:xfrm>
            <a:off x="152988" y="6339663"/>
            <a:ext cx="3312000" cy="360000"/>
          </a:xfrm>
        </p:spPr>
        <p:txBody>
          <a:bodyPr/>
          <a:lstStyle/>
          <a:p>
            <a:r>
              <a:rPr lang="en-GB" dirty="0"/>
              <a:t>Pricing of option contracts</a:t>
            </a:r>
          </a:p>
        </p:txBody>
      </p:sp>
      <p:sp>
        <p:nvSpPr>
          <p:cNvPr id="3" name="Zástupný symbol pro číslo snímku 2"/>
          <p:cNvSpPr>
            <a:spLocks noGrp="1"/>
          </p:cNvSpPr>
          <p:nvPr>
            <p:ph type="sldNum" sz="quarter" idx="12"/>
          </p:nvPr>
        </p:nvSpPr>
        <p:spPr>
          <a:xfrm>
            <a:off x="7164000" y="6336000"/>
            <a:ext cx="1800000" cy="360000"/>
          </a:xfrm>
        </p:spPr>
        <p:txBody>
          <a:bodyPr/>
          <a:lstStyle/>
          <a:p>
            <a:pPr algn="r"/>
            <a:fld id="{DFE5482F-2F05-49C5-9E15-73F945A41231}" type="slidenum">
              <a:rPr lang="cs-CZ" smtClean="0"/>
              <a:pPr algn="r"/>
              <a:t>8</a:t>
            </a:fld>
            <a:endParaRPr lang="cs-CZ" dirty="0"/>
          </a:p>
        </p:txBody>
      </p:sp>
      <p:sp>
        <p:nvSpPr>
          <p:cNvPr id="4" name="Nadpis 3"/>
          <p:cNvSpPr>
            <a:spLocks noGrp="1"/>
          </p:cNvSpPr>
          <p:nvPr>
            <p:ph type="title"/>
          </p:nvPr>
        </p:nvSpPr>
        <p:spPr>
          <a:xfrm>
            <a:off x="144000" y="144000"/>
            <a:ext cx="6804264" cy="648072"/>
          </a:xfrm>
        </p:spPr>
        <p:txBody>
          <a:bodyPr/>
          <a:lstStyle/>
          <a:p>
            <a:r>
              <a:rPr lang="en-GB" dirty="0">
                <a:solidFill>
                  <a:srgbClr val="000000"/>
                </a:solidFill>
              </a:rPr>
              <a:t>Black–Scholes formula </a:t>
            </a:r>
            <a:r>
              <a:rPr lang="en-GB" dirty="0">
                <a:latin typeface="Cambria Math" panose="02040503050406030204" pitchFamily="18" charset="0"/>
                <a:ea typeface="Cambria Math" panose="02040503050406030204" pitchFamily="18" charset="0"/>
              </a:rPr>
              <a:t>– </a:t>
            </a:r>
            <a:r>
              <a:rPr lang="en-GB" dirty="0">
                <a:solidFill>
                  <a:srgbClr val="000000"/>
                </a:solidFill>
              </a:rPr>
              <a:t>expected value</a:t>
            </a:r>
          </a:p>
        </p:txBody>
      </p:sp>
      <p:sp>
        <p:nvSpPr>
          <p:cNvPr id="29" name="TextovéPole 28"/>
          <p:cNvSpPr txBox="1"/>
          <p:nvPr/>
        </p:nvSpPr>
        <p:spPr>
          <a:xfrm>
            <a:off x="863999" y="864000"/>
            <a:ext cx="3636001"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Expected value formula</a:t>
            </a:r>
          </a:p>
        </p:txBody>
      </p:sp>
      <p:sp>
        <p:nvSpPr>
          <p:cNvPr id="83" name="TextovéPole 82">
            <a:extLst>
              <a:ext uri="{FF2B5EF4-FFF2-40B4-BE49-F238E27FC236}">
                <a16:creationId xmlns:a16="http://schemas.microsoft.com/office/drawing/2014/main" id="{EE16E3B3-D303-4859-B2FD-649CC47A3C14}"/>
              </a:ext>
            </a:extLst>
          </p:cNvPr>
          <p:cNvSpPr txBox="1"/>
          <p:nvPr/>
        </p:nvSpPr>
        <p:spPr>
          <a:xfrm>
            <a:off x="1188000" y="1196562"/>
            <a:ext cx="7776000"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On efficient markets, the current price of a financial instrument is equal to the present value of the expected cash flow generated by this instrument</a:t>
            </a:r>
          </a:p>
        </p:txBody>
      </p:sp>
      <mc:AlternateContent xmlns:mc="http://schemas.openxmlformats.org/markup-compatibility/2006" xmlns:a14="http://schemas.microsoft.com/office/drawing/2010/main">
        <mc:Choice Requires="a14">
          <p:sp>
            <p:nvSpPr>
              <p:cNvPr id="155" name="TextovéPole 154">
                <a:extLst>
                  <a:ext uri="{FF2B5EF4-FFF2-40B4-BE49-F238E27FC236}">
                    <a16:creationId xmlns:a16="http://schemas.microsoft.com/office/drawing/2014/main" id="{EE16E3B3-D303-4859-B2FD-649CC47A3C14}"/>
                  </a:ext>
                </a:extLst>
              </p:cNvPr>
              <p:cNvSpPr txBox="1"/>
              <p:nvPr/>
            </p:nvSpPr>
            <p:spPr>
              <a:xfrm>
                <a:off x="858320" y="3024000"/>
                <a:ext cx="4721792" cy="430887"/>
              </a:xfrm>
              <a:prstGeom prst="rect">
                <a:avLst/>
              </a:prstGeom>
              <a:noFill/>
              <a:ln>
                <a:noFill/>
              </a:ln>
            </p:spPr>
            <p:txBody>
              <a:bodyPr wrap="square" rtlCol="0">
                <a:spAutoFit/>
              </a:bodyPr>
              <a:lstStyle/>
              <a:p>
                <a:pPr marL="342900" indent="-342900">
                  <a:buClr>
                    <a:srgbClr val="7030A0"/>
                  </a:buClr>
                  <a:buSzPct val="100000"/>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Interpretation of </a:t>
                </a:r>
                <a14:m>
                  <m:oMath xmlns:m="http://schemas.openxmlformats.org/officeDocument/2006/math">
                    <m:r>
                      <a:rPr lang="en-GB" sz="2200" i="1">
                        <a:latin typeface="Cambria Math" panose="02040503050406030204" pitchFamily="18" charset="0"/>
                        <a:ea typeface="Cambria Math" panose="02040503050406030204" pitchFamily="18" charset="0"/>
                      </a:rPr>
                      <m:t>𝑁</m:t>
                    </m:r>
                    <m:d>
                      <m:dPr>
                        <m:ctrlPr>
                          <a:rPr lang="en-GB" sz="2200" i="1">
                            <a:latin typeface="Cambria Math" panose="02040503050406030204" pitchFamily="18" charset="0"/>
                            <a:ea typeface="Cambria Math" panose="02040503050406030204" pitchFamily="18" charset="0"/>
                          </a:rPr>
                        </m:ctrlPr>
                      </m:dPr>
                      <m:e>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𝑑</m:t>
                            </m:r>
                          </m:e>
                          <m:sub>
                            <m:r>
                              <a:rPr lang="en-GB" sz="2200" i="1">
                                <a:latin typeface="Cambria Math" panose="02040503050406030204" pitchFamily="18" charset="0"/>
                                <a:ea typeface="Cambria Math" panose="02040503050406030204" pitchFamily="18" charset="0"/>
                              </a:rPr>
                              <m:t>1</m:t>
                            </m:r>
                          </m:sub>
                        </m:sSub>
                      </m:e>
                    </m:d>
                  </m:oMath>
                </a14:m>
                <a:r>
                  <a:rPr lang="en-GB" sz="2200" dirty="0">
                    <a:latin typeface="Cambria Math" panose="02040503050406030204" pitchFamily="18" charset="0"/>
                    <a:ea typeface="Cambria Math" panose="02040503050406030204" pitchFamily="18" charset="0"/>
                  </a:rPr>
                  <a:t> and </a:t>
                </a:r>
                <a14:m>
                  <m:oMath xmlns:m="http://schemas.openxmlformats.org/officeDocument/2006/math">
                    <m:r>
                      <a:rPr lang="en-GB" sz="2200" i="1">
                        <a:latin typeface="Cambria Math" panose="02040503050406030204" pitchFamily="18" charset="0"/>
                        <a:ea typeface="Cambria Math" panose="02040503050406030204" pitchFamily="18" charset="0"/>
                      </a:rPr>
                      <m:t>𝑁</m:t>
                    </m:r>
                    <m:d>
                      <m:dPr>
                        <m:ctrlPr>
                          <a:rPr lang="en-GB" sz="2200" i="1">
                            <a:latin typeface="Cambria Math" panose="02040503050406030204" pitchFamily="18" charset="0"/>
                            <a:ea typeface="Cambria Math" panose="02040503050406030204" pitchFamily="18" charset="0"/>
                          </a:rPr>
                        </m:ctrlPr>
                      </m:dPr>
                      <m:e>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𝑑</m:t>
                            </m:r>
                          </m:e>
                          <m:sub>
                            <m:r>
                              <a:rPr lang="en-GB" sz="2200" i="1">
                                <a:latin typeface="Cambria Math" panose="02040503050406030204" pitchFamily="18" charset="0"/>
                                <a:ea typeface="Cambria Math" panose="02040503050406030204" pitchFamily="18" charset="0"/>
                              </a:rPr>
                              <m:t>2</m:t>
                            </m:r>
                          </m:sub>
                        </m:sSub>
                      </m:e>
                    </m:d>
                  </m:oMath>
                </a14:m>
                <a:endParaRPr lang="en-GB" sz="2200" dirty="0">
                  <a:latin typeface="Cambria Math" panose="02040503050406030204" pitchFamily="18" charset="0"/>
                  <a:ea typeface="Cambria Math" panose="02040503050406030204" pitchFamily="18" charset="0"/>
                </a:endParaRPr>
              </a:p>
            </p:txBody>
          </p:sp>
        </mc:Choice>
        <mc:Fallback xmlns="">
          <p:sp>
            <p:nvSpPr>
              <p:cNvPr id="155" name="TextovéPole 154">
                <a:extLst>
                  <a:ext uri="{FF2B5EF4-FFF2-40B4-BE49-F238E27FC236}">
                    <a16:creationId xmlns:a16="http://schemas.microsoft.com/office/drawing/2014/main" id="{EE16E3B3-D303-4859-B2FD-649CC47A3C14}"/>
                  </a:ext>
                </a:extLst>
              </p:cNvPr>
              <p:cNvSpPr txBox="1">
                <a:spLocks noRot="1" noChangeAspect="1" noMove="1" noResize="1" noEditPoints="1" noAdjustHandles="1" noChangeArrowheads="1" noChangeShapeType="1" noTextEdit="1"/>
              </p:cNvSpPr>
              <p:nvPr/>
            </p:nvSpPr>
            <p:spPr>
              <a:xfrm>
                <a:off x="858320" y="3024000"/>
                <a:ext cx="4721792" cy="430887"/>
              </a:xfrm>
              <a:prstGeom prst="rect">
                <a:avLst/>
              </a:prstGeom>
              <a:blipFill>
                <a:blip r:embed="rId13"/>
                <a:stretch>
                  <a:fillRect l="-1421" t="-9859" b="-28169"/>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6" name="TextovéPole 85">
                <a:extLst>
                  <a:ext uri="{FF2B5EF4-FFF2-40B4-BE49-F238E27FC236}">
                    <a16:creationId xmlns:a16="http://schemas.microsoft.com/office/drawing/2014/main" id="{05FC8A4A-3761-4383-881C-9096ADBF4AD7}"/>
                  </a:ext>
                </a:extLst>
              </p:cNvPr>
              <p:cNvSpPr txBox="1"/>
              <p:nvPr/>
            </p:nvSpPr>
            <p:spPr>
              <a:xfrm>
                <a:off x="1512000" y="3732400"/>
                <a:ext cx="6063119"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14:m>
                  <m:oMath xmlns:m="http://schemas.openxmlformats.org/officeDocument/2006/math">
                    <m:r>
                      <a:rPr lang="en-GB" sz="1600" b="0" i="1" smtClean="0">
                        <a:latin typeface="Cambria Math" panose="02040503050406030204" pitchFamily="18" charset="0"/>
                        <a:ea typeface="Cambria Math" panose="02040503050406030204" pitchFamily="18" charset="0"/>
                      </a:rPr>
                      <m:t>𝑁</m:t>
                    </m:r>
                    <m:r>
                      <a:rPr lang="en-GB" sz="1600" b="0" i="1" smtClean="0">
                        <a:latin typeface="Cambria Math" panose="02040503050406030204" pitchFamily="18" charset="0"/>
                        <a:ea typeface="Cambria Math" panose="02040503050406030204" pitchFamily="18" charset="0"/>
                      </a:rPr>
                      <m:t>(</m:t>
                    </m:r>
                    <m:sSub>
                      <m:sSubPr>
                        <m:ctrlPr>
                          <a:rPr lang="en-GB" sz="1600" b="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𝑑</m:t>
                        </m:r>
                      </m:e>
                      <m:sub>
                        <m:r>
                          <a:rPr lang="en-GB" sz="1600" b="0" i="1" smtClean="0">
                            <a:latin typeface="Cambria Math" panose="02040503050406030204" pitchFamily="18" charset="0"/>
                            <a:ea typeface="Cambria Math" panose="02040503050406030204" pitchFamily="18" charset="0"/>
                          </a:rPr>
                          <m:t>2</m:t>
                        </m:r>
                      </m:sub>
                    </m:sSub>
                    <m:r>
                      <a:rPr lang="en-GB" sz="1600" b="0" i="1" smtClean="0">
                        <a:latin typeface="Cambria Math" panose="02040503050406030204" pitchFamily="18" charset="0"/>
                        <a:ea typeface="Cambria Math" panose="02040503050406030204" pitchFamily="18" charset="0"/>
                      </a:rPr>
                      <m:t>)</m:t>
                    </m:r>
                  </m:oMath>
                </a14:m>
                <a:r>
                  <a:rPr lang="en-GB" sz="1600" dirty="0">
                    <a:latin typeface="Cambria Math" panose="02040503050406030204" pitchFamily="18" charset="0"/>
                    <a:ea typeface="Cambria Math" panose="02040503050406030204" pitchFamily="18" charset="0"/>
                  </a:rPr>
                  <a:t> is equal to the probability that the option will be exercised</a:t>
                </a:r>
              </a:p>
            </p:txBody>
          </p:sp>
        </mc:Choice>
        <mc:Fallback xmlns="">
          <p:sp>
            <p:nvSpPr>
              <p:cNvPr id="86" name="TextovéPole 85">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512000" y="3732400"/>
                <a:ext cx="6063119" cy="338554"/>
              </a:xfrm>
              <a:prstGeom prst="rect">
                <a:avLst/>
              </a:prstGeom>
              <a:blipFill>
                <a:blip r:embed="rId14"/>
                <a:stretch>
                  <a:fillRect l="-402" t="-7143" b="-19643"/>
                </a:stretch>
              </a:blipFill>
              <a:ln>
                <a:noFill/>
              </a:ln>
            </p:spPr>
            <p:txBody>
              <a:bodyPr/>
              <a:lstStyle/>
              <a:p>
                <a:r>
                  <a:rPr lang="cs-CZ">
                    <a:noFill/>
                  </a:rPr>
                  <a:t> </a:t>
                </a:r>
              </a:p>
            </p:txBody>
          </p:sp>
        </mc:Fallback>
      </mc:AlternateContent>
      <p:sp>
        <p:nvSpPr>
          <p:cNvPr id="61" name="TextovéPole 60">
            <a:extLst>
              <a:ext uri="{FF2B5EF4-FFF2-40B4-BE49-F238E27FC236}">
                <a16:creationId xmlns:a16="http://schemas.microsoft.com/office/drawing/2014/main" id="{05FC8A4A-3761-4383-881C-9096ADBF4AD7}"/>
              </a:ext>
            </a:extLst>
          </p:cNvPr>
          <p:cNvSpPr txBox="1"/>
          <p:nvPr/>
        </p:nvSpPr>
        <p:spPr>
          <a:xfrm>
            <a:off x="1512000" y="2448990"/>
            <a:ext cx="7379353"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The option’s payoff  is conditional on whether or not the option will be exercised</a:t>
            </a:r>
          </a:p>
        </p:txBody>
      </p:sp>
      <p:sp>
        <p:nvSpPr>
          <p:cNvPr id="72" name="TextovéPole 71">
            <a:extLst>
              <a:ext uri="{FF2B5EF4-FFF2-40B4-BE49-F238E27FC236}">
                <a16:creationId xmlns:a16="http://schemas.microsoft.com/office/drawing/2014/main" id="{05FC8A4A-3761-4383-881C-9096ADBF4AD7}"/>
              </a:ext>
            </a:extLst>
          </p:cNvPr>
          <p:cNvSpPr txBox="1"/>
          <p:nvPr/>
        </p:nvSpPr>
        <p:spPr>
          <a:xfrm>
            <a:off x="1512000" y="2718802"/>
            <a:ext cx="6948000"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The expected value of a given exercise price 𝑋 is equal to this given amount</a:t>
            </a:r>
          </a:p>
        </p:txBody>
      </p:sp>
      <mc:AlternateContent xmlns:mc="http://schemas.openxmlformats.org/markup-compatibility/2006" xmlns:a14="http://schemas.microsoft.com/office/drawing/2010/main">
        <mc:Choice Requires="a14">
          <p:sp>
            <p:nvSpPr>
              <p:cNvPr id="73" name="TextovéPole 72"/>
              <p:cNvSpPr txBox="1"/>
              <p:nvPr/>
            </p:nvSpPr>
            <p:spPr>
              <a:xfrm>
                <a:off x="1691681" y="1796780"/>
                <a:ext cx="6336800" cy="693267"/>
              </a:xfrm>
              <a:prstGeom prst="rect">
                <a:avLst/>
              </a:prstGeom>
              <a:noFill/>
            </p:spPr>
            <p:txBody>
              <a:bodyPr wrap="square" lIns="0" tIns="0" rIns="0" bIns="0" rtlCol="0">
                <a:spAutoFit/>
              </a:bodyPr>
              <a:lstStyle/>
              <a:p>
                <a:pPr>
                  <a:lnSpc>
                    <a:spcPct val="150000"/>
                  </a:lnSpc>
                </a:pPr>
                <a14:m>
                  <m:oMathPara xmlns:m="http://schemas.openxmlformats.org/officeDocument/2006/math">
                    <m:oMathParaPr>
                      <m:jc m:val="left"/>
                    </m:oMathParaPr>
                    <m:oMath xmlns:m="http://schemas.openxmlformats.org/officeDocument/2006/math">
                      <m:r>
                        <a:rPr lang="cs-CZ" sz="1600" b="0" i="1" smtClean="0">
                          <a:latin typeface="Cambria Math" panose="02040503050406030204" pitchFamily="18" charset="0"/>
                          <a:ea typeface="Cambria Math" panose="02040503050406030204" pitchFamily="18" charset="0"/>
                        </a:rPr>
                        <m:t>𝐶</m:t>
                      </m:r>
                      <m:r>
                        <a:rPr lang="cs-CZ" sz="1600" b="0" i="1" smtClean="0">
                          <a:latin typeface="Cambria Math" panose="02040503050406030204" pitchFamily="18" charset="0"/>
                          <a:ea typeface="Cambria Math" panose="02040503050406030204" pitchFamily="18" charset="0"/>
                        </a:rPr>
                        <m:t>=</m:t>
                      </m:r>
                      <m:sSup>
                        <m:sSupPr>
                          <m:ctrlPr>
                            <a:rPr lang="cs-CZ" sz="1600" b="0" i="1" smtClean="0">
                              <a:latin typeface="Cambria Math" panose="02040503050406030204" pitchFamily="18" charset="0"/>
                              <a:ea typeface="Cambria Math" panose="02040503050406030204" pitchFamily="18" charset="0"/>
                            </a:rPr>
                          </m:ctrlPr>
                        </m:sSupPr>
                        <m:e>
                          <m:r>
                            <a:rPr lang="cs-CZ" sz="1600" b="0" i="1" smtClean="0">
                              <a:latin typeface="Cambria Math" panose="02040503050406030204" pitchFamily="18" charset="0"/>
                              <a:ea typeface="Cambria Math" panose="02040503050406030204" pitchFamily="18" charset="0"/>
                            </a:rPr>
                            <m:t>𝑒</m:t>
                          </m:r>
                        </m:e>
                        <m:sup>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𝑟𝑇</m:t>
                          </m:r>
                        </m:sup>
                      </m:sSup>
                      <m:d>
                        <m:dPr>
                          <m:begChr m:val="["/>
                          <m:endChr m:val="]"/>
                          <m:ctrlPr>
                            <a:rPr lang="cs-CZ" sz="1600" b="0" i="1" smtClean="0">
                              <a:latin typeface="Cambria Math" panose="02040503050406030204" pitchFamily="18" charset="0"/>
                              <a:ea typeface="Cambria Math" panose="02040503050406030204" pitchFamily="18" charset="0"/>
                            </a:rPr>
                          </m:ctrlPr>
                        </m:dPr>
                        <m:e>
                          <m:r>
                            <a:rPr lang="cs-CZ" sz="1600" i="1">
                              <a:latin typeface="Cambria Math" panose="02040503050406030204" pitchFamily="18" charset="0"/>
                              <a:ea typeface="Cambria Math" panose="02040503050406030204" pitchFamily="18" charset="0"/>
                            </a:rPr>
                            <m:t>𝐸</m:t>
                          </m:r>
                          <m:r>
                            <a:rPr lang="cs-CZ" sz="1600" i="1">
                              <a:latin typeface="Cambria Math" panose="02040503050406030204" pitchFamily="18" charset="0"/>
                              <a:ea typeface="Cambria Math" panose="02040503050406030204" pitchFamily="18" charset="0"/>
                            </a:rPr>
                            <m:t>(</m:t>
                          </m:r>
                          <m:sSub>
                            <m:sSubPr>
                              <m:ctrlPr>
                                <a:rPr lang="cs-CZ"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𝑆</m:t>
                              </m:r>
                            </m:e>
                            <m:sub>
                              <m:r>
                                <a:rPr lang="cs-CZ" sz="1600" i="1">
                                  <a:latin typeface="Cambria Math" panose="02040503050406030204" pitchFamily="18" charset="0"/>
                                  <a:ea typeface="Cambria Math" panose="02040503050406030204" pitchFamily="18" charset="0"/>
                                </a:rPr>
                                <m:t>𝑇</m:t>
                              </m:r>
                            </m:sub>
                          </m:sSub>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𝑋</m:t>
                          </m:r>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&gt;</m:t>
                          </m:r>
                          <m:r>
                            <a:rPr lang="cs-CZ" sz="1600" i="1">
                              <a:latin typeface="Cambria Math" panose="02040503050406030204" pitchFamily="18" charset="0"/>
                              <a:ea typeface="Cambria Math" panose="02040503050406030204" pitchFamily="18" charset="0"/>
                            </a:rPr>
                            <m:t>𝑋</m:t>
                          </m:r>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𝑃</m:t>
                          </m:r>
                          <m:sSub>
                            <m:sSubPr>
                              <m:ctrlPr>
                                <a:rPr lang="en-US"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&gt;</m:t>
                          </m:r>
                          <m:r>
                            <a:rPr lang="cs-CZ" sz="1600" i="1">
                              <a:latin typeface="Cambria Math" panose="02040503050406030204" pitchFamily="18" charset="0"/>
                              <a:ea typeface="Cambria Math" panose="02040503050406030204" pitchFamily="18" charset="0"/>
                            </a:rPr>
                            <m:t>𝑋</m:t>
                          </m:r>
                          <m:r>
                            <a:rPr lang="cs-CZ" sz="1600" i="1">
                              <a:latin typeface="Cambria Math" panose="02040503050406030204" pitchFamily="18" charset="0"/>
                              <a:ea typeface="Cambria Math" panose="02040503050406030204" pitchFamily="18" charset="0"/>
                            </a:rPr>
                            <m:t>)+0×</m:t>
                          </m:r>
                          <m:r>
                            <a:rPr lang="cs-CZ" sz="1600" i="1">
                              <a:latin typeface="Cambria Math" panose="02040503050406030204" pitchFamily="18" charset="0"/>
                              <a:ea typeface="Cambria Math" panose="02040503050406030204" pitchFamily="18" charset="0"/>
                            </a:rPr>
                            <m:t>𝑃</m:t>
                          </m:r>
                          <m:sSub>
                            <m:sSubPr>
                              <m:ctrlPr>
                                <a:rPr lang="en-US"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𝑇</m:t>
                              </m:r>
                            </m:sub>
                          </m:sSub>
                          <m:r>
                            <a:rPr lang="en-US" sz="160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𝑋</m:t>
                          </m:r>
                          <m:r>
                            <a:rPr lang="cs-CZ" sz="1600" b="0" i="1" smtClean="0">
                              <a:latin typeface="Cambria Math" panose="02040503050406030204" pitchFamily="18" charset="0"/>
                              <a:ea typeface="Cambria Math" panose="02040503050406030204" pitchFamily="18" charset="0"/>
                            </a:rPr>
                            <m:t>)</m:t>
                          </m:r>
                        </m:e>
                      </m:d>
                    </m:oMath>
                  </m:oMathPara>
                </a14:m>
                <a:endParaRPr lang="cs-CZ" sz="1600" b="0" i="1" dirty="0">
                  <a:latin typeface="Cambria Math" panose="02040503050406030204" pitchFamily="18" charset="0"/>
                  <a:ea typeface="Cambria Math" panose="02040503050406030204" pitchFamily="18" charset="0"/>
                </a:endParaRPr>
              </a:p>
              <a:p>
                <a:pPr marL="92075" indent="-92075">
                  <a:lnSpc>
                    <a:spcPct val="150000"/>
                  </a:lnSpc>
                </a:pPr>
                <a:r>
                  <a:rPr lang="cs-CZ" sz="1600" dirty="0">
                    <a:ea typeface="Cambria Math" panose="02040503050406030204" pitchFamily="18" charset="0"/>
                  </a:rPr>
                  <a:t>   </a:t>
                </a:r>
                <a14:m>
                  <m:oMath xmlns:m="http://schemas.openxmlformats.org/officeDocument/2006/math">
                    <m:r>
                      <a:rPr lang="cs-CZ" sz="1600" b="0" i="0" smtClean="0">
                        <a:latin typeface="Cambria Math" panose="02040503050406030204" pitchFamily="18" charset="0"/>
                        <a:ea typeface="Cambria Math" panose="02040503050406030204" pitchFamily="18" charset="0"/>
                      </a:rPr>
                      <m:t>=</m:t>
                    </m:r>
                    <m:sSup>
                      <m:sSupPr>
                        <m:ctrlPr>
                          <a:rPr lang="cs-CZ" sz="1600" i="1">
                            <a:latin typeface="Cambria Math" panose="02040503050406030204" pitchFamily="18" charset="0"/>
                            <a:ea typeface="Cambria Math" panose="02040503050406030204" pitchFamily="18" charset="0"/>
                          </a:rPr>
                        </m:ctrlPr>
                      </m:sSupPr>
                      <m:e>
                        <m:r>
                          <a:rPr lang="cs-CZ" sz="1600" i="1">
                            <a:latin typeface="Cambria Math" panose="02040503050406030204" pitchFamily="18" charset="0"/>
                            <a:ea typeface="Cambria Math" panose="02040503050406030204" pitchFamily="18" charset="0"/>
                          </a:rPr>
                          <m:t>𝑒</m:t>
                        </m:r>
                      </m:e>
                      <m:sup>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𝑟𝑇</m:t>
                        </m:r>
                      </m:sup>
                    </m:sSup>
                    <m:r>
                      <a:rPr lang="cs-CZ" sz="160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𝐸</m:t>
                    </m:r>
                    <m:r>
                      <a:rPr lang="cs-CZ" sz="1600" i="1">
                        <a:latin typeface="Cambria Math" panose="02040503050406030204" pitchFamily="18" charset="0"/>
                        <a:ea typeface="Cambria Math" panose="02040503050406030204" pitchFamily="18" charset="0"/>
                      </a:rPr>
                      <m:t>(</m:t>
                    </m:r>
                    <m:sSub>
                      <m:sSubPr>
                        <m:ctrlPr>
                          <a:rPr lang="cs-CZ"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𝑆</m:t>
                        </m:r>
                      </m:e>
                      <m:sub>
                        <m:r>
                          <a:rPr lang="cs-CZ"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&gt;</m:t>
                    </m:r>
                    <m:r>
                      <a:rPr lang="cs-CZ" sz="1600" i="1">
                        <a:latin typeface="Cambria Math" panose="02040503050406030204" pitchFamily="18" charset="0"/>
                        <a:ea typeface="Cambria Math" panose="02040503050406030204" pitchFamily="18" charset="0"/>
                      </a:rPr>
                      <m:t>𝑋</m:t>
                    </m:r>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𝑃</m:t>
                    </m:r>
                    <m:sSub>
                      <m:sSubPr>
                        <m:ctrlPr>
                          <a:rPr lang="en-US"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&gt;</m:t>
                    </m:r>
                    <m:r>
                      <a:rPr lang="cs-CZ" sz="1600" i="1">
                        <a:latin typeface="Cambria Math" panose="02040503050406030204" pitchFamily="18" charset="0"/>
                        <a:ea typeface="Cambria Math" panose="02040503050406030204" pitchFamily="18" charset="0"/>
                      </a:rPr>
                      <m:t>𝑋</m:t>
                    </m:r>
                    <m:r>
                      <a:rPr lang="cs-CZ" sz="1600" i="1">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𝑋</m:t>
                    </m:r>
                    <m:r>
                      <a:rPr lang="cs-CZ" sz="1600" b="0" i="1" smtClean="0">
                        <a:latin typeface="Cambria Math" panose="02040503050406030204" pitchFamily="18" charset="0"/>
                        <a:ea typeface="Cambria Math" panose="02040503050406030204" pitchFamily="18" charset="0"/>
                      </a:rPr>
                      <m:t>×</m:t>
                    </m:r>
                    <m:sSup>
                      <m:sSupPr>
                        <m:ctrlPr>
                          <a:rPr lang="cs-CZ" sz="1600" i="1">
                            <a:latin typeface="Cambria Math" panose="02040503050406030204" pitchFamily="18" charset="0"/>
                            <a:ea typeface="Cambria Math" panose="02040503050406030204" pitchFamily="18" charset="0"/>
                          </a:rPr>
                        </m:ctrlPr>
                      </m:sSupPr>
                      <m:e>
                        <m:r>
                          <a:rPr lang="cs-CZ" sz="1600" i="1">
                            <a:latin typeface="Cambria Math" panose="02040503050406030204" pitchFamily="18" charset="0"/>
                            <a:ea typeface="Cambria Math" panose="02040503050406030204" pitchFamily="18" charset="0"/>
                          </a:rPr>
                          <m:t>𝑒</m:t>
                        </m:r>
                      </m:e>
                      <m:sup>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𝑟𝑇</m:t>
                        </m:r>
                      </m:sup>
                    </m:sSup>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𝑃</m:t>
                    </m:r>
                    <m:sSub>
                      <m:sSubPr>
                        <m:ctrlPr>
                          <a:rPr lang="en-US"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&gt;</m:t>
                    </m:r>
                    <m:r>
                      <a:rPr lang="cs-CZ" sz="1600" i="1">
                        <a:latin typeface="Cambria Math" panose="02040503050406030204" pitchFamily="18" charset="0"/>
                        <a:ea typeface="Cambria Math" panose="02040503050406030204" pitchFamily="18" charset="0"/>
                      </a:rPr>
                      <m:t>𝑋</m:t>
                    </m:r>
                    <m:r>
                      <a:rPr lang="cs-CZ" sz="1600" i="1">
                        <a:latin typeface="Cambria Math" panose="02040503050406030204" pitchFamily="18" charset="0"/>
                        <a:ea typeface="Cambria Math" panose="02040503050406030204" pitchFamily="18" charset="0"/>
                      </a:rPr>
                      <m:t>)</m:t>
                    </m:r>
                  </m:oMath>
                </a14:m>
                <a:endParaRPr lang="cs-CZ" sz="1600" i="1" dirty="0">
                  <a:latin typeface="Cambria Math"/>
                  <a:ea typeface="Cambria Math" panose="02040503050406030204" pitchFamily="18" charset="0"/>
                </a:endParaRPr>
              </a:p>
            </p:txBody>
          </p:sp>
        </mc:Choice>
        <mc:Fallback xmlns="">
          <p:sp>
            <p:nvSpPr>
              <p:cNvPr id="73" name="TextovéPole 72"/>
              <p:cNvSpPr txBox="1">
                <a:spLocks noRot="1" noChangeAspect="1" noMove="1" noResize="1" noEditPoints="1" noAdjustHandles="1" noChangeArrowheads="1" noChangeShapeType="1" noTextEdit="1"/>
              </p:cNvSpPr>
              <p:nvPr/>
            </p:nvSpPr>
            <p:spPr>
              <a:xfrm>
                <a:off x="1691681" y="1796780"/>
                <a:ext cx="6336800" cy="693267"/>
              </a:xfrm>
              <a:prstGeom prst="rect">
                <a:avLst/>
              </a:prstGeom>
              <a:blipFill>
                <a:blip r:embed="rId15"/>
                <a:stretch>
                  <a:fillRect b="-123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9" name="TextovéPole 78"/>
              <p:cNvSpPr txBox="1"/>
              <p:nvPr/>
            </p:nvSpPr>
            <p:spPr>
              <a:xfrm>
                <a:off x="1260000" y="3382896"/>
                <a:ext cx="6371479" cy="323550"/>
              </a:xfrm>
              <a:prstGeom prst="rect">
                <a:avLst/>
              </a:prstGeom>
              <a:noFill/>
            </p:spPr>
            <p:txBody>
              <a:bodyPr wrap="square" lIns="0" tIns="0" rIns="0" bIns="0" rtlCol="0">
                <a:spAutoFit/>
              </a:bodyPr>
              <a:lstStyle/>
              <a:p>
                <a:pPr marL="324000" indent="-324000">
                  <a:lnSpc>
                    <a:spcPct val="150000"/>
                  </a:lnSpc>
                  <a:buClr>
                    <a:srgbClr val="7030A0"/>
                  </a:buClr>
                  <a:buFont typeface="Wingdings" panose="05000000000000000000" pitchFamily="2" charset="2"/>
                  <a:buChar char="q"/>
                </a:pPr>
                <a14:m>
                  <m:oMath xmlns:m="http://schemas.openxmlformats.org/officeDocument/2006/math">
                    <m:r>
                      <a:rPr lang="cs-CZ" sz="1600" b="0" i="1" smtClean="0">
                        <a:latin typeface="Cambria Math" panose="02040503050406030204" pitchFamily="18" charset="0"/>
                        <a:ea typeface="Cambria Math" panose="02040503050406030204" pitchFamily="18" charset="0"/>
                      </a:rPr>
                      <m:t>𝑁</m:t>
                    </m:r>
                    <m:d>
                      <m:dPr>
                        <m:ctrlPr>
                          <a:rPr lang="cs-CZ" sz="1600" b="0" i="1" smtClean="0">
                            <a:latin typeface="Cambria Math" panose="02040503050406030204" pitchFamily="18" charset="0"/>
                            <a:ea typeface="Cambria Math" panose="02040503050406030204" pitchFamily="18" charset="0"/>
                          </a:rPr>
                        </m:ctrlPr>
                      </m:dPr>
                      <m:e>
                        <m:sSub>
                          <m:sSubPr>
                            <m:ctrlPr>
                              <a:rPr lang="cs-CZ" sz="1600" b="0" i="1" smtClean="0">
                                <a:latin typeface="Cambria Math" panose="02040503050406030204" pitchFamily="18" charset="0"/>
                                <a:ea typeface="Cambria Math" panose="02040503050406030204" pitchFamily="18" charset="0"/>
                              </a:rPr>
                            </m:ctrlPr>
                          </m:sSubPr>
                          <m:e>
                            <m:r>
                              <a:rPr lang="cs-CZ" sz="1600" b="0" i="1" smtClean="0">
                                <a:latin typeface="Cambria Math" panose="02040503050406030204" pitchFamily="18" charset="0"/>
                                <a:ea typeface="Cambria Math" panose="02040503050406030204" pitchFamily="18" charset="0"/>
                              </a:rPr>
                              <m:t>𝑑</m:t>
                            </m:r>
                          </m:e>
                          <m:sub>
                            <m:r>
                              <a:rPr lang="cs-CZ" sz="1600" b="0" i="1" smtClean="0">
                                <a:latin typeface="Cambria Math" panose="02040503050406030204" pitchFamily="18" charset="0"/>
                                <a:ea typeface="Cambria Math" panose="02040503050406030204" pitchFamily="18" charset="0"/>
                              </a:rPr>
                              <m:t>2</m:t>
                            </m:r>
                          </m:sub>
                        </m:sSub>
                      </m:e>
                    </m:d>
                    <m:r>
                      <a:rPr lang="cs-CZ" sz="1600" b="0" i="1" smtClean="0">
                        <a:latin typeface="Cambria Math" panose="02040503050406030204" pitchFamily="18" charset="0"/>
                        <a:ea typeface="Cambria Math" panose="02040503050406030204" pitchFamily="18" charset="0"/>
                      </a:rPr>
                      <m:t>:   </m:t>
                    </m:r>
                    <m:r>
                      <a:rPr lang="cs-CZ" sz="1600" i="1">
                        <a:latin typeface="Cambria Math" panose="02040503050406030204" pitchFamily="18" charset="0"/>
                        <a:ea typeface="Cambria Math" panose="02040503050406030204" pitchFamily="18" charset="0"/>
                      </a:rPr>
                      <m:t>𝑋</m:t>
                    </m:r>
                    <m:sSup>
                      <m:sSupPr>
                        <m:ctrlPr>
                          <a:rPr lang="cs-CZ" sz="1600" i="1">
                            <a:latin typeface="Cambria Math" panose="02040503050406030204" pitchFamily="18" charset="0"/>
                            <a:ea typeface="Cambria Math" panose="02040503050406030204" pitchFamily="18" charset="0"/>
                          </a:rPr>
                        </m:ctrlPr>
                      </m:sSupPr>
                      <m:e>
                        <m:r>
                          <a:rPr lang="cs-CZ" sz="160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𝑒</m:t>
                        </m:r>
                      </m:e>
                      <m:sup>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𝑟𝑇</m:t>
                        </m:r>
                      </m:sup>
                    </m:sSup>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𝑃</m:t>
                    </m:r>
                    <m:sSub>
                      <m:sSubPr>
                        <m:ctrlPr>
                          <a:rPr lang="en-US"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&gt;</m:t>
                    </m:r>
                    <m:r>
                      <a:rPr lang="cs-CZ" sz="1600" i="1">
                        <a:latin typeface="Cambria Math" panose="02040503050406030204" pitchFamily="18" charset="0"/>
                        <a:ea typeface="Cambria Math" panose="02040503050406030204" pitchFamily="18" charset="0"/>
                      </a:rPr>
                      <m:t>𝑋</m:t>
                    </m:r>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𝑋</m:t>
                    </m:r>
                    <m:sSup>
                      <m:sSupPr>
                        <m:ctrlPr>
                          <a:rPr lang="cs-CZ" sz="1600" i="1">
                            <a:latin typeface="Cambria Math" panose="02040503050406030204" pitchFamily="18" charset="0"/>
                            <a:ea typeface="Cambria Math" panose="02040503050406030204" pitchFamily="18" charset="0"/>
                          </a:rPr>
                        </m:ctrlPr>
                      </m:sSupPr>
                      <m:e>
                        <m:r>
                          <a:rPr lang="cs-CZ" sz="1600" i="1">
                            <a:latin typeface="Cambria Math" panose="02040503050406030204" pitchFamily="18" charset="0"/>
                            <a:ea typeface="Cambria Math" panose="02040503050406030204" pitchFamily="18" charset="0"/>
                          </a:rPr>
                          <m:t>𝑒</m:t>
                        </m:r>
                      </m:e>
                      <m:sup>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𝑟𝑇</m:t>
                        </m:r>
                      </m:sup>
                    </m:sSup>
                    <m:r>
                      <a:rPr lang="cs-CZ" sz="1600" i="1">
                        <a:latin typeface="Cambria Math" panose="02040503050406030204" pitchFamily="18" charset="0"/>
                        <a:ea typeface="Cambria Math" panose="02040503050406030204" pitchFamily="18" charset="0"/>
                      </a:rPr>
                      <m:t>𝑁</m:t>
                    </m:r>
                    <m:d>
                      <m:dPr>
                        <m:ctrlPr>
                          <a:rPr lang="cs-CZ" sz="1600" i="1">
                            <a:latin typeface="Cambria Math" panose="02040503050406030204" pitchFamily="18" charset="0"/>
                            <a:ea typeface="Cambria Math" panose="02040503050406030204" pitchFamily="18" charset="0"/>
                          </a:rPr>
                        </m:ctrlPr>
                      </m:dPr>
                      <m:e>
                        <m:sSub>
                          <m:sSubPr>
                            <m:ctrlPr>
                              <a:rPr lang="cs-CZ"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𝑑</m:t>
                            </m:r>
                          </m:e>
                          <m:sub>
                            <m:r>
                              <a:rPr lang="cs-CZ" sz="1600" i="1">
                                <a:latin typeface="Cambria Math" panose="02040503050406030204" pitchFamily="18" charset="0"/>
                                <a:ea typeface="Cambria Math" panose="02040503050406030204" pitchFamily="18" charset="0"/>
                              </a:rPr>
                              <m:t>2</m:t>
                            </m:r>
                          </m:sub>
                        </m:sSub>
                      </m:e>
                    </m:d>
                    <m:r>
                      <a:rPr lang="cs-CZ" sz="160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𝑁</m:t>
                    </m:r>
                    <m:d>
                      <m:dPr>
                        <m:ctrlPr>
                          <a:rPr lang="cs-CZ" sz="1600" i="1">
                            <a:latin typeface="Cambria Math" panose="02040503050406030204" pitchFamily="18" charset="0"/>
                            <a:ea typeface="Cambria Math" panose="02040503050406030204" pitchFamily="18" charset="0"/>
                          </a:rPr>
                        </m:ctrlPr>
                      </m:dPr>
                      <m:e>
                        <m:sSub>
                          <m:sSubPr>
                            <m:ctrlPr>
                              <a:rPr lang="cs-CZ"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𝑑</m:t>
                            </m:r>
                          </m:e>
                          <m:sub>
                            <m:r>
                              <a:rPr lang="cs-CZ" sz="1600" i="1">
                                <a:latin typeface="Cambria Math" panose="02040503050406030204" pitchFamily="18" charset="0"/>
                                <a:ea typeface="Cambria Math" panose="02040503050406030204" pitchFamily="18" charset="0"/>
                              </a:rPr>
                              <m:t>2</m:t>
                            </m:r>
                          </m:sub>
                        </m:sSub>
                      </m:e>
                    </m:d>
                    <m:r>
                      <a:rPr lang="cs-CZ" sz="1600" b="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𝑃</m:t>
                    </m:r>
                    <m:sSub>
                      <m:sSubPr>
                        <m:ctrlPr>
                          <a:rPr lang="en-US"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&gt;</m:t>
                    </m:r>
                    <m:r>
                      <a:rPr lang="cs-CZ" sz="1600" i="1">
                        <a:latin typeface="Cambria Math" panose="02040503050406030204" pitchFamily="18" charset="0"/>
                        <a:ea typeface="Cambria Math" panose="02040503050406030204" pitchFamily="18" charset="0"/>
                      </a:rPr>
                      <m:t>𝑋</m:t>
                    </m:r>
                    <m:r>
                      <a:rPr lang="cs-CZ" sz="1600" i="1">
                        <a:latin typeface="Cambria Math" panose="02040503050406030204" pitchFamily="18" charset="0"/>
                        <a:ea typeface="Cambria Math" panose="02040503050406030204" pitchFamily="18" charset="0"/>
                      </a:rPr>
                      <m:t>)</m:t>
                    </m:r>
                  </m:oMath>
                </a14:m>
                <a:endParaRPr lang="cs-CZ" sz="1600" i="1" dirty="0">
                  <a:latin typeface="Cambria Math"/>
                  <a:ea typeface="Cambria Math" panose="02040503050406030204" pitchFamily="18" charset="0"/>
                </a:endParaRPr>
              </a:p>
            </p:txBody>
          </p:sp>
        </mc:Choice>
        <mc:Fallback xmlns="">
          <p:sp>
            <p:nvSpPr>
              <p:cNvPr id="79" name="TextovéPole 78"/>
              <p:cNvSpPr txBox="1">
                <a:spLocks noRot="1" noChangeAspect="1" noMove="1" noResize="1" noEditPoints="1" noAdjustHandles="1" noChangeArrowheads="1" noChangeShapeType="1" noTextEdit="1"/>
              </p:cNvSpPr>
              <p:nvPr/>
            </p:nvSpPr>
            <p:spPr>
              <a:xfrm>
                <a:off x="1260000" y="3382896"/>
                <a:ext cx="6371479" cy="323550"/>
              </a:xfrm>
              <a:prstGeom prst="rect">
                <a:avLst/>
              </a:prstGeom>
              <a:blipFill>
                <a:blip r:embed="rId16"/>
                <a:stretch>
                  <a:fillRect l="-1818" b="-339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2" name="TextovéPole 81"/>
              <p:cNvSpPr txBox="1"/>
              <p:nvPr/>
            </p:nvSpPr>
            <p:spPr>
              <a:xfrm>
                <a:off x="1260000" y="4074220"/>
                <a:ext cx="6793735" cy="758926"/>
              </a:xfrm>
              <a:prstGeom prst="rect">
                <a:avLst/>
              </a:prstGeom>
              <a:noFill/>
            </p:spPr>
            <p:txBody>
              <a:bodyPr wrap="square" lIns="0" tIns="0" rIns="0" bIns="0" rtlCol="0">
                <a:spAutoFit/>
              </a:bodyPr>
              <a:lstStyle/>
              <a:p>
                <a:pPr marL="324000" indent="-324000">
                  <a:buClr>
                    <a:srgbClr val="7030A0"/>
                  </a:buClr>
                  <a:buFont typeface="Wingdings" panose="05000000000000000000" pitchFamily="2" charset="2"/>
                  <a:buChar char="q"/>
                </a:pPr>
                <a14:m>
                  <m:oMath xmlns:m="http://schemas.openxmlformats.org/officeDocument/2006/math">
                    <m:sSup>
                      <m:sSupPr>
                        <m:ctrlPr>
                          <a:rPr lang="cs-CZ" sz="1600" i="1" smtClean="0">
                            <a:latin typeface="Cambria Math" panose="02040503050406030204" pitchFamily="18" charset="0"/>
                            <a:ea typeface="Cambria Math" panose="02040503050406030204" pitchFamily="18" charset="0"/>
                          </a:rPr>
                        </m:ctrlPr>
                      </m:sSupPr>
                      <m:e>
                        <m:r>
                          <a:rPr lang="cs-CZ" sz="1600" i="1">
                            <a:latin typeface="Cambria Math" panose="02040503050406030204" pitchFamily="18" charset="0"/>
                            <a:ea typeface="Cambria Math" panose="02040503050406030204" pitchFamily="18" charset="0"/>
                          </a:rPr>
                          <m:t>𝑁</m:t>
                        </m:r>
                        <m:d>
                          <m:dPr>
                            <m:ctrlPr>
                              <a:rPr lang="cs-CZ" sz="1600" i="1">
                                <a:latin typeface="Cambria Math" panose="02040503050406030204" pitchFamily="18" charset="0"/>
                                <a:ea typeface="Cambria Math" panose="02040503050406030204" pitchFamily="18" charset="0"/>
                              </a:rPr>
                            </m:ctrlPr>
                          </m:dPr>
                          <m:e>
                            <m:sSub>
                              <m:sSubPr>
                                <m:ctrlPr>
                                  <a:rPr lang="cs-CZ"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𝑑</m:t>
                                </m:r>
                              </m:e>
                              <m:sub>
                                <m:r>
                                  <a:rPr lang="cs-CZ" sz="1600" b="0" i="1" smtClean="0">
                                    <a:latin typeface="Cambria Math"/>
                                    <a:ea typeface="Cambria Math" panose="02040503050406030204" pitchFamily="18" charset="0"/>
                                  </a:rPr>
                                  <m:t>1</m:t>
                                </m:r>
                              </m:sub>
                            </m:sSub>
                          </m:e>
                        </m:d>
                        <m:r>
                          <a:rPr lang="cs-CZ" sz="1600" b="0" i="1" smtClean="0">
                            <a:latin typeface="Cambria Math" panose="02040503050406030204" pitchFamily="18" charset="0"/>
                            <a:ea typeface="Cambria Math" panose="02040503050406030204" pitchFamily="18" charset="0"/>
                          </a:rPr>
                          <m:t>:   </m:t>
                        </m:r>
                        <m:r>
                          <a:rPr lang="cs-CZ" sz="1600" i="1">
                            <a:latin typeface="Cambria Math" panose="02040503050406030204" pitchFamily="18" charset="0"/>
                            <a:ea typeface="Cambria Math" panose="02040503050406030204" pitchFamily="18" charset="0"/>
                          </a:rPr>
                          <m:t>𝑒</m:t>
                        </m:r>
                      </m:e>
                      <m:sup>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𝑟𝑇</m:t>
                        </m:r>
                      </m:sup>
                    </m:sSup>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𝐸</m:t>
                    </m:r>
                    <m:r>
                      <a:rPr lang="cs-CZ" sz="1600" i="1">
                        <a:latin typeface="Cambria Math" panose="02040503050406030204" pitchFamily="18" charset="0"/>
                        <a:ea typeface="Cambria Math" panose="02040503050406030204" pitchFamily="18" charset="0"/>
                      </a:rPr>
                      <m:t>(</m:t>
                    </m:r>
                    <m:sSub>
                      <m:sSubPr>
                        <m:ctrlPr>
                          <a:rPr lang="cs-CZ"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𝑆</m:t>
                        </m:r>
                      </m:e>
                      <m:sub>
                        <m:r>
                          <a:rPr lang="cs-CZ"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&gt;</m:t>
                    </m:r>
                    <m:r>
                      <a:rPr lang="cs-CZ" sz="1600" i="1">
                        <a:latin typeface="Cambria Math" panose="02040503050406030204" pitchFamily="18" charset="0"/>
                        <a:ea typeface="Cambria Math" panose="02040503050406030204" pitchFamily="18" charset="0"/>
                      </a:rPr>
                      <m:t>𝑋</m:t>
                    </m:r>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𝑃</m:t>
                    </m:r>
                    <m:sSub>
                      <m:sSubPr>
                        <m:ctrlPr>
                          <a:rPr lang="en-US"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&gt;</m:t>
                    </m:r>
                    <m:r>
                      <a:rPr lang="cs-CZ" sz="1600" i="1">
                        <a:latin typeface="Cambria Math" panose="02040503050406030204" pitchFamily="18" charset="0"/>
                        <a:ea typeface="Cambria Math" panose="02040503050406030204" pitchFamily="18" charset="0"/>
                      </a:rPr>
                      <m:t>𝑋</m:t>
                    </m:r>
                    <m:r>
                      <a:rPr lang="cs-CZ" sz="1600" i="1">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𝑆𝑁</m:t>
                    </m:r>
                    <m:d>
                      <m:dPr>
                        <m:ctrlPr>
                          <a:rPr lang="cs-CZ" sz="1600" i="1">
                            <a:latin typeface="Cambria Math" panose="02040503050406030204" pitchFamily="18" charset="0"/>
                            <a:ea typeface="Cambria Math" panose="02040503050406030204" pitchFamily="18" charset="0"/>
                          </a:rPr>
                        </m:ctrlPr>
                      </m:dPr>
                      <m:e>
                        <m:sSub>
                          <m:sSubPr>
                            <m:ctrlPr>
                              <a:rPr lang="cs-CZ"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𝑑</m:t>
                            </m:r>
                          </m:e>
                          <m:sub>
                            <m:r>
                              <a:rPr lang="cs-CZ" sz="1600" b="0" i="1" smtClean="0">
                                <a:latin typeface="Cambria Math" panose="02040503050406030204" pitchFamily="18" charset="0"/>
                                <a:ea typeface="Cambria Math" panose="02040503050406030204" pitchFamily="18" charset="0"/>
                              </a:rPr>
                              <m:t>1</m:t>
                            </m:r>
                          </m:sub>
                        </m:sSub>
                      </m:e>
                    </m:d>
                  </m:oMath>
                </a14:m>
                <a:endParaRPr lang="cs-CZ" sz="1600" i="1" dirty="0">
                  <a:latin typeface="Cambria Math" panose="02040503050406030204" pitchFamily="18" charset="0"/>
                  <a:ea typeface="Cambria Math" panose="02040503050406030204" pitchFamily="18" charset="0"/>
                </a:endParaRPr>
              </a:p>
              <a:p>
                <a:pPr marL="714375" indent="-714375"/>
                <a14:m>
                  <m:oMathPara xmlns:m="http://schemas.openxmlformats.org/officeDocument/2006/math">
                    <m:oMathParaPr>
                      <m:jc m:val="left"/>
                    </m:oMathParaPr>
                    <m:oMath xmlns:m="http://schemas.openxmlformats.org/officeDocument/2006/math">
                      <m:r>
                        <a:rPr lang="cs-CZ" sz="160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𝑁</m:t>
                      </m:r>
                      <m:d>
                        <m:dPr>
                          <m:ctrlPr>
                            <a:rPr lang="cs-CZ" sz="1600" i="1">
                              <a:latin typeface="Cambria Math" panose="02040503050406030204" pitchFamily="18" charset="0"/>
                              <a:ea typeface="Cambria Math" panose="02040503050406030204" pitchFamily="18" charset="0"/>
                            </a:rPr>
                          </m:ctrlPr>
                        </m:dPr>
                        <m:e>
                          <m:sSub>
                            <m:sSubPr>
                              <m:ctrlPr>
                                <a:rPr lang="cs-CZ"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𝑑</m:t>
                              </m:r>
                            </m:e>
                            <m:sub>
                              <m:r>
                                <a:rPr lang="cs-CZ" sz="1600" b="0" i="1" smtClean="0">
                                  <a:latin typeface="Cambria Math" panose="02040503050406030204" pitchFamily="18" charset="0"/>
                                  <a:ea typeface="Cambria Math" panose="02040503050406030204" pitchFamily="18" charset="0"/>
                                </a:rPr>
                                <m:t>1</m:t>
                              </m:r>
                            </m:sub>
                          </m:sSub>
                        </m:e>
                      </m:d>
                      <m:r>
                        <a:rPr lang="cs-CZ" sz="1600" b="0" i="1" smtClean="0">
                          <a:latin typeface="Cambria Math" panose="02040503050406030204" pitchFamily="18" charset="0"/>
                          <a:ea typeface="Cambria Math" panose="02040503050406030204" pitchFamily="18" charset="0"/>
                        </a:rPr>
                        <m:t>=</m:t>
                      </m:r>
                      <m:f>
                        <m:fPr>
                          <m:ctrlPr>
                            <a:rPr lang="cs-CZ" sz="1600" b="0" i="1" smtClean="0">
                              <a:latin typeface="Cambria Math" panose="02040503050406030204" pitchFamily="18" charset="0"/>
                              <a:ea typeface="Cambria Math" panose="02040503050406030204" pitchFamily="18" charset="0"/>
                            </a:rPr>
                          </m:ctrlPr>
                        </m:fPr>
                        <m:num>
                          <m:r>
                            <a:rPr lang="cs-CZ" sz="1600" i="1">
                              <a:latin typeface="Cambria Math" panose="02040503050406030204" pitchFamily="18" charset="0"/>
                              <a:ea typeface="Cambria Math" panose="02040503050406030204" pitchFamily="18" charset="0"/>
                            </a:rPr>
                            <m:t>𝐸</m:t>
                          </m:r>
                          <m:r>
                            <a:rPr lang="cs-CZ" sz="1600" i="1">
                              <a:latin typeface="Cambria Math" panose="02040503050406030204" pitchFamily="18" charset="0"/>
                              <a:ea typeface="Cambria Math" panose="02040503050406030204" pitchFamily="18" charset="0"/>
                            </a:rPr>
                            <m:t>(</m:t>
                          </m:r>
                          <m:sSub>
                            <m:sSubPr>
                              <m:ctrlPr>
                                <a:rPr lang="cs-CZ"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𝑆</m:t>
                              </m:r>
                            </m:e>
                            <m:sub>
                              <m:r>
                                <a:rPr lang="cs-CZ"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&gt;</m:t>
                          </m:r>
                          <m:r>
                            <a:rPr lang="cs-CZ" sz="1600" i="1">
                              <a:latin typeface="Cambria Math" panose="02040503050406030204" pitchFamily="18" charset="0"/>
                              <a:ea typeface="Cambria Math" panose="02040503050406030204" pitchFamily="18" charset="0"/>
                            </a:rPr>
                            <m:t>𝑋</m:t>
                          </m:r>
                          <m:r>
                            <a:rPr lang="cs-CZ" sz="1600" i="1">
                              <a:latin typeface="Cambria Math" panose="02040503050406030204" pitchFamily="18" charset="0"/>
                              <a:ea typeface="Cambria Math" panose="02040503050406030204" pitchFamily="18" charset="0"/>
                            </a:rPr>
                            <m:t>)</m:t>
                          </m:r>
                        </m:num>
                        <m:den>
                          <m:r>
                            <a:rPr lang="cs-CZ" sz="1600" b="0" i="1" smtClean="0">
                              <a:latin typeface="Cambria Math" panose="02040503050406030204" pitchFamily="18" charset="0"/>
                              <a:ea typeface="Cambria Math" panose="02040503050406030204" pitchFamily="18" charset="0"/>
                            </a:rPr>
                            <m:t>𝑆</m:t>
                          </m:r>
                          <m:r>
                            <a:rPr lang="cs-CZ" sz="1600" b="0" i="1" smtClean="0">
                              <a:latin typeface="Cambria Math" panose="02040503050406030204" pitchFamily="18" charset="0"/>
                              <a:ea typeface="Cambria Math" panose="02040503050406030204" pitchFamily="18" charset="0"/>
                            </a:rPr>
                            <m:t>×</m:t>
                          </m:r>
                          <m:sSup>
                            <m:sSupPr>
                              <m:ctrlPr>
                                <a:rPr lang="cs-CZ" sz="1600" i="1">
                                  <a:latin typeface="Cambria Math" panose="02040503050406030204" pitchFamily="18" charset="0"/>
                                  <a:ea typeface="Cambria Math" panose="02040503050406030204" pitchFamily="18" charset="0"/>
                                </a:rPr>
                              </m:ctrlPr>
                            </m:sSupPr>
                            <m:e>
                              <m:r>
                                <a:rPr lang="cs-CZ" sz="1600" i="1">
                                  <a:latin typeface="Cambria Math" panose="02040503050406030204" pitchFamily="18" charset="0"/>
                                  <a:ea typeface="Cambria Math" panose="02040503050406030204" pitchFamily="18" charset="0"/>
                                </a:rPr>
                                <m:t>𝑒</m:t>
                              </m:r>
                            </m:e>
                            <m:sup>
                              <m:r>
                                <a:rPr lang="cs-CZ" sz="1600" i="1">
                                  <a:latin typeface="Cambria Math" panose="02040503050406030204" pitchFamily="18" charset="0"/>
                                  <a:ea typeface="Cambria Math" panose="02040503050406030204" pitchFamily="18" charset="0"/>
                                </a:rPr>
                                <m:t>𝑟𝑇</m:t>
                              </m:r>
                            </m:sup>
                          </m:sSup>
                        </m:den>
                      </m:f>
                      <m:r>
                        <a:rPr lang="cs-CZ" sz="1600" b="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𝑃</m:t>
                      </m:r>
                      <m:sSub>
                        <m:sSubPr>
                          <m:ctrlPr>
                            <a:rPr lang="en-US"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&gt;</m:t>
                      </m:r>
                      <m:r>
                        <a:rPr lang="cs-CZ" sz="1600" i="1">
                          <a:latin typeface="Cambria Math" panose="02040503050406030204" pitchFamily="18" charset="0"/>
                          <a:ea typeface="Cambria Math" panose="02040503050406030204" pitchFamily="18" charset="0"/>
                        </a:rPr>
                        <m:t>𝑋</m:t>
                      </m:r>
                      <m:r>
                        <a:rPr lang="cs-CZ" sz="1600" i="1">
                          <a:latin typeface="Cambria Math" panose="02040503050406030204" pitchFamily="18" charset="0"/>
                          <a:ea typeface="Cambria Math" panose="02040503050406030204" pitchFamily="18" charset="0"/>
                        </a:rPr>
                        <m:t>)=</m:t>
                      </m:r>
                      <m:f>
                        <m:fPr>
                          <m:ctrlPr>
                            <a:rPr lang="cs-CZ" sz="1600" i="1">
                              <a:latin typeface="Cambria Math" panose="02040503050406030204" pitchFamily="18" charset="0"/>
                              <a:ea typeface="Cambria Math" panose="02040503050406030204" pitchFamily="18" charset="0"/>
                            </a:rPr>
                          </m:ctrlPr>
                        </m:fPr>
                        <m:num>
                          <m:r>
                            <a:rPr lang="cs-CZ" sz="1600" i="1">
                              <a:latin typeface="Cambria Math" panose="02040503050406030204" pitchFamily="18" charset="0"/>
                              <a:ea typeface="Cambria Math" panose="02040503050406030204" pitchFamily="18" charset="0"/>
                            </a:rPr>
                            <m:t>𝐸</m:t>
                          </m:r>
                          <m:r>
                            <a:rPr lang="cs-CZ" sz="1600" i="1">
                              <a:latin typeface="Cambria Math" panose="02040503050406030204" pitchFamily="18" charset="0"/>
                              <a:ea typeface="Cambria Math" panose="02040503050406030204" pitchFamily="18" charset="0"/>
                            </a:rPr>
                            <m:t>(</m:t>
                          </m:r>
                          <m:sSub>
                            <m:sSubPr>
                              <m:ctrlPr>
                                <a:rPr lang="cs-CZ"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𝑆</m:t>
                              </m:r>
                            </m:e>
                            <m:sub>
                              <m:r>
                                <a:rPr lang="cs-CZ"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𝑇</m:t>
                              </m:r>
                            </m:sub>
                          </m:sSub>
                          <m:r>
                            <a:rPr lang="en-US" sz="1600" i="1">
                              <a:latin typeface="Cambria Math" panose="02040503050406030204" pitchFamily="18" charset="0"/>
                              <a:ea typeface="Cambria Math" panose="02040503050406030204" pitchFamily="18" charset="0"/>
                            </a:rPr>
                            <m:t>&gt;</m:t>
                          </m:r>
                          <m:r>
                            <a:rPr lang="cs-CZ" sz="1600" i="1">
                              <a:latin typeface="Cambria Math" panose="02040503050406030204" pitchFamily="18" charset="0"/>
                              <a:ea typeface="Cambria Math" panose="02040503050406030204" pitchFamily="18" charset="0"/>
                            </a:rPr>
                            <m:t>𝑋</m:t>
                          </m:r>
                          <m:r>
                            <a:rPr lang="cs-CZ" sz="1600" i="1">
                              <a:latin typeface="Cambria Math" panose="02040503050406030204" pitchFamily="18" charset="0"/>
                              <a:ea typeface="Cambria Math" panose="02040503050406030204" pitchFamily="18" charset="0"/>
                            </a:rPr>
                            <m:t>)</m:t>
                          </m:r>
                        </m:num>
                        <m:den>
                          <m:r>
                            <a:rPr lang="cs-CZ" sz="1600" b="0" i="1" smtClean="0">
                              <a:latin typeface="Cambria Math" panose="02040503050406030204" pitchFamily="18" charset="0"/>
                              <a:ea typeface="Cambria Math" panose="02040503050406030204" pitchFamily="18" charset="0"/>
                            </a:rPr>
                            <m:t>𝐸</m:t>
                          </m:r>
                          <m:r>
                            <a:rPr lang="cs-CZ" sz="1600" b="0" i="1" smtClean="0">
                              <a:latin typeface="Cambria Math" panose="02040503050406030204" pitchFamily="18" charset="0"/>
                              <a:ea typeface="Cambria Math" panose="02040503050406030204" pitchFamily="18" charset="0"/>
                            </a:rPr>
                            <m:t>(</m:t>
                          </m:r>
                          <m:sSub>
                            <m:sSubPr>
                              <m:ctrlPr>
                                <a:rPr lang="cs-CZ" sz="1600" b="0" i="1" smtClean="0">
                                  <a:latin typeface="Cambria Math" panose="02040503050406030204" pitchFamily="18" charset="0"/>
                                  <a:ea typeface="Cambria Math" panose="02040503050406030204" pitchFamily="18" charset="0"/>
                                </a:rPr>
                              </m:ctrlPr>
                            </m:sSubPr>
                            <m:e>
                              <m:r>
                                <a:rPr lang="cs-CZ" sz="1600" b="0" i="1" smtClean="0">
                                  <a:latin typeface="Cambria Math" panose="02040503050406030204" pitchFamily="18" charset="0"/>
                                  <a:ea typeface="Cambria Math" panose="02040503050406030204" pitchFamily="18" charset="0"/>
                                </a:rPr>
                                <m:t>𝑆</m:t>
                              </m:r>
                            </m:e>
                            <m:sub>
                              <m:r>
                                <a:rPr lang="cs-CZ" sz="1600" b="0" i="1" smtClean="0">
                                  <a:latin typeface="Cambria Math" panose="02040503050406030204" pitchFamily="18" charset="0"/>
                                  <a:ea typeface="Cambria Math" panose="02040503050406030204" pitchFamily="18" charset="0"/>
                                </a:rPr>
                                <m:t>𝑇</m:t>
                              </m:r>
                            </m:sub>
                          </m:sSub>
                          <m:r>
                            <a:rPr lang="cs-CZ" sz="1600" b="0" i="1" smtClean="0">
                              <a:latin typeface="Cambria Math" panose="02040503050406030204" pitchFamily="18" charset="0"/>
                              <a:ea typeface="Cambria Math" panose="02040503050406030204" pitchFamily="18" charset="0"/>
                            </a:rPr>
                            <m:t>)</m:t>
                          </m:r>
                          <m:r>
                            <a:rPr lang="cs-CZ" sz="1600" i="1" smtClean="0">
                              <a:latin typeface="Cambria Math" panose="02040503050406030204" pitchFamily="18" charset="0"/>
                              <a:ea typeface="Cambria Math" panose="02040503050406030204" pitchFamily="18" charset="0"/>
                            </a:rPr>
                            <m:t> </m:t>
                          </m:r>
                        </m:den>
                      </m:f>
                      <m:r>
                        <a:rPr lang="cs-CZ" sz="1600" i="1" smtClean="0">
                          <a:latin typeface="Cambria Math"/>
                          <a:ea typeface="Cambria Math"/>
                        </a:rPr>
                        <m:t>×</m:t>
                      </m:r>
                      <m:r>
                        <a:rPr lang="cs-CZ" sz="1600" i="1">
                          <a:latin typeface="Cambria Math" panose="02040503050406030204" pitchFamily="18" charset="0"/>
                          <a:ea typeface="Cambria Math" panose="02040503050406030204" pitchFamily="18" charset="0"/>
                        </a:rPr>
                        <m:t>𝑁</m:t>
                      </m:r>
                      <m:d>
                        <m:dPr>
                          <m:ctrlPr>
                            <a:rPr lang="cs-CZ" sz="1600" i="1">
                              <a:latin typeface="Cambria Math" panose="02040503050406030204" pitchFamily="18" charset="0"/>
                              <a:ea typeface="Cambria Math" panose="02040503050406030204" pitchFamily="18" charset="0"/>
                            </a:rPr>
                          </m:ctrlPr>
                        </m:dPr>
                        <m:e>
                          <m:sSub>
                            <m:sSubPr>
                              <m:ctrlPr>
                                <a:rPr lang="cs-CZ"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𝑑</m:t>
                              </m:r>
                            </m:e>
                            <m:sub>
                              <m:r>
                                <a:rPr lang="cs-CZ" sz="1600" i="1">
                                  <a:latin typeface="Cambria Math" panose="02040503050406030204" pitchFamily="18" charset="0"/>
                                  <a:ea typeface="Cambria Math" panose="02040503050406030204" pitchFamily="18" charset="0"/>
                                </a:rPr>
                                <m:t>2</m:t>
                              </m:r>
                            </m:sub>
                          </m:sSub>
                        </m:e>
                      </m:d>
                    </m:oMath>
                  </m:oMathPara>
                </a14:m>
                <a:endParaRPr lang="cs-CZ" sz="1600" i="1" dirty="0">
                  <a:latin typeface="Cambria Math"/>
                  <a:ea typeface="Cambria Math" panose="02040503050406030204" pitchFamily="18" charset="0"/>
                </a:endParaRPr>
              </a:p>
            </p:txBody>
          </p:sp>
        </mc:Choice>
        <mc:Fallback xmlns="">
          <p:sp>
            <p:nvSpPr>
              <p:cNvPr id="82" name="TextovéPole 81"/>
              <p:cNvSpPr txBox="1">
                <a:spLocks noRot="1" noChangeAspect="1" noMove="1" noResize="1" noEditPoints="1" noAdjustHandles="1" noChangeArrowheads="1" noChangeShapeType="1" noTextEdit="1"/>
              </p:cNvSpPr>
              <p:nvPr/>
            </p:nvSpPr>
            <p:spPr>
              <a:xfrm>
                <a:off x="1260000" y="4074220"/>
                <a:ext cx="6793735" cy="758926"/>
              </a:xfrm>
              <a:prstGeom prst="rect">
                <a:avLst/>
              </a:prstGeom>
              <a:blipFill>
                <a:blip r:embed="rId17"/>
                <a:stretch>
                  <a:fillRect l="-1706" t="-56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9" name="TextovéPole 88">
                <a:extLst>
                  <a:ext uri="{FF2B5EF4-FFF2-40B4-BE49-F238E27FC236}">
                    <a16:creationId xmlns:a16="http://schemas.microsoft.com/office/drawing/2014/main" id="{05FC8A4A-3761-4383-881C-9096ADBF4AD7}"/>
                  </a:ext>
                </a:extLst>
              </p:cNvPr>
              <p:cNvSpPr txBox="1"/>
              <p:nvPr/>
            </p:nvSpPr>
            <p:spPr>
              <a:xfrm>
                <a:off x="1512000" y="5295152"/>
                <a:ext cx="4860200"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14:m>
                  <m:oMath xmlns:m="http://schemas.openxmlformats.org/officeDocument/2006/math">
                    <m:r>
                      <a:rPr lang="en-GB" sz="1600" b="0" i="1" smtClean="0">
                        <a:latin typeface="Cambria Math" panose="02040503050406030204" pitchFamily="18" charset="0"/>
                        <a:ea typeface="Cambria Math" panose="02040503050406030204" pitchFamily="18" charset="0"/>
                      </a:rPr>
                      <m:t>𝑁</m:t>
                    </m:r>
                    <m:r>
                      <a:rPr lang="en-GB" sz="1600" b="0" i="1" smtClean="0">
                        <a:latin typeface="Cambria Math" panose="02040503050406030204" pitchFamily="18" charset="0"/>
                        <a:ea typeface="Cambria Math" panose="02040503050406030204" pitchFamily="18" charset="0"/>
                      </a:rPr>
                      <m:t>(</m:t>
                    </m:r>
                    <m:sSub>
                      <m:sSubPr>
                        <m:ctrlPr>
                          <a:rPr lang="en-GB" sz="1600" b="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𝑑</m:t>
                        </m:r>
                      </m:e>
                      <m:sub>
                        <m:r>
                          <a:rPr lang="en-GB" sz="1600" b="0" i="1" smtClean="0">
                            <a:latin typeface="Cambria Math" panose="02040503050406030204" pitchFamily="18" charset="0"/>
                            <a:ea typeface="Cambria Math" panose="02040503050406030204" pitchFamily="18" charset="0"/>
                          </a:rPr>
                          <m:t>1</m:t>
                        </m:r>
                      </m:sub>
                    </m:sSub>
                    <m:r>
                      <a:rPr lang="en-GB" sz="1600" b="0" i="1" smtClean="0">
                        <a:latin typeface="Cambria Math" panose="02040503050406030204" pitchFamily="18" charset="0"/>
                        <a:ea typeface="Cambria Math" panose="02040503050406030204" pitchFamily="18" charset="0"/>
                      </a:rPr>
                      <m:t>)</m:t>
                    </m:r>
                  </m:oMath>
                </a14:m>
                <a:r>
                  <a:rPr lang="en-GB" sz="1600" dirty="0">
                    <a:latin typeface="Cambria Math" panose="02040503050406030204" pitchFamily="18" charset="0"/>
                    <a:ea typeface="Cambria Math" panose="02040503050406030204" pitchFamily="18" charset="0"/>
                  </a:rPr>
                  <a:t> is equal to “risk-adjusted probability” </a:t>
                </a:r>
                <a14:m>
                  <m:oMath xmlns:m="http://schemas.openxmlformats.org/officeDocument/2006/math">
                    <m:r>
                      <a:rPr lang="en-GB" sz="1600" i="1" smtClean="0">
                        <a:latin typeface="Cambria Math" panose="02040503050406030204" pitchFamily="18" charset="0"/>
                        <a:ea typeface="Cambria Math" panose="02040503050406030204" pitchFamily="18" charset="0"/>
                      </a:rPr>
                      <m:t>𝑁</m:t>
                    </m:r>
                    <m:r>
                      <a:rPr lang="en-GB" sz="1600" i="1" smtClean="0">
                        <a:latin typeface="Cambria Math" panose="02040503050406030204" pitchFamily="18" charset="0"/>
                        <a:ea typeface="Cambria Math" panose="02040503050406030204" pitchFamily="18" charset="0"/>
                      </a:rPr>
                      <m:t>(</m:t>
                    </m:r>
                    <m:sSub>
                      <m:sSubPr>
                        <m:ctrlPr>
                          <a:rPr lang="en-GB" sz="1600" i="1" smtClean="0">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𝑑</m:t>
                        </m:r>
                      </m:e>
                      <m:sub>
                        <m:r>
                          <a:rPr lang="en-GB" sz="1600" b="0" i="1" smtClean="0">
                            <a:latin typeface="Cambria Math" panose="02040503050406030204" pitchFamily="18" charset="0"/>
                            <a:ea typeface="Cambria Math" panose="02040503050406030204" pitchFamily="18" charset="0"/>
                          </a:rPr>
                          <m:t>2</m:t>
                        </m:r>
                      </m:sub>
                    </m:sSub>
                    <m:r>
                      <a:rPr lang="en-GB" sz="1600" i="1" smtClean="0">
                        <a:latin typeface="Cambria Math" panose="02040503050406030204" pitchFamily="18" charset="0"/>
                        <a:ea typeface="Cambria Math" panose="02040503050406030204" pitchFamily="18" charset="0"/>
                      </a:rPr>
                      <m:t>)</m:t>
                    </m:r>
                  </m:oMath>
                </a14:m>
                <a:endParaRPr lang="en-GB" sz="1600" dirty="0">
                  <a:latin typeface="Cambria Math" panose="02040503050406030204" pitchFamily="18" charset="0"/>
                  <a:ea typeface="Cambria Math" panose="02040503050406030204" pitchFamily="18" charset="0"/>
                </a:endParaRPr>
              </a:p>
            </p:txBody>
          </p:sp>
        </mc:Choice>
        <mc:Fallback xmlns="">
          <p:sp>
            <p:nvSpPr>
              <p:cNvPr id="89" name="TextovéPole 88">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512000" y="5295152"/>
                <a:ext cx="4860200" cy="338554"/>
              </a:xfrm>
              <a:prstGeom prst="rect">
                <a:avLst/>
              </a:prstGeom>
              <a:blipFill>
                <a:blip r:embed="rId18"/>
                <a:stretch>
                  <a:fillRect l="-502" t="-7273" b="-21818"/>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1" name="TextovéPole 90">
                <a:extLst>
                  <a:ext uri="{FF2B5EF4-FFF2-40B4-BE49-F238E27FC236}">
                    <a16:creationId xmlns:a16="http://schemas.microsoft.com/office/drawing/2014/main" id="{05FC8A4A-3761-4383-881C-9096ADBF4AD7}"/>
                  </a:ext>
                </a:extLst>
              </p:cNvPr>
              <p:cNvSpPr txBox="1"/>
              <p:nvPr/>
            </p:nvSpPr>
            <p:spPr>
              <a:xfrm>
                <a:off x="1512000" y="5557280"/>
                <a:ext cx="7452000" cy="584775"/>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The conditional probability is always greater than the unconditional probability</a:t>
                </a:r>
              </a:p>
              <a:p>
                <a:pPr marL="1076325">
                  <a:buClr>
                    <a:srgbClr val="7030A0"/>
                  </a:buClr>
                  <a:buSzPct val="100000"/>
                </a:pPr>
                <a:r>
                  <a:rPr lang="en-GB" sz="1600" dirty="0">
                    <a:latin typeface="Cambria Math" panose="02040503050406030204" pitchFamily="18" charset="0"/>
                    <a:ea typeface="Cambria Math" panose="02040503050406030204" pitchFamily="18" charset="0"/>
                  </a:rPr>
                  <a:t>⇨ </a:t>
                </a:r>
                <a14:m>
                  <m:oMath xmlns:m="http://schemas.openxmlformats.org/officeDocument/2006/math">
                    <m:r>
                      <a:rPr lang="en-GB" sz="1600" i="1">
                        <a:latin typeface="Cambria Math" panose="02040503050406030204" pitchFamily="18" charset="0"/>
                        <a:ea typeface="Cambria Math" panose="02040503050406030204" pitchFamily="18" charset="0"/>
                      </a:rPr>
                      <m:t>𝐸</m:t>
                    </m:r>
                    <m:r>
                      <a:rPr lang="en-GB" sz="1600" i="1">
                        <a:latin typeface="Cambria Math" panose="02040503050406030204" pitchFamily="18" charset="0"/>
                        <a:ea typeface="Cambria Math" panose="02040503050406030204" pitchFamily="18" charset="0"/>
                      </a:rPr>
                      <m:t>(</m:t>
                    </m:r>
                    <m:sSub>
                      <m:sSubPr>
                        <m:ctrlPr>
                          <a:rPr lang="en-GB" sz="1600" i="1">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𝑆</m:t>
                        </m:r>
                      </m:e>
                      <m:sub>
                        <m:r>
                          <a:rPr lang="en-GB" sz="1600" i="1">
                            <a:latin typeface="Cambria Math" panose="02040503050406030204" pitchFamily="18" charset="0"/>
                            <a:ea typeface="Cambria Math" panose="02040503050406030204" pitchFamily="18" charset="0"/>
                          </a:rPr>
                          <m:t>𝑇</m:t>
                        </m:r>
                      </m:sub>
                    </m:sSub>
                    <m:r>
                      <a:rPr lang="en-GB" sz="1600" i="1">
                        <a:latin typeface="Cambria Math" panose="02040503050406030204" pitchFamily="18" charset="0"/>
                        <a:ea typeface="Cambria Math" panose="02040503050406030204" pitchFamily="18" charset="0"/>
                      </a:rPr>
                      <m:t>|</m:t>
                    </m:r>
                    <m:sSub>
                      <m:sSubPr>
                        <m:ctrlPr>
                          <a:rPr lang="en-GB" sz="1600" i="1">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𝑆</m:t>
                        </m:r>
                      </m:e>
                      <m:sub>
                        <m:r>
                          <a:rPr lang="en-GB" sz="1600" i="1">
                            <a:latin typeface="Cambria Math" panose="02040503050406030204" pitchFamily="18" charset="0"/>
                            <a:ea typeface="Cambria Math" panose="02040503050406030204" pitchFamily="18" charset="0"/>
                          </a:rPr>
                          <m:t>𝑇</m:t>
                        </m:r>
                      </m:sub>
                    </m:sSub>
                    <m:r>
                      <a:rPr lang="en-GB" sz="1600" i="1">
                        <a:latin typeface="Cambria Math" panose="02040503050406030204" pitchFamily="18" charset="0"/>
                        <a:ea typeface="Cambria Math" panose="02040503050406030204" pitchFamily="18" charset="0"/>
                      </a:rPr>
                      <m:t>&gt;</m:t>
                    </m:r>
                    <m:r>
                      <a:rPr lang="en-GB" sz="1600" i="1">
                        <a:latin typeface="Cambria Math" panose="02040503050406030204" pitchFamily="18" charset="0"/>
                        <a:ea typeface="Cambria Math" panose="02040503050406030204" pitchFamily="18" charset="0"/>
                      </a:rPr>
                      <m:t>𝑋</m:t>
                    </m:r>
                    <m:r>
                      <a:rPr lang="en-GB" sz="1600" i="1">
                        <a:latin typeface="Cambria Math" panose="02040503050406030204" pitchFamily="18" charset="0"/>
                        <a:ea typeface="Cambria Math" panose="02040503050406030204" pitchFamily="18" charset="0"/>
                      </a:rPr>
                      <m:t>) </m:t>
                    </m:r>
                  </m:oMath>
                </a14:m>
                <a:r>
                  <a:rPr lang="en-GB" sz="1600" dirty="0">
                    <a:latin typeface="Cambria Math" panose="02040503050406030204" pitchFamily="18" charset="0"/>
                    <a:ea typeface="Cambria Math" panose="02040503050406030204" pitchFamily="18" charset="0"/>
                  </a:rPr>
                  <a:t>&gt;</a:t>
                </a:r>
                <a:r>
                  <a:rPr lang="en-GB" sz="1600" dirty="0">
                    <a:ea typeface="Cambria Math" panose="02040503050406030204" pitchFamily="18" charset="0"/>
                  </a:rPr>
                  <a:t> </a:t>
                </a:r>
                <a14:m>
                  <m:oMath xmlns:m="http://schemas.openxmlformats.org/officeDocument/2006/math">
                    <m:r>
                      <a:rPr lang="en-GB" sz="1600" i="1">
                        <a:latin typeface="Cambria Math" panose="02040503050406030204" pitchFamily="18" charset="0"/>
                        <a:ea typeface="Cambria Math" panose="02040503050406030204" pitchFamily="18" charset="0"/>
                      </a:rPr>
                      <m:t>𝐸</m:t>
                    </m:r>
                    <m:d>
                      <m:dPr>
                        <m:ctrlPr>
                          <a:rPr lang="en-GB" sz="1600" i="1">
                            <a:latin typeface="Cambria Math" panose="02040503050406030204" pitchFamily="18" charset="0"/>
                            <a:ea typeface="Cambria Math" panose="02040503050406030204" pitchFamily="18" charset="0"/>
                          </a:rPr>
                        </m:ctrlPr>
                      </m:dPr>
                      <m:e>
                        <m:sSub>
                          <m:sSubPr>
                            <m:ctrlPr>
                              <a:rPr lang="en-GB" sz="1600" i="1">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𝑆</m:t>
                            </m:r>
                          </m:e>
                          <m:sub>
                            <m:r>
                              <a:rPr lang="en-GB" sz="1600" i="1">
                                <a:latin typeface="Cambria Math" panose="02040503050406030204" pitchFamily="18" charset="0"/>
                                <a:ea typeface="Cambria Math" panose="02040503050406030204" pitchFamily="18" charset="0"/>
                              </a:rPr>
                              <m:t>𝑇</m:t>
                            </m:r>
                          </m:sub>
                        </m:sSub>
                      </m:e>
                    </m:d>
                  </m:oMath>
                </a14:m>
                <a:r>
                  <a:rPr lang="en-GB" sz="1600" dirty="0">
                    <a:latin typeface="Cambria Math" panose="02040503050406030204" pitchFamily="18" charset="0"/>
                    <a:ea typeface="Cambria Math" panose="02040503050406030204" pitchFamily="18" charset="0"/>
                  </a:rPr>
                  <a:t> ⇨ </a:t>
                </a:r>
                <a14:m>
                  <m:oMath xmlns:m="http://schemas.openxmlformats.org/officeDocument/2006/math">
                    <m:r>
                      <a:rPr lang="en-GB" sz="1600" i="1">
                        <a:latin typeface="Cambria Math" panose="02040503050406030204" pitchFamily="18" charset="0"/>
                        <a:ea typeface="Cambria Math" panose="02040503050406030204" pitchFamily="18" charset="0"/>
                      </a:rPr>
                      <m:t>𝑁</m:t>
                    </m:r>
                    <m:r>
                      <a:rPr lang="en-GB" sz="1600" i="1">
                        <a:latin typeface="Cambria Math" panose="02040503050406030204" pitchFamily="18" charset="0"/>
                        <a:ea typeface="Cambria Math" panose="02040503050406030204" pitchFamily="18" charset="0"/>
                      </a:rPr>
                      <m:t>(</m:t>
                    </m:r>
                    <m:sSub>
                      <m:sSubPr>
                        <m:ctrlPr>
                          <a:rPr lang="en-GB" sz="1600" i="1">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𝑑</m:t>
                        </m:r>
                      </m:e>
                      <m:sub>
                        <m:r>
                          <a:rPr lang="en-GB" sz="1600" b="0" i="1" smtClean="0">
                            <a:latin typeface="Cambria Math" panose="02040503050406030204" pitchFamily="18" charset="0"/>
                            <a:ea typeface="Cambria Math" panose="02040503050406030204" pitchFamily="18" charset="0"/>
                          </a:rPr>
                          <m:t>1</m:t>
                        </m:r>
                      </m:sub>
                    </m:sSub>
                    <m:r>
                      <a:rPr lang="en-GB" sz="1600" b="0" i="1" smtClean="0">
                        <a:latin typeface="Cambria Math" panose="02040503050406030204" pitchFamily="18" charset="0"/>
                        <a:ea typeface="Cambria Math" panose="02040503050406030204" pitchFamily="18" charset="0"/>
                      </a:rPr>
                      <m:t>)&gt;</m:t>
                    </m:r>
                    <m:r>
                      <a:rPr lang="en-GB" sz="1600" b="0" i="1" smtClean="0">
                        <a:latin typeface="Cambria Math" panose="02040503050406030204" pitchFamily="18" charset="0"/>
                        <a:ea typeface="Cambria Math" panose="02040503050406030204" pitchFamily="18" charset="0"/>
                      </a:rPr>
                      <m:t>𝑁</m:t>
                    </m:r>
                    <m:r>
                      <a:rPr lang="en-GB" sz="1600" b="0" i="1" smtClean="0">
                        <a:latin typeface="Cambria Math" panose="02040503050406030204" pitchFamily="18" charset="0"/>
                        <a:ea typeface="Cambria Math" panose="02040503050406030204" pitchFamily="18" charset="0"/>
                      </a:rPr>
                      <m:t>(</m:t>
                    </m:r>
                    <m:sSub>
                      <m:sSubPr>
                        <m:ctrlPr>
                          <a:rPr lang="en-GB" sz="1600" b="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𝑑</m:t>
                        </m:r>
                      </m:e>
                      <m:sub>
                        <m:r>
                          <a:rPr lang="en-GB" sz="1600" b="0" i="1" smtClean="0">
                            <a:latin typeface="Cambria Math" panose="02040503050406030204" pitchFamily="18" charset="0"/>
                            <a:ea typeface="Cambria Math" panose="02040503050406030204" pitchFamily="18" charset="0"/>
                          </a:rPr>
                          <m:t>2</m:t>
                        </m:r>
                      </m:sub>
                    </m:sSub>
                    <m:r>
                      <a:rPr lang="en-GB" sz="1600" i="1">
                        <a:latin typeface="Cambria Math" panose="02040503050406030204" pitchFamily="18" charset="0"/>
                        <a:ea typeface="Cambria Math" panose="02040503050406030204" pitchFamily="18" charset="0"/>
                      </a:rPr>
                      <m:t>)</m:t>
                    </m:r>
                  </m:oMath>
                </a14:m>
                <a:endParaRPr lang="en-GB" sz="1600" dirty="0">
                  <a:latin typeface="Cambria Math" panose="02040503050406030204" pitchFamily="18" charset="0"/>
                  <a:ea typeface="Cambria Math" panose="02040503050406030204" pitchFamily="18" charset="0"/>
                </a:endParaRPr>
              </a:p>
            </p:txBody>
          </p:sp>
        </mc:Choice>
        <mc:Fallback xmlns="">
          <p:sp>
            <p:nvSpPr>
              <p:cNvPr id="91" name="TextovéPole 90">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512000" y="5557280"/>
                <a:ext cx="7452000" cy="584775"/>
              </a:xfrm>
              <a:prstGeom prst="rect">
                <a:avLst/>
              </a:prstGeom>
              <a:blipFill>
                <a:blip r:embed="rId19"/>
                <a:stretch>
                  <a:fillRect l="-327" t="-4167" b="-11458"/>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2" name="TextovéPole 91">
                <a:extLst>
                  <a:ext uri="{FF2B5EF4-FFF2-40B4-BE49-F238E27FC236}">
                    <a16:creationId xmlns:a16="http://schemas.microsoft.com/office/drawing/2014/main" id="{05FC8A4A-3761-4383-881C-9096ADBF4AD7}"/>
                  </a:ext>
                </a:extLst>
              </p:cNvPr>
              <p:cNvSpPr txBox="1"/>
              <p:nvPr/>
            </p:nvSpPr>
            <p:spPr>
              <a:xfrm>
                <a:off x="1512000" y="4791096"/>
                <a:ext cx="7307648" cy="584775"/>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In a risk-neutral environment, the expected return of each security is risk-free </a:t>
                </a:r>
              </a:p>
              <a:p>
                <a:pPr marL="1076325">
                  <a:buClr>
                    <a:srgbClr val="7030A0"/>
                  </a:buClr>
                  <a:buSzPct val="100000"/>
                </a:pPr>
                <a14:m>
                  <m:oMathPara xmlns:m="http://schemas.openxmlformats.org/officeDocument/2006/math">
                    <m:oMathParaPr>
                      <m:jc m:val="left"/>
                    </m:oMathParaPr>
                    <m:oMath xmlns:m="http://schemas.openxmlformats.org/officeDocument/2006/math">
                      <m:r>
                        <a:rPr lang="en-GB" sz="1600" b="0" i="1" smtClean="0">
                          <a:latin typeface="Cambria Math" panose="02040503050406030204" pitchFamily="18" charset="0"/>
                          <a:ea typeface="Cambria Math" panose="02040503050406030204" pitchFamily="18" charset="0"/>
                        </a:rPr>
                        <m:t>𝑆</m:t>
                      </m:r>
                      <m:r>
                        <a:rPr lang="en-GB" sz="1600" b="0" i="1" smtClean="0">
                          <a:latin typeface="Cambria Math" panose="02040503050406030204" pitchFamily="18" charset="0"/>
                          <a:ea typeface="Cambria Math" panose="02040503050406030204" pitchFamily="18" charset="0"/>
                        </a:rPr>
                        <m:t>=</m:t>
                      </m:r>
                      <m:sSup>
                        <m:sSupPr>
                          <m:ctrlPr>
                            <a:rPr lang="en-GB" sz="1600" i="1">
                              <a:latin typeface="Cambria Math" panose="02040503050406030204" pitchFamily="18" charset="0"/>
                              <a:ea typeface="Cambria Math" panose="02040503050406030204" pitchFamily="18" charset="0"/>
                            </a:rPr>
                          </m:ctrlPr>
                        </m:sSupPr>
                        <m:e>
                          <m:r>
                            <a:rPr lang="en-GB" sz="1600" i="1">
                              <a:latin typeface="Cambria Math" panose="02040503050406030204" pitchFamily="18" charset="0"/>
                              <a:ea typeface="Cambria Math" panose="02040503050406030204" pitchFamily="18" charset="0"/>
                            </a:rPr>
                            <m:t>𝐸</m:t>
                          </m:r>
                          <m:d>
                            <m:dPr>
                              <m:ctrlPr>
                                <a:rPr lang="en-GB" sz="1600" i="1">
                                  <a:latin typeface="Cambria Math" panose="02040503050406030204" pitchFamily="18" charset="0"/>
                                  <a:ea typeface="Cambria Math" panose="02040503050406030204" pitchFamily="18" charset="0"/>
                                </a:rPr>
                              </m:ctrlPr>
                            </m:dPr>
                            <m:e>
                              <m:sSub>
                                <m:sSubPr>
                                  <m:ctrlPr>
                                    <a:rPr lang="en-GB" sz="1600" i="1">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𝑆</m:t>
                                  </m:r>
                                </m:e>
                                <m:sub>
                                  <m:r>
                                    <a:rPr lang="en-GB" sz="1600" i="1">
                                      <a:latin typeface="Cambria Math" panose="02040503050406030204" pitchFamily="18" charset="0"/>
                                      <a:ea typeface="Cambria Math" panose="02040503050406030204" pitchFamily="18" charset="0"/>
                                    </a:rPr>
                                    <m:t>𝑇</m:t>
                                  </m:r>
                                </m:sub>
                              </m:sSub>
                            </m:e>
                          </m:d>
                          <m:r>
                            <a:rPr lang="en-GB" sz="1600" i="1">
                              <a:latin typeface="Cambria Math" panose="02040503050406030204" pitchFamily="18" charset="0"/>
                              <a:ea typeface="Cambria Math" panose="02040503050406030204" pitchFamily="18" charset="0"/>
                            </a:rPr>
                            <m:t>𝑒</m:t>
                          </m:r>
                        </m:e>
                        <m:sup>
                          <m:r>
                            <a:rPr lang="en-GB" sz="1600" b="0" i="1" smtClean="0">
                              <a:latin typeface="Cambria Math" panose="02040503050406030204" pitchFamily="18" charset="0"/>
                              <a:ea typeface="Cambria Math" panose="02040503050406030204" pitchFamily="18" charset="0"/>
                            </a:rPr>
                            <m:t>−</m:t>
                          </m:r>
                          <m:r>
                            <a:rPr lang="en-GB" sz="1600" i="1">
                              <a:latin typeface="Cambria Math" panose="02040503050406030204" pitchFamily="18" charset="0"/>
                              <a:ea typeface="Cambria Math" panose="02040503050406030204" pitchFamily="18" charset="0"/>
                            </a:rPr>
                            <m:t>𝑟𝑇</m:t>
                          </m:r>
                        </m:sup>
                      </m:sSup>
                    </m:oMath>
                  </m:oMathPara>
                </a14:m>
                <a:endParaRPr lang="en-GB" sz="1600" dirty="0">
                  <a:latin typeface="Cambria Math" panose="02040503050406030204" pitchFamily="18" charset="0"/>
                  <a:ea typeface="Cambria Math" panose="02040503050406030204" pitchFamily="18" charset="0"/>
                </a:endParaRPr>
              </a:p>
            </p:txBody>
          </p:sp>
        </mc:Choice>
        <mc:Fallback xmlns="">
          <p:sp>
            <p:nvSpPr>
              <p:cNvPr id="92" name="TextovéPole 91">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512000" y="4791096"/>
                <a:ext cx="7307648" cy="584775"/>
              </a:xfrm>
              <a:prstGeom prst="rect">
                <a:avLst/>
              </a:prstGeom>
              <a:blipFill>
                <a:blip r:embed="rId20"/>
                <a:stretch>
                  <a:fillRect l="-334" t="-4167"/>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121144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p:cNvSpPr>
            <a:spLocks noGrp="1"/>
          </p:cNvSpPr>
          <p:nvPr>
            <p:ph type="sldNum" sz="quarter" idx="12"/>
          </p:nvPr>
        </p:nvSpPr>
        <p:spPr>
          <a:xfrm>
            <a:off x="7164000" y="6336000"/>
            <a:ext cx="1800000" cy="360000"/>
          </a:xfrm>
        </p:spPr>
        <p:txBody>
          <a:bodyPr/>
          <a:lstStyle/>
          <a:p>
            <a:pPr algn="r"/>
            <a:fld id="{DFE5482F-2F05-49C5-9E15-73F945A41231}" type="slidenum">
              <a:rPr lang="cs-CZ" smtClean="0"/>
              <a:pPr algn="r"/>
              <a:t>9</a:t>
            </a:fld>
            <a:endParaRPr lang="cs-CZ" dirty="0"/>
          </a:p>
        </p:txBody>
      </p:sp>
      <p:sp>
        <p:nvSpPr>
          <p:cNvPr id="4" name="Nadpis 3"/>
          <p:cNvSpPr>
            <a:spLocks noGrp="1"/>
          </p:cNvSpPr>
          <p:nvPr>
            <p:ph type="title"/>
          </p:nvPr>
        </p:nvSpPr>
        <p:spPr>
          <a:xfrm>
            <a:off x="143999" y="144000"/>
            <a:ext cx="4283625" cy="648072"/>
          </a:xfrm>
        </p:spPr>
        <p:txBody>
          <a:bodyPr/>
          <a:lstStyle/>
          <a:p>
            <a:r>
              <a:rPr lang="en-GB" dirty="0">
                <a:solidFill>
                  <a:srgbClr val="000000"/>
                </a:solidFill>
              </a:rPr>
              <a:t>Monte Carlo simulation</a:t>
            </a:r>
          </a:p>
        </p:txBody>
      </p:sp>
      <p:sp>
        <p:nvSpPr>
          <p:cNvPr id="29" name="TextovéPole 28"/>
          <p:cNvSpPr txBox="1"/>
          <p:nvPr/>
        </p:nvSpPr>
        <p:spPr>
          <a:xfrm>
            <a:off x="864000" y="864000"/>
            <a:ext cx="2089471"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Description</a:t>
            </a:r>
          </a:p>
        </p:txBody>
      </p:sp>
      <mc:AlternateContent xmlns:mc="http://schemas.openxmlformats.org/markup-compatibility/2006" xmlns:a14="http://schemas.microsoft.com/office/drawing/2010/main">
        <mc:Choice Requires="a14">
          <p:sp>
            <p:nvSpPr>
              <p:cNvPr id="59" name="TextovéPole 58"/>
              <p:cNvSpPr txBox="1"/>
              <p:nvPr/>
            </p:nvSpPr>
            <p:spPr>
              <a:xfrm>
                <a:off x="1188000" y="3034468"/>
                <a:ext cx="6408336"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14:m>
                  <m:oMath xmlns:m="http://schemas.openxmlformats.org/officeDocument/2006/math">
                    <m:sSub>
                      <m:sSubPr>
                        <m:ctrlPr>
                          <a:rPr lang="cs-CZ" sz="1600" i="1" smtClean="0">
                            <a:latin typeface="Cambria Math" panose="02040503050406030204" pitchFamily="18" charset="0"/>
                            <a:ea typeface="Cambria Math" panose="02040503050406030204" pitchFamily="18" charset="0"/>
                          </a:rPr>
                        </m:ctrlPr>
                      </m:sSubPr>
                      <m:e>
                        <m:r>
                          <a:rPr lang="cs-CZ" sz="1600">
                            <a:latin typeface="Cambria Math" panose="02040503050406030204" pitchFamily="18" charset="0"/>
                            <a:ea typeface="Cambria Math" panose="02040503050406030204" pitchFamily="18" charset="0"/>
                          </a:rPr>
                          <m:t>𝑆</m:t>
                        </m:r>
                      </m:e>
                      <m:sub>
                        <m:r>
                          <a:rPr lang="cs-CZ" sz="1600">
                            <a:latin typeface="Cambria Math" panose="02040503050406030204" pitchFamily="18" charset="0"/>
                            <a:ea typeface="Cambria Math" panose="02040503050406030204" pitchFamily="18" charset="0"/>
                          </a:rPr>
                          <m:t>0</m:t>
                        </m:r>
                      </m:sub>
                    </m:sSub>
                    <m:r>
                      <a:rPr lang="cs-CZ" sz="1600">
                        <a:latin typeface="Cambria Math" panose="02040503050406030204" pitchFamily="18" charset="0"/>
                        <a:ea typeface="Cambria Math" panose="02040503050406030204" pitchFamily="18" charset="0"/>
                      </a:rPr>
                      <m:t>=</m:t>
                    </m:r>
                    <m:r>
                      <a:rPr lang="cs-CZ" sz="1600" b="0" i="0" smtClean="0">
                        <a:latin typeface="Cambria Math" panose="02040503050406030204" pitchFamily="18" charset="0"/>
                        <a:ea typeface="Cambria Math" panose="02040503050406030204" pitchFamily="18" charset="0"/>
                      </a:rPr>
                      <m:t>€</m:t>
                    </m:r>
                    <m:r>
                      <a:rPr lang="cs-CZ" sz="1600">
                        <a:latin typeface="Cambria Math" panose="02040503050406030204" pitchFamily="18" charset="0"/>
                        <a:ea typeface="Cambria Math" panose="02040503050406030204" pitchFamily="18" charset="0"/>
                      </a:rPr>
                      <m:t>50, </m:t>
                    </m:r>
                    <m:r>
                      <a:rPr lang="cs-CZ" sz="1600">
                        <a:latin typeface="Cambria Math" panose="02040503050406030204" pitchFamily="18" charset="0"/>
                        <a:ea typeface="Cambria Math" panose="02040503050406030204" pitchFamily="18" charset="0"/>
                      </a:rPr>
                      <m:t>𝑋</m:t>
                    </m:r>
                    <m:r>
                      <a:rPr lang="cs-CZ" sz="1600">
                        <a:latin typeface="Cambria Math" panose="02040503050406030204" pitchFamily="18" charset="0"/>
                        <a:ea typeface="Cambria Math" panose="02040503050406030204" pitchFamily="18" charset="0"/>
                      </a:rPr>
                      <m:t>=€45, </m:t>
                    </m:r>
                    <m:r>
                      <m:rPr>
                        <m:sty m:val="p"/>
                      </m:rPr>
                      <a:rPr lang="el-GR" sz="1600" i="1" smtClean="0">
                        <a:latin typeface="Cambria Math" panose="02040503050406030204" pitchFamily="18" charset="0"/>
                        <a:ea typeface="Cambria Math" panose="02040503050406030204" pitchFamily="18" charset="0"/>
                      </a:rPr>
                      <m:t>μ</m:t>
                    </m:r>
                    <m:r>
                      <a:rPr lang="cs-CZ" sz="1600">
                        <a:latin typeface="Cambria Math" panose="02040503050406030204" pitchFamily="18" charset="0"/>
                        <a:ea typeface="Cambria Math" panose="02040503050406030204" pitchFamily="18" charset="0"/>
                      </a:rPr>
                      <m:t>=</m:t>
                    </m:r>
                    <m:r>
                      <a:rPr lang="en-GB" sz="1600" b="0" i="0" smtClean="0">
                        <a:latin typeface="Cambria Math" panose="02040503050406030204" pitchFamily="18" charset="0"/>
                        <a:ea typeface="Cambria Math" panose="02040503050406030204" pitchFamily="18" charset="0"/>
                      </a:rPr>
                      <m:t>5.6</m:t>
                    </m:r>
                    <m:r>
                      <a:rPr lang="cs-CZ" sz="1600" b="0" i="1" smtClean="0">
                        <a:latin typeface="Cambria Math" panose="02040503050406030204" pitchFamily="18" charset="0"/>
                        <a:ea typeface="Cambria Math" panose="02040503050406030204" pitchFamily="18" charset="0"/>
                      </a:rPr>
                      <m:t>%</m:t>
                    </m:r>
                    <m:r>
                      <a:rPr lang="cs-CZ" sz="1600" b="0" i="0" smtClean="0">
                        <a:latin typeface="Cambria Math" panose="02040503050406030204" pitchFamily="18" charset="0"/>
                        <a:ea typeface="Cambria Math" panose="02040503050406030204" pitchFamily="18" charset="0"/>
                      </a:rPr>
                      <m:t>, </m:t>
                    </m:r>
                    <m:r>
                      <m:rPr>
                        <m:sty m:val="p"/>
                      </m:rPr>
                      <a:rPr lang="el-GR" sz="1600" b="0" i="1" smtClean="0">
                        <a:latin typeface="Cambria Math" panose="02040503050406030204" pitchFamily="18" charset="0"/>
                        <a:ea typeface="Cambria Math" panose="02040503050406030204" pitchFamily="18" charset="0"/>
                      </a:rPr>
                      <m:t>σ</m:t>
                    </m:r>
                    <m:r>
                      <a:rPr lang="cs-CZ" sz="1600" b="0" i="0" smtClean="0">
                        <a:latin typeface="Cambria Math" panose="02040503050406030204" pitchFamily="18" charset="0"/>
                        <a:ea typeface="Cambria Math" panose="02040503050406030204" pitchFamily="18" charset="0"/>
                      </a:rPr>
                      <m:t>=29.2%, </m:t>
                    </m:r>
                    <m:r>
                      <a:rPr lang="cs-CZ" sz="1600">
                        <a:latin typeface="Cambria Math" panose="02040503050406030204" pitchFamily="18" charset="0"/>
                        <a:ea typeface="Cambria Math" panose="02040503050406030204" pitchFamily="18" charset="0"/>
                      </a:rPr>
                      <m:t>𝑟</m:t>
                    </m:r>
                    <m:r>
                      <a:rPr lang="cs-CZ" sz="1600">
                        <a:latin typeface="Cambria Math" panose="02040503050406030204" pitchFamily="18" charset="0"/>
                        <a:ea typeface="Cambria Math" panose="02040503050406030204" pitchFamily="18" charset="0"/>
                      </a:rPr>
                      <m:t>=10%</m:t>
                    </m:r>
                    <m:r>
                      <m:rPr>
                        <m:nor/>
                      </m:rPr>
                      <a:rPr lang="cs-CZ" sz="1600" b="0" i="0"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   </m:t>
                    </m:r>
                    <m:r>
                      <a:rPr lang="cs-CZ" sz="1600" i="1">
                        <a:latin typeface="Cambria Math" panose="02040503050406030204" pitchFamily="18" charset="0"/>
                        <a:ea typeface="Cambria Math" panose="02040503050406030204" pitchFamily="18" charset="0"/>
                      </a:rPr>
                      <m:t>𝑇</m:t>
                    </m:r>
                    <m:r>
                      <a:rPr lang="cs-CZ" sz="1600" b="0" i="1" smtClean="0">
                        <a:latin typeface="Cambria Math" panose="02040503050406030204" pitchFamily="18" charset="0"/>
                        <a:ea typeface="Cambria Math" panose="02040503050406030204" pitchFamily="18" charset="0"/>
                      </a:rPr>
                      <m:t>=</m:t>
                    </m:r>
                    <m:r>
                      <m:rPr>
                        <m:nor/>
                      </m:rPr>
                      <a:rPr lang="cs-CZ" sz="1600" b="0" i="0" smtClean="0">
                        <a:latin typeface="Cambria Math" panose="02040503050406030204" pitchFamily="18" charset="0"/>
                        <a:ea typeface="Cambria Math" panose="02040503050406030204" pitchFamily="18" charset="0"/>
                      </a:rPr>
                      <m:t>10 </m:t>
                    </m:r>
                    <m:r>
                      <m:rPr>
                        <m:nor/>
                      </m:rPr>
                      <a:rPr lang="cs-CZ" sz="1600" b="0" i="0" smtClean="0">
                        <a:latin typeface="Cambria Math" panose="02040503050406030204" pitchFamily="18" charset="0"/>
                        <a:ea typeface="Cambria Math" panose="02040503050406030204" pitchFamily="18" charset="0"/>
                      </a:rPr>
                      <m:t>periods</m:t>
                    </m:r>
                  </m:oMath>
                </a14:m>
                <a:endParaRPr lang="en-GB" sz="1600" dirty="0">
                  <a:latin typeface="Cambria Math" panose="02040503050406030204" pitchFamily="18" charset="0"/>
                  <a:ea typeface="Cambria Math" panose="02040503050406030204" pitchFamily="18" charset="0"/>
                </a:endParaRPr>
              </a:p>
            </p:txBody>
          </p:sp>
        </mc:Choice>
        <mc:Fallback xmlns="">
          <p:sp>
            <p:nvSpPr>
              <p:cNvPr id="59" name="TextovéPole 58"/>
              <p:cNvSpPr txBox="1">
                <a:spLocks noRot="1" noChangeAspect="1" noMove="1" noResize="1" noEditPoints="1" noAdjustHandles="1" noChangeArrowheads="1" noChangeShapeType="1" noTextEdit="1"/>
              </p:cNvSpPr>
              <p:nvPr/>
            </p:nvSpPr>
            <p:spPr>
              <a:xfrm>
                <a:off x="1188000" y="3034468"/>
                <a:ext cx="6408336" cy="338554"/>
              </a:xfrm>
              <a:prstGeom prst="rect">
                <a:avLst/>
              </a:prstGeom>
              <a:blipFill>
                <a:blip r:embed="rId14"/>
                <a:stretch>
                  <a:fillRect l="-381" b="-18182"/>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ovéPole 67">
                <a:extLst>
                  <a:ext uri="{FF2B5EF4-FFF2-40B4-BE49-F238E27FC236}">
                    <a16:creationId xmlns:a16="http://schemas.microsoft.com/office/drawing/2014/main" id="{05FC8A4A-3761-4383-881C-9096ADBF4AD7}"/>
                  </a:ext>
                </a:extLst>
              </p:cNvPr>
              <p:cNvSpPr txBox="1"/>
              <p:nvPr/>
            </p:nvSpPr>
            <p:spPr>
              <a:xfrm>
                <a:off x="4932040" y="3331015"/>
                <a:ext cx="4248472" cy="2697918"/>
              </a:xfrm>
              <a:prstGeom prst="rect">
                <a:avLst/>
              </a:prstGeom>
              <a:noFill/>
              <a:ln>
                <a:noFill/>
              </a:ln>
            </p:spPr>
            <p:txBody>
              <a:bodyPr wrap="square" rtlCol="0">
                <a:spAutoFit/>
              </a:bodyPr>
              <a:lstStyle/>
              <a:p>
                <a:pPr marL="266700" indent="-266700">
                  <a:buClr>
                    <a:srgbClr val="7030A0"/>
                  </a:buClr>
                  <a:buSzPct val="100000"/>
                </a:pPr>
                <a14:m>
                  <m:oMath xmlns:m="http://schemas.openxmlformats.org/officeDocument/2006/math">
                    <m:r>
                      <a:rPr lang="en-GB" sz="1400" b="0" i="1" smtClean="0">
                        <a:latin typeface="Cambria Math"/>
                        <a:ea typeface="Cambria Math" panose="02040503050406030204" pitchFamily="18" charset="0"/>
                      </a:rPr>
                      <m:t>𝑘</m:t>
                    </m:r>
                  </m:oMath>
                </a14:m>
                <a:r>
                  <a:rPr lang="en-GB" sz="1400" dirty="0">
                    <a:latin typeface="Cambria Math" panose="02040503050406030204" pitchFamily="18" charset="0"/>
                    <a:ea typeface="Cambria Math" panose="02040503050406030204" pitchFamily="18" charset="0"/>
                  </a:rPr>
                  <a:t> … serial number of the simulated path out of the total of 1,000 paths</a:t>
                </a:r>
              </a:p>
              <a:p>
                <a:pPr marL="266700" indent="-266700">
                  <a:buClr>
                    <a:srgbClr val="7030A0"/>
                  </a:buClr>
                  <a:buSzPct val="100000"/>
                </a:pPr>
                <a14:m>
                  <m:oMath xmlns:m="http://schemas.openxmlformats.org/officeDocument/2006/math">
                    <m:sSub>
                      <m:sSubPr>
                        <m:ctrlPr>
                          <a:rPr lang="en-GB" sz="1400" i="1" smtClean="0">
                            <a:latin typeface="Cambria Math" panose="02040503050406030204" pitchFamily="18" charset="0"/>
                            <a:ea typeface="Cambria Math" panose="02040503050406030204" pitchFamily="18" charset="0"/>
                          </a:rPr>
                        </m:ctrlPr>
                      </m:sSubPr>
                      <m:e>
                        <m:r>
                          <a:rPr lang="en-GB" sz="1400" b="0" i="1" smtClean="0">
                            <a:latin typeface="Cambria Math" panose="02040503050406030204" pitchFamily="18" charset="0"/>
                            <a:ea typeface="Cambria Math" panose="02040503050406030204" pitchFamily="18" charset="0"/>
                          </a:rPr>
                          <m:t>𝑟</m:t>
                        </m:r>
                      </m:e>
                      <m:sub>
                        <m:r>
                          <a:rPr lang="en-GB" sz="1400" b="0" i="1" smtClean="0">
                            <a:latin typeface="Cambria Math" panose="02040503050406030204" pitchFamily="18" charset="0"/>
                            <a:ea typeface="Cambria Math" panose="02040503050406030204" pitchFamily="18" charset="0"/>
                          </a:rPr>
                          <m:t>𝑘</m:t>
                        </m:r>
                      </m:sub>
                    </m:sSub>
                    <m:r>
                      <a:rPr lang="en-GB" sz="1400" b="0" i="1" smtClean="0">
                        <a:latin typeface="Cambria Math" panose="02040503050406030204" pitchFamily="18" charset="0"/>
                        <a:ea typeface="Cambria Math" panose="02040503050406030204" pitchFamily="18" charset="0"/>
                      </a:rPr>
                      <m:t>… </m:t>
                    </m:r>
                  </m:oMath>
                </a14:m>
                <a:r>
                  <a:rPr lang="en-GB" sz="1400" dirty="0">
                    <a:latin typeface="Cambria Math" panose="02040503050406030204" pitchFamily="18" charset="0"/>
                    <a:ea typeface="Cambria Math" panose="02040503050406030204" pitchFamily="18" charset="0"/>
                  </a:rPr>
                  <a:t>random number from the uniform distribution on the interval (0,1)</a:t>
                </a:r>
              </a:p>
              <a:p>
                <a:pPr marL="266700" indent="-266700">
                  <a:buClr>
                    <a:srgbClr val="7030A0"/>
                  </a:buClr>
                  <a:buSzPct val="100000"/>
                </a:pPr>
                <a14:m>
                  <m:oMath xmlns:m="http://schemas.openxmlformats.org/officeDocument/2006/math">
                    <m:sSub>
                      <m:sSubPr>
                        <m:ctrlPr>
                          <a:rPr lang="en-GB" sz="1400" i="1" smtClean="0">
                            <a:latin typeface="Cambria Math" panose="02040503050406030204" pitchFamily="18" charset="0"/>
                            <a:ea typeface="Cambria Math" panose="02040503050406030204" pitchFamily="18" charset="0"/>
                          </a:rPr>
                        </m:ctrlPr>
                      </m:sSubPr>
                      <m:e>
                        <m:r>
                          <a:rPr lang="en-GB" sz="1400" b="0" i="1" smtClean="0">
                            <a:latin typeface="Cambria Math" panose="02040503050406030204" pitchFamily="18" charset="0"/>
                            <a:ea typeface="Cambria Math" panose="02040503050406030204" pitchFamily="18" charset="0"/>
                          </a:rPr>
                          <m:t>𝜇</m:t>
                        </m:r>
                      </m:e>
                      <m:sub>
                        <m:r>
                          <a:rPr lang="en-GB" sz="1400" b="0" i="1" smtClean="0">
                            <a:latin typeface="Cambria Math" panose="02040503050406030204" pitchFamily="18" charset="0"/>
                            <a:ea typeface="Cambria Math" panose="02040503050406030204" pitchFamily="18" charset="0"/>
                          </a:rPr>
                          <m:t>𝑘</m:t>
                        </m:r>
                      </m:sub>
                    </m:sSub>
                    <m:r>
                      <a:rPr lang="en-GB" sz="1400" b="0" i="1" smtClean="0">
                        <a:latin typeface="Cambria Math" panose="02040503050406030204" pitchFamily="18" charset="0"/>
                        <a:ea typeface="Cambria Math" panose="02040503050406030204" pitchFamily="18" charset="0"/>
                      </a:rPr>
                      <m:t>… </m:t>
                    </m:r>
                  </m:oMath>
                </a14:m>
                <a:r>
                  <a:rPr lang="en-GB" sz="1400" dirty="0">
                    <a:latin typeface="Cambria Math" panose="02040503050406030204" pitchFamily="18" charset="0"/>
                    <a:ea typeface="Cambria Math" panose="02040503050406030204" pitchFamily="18" charset="0"/>
                  </a:rPr>
                  <a:t>random periodic return from the normal distribution (</a:t>
                </a:r>
                <a14:m>
                  <m:oMath xmlns:m="http://schemas.openxmlformats.org/officeDocument/2006/math">
                    <m:sSub>
                      <m:sSubPr>
                        <m:ctrlPr>
                          <a:rPr lang="el-GR" sz="1400" b="0" i="1" smtClean="0">
                            <a:latin typeface="Cambria Math" panose="02040503050406030204" pitchFamily="18" charset="0"/>
                            <a:ea typeface="Cambria Math" panose="02040503050406030204" pitchFamily="18" charset="0"/>
                          </a:rPr>
                        </m:ctrlPr>
                      </m:sSubPr>
                      <m:e>
                        <m:r>
                          <a:rPr lang="el-GR" sz="1400" b="0" i="1" smtClean="0">
                            <a:latin typeface="Cambria Math" panose="02040503050406030204" pitchFamily="18" charset="0"/>
                            <a:ea typeface="Cambria Math" panose="02040503050406030204" pitchFamily="18" charset="0"/>
                          </a:rPr>
                          <m:t>𝜇</m:t>
                        </m:r>
                      </m:e>
                      <m:sub>
                        <m:r>
                          <a:rPr lang="cs-CZ" sz="1400" b="0" i="1" smtClean="0">
                            <a:latin typeface="Cambria Math" panose="02040503050406030204" pitchFamily="18" charset="0"/>
                            <a:ea typeface="Cambria Math" panose="02040503050406030204" pitchFamily="18" charset="0"/>
                          </a:rPr>
                          <m:t>𝑇</m:t>
                        </m:r>
                      </m:sub>
                    </m:sSub>
                    <m:r>
                      <a:rPr lang="en-GB" sz="1400" b="0" i="1" smtClean="0">
                        <a:latin typeface="Cambria Math" panose="02040503050406030204" pitchFamily="18" charset="0"/>
                        <a:ea typeface="Cambria Math" panose="02040503050406030204" pitchFamily="18" charset="0"/>
                      </a:rPr>
                      <m:t>=0.056×10, </m:t>
                    </m:r>
                    <m:sSub>
                      <m:sSubPr>
                        <m:ctrlPr>
                          <a:rPr lang="en-GB" sz="1400" b="0" i="1" smtClean="0">
                            <a:latin typeface="Cambria Math" panose="02040503050406030204" pitchFamily="18" charset="0"/>
                            <a:ea typeface="Cambria Math" panose="02040503050406030204" pitchFamily="18" charset="0"/>
                          </a:rPr>
                        </m:ctrlPr>
                      </m:sSubPr>
                      <m:e>
                        <m:r>
                          <a:rPr lang="en-GB" sz="1400" b="0" i="1" smtClean="0">
                            <a:latin typeface="Cambria Math" panose="02040503050406030204" pitchFamily="18" charset="0"/>
                            <a:ea typeface="Cambria Math" panose="02040503050406030204" pitchFamily="18" charset="0"/>
                          </a:rPr>
                          <m:t>𝜎</m:t>
                        </m:r>
                      </m:e>
                      <m:sub>
                        <m:r>
                          <a:rPr lang="cs-CZ" sz="1400" b="0" i="1" smtClean="0">
                            <a:latin typeface="Cambria Math" panose="02040503050406030204" pitchFamily="18" charset="0"/>
                            <a:ea typeface="Cambria Math" panose="02040503050406030204" pitchFamily="18" charset="0"/>
                          </a:rPr>
                          <m:t>𝑇</m:t>
                        </m:r>
                      </m:sub>
                    </m:sSub>
                    <m:r>
                      <a:rPr lang="en-GB" sz="1400" b="0" i="1" smtClean="0">
                        <a:latin typeface="Cambria Math" panose="02040503050406030204" pitchFamily="18" charset="0"/>
                        <a:ea typeface="Cambria Math" panose="02040503050406030204" pitchFamily="18" charset="0"/>
                      </a:rPr>
                      <m:t>=0.292×</m:t>
                    </m:r>
                    <m:rad>
                      <m:radPr>
                        <m:degHide m:val="on"/>
                        <m:ctrlPr>
                          <a:rPr lang="en-GB" sz="1400" b="0" i="1" smtClean="0">
                            <a:latin typeface="Cambria Math" panose="02040503050406030204" pitchFamily="18" charset="0"/>
                            <a:ea typeface="Cambria Math" panose="02040503050406030204" pitchFamily="18" charset="0"/>
                          </a:rPr>
                        </m:ctrlPr>
                      </m:radPr>
                      <m:deg/>
                      <m:e>
                        <m:r>
                          <a:rPr lang="en-GB" sz="1400" b="0" i="1" smtClean="0">
                            <a:latin typeface="Cambria Math" panose="02040503050406030204" pitchFamily="18" charset="0"/>
                            <a:ea typeface="Cambria Math" panose="02040503050406030204" pitchFamily="18" charset="0"/>
                          </a:rPr>
                          <m:t>10</m:t>
                        </m:r>
                      </m:e>
                    </m:rad>
                    <m:r>
                      <a:rPr lang="en-GB" sz="1400" b="0" i="1" smtClean="0">
                        <a:latin typeface="Cambria Math" panose="02040503050406030204" pitchFamily="18" charset="0"/>
                        <a:ea typeface="Cambria Math" panose="02040503050406030204" pitchFamily="18" charset="0"/>
                      </a:rPr>
                      <m:t>)</m:t>
                    </m:r>
                  </m:oMath>
                </a14:m>
                <a:endParaRPr lang="en-GB" sz="1400" dirty="0">
                  <a:latin typeface="Cambria Math" panose="02040503050406030204" pitchFamily="18" charset="0"/>
                  <a:ea typeface="Cambria Math" panose="02040503050406030204" pitchFamily="18" charset="0"/>
                </a:endParaRPr>
              </a:p>
              <a:p>
                <a:pPr marL="1077913">
                  <a:buClr>
                    <a:srgbClr val="7030A0"/>
                  </a:buClr>
                  <a:buSzPct val="100000"/>
                </a:pPr>
                <a14:m>
                  <m:oMathPara xmlns:m="http://schemas.openxmlformats.org/officeDocument/2006/math">
                    <m:oMathParaPr>
                      <m:jc m:val="left"/>
                    </m:oMathParaPr>
                    <m:oMath xmlns:m="http://schemas.openxmlformats.org/officeDocument/2006/math">
                      <m:sSub>
                        <m:sSubPr>
                          <m:ctrlPr>
                            <a:rPr lang="en-GB" sz="1400" i="1" smtClean="0">
                              <a:latin typeface="Cambria Math" panose="02040503050406030204" pitchFamily="18" charset="0"/>
                              <a:ea typeface="Cambria Math" panose="02040503050406030204" pitchFamily="18" charset="0"/>
                            </a:rPr>
                          </m:ctrlPr>
                        </m:sSubPr>
                        <m:e>
                          <m:r>
                            <a:rPr lang="en-GB" sz="1400" i="1" smtClean="0">
                              <a:latin typeface="Cambria Math" panose="02040503050406030204" pitchFamily="18" charset="0"/>
                              <a:ea typeface="Cambria Math" panose="02040503050406030204" pitchFamily="18" charset="0"/>
                            </a:rPr>
                            <m:t>𝜇</m:t>
                          </m:r>
                        </m:e>
                        <m:sub>
                          <m:r>
                            <a:rPr lang="en-GB" sz="1400" b="0" i="1" smtClean="0">
                              <a:latin typeface="Cambria Math" panose="02040503050406030204" pitchFamily="18" charset="0"/>
                              <a:ea typeface="Cambria Math" panose="02040503050406030204" pitchFamily="18" charset="0"/>
                            </a:rPr>
                            <m:t>𝑘</m:t>
                          </m:r>
                        </m:sub>
                      </m:sSub>
                      <m:r>
                        <a:rPr lang="en-GB" sz="1400" b="0" i="1" smtClean="0">
                          <a:latin typeface="Cambria Math" panose="02040503050406030204" pitchFamily="18" charset="0"/>
                          <a:ea typeface="Cambria Math" panose="02040503050406030204" pitchFamily="18" charset="0"/>
                        </a:rPr>
                        <m:t>=</m:t>
                      </m:r>
                      <m:sSup>
                        <m:sSupPr>
                          <m:ctrlPr>
                            <a:rPr lang="en-GB" sz="1400" b="0" i="1" smtClean="0">
                              <a:latin typeface="Cambria Math" panose="02040503050406030204" pitchFamily="18" charset="0"/>
                              <a:ea typeface="Cambria Math" panose="02040503050406030204" pitchFamily="18" charset="0"/>
                            </a:rPr>
                          </m:ctrlPr>
                        </m:sSupPr>
                        <m:e>
                          <m:r>
                            <a:rPr lang="en-GB" sz="1400" b="0" i="1" smtClean="0">
                              <a:latin typeface="Cambria Math" panose="02040503050406030204" pitchFamily="18" charset="0"/>
                              <a:ea typeface="Cambria Math" panose="02040503050406030204" pitchFamily="18" charset="0"/>
                            </a:rPr>
                            <m:t>𝑁</m:t>
                          </m:r>
                        </m:e>
                        <m:sup>
                          <m:r>
                            <a:rPr lang="en-GB" sz="1400" b="0" i="1" smtClean="0">
                              <a:latin typeface="Cambria Math" panose="02040503050406030204" pitchFamily="18" charset="0"/>
                              <a:ea typeface="Cambria Math" panose="02040503050406030204" pitchFamily="18" charset="0"/>
                            </a:rPr>
                            <m:t>−1</m:t>
                          </m:r>
                        </m:sup>
                      </m:sSup>
                      <m:r>
                        <a:rPr lang="en-GB" sz="1400" b="0" i="1" smtClean="0">
                          <a:latin typeface="Cambria Math" panose="02040503050406030204" pitchFamily="18" charset="0"/>
                          <a:ea typeface="Cambria Math" panose="02040503050406030204" pitchFamily="18" charset="0"/>
                        </a:rPr>
                        <m:t>(</m:t>
                      </m:r>
                      <m:sSub>
                        <m:sSubPr>
                          <m:ctrlPr>
                            <a:rPr lang="en-GB" sz="1400" b="0" i="1" smtClean="0">
                              <a:latin typeface="Cambria Math" panose="02040503050406030204" pitchFamily="18" charset="0"/>
                              <a:ea typeface="Cambria Math" panose="02040503050406030204" pitchFamily="18" charset="0"/>
                            </a:rPr>
                          </m:ctrlPr>
                        </m:sSubPr>
                        <m:e>
                          <m:r>
                            <a:rPr lang="en-GB" sz="1400" b="0" i="1" smtClean="0">
                              <a:latin typeface="Cambria Math" panose="02040503050406030204" pitchFamily="18" charset="0"/>
                              <a:ea typeface="Cambria Math" panose="02040503050406030204" pitchFamily="18" charset="0"/>
                            </a:rPr>
                            <m:t>𝑟</m:t>
                          </m:r>
                        </m:e>
                        <m:sub>
                          <m:r>
                            <a:rPr lang="en-GB" sz="1400" b="0" i="1" smtClean="0">
                              <a:latin typeface="Cambria Math" panose="02040503050406030204" pitchFamily="18" charset="0"/>
                              <a:ea typeface="Cambria Math" panose="02040503050406030204" pitchFamily="18" charset="0"/>
                            </a:rPr>
                            <m:t>𝑘</m:t>
                          </m:r>
                        </m:sub>
                      </m:sSub>
                      <m:r>
                        <a:rPr lang="en-GB" sz="1400" b="0" i="1" smtClean="0">
                          <a:latin typeface="Cambria Math" panose="02040503050406030204" pitchFamily="18" charset="0"/>
                          <a:ea typeface="Cambria Math" panose="02040503050406030204" pitchFamily="18" charset="0"/>
                        </a:rPr>
                        <m:t>)</m:t>
                      </m:r>
                    </m:oMath>
                  </m:oMathPara>
                </a14:m>
                <a:endParaRPr lang="en-GB" sz="1400" dirty="0">
                  <a:latin typeface="Cambria Math" panose="02040503050406030204" pitchFamily="18" charset="0"/>
                  <a:ea typeface="Cambria Math" panose="02040503050406030204" pitchFamily="18" charset="0"/>
                </a:endParaRPr>
              </a:p>
              <a:p>
                <a:pPr marL="266700" indent="-266700">
                  <a:buClr>
                    <a:srgbClr val="7030A0"/>
                  </a:buClr>
                  <a:buSzPct val="100000"/>
                </a:pPr>
                <a14:m>
                  <m:oMath xmlns:m="http://schemas.openxmlformats.org/officeDocument/2006/math">
                    <m:sSub>
                      <m:sSubPr>
                        <m:ctrlPr>
                          <a:rPr lang="en-GB" sz="1400" i="1" smtClean="0">
                            <a:latin typeface="Cambria Math" panose="02040503050406030204" pitchFamily="18" charset="0"/>
                            <a:ea typeface="Cambria Math" panose="02040503050406030204" pitchFamily="18" charset="0"/>
                          </a:rPr>
                        </m:ctrlPr>
                      </m:sSubPr>
                      <m:e>
                        <m:r>
                          <a:rPr lang="en-GB" sz="1400" b="0" i="1" smtClean="0">
                            <a:latin typeface="Cambria Math" panose="02040503050406030204" pitchFamily="18" charset="0"/>
                            <a:ea typeface="Cambria Math" panose="02040503050406030204" pitchFamily="18" charset="0"/>
                          </a:rPr>
                          <m:t>𝑆</m:t>
                        </m:r>
                      </m:e>
                      <m:sub>
                        <m:r>
                          <a:rPr lang="en-GB" sz="1400" b="0" i="1" smtClean="0">
                            <a:latin typeface="Cambria Math" panose="02040503050406030204" pitchFamily="18" charset="0"/>
                            <a:ea typeface="Cambria Math" panose="02040503050406030204" pitchFamily="18" charset="0"/>
                          </a:rPr>
                          <m:t>𝑘</m:t>
                        </m:r>
                      </m:sub>
                    </m:sSub>
                    <m:r>
                      <a:rPr lang="en-GB" sz="1400" b="0" i="1" smtClean="0">
                        <a:latin typeface="Cambria Math" panose="02040503050406030204" pitchFamily="18" charset="0"/>
                        <a:ea typeface="Cambria Math" panose="02040503050406030204" pitchFamily="18" charset="0"/>
                      </a:rPr>
                      <m:t>… </m:t>
                    </m:r>
                  </m:oMath>
                </a14:m>
                <a:r>
                  <a:rPr lang="en-GB" sz="1400" dirty="0">
                    <a:latin typeface="Cambria Math" panose="02040503050406030204" pitchFamily="18" charset="0"/>
                    <a:ea typeface="Cambria Math" panose="02040503050406030204" pitchFamily="18" charset="0"/>
                  </a:rPr>
                  <a:t>simulated terminal price of the underlying asset (consistent with the BS model)</a:t>
                </a:r>
              </a:p>
              <a:p>
                <a:pPr marL="1077913">
                  <a:buClr>
                    <a:srgbClr val="7030A0"/>
                  </a:buClr>
                  <a:buSzPct val="100000"/>
                </a:pPr>
                <a14:m>
                  <m:oMathPara xmlns:m="http://schemas.openxmlformats.org/officeDocument/2006/math">
                    <m:oMathParaPr>
                      <m:jc m:val="left"/>
                    </m:oMathParaPr>
                    <m:oMath xmlns:m="http://schemas.openxmlformats.org/officeDocument/2006/math">
                      <m:sSub>
                        <m:sSubPr>
                          <m:ctrlPr>
                            <a:rPr lang="en-GB" sz="1400" i="1" smtClean="0">
                              <a:latin typeface="Cambria Math" panose="02040503050406030204" pitchFamily="18" charset="0"/>
                              <a:ea typeface="Cambria Math" panose="02040503050406030204" pitchFamily="18" charset="0"/>
                            </a:rPr>
                          </m:ctrlPr>
                        </m:sSubPr>
                        <m:e>
                          <m:r>
                            <a:rPr lang="en-GB" sz="1400" b="0" i="1" smtClean="0">
                              <a:latin typeface="Cambria Math" panose="02040503050406030204" pitchFamily="18" charset="0"/>
                              <a:ea typeface="Cambria Math" panose="02040503050406030204" pitchFamily="18" charset="0"/>
                            </a:rPr>
                            <m:t>𝑆</m:t>
                          </m:r>
                        </m:e>
                        <m:sub>
                          <m:r>
                            <a:rPr lang="en-GB" sz="1400" b="0" i="1" smtClean="0">
                              <a:latin typeface="Cambria Math" panose="02040503050406030204" pitchFamily="18" charset="0"/>
                              <a:ea typeface="Cambria Math" panose="02040503050406030204" pitchFamily="18" charset="0"/>
                            </a:rPr>
                            <m:t>𝑘</m:t>
                          </m:r>
                        </m:sub>
                      </m:sSub>
                      <m:r>
                        <a:rPr lang="en-GB" sz="1400" b="0" i="1" smtClean="0">
                          <a:latin typeface="Cambria Math" panose="02040503050406030204" pitchFamily="18" charset="0"/>
                          <a:ea typeface="Cambria Math" panose="02040503050406030204" pitchFamily="18" charset="0"/>
                        </a:rPr>
                        <m:t>=</m:t>
                      </m:r>
                      <m:sSub>
                        <m:sSubPr>
                          <m:ctrlPr>
                            <a:rPr lang="en-GB" sz="1400" b="0" i="1" smtClean="0">
                              <a:latin typeface="Cambria Math" panose="02040503050406030204" pitchFamily="18" charset="0"/>
                              <a:ea typeface="Cambria Math" panose="02040503050406030204" pitchFamily="18" charset="0"/>
                            </a:rPr>
                          </m:ctrlPr>
                        </m:sSubPr>
                        <m:e>
                          <m:r>
                            <a:rPr lang="en-GB" sz="1400" b="0" i="1" smtClean="0">
                              <a:latin typeface="Cambria Math" panose="02040503050406030204" pitchFamily="18" charset="0"/>
                              <a:ea typeface="Cambria Math" panose="02040503050406030204" pitchFamily="18" charset="0"/>
                            </a:rPr>
                            <m:t>𝑆</m:t>
                          </m:r>
                        </m:e>
                        <m:sub>
                          <m:r>
                            <a:rPr lang="en-GB" sz="1400" b="0" i="1" smtClean="0">
                              <a:latin typeface="Cambria Math" panose="02040503050406030204" pitchFamily="18" charset="0"/>
                              <a:ea typeface="Cambria Math" panose="02040503050406030204" pitchFamily="18" charset="0"/>
                            </a:rPr>
                            <m:t>0</m:t>
                          </m:r>
                        </m:sub>
                      </m:sSub>
                      <m:r>
                        <m:rPr>
                          <m:sty m:val="p"/>
                        </m:rPr>
                        <a:rPr lang="en-GB" sz="1400" b="0" i="0" smtClean="0">
                          <a:latin typeface="Cambria Math" panose="02040503050406030204" pitchFamily="18" charset="0"/>
                          <a:ea typeface="Cambria Math" panose="02040503050406030204" pitchFamily="18" charset="0"/>
                        </a:rPr>
                        <m:t>exp</m:t>
                      </m:r>
                      <m:r>
                        <a:rPr lang="en-GB" sz="1400" b="0" i="1" smtClean="0">
                          <a:latin typeface="Cambria Math" panose="02040503050406030204" pitchFamily="18" charset="0"/>
                          <a:ea typeface="Cambria Math" panose="02040503050406030204" pitchFamily="18" charset="0"/>
                        </a:rPr>
                        <m:t>⁡(</m:t>
                      </m:r>
                      <m:sSub>
                        <m:sSubPr>
                          <m:ctrlPr>
                            <a:rPr lang="en-GB" sz="1400" b="0" i="1" smtClean="0">
                              <a:latin typeface="Cambria Math" panose="02040503050406030204" pitchFamily="18" charset="0"/>
                              <a:ea typeface="Cambria Math" panose="02040503050406030204" pitchFamily="18" charset="0"/>
                            </a:rPr>
                          </m:ctrlPr>
                        </m:sSubPr>
                        <m:e>
                          <m:r>
                            <a:rPr lang="en-GB" sz="1400" b="0" i="1" smtClean="0">
                              <a:latin typeface="Cambria Math" panose="02040503050406030204" pitchFamily="18" charset="0"/>
                              <a:ea typeface="Cambria Math" panose="02040503050406030204" pitchFamily="18" charset="0"/>
                            </a:rPr>
                            <m:t>𝜇</m:t>
                          </m:r>
                        </m:e>
                        <m:sub>
                          <m:r>
                            <a:rPr lang="en-GB" sz="1400" b="0" i="1" smtClean="0">
                              <a:latin typeface="Cambria Math" panose="02040503050406030204" pitchFamily="18" charset="0"/>
                              <a:ea typeface="Cambria Math" panose="02040503050406030204" pitchFamily="18" charset="0"/>
                            </a:rPr>
                            <m:t>𝑘</m:t>
                          </m:r>
                        </m:sub>
                      </m:sSub>
                      <m:r>
                        <a:rPr lang="en-GB" sz="1400" b="0" i="1" smtClean="0">
                          <a:latin typeface="Cambria Math" panose="02040503050406030204" pitchFamily="18" charset="0"/>
                          <a:ea typeface="Cambria Math" panose="02040503050406030204" pitchFamily="18" charset="0"/>
                        </a:rPr>
                        <m:t>)</m:t>
                      </m:r>
                    </m:oMath>
                  </m:oMathPara>
                </a14:m>
                <a:endParaRPr lang="en-GB" sz="1400" dirty="0">
                  <a:latin typeface="Cambria Math" panose="02040503050406030204" pitchFamily="18" charset="0"/>
                  <a:ea typeface="Cambria Math" panose="02040503050406030204" pitchFamily="18" charset="0"/>
                </a:endParaRPr>
              </a:p>
              <a:p>
                <a:pPr marL="266700" indent="-266700">
                  <a:buClr>
                    <a:srgbClr val="7030A0"/>
                  </a:buClr>
                  <a:buSzPct val="100000"/>
                </a:pPr>
                <a14:m>
                  <m:oMath xmlns:m="http://schemas.openxmlformats.org/officeDocument/2006/math">
                    <m:sSub>
                      <m:sSubPr>
                        <m:ctrlPr>
                          <a:rPr lang="en-GB" sz="1400" i="1" smtClean="0">
                            <a:latin typeface="Cambria Math" panose="02040503050406030204" pitchFamily="18" charset="0"/>
                            <a:ea typeface="Cambria Math" panose="02040503050406030204" pitchFamily="18" charset="0"/>
                          </a:rPr>
                        </m:ctrlPr>
                      </m:sSubPr>
                      <m:e>
                        <m:r>
                          <a:rPr lang="en-GB" sz="1400" b="0" i="1" smtClean="0">
                            <a:latin typeface="Cambria Math" panose="02040503050406030204" pitchFamily="18" charset="0"/>
                            <a:ea typeface="Cambria Math" panose="02040503050406030204" pitchFamily="18" charset="0"/>
                          </a:rPr>
                          <m:t>𝐶</m:t>
                        </m:r>
                      </m:e>
                      <m:sub>
                        <m:r>
                          <a:rPr lang="en-GB" sz="1400" b="0" i="1" smtClean="0">
                            <a:latin typeface="Cambria Math" panose="02040503050406030204" pitchFamily="18" charset="0"/>
                            <a:ea typeface="Cambria Math" panose="02040503050406030204" pitchFamily="18" charset="0"/>
                          </a:rPr>
                          <m:t>𝑘</m:t>
                        </m:r>
                      </m:sub>
                    </m:sSub>
                    <m:r>
                      <a:rPr lang="en-GB" sz="1400" b="0" i="1" smtClean="0">
                        <a:latin typeface="Cambria Math" panose="02040503050406030204" pitchFamily="18" charset="0"/>
                        <a:ea typeface="Cambria Math" panose="02040503050406030204" pitchFamily="18" charset="0"/>
                      </a:rPr>
                      <m:t>… </m:t>
                    </m:r>
                  </m:oMath>
                </a14:m>
                <a:r>
                  <a:rPr lang="en-GB" sz="1400" dirty="0">
                    <a:latin typeface="Cambria Math" panose="02040503050406030204" pitchFamily="18" charset="0"/>
                    <a:ea typeface="Cambria Math" panose="02040503050406030204" pitchFamily="18" charset="0"/>
                  </a:rPr>
                  <a:t>simulated call option’</a:t>
                </a:r>
                <a:r>
                  <a:rPr lang="cs-CZ" sz="1400" dirty="0">
                    <a:latin typeface="Cambria Math" panose="02040503050406030204" pitchFamily="18" charset="0"/>
                    <a:ea typeface="Cambria Math" panose="02040503050406030204" pitchFamily="18" charset="0"/>
                  </a:rPr>
                  <a:t>s</a:t>
                </a:r>
                <a:r>
                  <a:rPr lang="en-GB" sz="1400" dirty="0">
                    <a:latin typeface="Cambria Math" panose="02040503050406030204" pitchFamily="18" charset="0"/>
                    <a:ea typeface="Cambria Math" panose="02040503050406030204" pitchFamily="18" charset="0"/>
                  </a:rPr>
                  <a:t> payoff at maturity</a:t>
                </a:r>
              </a:p>
              <a:p>
                <a:pPr marL="1077913">
                  <a:buClr>
                    <a:srgbClr val="7030A0"/>
                  </a:buClr>
                  <a:buSzPct val="100000"/>
                </a:pPr>
                <a14:m>
                  <m:oMathPara xmlns:m="http://schemas.openxmlformats.org/officeDocument/2006/math">
                    <m:oMathParaPr>
                      <m:jc m:val="left"/>
                    </m:oMathParaPr>
                    <m:oMath xmlns:m="http://schemas.openxmlformats.org/officeDocument/2006/math">
                      <m:sSub>
                        <m:sSubPr>
                          <m:ctrlPr>
                            <a:rPr lang="en-GB" sz="1400" i="1" smtClean="0">
                              <a:latin typeface="Cambria Math" panose="02040503050406030204" pitchFamily="18" charset="0"/>
                              <a:ea typeface="Cambria Math" panose="02040503050406030204" pitchFamily="18" charset="0"/>
                            </a:rPr>
                          </m:ctrlPr>
                        </m:sSubPr>
                        <m:e>
                          <m:r>
                            <a:rPr lang="en-GB" sz="1400" b="0" i="1" smtClean="0">
                              <a:latin typeface="Cambria Math" panose="02040503050406030204" pitchFamily="18" charset="0"/>
                              <a:ea typeface="Cambria Math" panose="02040503050406030204" pitchFamily="18" charset="0"/>
                            </a:rPr>
                            <m:t>𝐶</m:t>
                          </m:r>
                        </m:e>
                        <m:sub>
                          <m:r>
                            <a:rPr lang="en-GB" sz="1400" b="0" i="1" smtClean="0">
                              <a:latin typeface="Cambria Math" panose="02040503050406030204" pitchFamily="18" charset="0"/>
                              <a:ea typeface="Cambria Math" panose="02040503050406030204" pitchFamily="18" charset="0"/>
                            </a:rPr>
                            <m:t>𝑘</m:t>
                          </m:r>
                        </m:sub>
                      </m:sSub>
                      <m:r>
                        <a:rPr lang="en-GB" sz="1400" b="0" i="1" smtClean="0">
                          <a:latin typeface="Cambria Math" panose="02040503050406030204" pitchFamily="18" charset="0"/>
                          <a:ea typeface="Cambria Math" panose="02040503050406030204" pitchFamily="18" charset="0"/>
                        </a:rPr>
                        <m:t>=</m:t>
                      </m:r>
                      <m:r>
                        <m:rPr>
                          <m:sty m:val="p"/>
                        </m:rPr>
                        <a:rPr lang="en-GB" sz="1400" b="0" i="0" smtClean="0">
                          <a:latin typeface="Cambria Math" panose="02040503050406030204" pitchFamily="18" charset="0"/>
                          <a:ea typeface="Cambria Math" panose="02040503050406030204" pitchFamily="18" charset="0"/>
                        </a:rPr>
                        <m:t>max</m:t>
                      </m:r>
                      <m:r>
                        <a:rPr lang="en-GB" sz="1400" b="0" i="1" smtClean="0">
                          <a:latin typeface="Cambria Math" panose="02040503050406030204" pitchFamily="18" charset="0"/>
                          <a:ea typeface="Cambria Math" panose="02040503050406030204" pitchFamily="18" charset="0"/>
                        </a:rPr>
                        <m:t>⁡[</m:t>
                      </m:r>
                      <m:sSub>
                        <m:sSubPr>
                          <m:ctrlPr>
                            <a:rPr lang="en-GB" sz="1400" i="1">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rPr>
                            <m:t>𝑆</m:t>
                          </m:r>
                        </m:e>
                        <m:sub>
                          <m:r>
                            <a:rPr lang="en-GB" sz="1400" i="1">
                              <a:latin typeface="Cambria Math" panose="02040503050406030204" pitchFamily="18" charset="0"/>
                              <a:ea typeface="Cambria Math" panose="02040503050406030204" pitchFamily="18" charset="0"/>
                            </a:rPr>
                            <m:t>𝑘</m:t>
                          </m:r>
                        </m:sub>
                      </m:sSub>
                      <m:r>
                        <a:rPr lang="en-GB" sz="1400" b="0" i="1" smtClean="0">
                          <a:latin typeface="Cambria Math" panose="02040503050406030204" pitchFamily="18" charset="0"/>
                          <a:ea typeface="Cambria Math" panose="02040503050406030204" pitchFamily="18" charset="0"/>
                        </a:rPr>
                        <m:t>−</m:t>
                      </m:r>
                      <m:r>
                        <a:rPr lang="en-GB" sz="1400" b="0" i="1" smtClean="0">
                          <a:latin typeface="Cambria Math" panose="02040503050406030204" pitchFamily="18" charset="0"/>
                          <a:ea typeface="Cambria Math" panose="02040503050406030204" pitchFamily="18" charset="0"/>
                        </a:rPr>
                        <m:t>𝑋</m:t>
                      </m:r>
                      <m:r>
                        <a:rPr lang="en-GB" sz="1400" b="0" i="1" smtClean="0">
                          <a:latin typeface="Cambria Math" panose="02040503050406030204" pitchFamily="18" charset="0"/>
                          <a:ea typeface="Cambria Math" panose="02040503050406030204" pitchFamily="18" charset="0"/>
                        </a:rPr>
                        <m:t>,0]</m:t>
                      </m:r>
                    </m:oMath>
                  </m:oMathPara>
                </a14:m>
                <a:endParaRPr lang="en-GB" sz="1400" dirty="0">
                  <a:latin typeface="Cambria Math" panose="02040503050406030204" pitchFamily="18" charset="0"/>
                  <a:ea typeface="Cambria Math" panose="02040503050406030204" pitchFamily="18" charset="0"/>
                </a:endParaRPr>
              </a:p>
            </p:txBody>
          </p:sp>
        </mc:Choice>
        <mc:Fallback xmlns="">
          <p:sp>
            <p:nvSpPr>
              <p:cNvPr id="68" name="TextovéPole 67">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4932040" y="3331015"/>
                <a:ext cx="4248472" cy="2697918"/>
              </a:xfrm>
              <a:prstGeom prst="rect">
                <a:avLst/>
              </a:prstGeom>
              <a:blipFill>
                <a:blip r:embed="rId15"/>
                <a:stretch>
                  <a:fillRect t="-451" b="-451"/>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6" name="Tabulka 5"/>
              <p:cNvGraphicFramePr>
                <a:graphicFrameLocks noGrp="1"/>
              </p:cNvGraphicFramePr>
              <p:nvPr>
                <p:extLst>
                  <p:ext uri="{D42A27DB-BD31-4B8C-83A1-F6EECF244321}">
                    <p14:modId xmlns:p14="http://schemas.microsoft.com/office/powerpoint/2010/main" val="2427092559"/>
                  </p:ext>
                </p:extLst>
              </p:nvPr>
            </p:nvGraphicFramePr>
            <p:xfrm>
              <a:off x="1428576" y="3375160"/>
              <a:ext cx="3348000" cy="2018916"/>
            </p:xfrm>
            <a:graphic>
              <a:graphicData uri="http://schemas.openxmlformats.org/drawingml/2006/table">
                <a:tbl>
                  <a:tblPr>
                    <a:tableStyleId>{7DF18680-E054-41AD-8BC1-D1AEF772440D}</a:tableStyleId>
                  </a:tblPr>
                  <a:tblGrid>
                    <a:gridCol w="612000">
                      <a:extLst>
                        <a:ext uri="{9D8B030D-6E8A-4147-A177-3AD203B41FA5}">
                          <a16:colId xmlns:a16="http://schemas.microsoft.com/office/drawing/2014/main" val="20000"/>
                        </a:ext>
                      </a:extLst>
                    </a:gridCol>
                    <a:gridCol w="6840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684000">
                      <a:extLst>
                        <a:ext uri="{9D8B030D-6E8A-4147-A177-3AD203B41FA5}">
                          <a16:colId xmlns:a16="http://schemas.microsoft.com/office/drawing/2014/main" val="20003"/>
                        </a:ext>
                      </a:extLst>
                    </a:gridCol>
                    <a:gridCol w="684000">
                      <a:extLst>
                        <a:ext uri="{9D8B030D-6E8A-4147-A177-3AD203B41FA5}">
                          <a16:colId xmlns:a16="http://schemas.microsoft.com/office/drawing/2014/main" val="20005"/>
                        </a:ext>
                      </a:extLst>
                    </a:gridCol>
                  </a:tblGrid>
                  <a:tr h="180000">
                    <a:tc>
                      <a:txBody>
                        <a:bodyPr/>
                        <a:lstStyle/>
                        <a:p>
                          <a:pPr algn="ctr" fontAlgn="b"/>
                          <a:r>
                            <a:rPr lang="cs-CZ" sz="800" b="0" i="0" u="none" strike="noStrike" dirty="0">
                              <a:solidFill>
                                <a:schemeClr val="bg1"/>
                              </a:solidFill>
                              <a:effectLst/>
                              <a:latin typeface="Cambria Math" panose="02040503050406030204" pitchFamily="18" charset="0"/>
                              <a:ea typeface="Cambria Math" panose="02040503050406030204" pitchFamily="18" charset="0"/>
                            </a:rPr>
                            <a:t>1.</a:t>
                          </a:r>
                        </a:p>
                      </a:txBody>
                      <a:tcPr marL="9525" marR="9525" marT="9525" marB="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cs-CZ" sz="800" b="0" i="0" u="none" strike="noStrike" dirty="0">
                              <a:solidFill>
                                <a:schemeClr val="bg1"/>
                              </a:solidFill>
                              <a:effectLst/>
                              <a:latin typeface="Cambria Math" panose="02040503050406030204" pitchFamily="18" charset="0"/>
                              <a:ea typeface="Cambria Math" panose="02040503050406030204" pitchFamily="18" charset="0"/>
                            </a:rPr>
                            <a:t>2</a:t>
                          </a: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cs-CZ" sz="800" b="0" i="0" u="none" strike="noStrike" dirty="0">
                              <a:solidFill>
                                <a:schemeClr val="bg1"/>
                              </a:solidFill>
                              <a:effectLst/>
                              <a:latin typeface="Cambria Math" panose="02040503050406030204" pitchFamily="18" charset="0"/>
                              <a:ea typeface="Cambria Math" panose="02040503050406030204" pitchFamily="18" charset="0"/>
                            </a:rPr>
                            <a:t>3</a:t>
                          </a: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cs-CZ" sz="800" b="0" i="0" u="none" strike="noStrike" dirty="0">
                              <a:solidFill>
                                <a:schemeClr val="bg1"/>
                              </a:solidFill>
                              <a:effectLst/>
                              <a:latin typeface="Cambria Math" panose="02040503050406030204" pitchFamily="18" charset="0"/>
                              <a:ea typeface="Cambria Math" panose="02040503050406030204" pitchFamily="18" charset="0"/>
                            </a:rPr>
                            <a:t>4</a:t>
                          </a: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cs-CZ" sz="800" b="0" i="0" u="none" strike="noStrike" dirty="0">
                              <a:solidFill>
                                <a:schemeClr val="bg1"/>
                              </a:solidFill>
                              <a:effectLst/>
                              <a:latin typeface="Cambria Math" panose="02040503050406030204" pitchFamily="18" charset="0"/>
                              <a:ea typeface="Cambria Math" panose="02040503050406030204" pitchFamily="18" charset="0"/>
                            </a:rPr>
                            <a:t>5</a:t>
                          </a:r>
                        </a:p>
                      </a:txBody>
                      <a:tcPr marL="9525" marR="9525" marT="9525" marB="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350456769"/>
                      </a:ext>
                    </a:extLst>
                  </a:tr>
                  <a:tr h="288000">
                    <a:tc>
                      <a:txBody>
                        <a:bodyPr/>
                        <a:lstStyle/>
                        <a:p>
                          <a:pPr algn="ctr" fontAlgn="b"/>
                          <a14:m>
                            <m:oMathPara xmlns:m="http://schemas.openxmlformats.org/officeDocument/2006/math">
                              <m:oMathParaPr>
                                <m:jc m:val="centerGroup"/>
                              </m:oMathParaPr>
                              <m:oMath xmlns:m="http://schemas.openxmlformats.org/officeDocument/2006/math">
                                <m:r>
                                  <a:rPr lang="cs-CZ" sz="1200" b="0" i="1" u="none" strike="noStrike" dirty="0" smtClean="0">
                                    <a:solidFill>
                                      <a:schemeClr val="bg1"/>
                                    </a:solidFill>
                                    <a:effectLst/>
                                    <a:latin typeface="Cambria Math" panose="02040503050406030204" pitchFamily="18" charset="0"/>
                                    <a:ea typeface="Cambria Math" panose="02040503050406030204" pitchFamily="18" charset="0"/>
                                  </a:rPr>
                                  <m:t>𝑘</m:t>
                                </m:r>
                              </m:oMath>
                            </m:oMathPara>
                          </a14:m>
                          <a:endParaRPr lang="cs-CZ" sz="12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L w="1905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lang="cs-CZ" sz="1200" b="0" i="1" u="none" strike="noStrike" dirty="0" smtClean="0">
                                        <a:solidFill>
                                          <a:schemeClr val="bg1"/>
                                        </a:solidFill>
                                        <a:effectLst/>
                                        <a:latin typeface="Cambria Math" panose="02040503050406030204" pitchFamily="18" charset="0"/>
                                        <a:ea typeface="Cambria Math" panose="02040503050406030204" pitchFamily="18" charset="0"/>
                                      </a:rPr>
                                    </m:ctrlPr>
                                  </m:sSubPr>
                                  <m:e>
                                    <m:r>
                                      <a:rPr lang="cs-CZ" sz="1200" b="0" i="1" u="none" strike="noStrike" dirty="0" smtClean="0">
                                        <a:solidFill>
                                          <a:schemeClr val="bg1"/>
                                        </a:solidFill>
                                        <a:effectLst/>
                                        <a:latin typeface="Cambria Math" panose="02040503050406030204" pitchFamily="18" charset="0"/>
                                        <a:ea typeface="Cambria Math" panose="02040503050406030204" pitchFamily="18" charset="0"/>
                                      </a:rPr>
                                      <m:t>𝑟</m:t>
                                    </m:r>
                                  </m:e>
                                  <m:sub>
                                    <m:r>
                                      <a:rPr lang="cs-CZ" sz="1200" b="0" i="1" u="none" strike="noStrike" dirty="0" smtClean="0">
                                        <a:solidFill>
                                          <a:schemeClr val="bg1"/>
                                        </a:solidFill>
                                        <a:effectLst/>
                                        <a:latin typeface="Cambria Math" panose="02040503050406030204" pitchFamily="18" charset="0"/>
                                        <a:ea typeface="Cambria Math" panose="02040503050406030204" pitchFamily="18" charset="0"/>
                                      </a:rPr>
                                      <m:t>𝑘</m:t>
                                    </m:r>
                                  </m:sub>
                                </m:sSub>
                              </m:oMath>
                            </m:oMathPara>
                          </a14:m>
                          <a:endParaRPr lang="cs-CZ" sz="12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fontAlgn="b"/>
                          <a14:m>
                            <m:oMathPara xmlns:m="http://schemas.openxmlformats.org/officeDocument/2006/math">
                              <m:oMathParaPr>
                                <m:jc m:val="center"/>
                              </m:oMathParaPr>
                              <m:oMath xmlns:m="http://schemas.openxmlformats.org/officeDocument/2006/math">
                                <m:sSub>
                                  <m:sSubPr>
                                    <m:ctrlPr>
                                      <a:rPr lang="cs-CZ" sz="1200" b="0" i="1" u="none" strike="noStrike" dirty="0" smtClean="0">
                                        <a:solidFill>
                                          <a:schemeClr val="bg1"/>
                                        </a:solidFill>
                                        <a:effectLst/>
                                        <a:latin typeface="Cambria Math" panose="02040503050406030204" pitchFamily="18" charset="0"/>
                                        <a:ea typeface="Cambria Math" panose="02040503050406030204" pitchFamily="18" charset="0"/>
                                      </a:rPr>
                                    </m:ctrlPr>
                                  </m:sSubPr>
                                  <m:e>
                                    <m:r>
                                      <a:rPr lang="cs-CZ" sz="1200" b="0" i="1" u="none" strike="noStrike" dirty="0" smtClean="0">
                                        <a:solidFill>
                                          <a:schemeClr val="bg1"/>
                                        </a:solidFill>
                                        <a:effectLst/>
                                        <a:latin typeface="Cambria Math" panose="02040503050406030204" pitchFamily="18" charset="0"/>
                                        <a:ea typeface="Cambria Math" panose="02040503050406030204" pitchFamily="18" charset="0"/>
                                      </a:rPr>
                                      <m:t>𝜇</m:t>
                                    </m:r>
                                  </m:e>
                                  <m:sub>
                                    <m:r>
                                      <a:rPr lang="cs-CZ" sz="1200" b="0" i="1" u="none" strike="noStrike" dirty="0" smtClean="0">
                                        <a:solidFill>
                                          <a:schemeClr val="bg1"/>
                                        </a:solidFill>
                                        <a:effectLst/>
                                        <a:latin typeface="Cambria Math" panose="02040503050406030204" pitchFamily="18" charset="0"/>
                                        <a:ea typeface="Cambria Math" panose="02040503050406030204" pitchFamily="18" charset="0"/>
                                      </a:rPr>
                                      <m:t>𝑘</m:t>
                                    </m:r>
                                  </m:sub>
                                </m:sSub>
                              </m:oMath>
                            </m:oMathPara>
                          </a14:m>
                          <a:endParaRPr lang="cs-CZ" sz="12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cs-CZ" sz="1200" b="0" i="1" u="none" strike="noStrike" smtClean="0">
                                        <a:solidFill>
                                          <a:schemeClr val="bg1"/>
                                        </a:solidFill>
                                        <a:effectLst/>
                                        <a:latin typeface="Cambria Math" panose="02040503050406030204" pitchFamily="18" charset="0"/>
                                        <a:ea typeface="Cambria Math" panose="02040503050406030204" pitchFamily="18" charset="0"/>
                                      </a:rPr>
                                    </m:ctrlPr>
                                  </m:sSubPr>
                                  <m:e>
                                    <m:r>
                                      <a:rPr lang="cs-CZ" sz="1200" b="0" i="1" u="none" strike="noStrike" smtClean="0">
                                        <a:solidFill>
                                          <a:schemeClr val="bg1"/>
                                        </a:solidFill>
                                        <a:effectLst/>
                                        <a:latin typeface="Cambria Math" panose="02040503050406030204" pitchFamily="18" charset="0"/>
                                        <a:ea typeface="Cambria Math" panose="02040503050406030204" pitchFamily="18" charset="0"/>
                                      </a:rPr>
                                      <m:t>𝑆</m:t>
                                    </m:r>
                                  </m:e>
                                  <m:sub>
                                    <m:r>
                                      <a:rPr lang="cs-CZ" sz="1200" b="0" i="1" u="none" strike="noStrike" smtClean="0">
                                        <a:solidFill>
                                          <a:schemeClr val="bg1"/>
                                        </a:solidFill>
                                        <a:effectLst/>
                                        <a:latin typeface="Cambria Math" panose="02040503050406030204" pitchFamily="18" charset="0"/>
                                        <a:ea typeface="Cambria Math" panose="02040503050406030204" pitchFamily="18" charset="0"/>
                                      </a:rPr>
                                      <m:t>𝑘</m:t>
                                    </m:r>
                                  </m:sub>
                                </m:sSub>
                              </m:oMath>
                            </m:oMathPara>
                          </a14:m>
                          <a:endParaRPr lang="cs-CZ" sz="12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fontAlgn="b"/>
                          <a14:m>
                            <m:oMathPara xmlns:m="http://schemas.openxmlformats.org/officeDocument/2006/math">
                              <m:oMathParaPr>
                                <m:jc m:val="center"/>
                              </m:oMathParaPr>
                              <m:oMath xmlns:m="http://schemas.openxmlformats.org/officeDocument/2006/math">
                                <m:sSub>
                                  <m:sSubPr>
                                    <m:ctrlPr>
                                      <a:rPr lang="cs-CZ" sz="1200" b="0" i="1" u="none" strike="noStrike" smtClean="0">
                                        <a:solidFill>
                                          <a:schemeClr val="bg1"/>
                                        </a:solidFill>
                                        <a:effectLst/>
                                        <a:latin typeface="Cambria Math" panose="02040503050406030204" pitchFamily="18" charset="0"/>
                                        <a:ea typeface="Cambria Math" panose="02040503050406030204" pitchFamily="18" charset="0"/>
                                      </a:rPr>
                                    </m:ctrlPr>
                                  </m:sSubPr>
                                  <m:e>
                                    <m:r>
                                      <a:rPr lang="cs-CZ" sz="1200" b="0" i="1" u="none" strike="noStrike" smtClean="0">
                                        <a:solidFill>
                                          <a:schemeClr val="bg1"/>
                                        </a:solidFill>
                                        <a:effectLst/>
                                        <a:latin typeface="Cambria Math" panose="02040503050406030204" pitchFamily="18" charset="0"/>
                                        <a:ea typeface="Cambria Math" panose="02040503050406030204" pitchFamily="18" charset="0"/>
                                      </a:rPr>
                                      <m:t>𝐶</m:t>
                                    </m:r>
                                  </m:e>
                                  <m:sub>
                                    <m:r>
                                      <a:rPr lang="cs-CZ" sz="1200" b="0" i="1" u="none" strike="noStrike" smtClean="0">
                                        <a:solidFill>
                                          <a:schemeClr val="bg1"/>
                                        </a:solidFill>
                                        <a:effectLst/>
                                        <a:latin typeface="Cambria Math" panose="02040503050406030204" pitchFamily="18" charset="0"/>
                                        <a:ea typeface="Cambria Math" panose="02040503050406030204" pitchFamily="18" charset="0"/>
                                      </a:rPr>
                                      <m:t>𝑘</m:t>
                                    </m:r>
                                  </m:sub>
                                </m:sSub>
                              </m:oMath>
                            </m:oMathPara>
                          </a14:m>
                          <a:endParaRPr lang="cs-CZ" sz="12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R w="1905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0000"/>
                      </a:ext>
                    </a:extLst>
                  </a:tr>
                  <a:tr h="2048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0.121153</a:t>
                          </a:r>
                        </a:p>
                      </a:txBody>
                      <a:tcPr marL="9525" marR="36000" marT="9525" marB="0" anchor="ctr">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-0.518574</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ctr">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29.77</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ctr">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a:t>
                          </a:r>
                        </a:p>
                      </a:txBody>
                      <a:tcPr marL="9525" marR="36000" marT="9525" marB="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0001"/>
                      </a:ext>
                    </a:extLst>
                  </a:tr>
                  <a:tr h="203116">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2</a:t>
                          </a:r>
                        </a:p>
                      </a:txBody>
                      <a:tcPr marL="9525" marR="9525" marT="9525" marB="0" anchor="ctr">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0.480124</a:t>
                          </a:r>
                        </a:p>
                      </a:txBody>
                      <a:tcPr marL="9525" marR="36000" marT="9525" marB="0" anchor="ctr">
                        <a:solidFill>
                          <a:schemeClr val="tx2">
                            <a:lumMod val="20000"/>
                            <a:lumOff val="80000"/>
                          </a:schemeClr>
                        </a:solidFill>
                      </a:tcPr>
                    </a:tc>
                    <a:tc>
                      <a:txBody>
                        <a:bodyPr/>
                        <a:lstStyle/>
                        <a:p>
                          <a:pPr algn="ctr" fontAlgn="b"/>
                          <a:r>
                            <a:rPr lang="en-GB" sz="1000" b="0" i="0" u="none" strike="noStrike" kern="1200" dirty="0">
                              <a:solidFill>
                                <a:srgbClr val="000000"/>
                              </a:solidFill>
                              <a:effectLst/>
                              <a:latin typeface="Cambria Math" panose="02040503050406030204" pitchFamily="18" charset="0"/>
                              <a:ea typeface="Cambria Math" panose="02040503050406030204" pitchFamily="18" charset="0"/>
                              <a:cs typeface="+mn-cs"/>
                            </a:rPr>
                            <a:t>0</a:t>
                          </a:r>
                          <a:r>
                            <a:rPr lang="cs-CZ" sz="1000" b="0" i="0" u="none" strike="noStrike" kern="1200" dirty="0">
                              <a:solidFill>
                                <a:srgbClr val="000000"/>
                              </a:solidFill>
                              <a:effectLst/>
                              <a:latin typeface="Cambria Math" panose="02040503050406030204" pitchFamily="18" charset="0"/>
                              <a:ea typeface="Cambria Math" panose="02040503050406030204" pitchFamily="18" charset="0"/>
                              <a:cs typeface="+mn-cs"/>
                            </a:rPr>
                            <a:t>.</a:t>
                          </a:r>
                          <a:r>
                            <a:rPr lang="en-GB" sz="1000" b="0" i="0" u="none" strike="noStrike" kern="1200" dirty="0">
                              <a:solidFill>
                                <a:srgbClr val="000000"/>
                              </a:solidFill>
                              <a:effectLst/>
                              <a:latin typeface="Cambria Math" panose="02040503050406030204" pitchFamily="18" charset="0"/>
                              <a:ea typeface="Cambria Math" panose="02040503050406030204" pitchFamily="18" charset="0"/>
                              <a:cs typeface="+mn-cs"/>
                            </a:rPr>
                            <a:t>51439</a:t>
                          </a:r>
                          <a:r>
                            <a:rPr lang="cs-CZ" sz="1000" b="0" i="0" u="none" strike="noStrike" kern="1200" dirty="0">
                              <a:solidFill>
                                <a:srgbClr val="000000"/>
                              </a:solidFill>
                              <a:effectLst/>
                              <a:latin typeface="Cambria Math" panose="02040503050406030204" pitchFamily="18" charset="0"/>
                              <a:ea typeface="Cambria Math" panose="02040503050406030204" pitchFamily="18" charset="0"/>
                              <a:cs typeface="+mn-cs"/>
                            </a:rPr>
                            <a:t>1</a:t>
                          </a:r>
                          <a:endParaRPr lang="en-GB" sz="10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9525" marR="9525" marT="9525" marB="0" anchor="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83.63</a:t>
                          </a:r>
                        </a:p>
                      </a:txBody>
                      <a:tcPr marL="9525" marR="36000" marT="9525" marB="0" anchor="ctr">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38.63</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ctr">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2"/>
                      </a:ext>
                    </a:extLst>
                  </a:tr>
                  <a:tr h="190500">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3</a:t>
                          </a:r>
                        </a:p>
                      </a:txBody>
                      <a:tcPr marL="9525" marR="9525" marT="9525" marB="0" anchor="ctr">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0.524551</a:t>
                          </a:r>
                        </a:p>
                      </a:txBody>
                      <a:tcPr marL="9525" marR="36000" marT="9525" marB="0" anchor="ctr">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0.617209</a:t>
                          </a:r>
                        </a:p>
                      </a:txBody>
                      <a:tcPr marL="9525" marR="36000" marT="9525" marB="0" anchor="ctr">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92.69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ctr">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47.69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ctr">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3"/>
                      </a:ext>
                    </a:extLst>
                  </a:tr>
                  <a:tr h="190500">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4</a:t>
                          </a:r>
                        </a:p>
                      </a:txBody>
                      <a:tcPr marL="9525" marR="9525" marT="9525" marB="0" anchor="ctr">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0.169005</a:t>
                          </a:r>
                        </a:p>
                      </a:txBody>
                      <a:tcPr marL="9525" marR="36000" marT="9525" marB="0" anchor="ctr">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-0.323739</a:t>
                          </a:r>
                        </a:p>
                      </a:txBody>
                      <a:tcPr marL="9525" marR="36000" marT="9525" marB="0" anchor="ctr">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36.17</a:t>
                          </a:r>
                        </a:p>
                      </a:txBody>
                      <a:tcPr marL="9525" marR="36000" marT="9525" marB="0" anchor="ctr">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a:t>
                          </a:r>
                        </a:p>
                      </a:txBody>
                      <a:tcPr marL="9525" marR="36000" marT="9525" marB="0" anchor="ctr">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4"/>
                      </a:ext>
                    </a:extLst>
                  </a:tr>
                  <a:tr h="190500">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5</a:t>
                          </a:r>
                        </a:p>
                      </a:txBody>
                      <a:tcPr marL="9525" marR="9525" marT="9525" marB="0" anchor="ctr">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0.747792</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ctr">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1.176398</a:t>
                          </a:r>
                        </a:p>
                      </a:txBody>
                      <a:tcPr marL="9525" marR="36000" marT="9525" marB="0" anchor="ctr">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162.13</a:t>
                          </a:r>
                        </a:p>
                      </a:txBody>
                      <a:tcPr marL="9525" marR="36000" marT="9525" marB="0" anchor="ctr">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117.13</a:t>
                          </a:r>
                        </a:p>
                      </a:txBody>
                      <a:tcPr marL="9525" marR="36000" marT="9525" marB="0" anchor="ctr">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5"/>
                      </a:ext>
                    </a:extLst>
                  </a:tr>
                  <a:tr h="190500">
                    <a:tc>
                      <a:txBody>
                        <a:bodyPr/>
                        <a:lstStyle/>
                        <a:p>
                          <a:pPr algn="ctr" fontAlgn="b"/>
                          <a14:m>
                            <m:oMathPara xmlns:m="http://schemas.openxmlformats.org/officeDocument/2006/math">
                              <m:oMathParaPr>
                                <m:jc m:val="centerGroup"/>
                              </m:oMathParaPr>
                              <m:oMath xmlns:m="http://schemas.openxmlformats.org/officeDocument/2006/math">
                                <m:r>
                                  <a:rPr lang="cs-CZ" sz="1000" i="1" u="none" strike="noStrike" smtClean="0">
                                    <a:effectLst/>
                                    <a:latin typeface="Cambria Math" panose="02040503050406030204" pitchFamily="18" charset="0"/>
                                    <a:ea typeface="Cambria Math" panose="02040503050406030204" pitchFamily="18" charset="0"/>
                                  </a:rPr>
                                  <m:t>⋮</m:t>
                                </m:r>
                              </m:oMath>
                            </m:oMathPara>
                          </a14:m>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cs-CZ" sz="1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m:oMathPara>
                          </a14:m>
                          <a:endParaRPr kumimoji="0" lang="cs-CZ" sz="1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9525" marR="36000" marT="9525" marB="0" anchor="ctr">
                        <a:solidFill>
                          <a:schemeClr val="tx2">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cs-CZ" sz="1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m:oMathPara>
                          </a14:m>
                          <a:endParaRPr kumimoji="0" lang="cs-CZ" sz="1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9525" marR="36000" marT="9525" marB="0" anchor="ctr">
                        <a:solidFill>
                          <a:schemeClr val="tx2">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cs-CZ" sz="1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m:oMathPara>
                          </a14:m>
                          <a:endParaRPr kumimoji="0" lang="cs-CZ" sz="1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9525" marR="36000" marT="9525" marB="0" anchor="ctr">
                        <a:solidFill>
                          <a:schemeClr val="tx2">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cs-CZ" sz="1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m:oMathPara>
                          </a14:m>
                          <a:endParaRPr kumimoji="0" lang="cs-CZ" sz="10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9525" marR="36000" marT="9525" marB="0" anchor="ctr">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6"/>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1000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lnL w="190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0.973628</a:t>
                          </a:r>
                        </a:p>
                      </a:txBody>
                      <a:tcPr marL="9525" marR="36000" marT="9525" marB="0" anchor="ctr">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2.347827</a:t>
                          </a:r>
                        </a:p>
                      </a:txBody>
                      <a:tcPr marL="9525" marR="36000" marT="9525" marB="0" anchor="ctr">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523.14</a:t>
                          </a:r>
                        </a:p>
                      </a:txBody>
                      <a:tcPr marL="9525" marR="36000" marT="9525" marB="0" anchor="ctr">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478.14</a:t>
                          </a:r>
                        </a:p>
                      </a:txBody>
                      <a:tcPr marL="9525" marR="36000" marT="9525" marB="0" anchor="ctr">
                        <a:lnR w="190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3"/>
                      </a:ext>
                    </a:extLst>
                  </a:tr>
                  <a:tr h="190500">
                    <a:tc>
                      <a:txBody>
                        <a:bodyPr/>
                        <a:lstStyle/>
                        <a:p>
                          <a:pPr algn="ctr" fontAlgn="b"/>
                          <a:r>
                            <a:rPr lang="en-GB" sz="1000" b="0" i="0" u="none" strike="noStrike" noProof="0" dirty="0">
                              <a:solidFill>
                                <a:srgbClr val="000000"/>
                              </a:solidFill>
                              <a:effectLst/>
                              <a:latin typeface="Cambria Math" panose="02040503050406030204" pitchFamily="18" charset="0"/>
                              <a:ea typeface="Cambria Math" panose="02040503050406030204" pitchFamily="18" charset="0"/>
                            </a:rPr>
                            <a:t>Average</a:t>
                          </a:r>
                        </a:p>
                      </a:txBody>
                      <a:tcPr marL="9525" marR="9525" marT="9525" marB="0" anchor="ctr">
                        <a:lnL w="190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0.505269</a:t>
                          </a:r>
                        </a:p>
                      </a:txBody>
                      <a:tcPr marL="9525" marR="36000" marT="9525" marB="0" anchor="ct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algn="ctr" defTabSz="914400" rtl="0" eaLnBrk="1" fontAlgn="b" latinLnBrk="0" hangingPunct="1"/>
                          <a:r>
                            <a:rPr lang="cs-CZ" sz="1000" b="0" i="0" u="none" strike="noStrike" kern="1200">
                              <a:solidFill>
                                <a:srgbClr val="000000"/>
                              </a:solidFill>
                              <a:effectLst/>
                              <a:latin typeface="Cambria Math" panose="02040503050406030204" pitchFamily="18" charset="0"/>
                              <a:ea typeface="Cambria Math" panose="02040503050406030204" pitchFamily="18" charset="0"/>
                              <a:cs typeface="+mn-cs"/>
                            </a:rPr>
                            <a:t>0.582719</a:t>
                          </a:r>
                          <a:endParaRPr lang="cs-CZ" sz="10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9525" marR="36000" marT="9525" marB="0" anchor="ct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x</a:t>
                          </a:r>
                        </a:p>
                      </a:txBody>
                      <a:tcPr marL="9525" marR="36000" marT="9525" marB="0" anchor="ct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93.963</a:t>
                          </a:r>
                        </a:p>
                      </a:txBody>
                      <a:tcPr marL="9525" marR="36000" marT="9525" marB="0" anchor="ctr">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625683764"/>
                      </a:ext>
                    </a:extLst>
                  </a:tr>
                </a:tbl>
              </a:graphicData>
            </a:graphic>
          </p:graphicFrame>
        </mc:Choice>
        <mc:Fallback xmlns="">
          <p:graphicFrame>
            <p:nvGraphicFramePr>
              <p:cNvPr id="6" name="Tabulka 5"/>
              <p:cNvGraphicFramePr>
                <a:graphicFrameLocks noGrp="1"/>
              </p:cNvGraphicFramePr>
              <p:nvPr>
                <p:extLst>
                  <p:ext uri="{D42A27DB-BD31-4B8C-83A1-F6EECF244321}">
                    <p14:modId xmlns:p14="http://schemas.microsoft.com/office/powerpoint/2010/main" val="2427092559"/>
                  </p:ext>
                </p:extLst>
              </p:nvPr>
            </p:nvGraphicFramePr>
            <p:xfrm>
              <a:off x="1428576" y="3375160"/>
              <a:ext cx="3348000" cy="2018916"/>
            </p:xfrm>
            <a:graphic>
              <a:graphicData uri="http://schemas.openxmlformats.org/drawingml/2006/table">
                <a:tbl>
                  <a:tblPr>
                    <a:tableStyleId>{7DF18680-E054-41AD-8BC1-D1AEF772440D}</a:tableStyleId>
                  </a:tblPr>
                  <a:tblGrid>
                    <a:gridCol w="612000">
                      <a:extLst>
                        <a:ext uri="{9D8B030D-6E8A-4147-A177-3AD203B41FA5}">
                          <a16:colId xmlns:a16="http://schemas.microsoft.com/office/drawing/2014/main" val="20000"/>
                        </a:ext>
                      </a:extLst>
                    </a:gridCol>
                    <a:gridCol w="6840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684000">
                      <a:extLst>
                        <a:ext uri="{9D8B030D-6E8A-4147-A177-3AD203B41FA5}">
                          <a16:colId xmlns:a16="http://schemas.microsoft.com/office/drawing/2014/main" val="20003"/>
                        </a:ext>
                      </a:extLst>
                    </a:gridCol>
                    <a:gridCol w="684000">
                      <a:extLst>
                        <a:ext uri="{9D8B030D-6E8A-4147-A177-3AD203B41FA5}">
                          <a16:colId xmlns:a16="http://schemas.microsoft.com/office/drawing/2014/main" val="20005"/>
                        </a:ext>
                      </a:extLst>
                    </a:gridCol>
                  </a:tblGrid>
                  <a:tr h="180000">
                    <a:tc>
                      <a:txBody>
                        <a:bodyPr/>
                        <a:lstStyle/>
                        <a:p>
                          <a:pPr algn="ctr" fontAlgn="b"/>
                          <a:r>
                            <a:rPr lang="cs-CZ" sz="800" b="0" i="0" u="none" strike="noStrike" dirty="0">
                              <a:solidFill>
                                <a:schemeClr val="bg1"/>
                              </a:solidFill>
                              <a:effectLst/>
                              <a:latin typeface="Cambria Math" panose="02040503050406030204" pitchFamily="18" charset="0"/>
                              <a:ea typeface="Cambria Math" panose="02040503050406030204" pitchFamily="18" charset="0"/>
                            </a:rPr>
                            <a:t>1.</a:t>
                          </a:r>
                        </a:p>
                      </a:txBody>
                      <a:tcPr marL="9525" marR="9525" marT="9525" marB="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cs-CZ" sz="800" b="0" i="0" u="none" strike="noStrike" dirty="0">
                              <a:solidFill>
                                <a:schemeClr val="bg1"/>
                              </a:solidFill>
                              <a:effectLst/>
                              <a:latin typeface="Cambria Math" panose="02040503050406030204" pitchFamily="18" charset="0"/>
                              <a:ea typeface="Cambria Math" panose="02040503050406030204" pitchFamily="18" charset="0"/>
                            </a:rPr>
                            <a:t>2</a:t>
                          </a: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cs-CZ" sz="800" b="0" i="0" u="none" strike="noStrike" dirty="0">
                              <a:solidFill>
                                <a:schemeClr val="bg1"/>
                              </a:solidFill>
                              <a:effectLst/>
                              <a:latin typeface="Cambria Math" panose="02040503050406030204" pitchFamily="18" charset="0"/>
                              <a:ea typeface="Cambria Math" panose="02040503050406030204" pitchFamily="18" charset="0"/>
                            </a:rPr>
                            <a:t>3</a:t>
                          </a: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cs-CZ" sz="800" b="0" i="0" u="none" strike="noStrike" dirty="0">
                              <a:solidFill>
                                <a:schemeClr val="bg1"/>
                              </a:solidFill>
                              <a:effectLst/>
                              <a:latin typeface="Cambria Math" panose="02040503050406030204" pitchFamily="18" charset="0"/>
                              <a:ea typeface="Cambria Math" panose="02040503050406030204" pitchFamily="18" charset="0"/>
                            </a:rPr>
                            <a:t>4</a:t>
                          </a:r>
                        </a:p>
                      </a:txBody>
                      <a:tcPr marL="9525" marR="9525" marT="9525" marB="0" anchor="ct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b"/>
                          <a:r>
                            <a:rPr lang="cs-CZ" sz="800" b="0" i="0" u="none" strike="noStrike" dirty="0">
                              <a:solidFill>
                                <a:schemeClr val="bg1"/>
                              </a:solidFill>
                              <a:effectLst/>
                              <a:latin typeface="Cambria Math" panose="02040503050406030204" pitchFamily="18" charset="0"/>
                              <a:ea typeface="Cambria Math" panose="02040503050406030204" pitchFamily="18" charset="0"/>
                            </a:rPr>
                            <a:t>5</a:t>
                          </a:r>
                        </a:p>
                      </a:txBody>
                      <a:tcPr marL="9525" marR="9525" marT="9525" marB="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350456769"/>
                      </a:ext>
                    </a:extLst>
                  </a:tr>
                  <a:tr h="288000">
                    <a:tc>
                      <a:txBody>
                        <a:bodyPr/>
                        <a:lstStyle/>
                        <a:p>
                          <a:endParaRPr lang="en-US"/>
                        </a:p>
                      </a:txBody>
                      <a:tcPr marL="9525" marR="9525" marT="9525" marB="0" anchor="ctr">
                        <a:lnL w="1905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16"/>
                          <a:stretch>
                            <a:fillRect l="-1980" t="-65957" r="-447525" b="-568085"/>
                          </a:stretch>
                        </a:blipFill>
                      </a:tcPr>
                    </a:tc>
                    <a:tc>
                      <a:txBody>
                        <a:bodyPr/>
                        <a:lstStyle/>
                        <a:p>
                          <a:endParaRPr lang="en-US"/>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16"/>
                          <a:stretch>
                            <a:fillRect l="-91964" t="-65957" r="-303571" b="-568085"/>
                          </a:stretch>
                        </a:blipFill>
                      </a:tcPr>
                    </a:tc>
                    <a:tc>
                      <a:txBody>
                        <a:bodyPr/>
                        <a:lstStyle/>
                        <a:p>
                          <a:endParaRPr lang="en-US"/>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16"/>
                          <a:stretch>
                            <a:fillRect l="-191964" t="-65957" r="-203571" b="-568085"/>
                          </a:stretch>
                        </a:blipFill>
                      </a:tcPr>
                    </a:tc>
                    <a:tc>
                      <a:txBody>
                        <a:bodyPr/>
                        <a:lstStyle/>
                        <a:p>
                          <a:endParaRPr lang="en-US"/>
                        </a:p>
                      </a:txBody>
                      <a:tcPr marL="9525" marR="9525" marT="9525" marB="0" anchor="ct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16"/>
                          <a:stretch>
                            <a:fillRect l="-289381" t="-65957" r="-101770" b="-568085"/>
                          </a:stretch>
                        </a:blipFill>
                      </a:tcPr>
                    </a:tc>
                    <a:tc>
                      <a:txBody>
                        <a:bodyPr/>
                        <a:lstStyle/>
                        <a:p>
                          <a:endParaRPr lang="en-US"/>
                        </a:p>
                      </a:txBody>
                      <a:tcPr marL="9525" marR="9525" marT="9525" marB="0" anchor="ctr">
                        <a:lnR w="1905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16"/>
                          <a:stretch>
                            <a:fillRect l="-392857" t="-65957" r="-2679" b="-568085"/>
                          </a:stretch>
                        </a:blipFill>
                      </a:tcPr>
                    </a:tc>
                    <a:extLst>
                      <a:ext uri="{0D108BD9-81ED-4DB2-BD59-A6C34878D82A}">
                        <a16:rowId xmlns:a16="http://schemas.microsoft.com/office/drawing/2014/main" val="10000"/>
                      </a:ext>
                    </a:extLst>
                  </a:tr>
                  <a:tr h="2048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1</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0.121153</a:t>
                          </a:r>
                        </a:p>
                      </a:txBody>
                      <a:tcPr marL="9525" marR="36000" marT="9525" marB="0" anchor="ctr">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-0.518574</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ctr">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29.77</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ctr">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a:t>
                          </a:r>
                        </a:p>
                      </a:txBody>
                      <a:tcPr marL="9525" marR="36000" marT="9525" marB="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0001"/>
                      </a:ext>
                    </a:extLst>
                  </a:tr>
                  <a:tr h="203116">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2</a:t>
                          </a:r>
                        </a:p>
                      </a:txBody>
                      <a:tcPr marL="9525" marR="9525" marT="9525" marB="0" anchor="ctr">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0.480124</a:t>
                          </a:r>
                        </a:p>
                      </a:txBody>
                      <a:tcPr marL="9525" marR="36000" marT="9525" marB="0" anchor="ctr">
                        <a:solidFill>
                          <a:schemeClr val="tx2">
                            <a:lumMod val="20000"/>
                            <a:lumOff val="80000"/>
                          </a:schemeClr>
                        </a:solidFill>
                      </a:tcPr>
                    </a:tc>
                    <a:tc>
                      <a:txBody>
                        <a:bodyPr/>
                        <a:lstStyle/>
                        <a:p>
                          <a:pPr algn="ctr" fontAlgn="b"/>
                          <a:r>
                            <a:rPr lang="en-GB" sz="1000" b="0" i="0" u="none" strike="noStrike" kern="1200" dirty="0">
                              <a:solidFill>
                                <a:srgbClr val="000000"/>
                              </a:solidFill>
                              <a:effectLst/>
                              <a:latin typeface="Cambria Math" panose="02040503050406030204" pitchFamily="18" charset="0"/>
                              <a:ea typeface="Cambria Math" panose="02040503050406030204" pitchFamily="18" charset="0"/>
                              <a:cs typeface="+mn-cs"/>
                            </a:rPr>
                            <a:t>0</a:t>
                          </a:r>
                          <a:r>
                            <a:rPr lang="cs-CZ" sz="1000" b="0" i="0" u="none" strike="noStrike" kern="1200" dirty="0">
                              <a:solidFill>
                                <a:srgbClr val="000000"/>
                              </a:solidFill>
                              <a:effectLst/>
                              <a:latin typeface="Cambria Math" panose="02040503050406030204" pitchFamily="18" charset="0"/>
                              <a:ea typeface="Cambria Math" panose="02040503050406030204" pitchFamily="18" charset="0"/>
                              <a:cs typeface="+mn-cs"/>
                            </a:rPr>
                            <a:t>.</a:t>
                          </a:r>
                          <a:r>
                            <a:rPr lang="en-GB" sz="1000" b="0" i="0" u="none" strike="noStrike" kern="1200" dirty="0">
                              <a:solidFill>
                                <a:srgbClr val="000000"/>
                              </a:solidFill>
                              <a:effectLst/>
                              <a:latin typeface="Cambria Math" panose="02040503050406030204" pitchFamily="18" charset="0"/>
                              <a:ea typeface="Cambria Math" panose="02040503050406030204" pitchFamily="18" charset="0"/>
                              <a:cs typeface="+mn-cs"/>
                            </a:rPr>
                            <a:t>51439</a:t>
                          </a:r>
                          <a:r>
                            <a:rPr lang="cs-CZ" sz="1000" b="0" i="0" u="none" strike="noStrike" kern="1200" dirty="0">
                              <a:solidFill>
                                <a:srgbClr val="000000"/>
                              </a:solidFill>
                              <a:effectLst/>
                              <a:latin typeface="Cambria Math" panose="02040503050406030204" pitchFamily="18" charset="0"/>
                              <a:ea typeface="Cambria Math" panose="02040503050406030204" pitchFamily="18" charset="0"/>
                              <a:cs typeface="+mn-cs"/>
                            </a:rPr>
                            <a:t>1</a:t>
                          </a:r>
                          <a:endParaRPr lang="en-GB" sz="10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9525" marR="9525" marT="9525" marB="0" anchor="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83.63</a:t>
                          </a:r>
                        </a:p>
                      </a:txBody>
                      <a:tcPr marL="9525" marR="36000" marT="9525" marB="0" anchor="ctr">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38.63</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ctr">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2"/>
                      </a:ext>
                    </a:extLst>
                  </a:tr>
                  <a:tr h="190500">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3</a:t>
                          </a:r>
                        </a:p>
                      </a:txBody>
                      <a:tcPr marL="9525" marR="9525" marT="9525" marB="0" anchor="ctr">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0.524551</a:t>
                          </a:r>
                        </a:p>
                      </a:txBody>
                      <a:tcPr marL="9525" marR="36000" marT="9525" marB="0" anchor="ctr">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0.617209</a:t>
                          </a:r>
                        </a:p>
                      </a:txBody>
                      <a:tcPr marL="9525" marR="36000" marT="9525" marB="0" anchor="ctr">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92.69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ctr">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47.69</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ctr">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3"/>
                      </a:ext>
                    </a:extLst>
                  </a:tr>
                  <a:tr h="190500">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4</a:t>
                          </a:r>
                        </a:p>
                      </a:txBody>
                      <a:tcPr marL="9525" marR="9525" marT="9525" marB="0" anchor="ctr">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0.169005</a:t>
                          </a:r>
                        </a:p>
                      </a:txBody>
                      <a:tcPr marL="9525" marR="36000" marT="9525" marB="0" anchor="ctr">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-0.323739</a:t>
                          </a:r>
                        </a:p>
                      </a:txBody>
                      <a:tcPr marL="9525" marR="36000" marT="9525" marB="0" anchor="ctr">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36.17</a:t>
                          </a:r>
                        </a:p>
                      </a:txBody>
                      <a:tcPr marL="9525" marR="36000" marT="9525" marB="0" anchor="ctr">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a:t>
                          </a:r>
                        </a:p>
                      </a:txBody>
                      <a:tcPr marL="9525" marR="36000" marT="9525" marB="0" anchor="ctr">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4"/>
                      </a:ext>
                    </a:extLst>
                  </a:tr>
                  <a:tr h="190500">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5</a:t>
                          </a:r>
                        </a:p>
                      </a:txBody>
                      <a:tcPr marL="9525" marR="9525" marT="9525" marB="0" anchor="ctr">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0.747792</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ctr">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1.176398</a:t>
                          </a:r>
                        </a:p>
                      </a:txBody>
                      <a:tcPr marL="9525" marR="36000" marT="9525" marB="0" anchor="ctr">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162.13</a:t>
                          </a:r>
                        </a:p>
                      </a:txBody>
                      <a:tcPr marL="9525" marR="36000" marT="9525" marB="0" anchor="ctr">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117.13</a:t>
                          </a:r>
                        </a:p>
                      </a:txBody>
                      <a:tcPr marL="9525" marR="36000" marT="9525" marB="0" anchor="ctr">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5"/>
                      </a:ext>
                    </a:extLst>
                  </a:tr>
                  <a:tr h="190500">
                    <a:tc>
                      <a:txBody>
                        <a:bodyPr/>
                        <a:lstStyle/>
                        <a:p>
                          <a:endParaRPr lang="en-US"/>
                        </a:p>
                      </a:txBody>
                      <a:tcPr marL="9525" marR="9525" marT="9525" marB="0" anchor="ctr">
                        <a:lnL w="19050" cap="flat" cmpd="sng" algn="ctr">
                          <a:solidFill>
                            <a:schemeClr val="tx1"/>
                          </a:solidFill>
                          <a:prstDash val="solid"/>
                          <a:round/>
                          <a:headEnd type="none" w="med" len="med"/>
                          <a:tailEnd type="none" w="med" len="med"/>
                        </a:lnL>
                        <a:blipFill>
                          <a:blip r:embed="rId16"/>
                          <a:stretch>
                            <a:fillRect l="-1980" t="-770968" r="-447525" b="-241935"/>
                          </a:stretch>
                        </a:blipFill>
                      </a:tcPr>
                    </a:tc>
                    <a:tc>
                      <a:txBody>
                        <a:bodyPr/>
                        <a:lstStyle/>
                        <a:p>
                          <a:endParaRPr lang="en-US"/>
                        </a:p>
                      </a:txBody>
                      <a:tcPr marL="9525" marR="36000" marT="9525" marB="0" anchor="ctr">
                        <a:blipFill>
                          <a:blip r:embed="rId16"/>
                          <a:stretch>
                            <a:fillRect l="-91964" t="-770968" r="-303571" b="-241935"/>
                          </a:stretch>
                        </a:blipFill>
                      </a:tcPr>
                    </a:tc>
                    <a:tc>
                      <a:txBody>
                        <a:bodyPr/>
                        <a:lstStyle/>
                        <a:p>
                          <a:endParaRPr lang="en-US"/>
                        </a:p>
                      </a:txBody>
                      <a:tcPr marL="9525" marR="36000" marT="9525" marB="0" anchor="ctr">
                        <a:blipFill>
                          <a:blip r:embed="rId16"/>
                          <a:stretch>
                            <a:fillRect l="-191964" t="-770968" r="-203571" b="-241935"/>
                          </a:stretch>
                        </a:blipFill>
                      </a:tcPr>
                    </a:tc>
                    <a:tc>
                      <a:txBody>
                        <a:bodyPr/>
                        <a:lstStyle/>
                        <a:p>
                          <a:endParaRPr lang="en-US"/>
                        </a:p>
                      </a:txBody>
                      <a:tcPr marL="9525" marR="36000" marT="9525" marB="0" anchor="ctr">
                        <a:blipFill>
                          <a:blip r:embed="rId16"/>
                          <a:stretch>
                            <a:fillRect l="-289381" t="-770968" r="-101770" b="-241935"/>
                          </a:stretch>
                        </a:blipFill>
                      </a:tcPr>
                    </a:tc>
                    <a:tc>
                      <a:txBody>
                        <a:bodyPr/>
                        <a:lstStyle/>
                        <a:p>
                          <a:endParaRPr lang="en-US"/>
                        </a:p>
                      </a:txBody>
                      <a:tcPr marL="9525" marR="36000" marT="9525" marB="0" anchor="ctr">
                        <a:lnR w="19050" cap="flat" cmpd="sng" algn="ctr">
                          <a:solidFill>
                            <a:schemeClr val="tx1"/>
                          </a:solidFill>
                          <a:prstDash val="solid"/>
                          <a:round/>
                          <a:headEnd type="none" w="med" len="med"/>
                          <a:tailEnd type="none" w="med" len="med"/>
                        </a:lnR>
                        <a:blipFill>
                          <a:blip r:embed="rId16"/>
                          <a:stretch>
                            <a:fillRect l="-392857" t="-770968" r="-2679" b="-241935"/>
                          </a:stretch>
                        </a:blipFill>
                      </a:tcPr>
                    </a:tc>
                    <a:extLst>
                      <a:ext uri="{0D108BD9-81ED-4DB2-BD59-A6C34878D82A}">
                        <a16:rowId xmlns:a16="http://schemas.microsoft.com/office/drawing/2014/main" val="10006"/>
                      </a:ext>
                    </a:extLst>
                  </a:tr>
                  <a:tr h="190500">
                    <a:tc>
                      <a:txBody>
                        <a:bodyPr/>
                        <a:lstStyle/>
                        <a:p>
                          <a:pPr algn="ctr" fontAlgn="b"/>
                          <a:r>
                            <a:rPr lang="cs-CZ" sz="1000" u="none" strike="noStrike" dirty="0">
                              <a:effectLst/>
                              <a:latin typeface="Cambria Math" panose="02040503050406030204" pitchFamily="18" charset="0"/>
                              <a:ea typeface="Cambria Math" panose="02040503050406030204" pitchFamily="18" charset="0"/>
                            </a:rPr>
                            <a:t>1000</a:t>
                          </a:r>
                          <a:endParaRPr lang="cs-CZ" sz="1000" b="0" i="0" u="none" strike="noStrike"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lnL w="190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0.973628</a:t>
                          </a:r>
                        </a:p>
                      </a:txBody>
                      <a:tcPr marL="9525" marR="36000" marT="9525" marB="0" anchor="ctr">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2.347827</a:t>
                          </a:r>
                        </a:p>
                      </a:txBody>
                      <a:tcPr marL="9525" marR="36000" marT="9525" marB="0" anchor="ctr">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523.14</a:t>
                          </a:r>
                        </a:p>
                      </a:txBody>
                      <a:tcPr marL="9525" marR="36000" marT="9525" marB="0" anchor="ctr">
                        <a:lnB w="63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478.14</a:t>
                          </a:r>
                        </a:p>
                      </a:txBody>
                      <a:tcPr marL="9525" marR="36000" marT="9525" marB="0" anchor="ctr">
                        <a:lnR w="190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3"/>
                      </a:ext>
                    </a:extLst>
                  </a:tr>
                  <a:tr h="190500">
                    <a:tc>
                      <a:txBody>
                        <a:bodyPr/>
                        <a:lstStyle/>
                        <a:p>
                          <a:pPr algn="ctr" fontAlgn="b"/>
                          <a:r>
                            <a:rPr lang="en-GB" sz="1000" b="0" i="0" u="none" strike="noStrike" noProof="0" dirty="0">
                              <a:solidFill>
                                <a:srgbClr val="000000"/>
                              </a:solidFill>
                              <a:effectLst/>
                              <a:latin typeface="Cambria Math" panose="02040503050406030204" pitchFamily="18" charset="0"/>
                              <a:ea typeface="Cambria Math" panose="02040503050406030204" pitchFamily="18" charset="0"/>
                            </a:rPr>
                            <a:t>Average</a:t>
                          </a:r>
                        </a:p>
                      </a:txBody>
                      <a:tcPr marL="9525" marR="9525" marT="9525" marB="0" anchor="ctr">
                        <a:lnL w="190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0.505269</a:t>
                          </a:r>
                        </a:p>
                      </a:txBody>
                      <a:tcPr marL="9525" marR="36000" marT="9525" marB="0" anchor="ct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algn="ctr" defTabSz="914400" rtl="0" eaLnBrk="1" fontAlgn="b" latinLnBrk="0" hangingPunct="1"/>
                          <a:r>
                            <a:rPr lang="cs-CZ" sz="1000" b="0" i="0" u="none" strike="noStrike" kern="1200">
                              <a:solidFill>
                                <a:srgbClr val="000000"/>
                              </a:solidFill>
                              <a:effectLst/>
                              <a:latin typeface="Cambria Math" panose="02040503050406030204" pitchFamily="18" charset="0"/>
                              <a:ea typeface="Cambria Math" panose="02040503050406030204" pitchFamily="18" charset="0"/>
                              <a:cs typeface="+mn-cs"/>
                            </a:rPr>
                            <a:t>0.582719</a:t>
                          </a:r>
                          <a:endParaRPr lang="cs-CZ" sz="10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9525" marR="36000" marT="9525" marB="0" anchor="ct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x</a:t>
                          </a:r>
                        </a:p>
                      </a:txBody>
                      <a:tcPr marL="9525" marR="36000" marT="9525" marB="0" anchor="ct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b"/>
                          <a:r>
                            <a:rPr lang="cs-CZ" sz="1000" b="0" i="0" u="none" strike="noStrike" dirty="0">
                              <a:solidFill>
                                <a:srgbClr val="000000"/>
                              </a:solidFill>
                              <a:effectLst/>
                              <a:latin typeface="Cambria Math" panose="02040503050406030204" pitchFamily="18" charset="0"/>
                              <a:ea typeface="Cambria Math" panose="02040503050406030204" pitchFamily="18" charset="0"/>
                            </a:rPr>
                            <a:t>93.963</a:t>
                          </a:r>
                        </a:p>
                      </a:txBody>
                      <a:tcPr marL="9525" marR="36000" marT="9525" marB="0" anchor="ctr">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625683764"/>
                      </a:ext>
                    </a:extLst>
                  </a:tr>
                </a:tbl>
              </a:graphicData>
            </a:graphic>
          </p:graphicFrame>
        </mc:Fallback>
      </mc:AlternateContent>
      <p:sp>
        <p:nvSpPr>
          <p:cNvPr id="9" name="TextovéPole 8">
            <a:extLst>
              <a:ext uri="{FF2B5EF4-FFF2-40B4-BE49-F238E27FC236}">
                <a16:creationId xmlns:a16="http://schemas.microsoft.com/office/drawing/2014/main" id="{3FF86ABB-1A62-FCC3-3A84-EF2C97D61BE2}"/>
              </a:ext>
            </a:extLst>
          </p:cNvPr>
          <p:cNvSpPr txBox="1"/>
          <p:nvPr/>
        </p:nvSpPr>
        <p:spPr>
          <a:xfrm>
            <a:off x="864000" y="2700000"/>
            <a:ext cx="1729429"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Example</a:t>
            </a:r>
          </a:p>
        </p:txBody>
      </p:sp>
      <p:sp>
        <p:nvSpPr>
          <p:cNvPr id="10" name="TextovéPole 9">
            <a:extLst>
              <a:ext uri="{FF2B5EF4-FFF2-40B4-BE49-F238E27FC236}">
                <a16:creationId xmlns:a16="http://schemas.microsoft.com/office/drawing/2014/main" id="{F10D7D0B-6726-3EF6-787F-0EDD91CF4BC3}"/>
              </a:ext>
            </a:extLst>
          </p:cNvPr>
          <p:cNvSpPr txBox="1"/>
          <p:nvPr/>
        </p:nvSpPr>
        <p:spPr>
          <a:xfrm>
            <a:off x="149233" y="3883114"/>
            <a:ext cx="1038390" cy="400110"/>
          </a:xfrm>
          <a:prstGeom prst="rect">
            <a:avLst/>
          </a:prstGeom>
          <a:noFill/>
        </p:spPr>
        <p:txBody>
          <a:bodyPr wrap="square" rtlCol="0">
            <a:spAutoFit/>
          </a:bodyPr>
          <a:lstStyle/>
          <a:p>
            <a:r>
              <a:rPr lang="en-GB" sz="1000" dirty="0">
                <a:latin typeface="Cambria Math"/>
                <a:ea typeface="Cambria Math" panose="02040503050406030204" pitchFamily="18" charset="0"/>
              </a:rPr>
              <a:t>Math. functions</a:t>
            </a:r>
          </a:p>
          <a:p>
            <a:r>
              <a:rPr lang="en-GB" sz="1000" dirty="0">
                <a:latin typeface="Cambria Math"/>
                <a:ea typeface="Cambria Math" panose="02040503050406030204" pitchFamily="18" charset="0"/>
              </a:rPr>
              <a:t>→ RAND</a:t>
            </a:r>
          </a:p>
        </p:txBody>
      </p:sp>
      <p:pic>
        <p:nvPicPr>
          <p:cNvPr id="11" name="Obrázek 10">
            <a:extLst>
              <a:ext uri="{FF2B5EF4-FFF2-40B4-BE49-F238E27FC236}">
                <a16:creationId xmlns:a16="http://schemas.microsoft.com/office/drawing/2014/main" id="{9A0240F9-5940-E7C2-9EF8-5BE00CA95CEF}"/>
              </a:ext>
            </a:extLst>
          </p:cNvPr>
          <p:cNvPicPr>
            <a:picLocks noChangeAspect="1"/>
          </p:cNvPicPr>
          <p:nvPr/>
        </p:nvPicPr>
        <p:blipFill>
          <a:blip r:embed="rId17"/>
          <a:stretch>
            <a:fillRect/>
          </a:stretch>
        </p:blipFill>
        <p:spPr>
          <a:xfrm>
            <a:off x="251520" y="3564397"/>
            <a:ext cx="369332" cy="369332"/>
          </a:xfrm>
          <a:prstGeom prst="rect">
            <a:avLst/>
          </a:prstGeom>
        </p:spPr>
      </p:pic>
      <p:sp>
        <p:nvSpPr>
          <p:cNvPr id="12" name="TextovéPole 11">
            <a:extLst>
              <a:ext uri="{FF2B5EF4-FFF2-40B4-BE49-F238E27FC236}">
                <a16:creationId xmlns:a16="http://schemas.microsoft.com/office/drawing/2014/main" id="{8545BB7B-14EB-F70C-5975-7214BE17E812}"/>
              </a:ext>
            </a:extLst>
          </p:cNvPr>
          <p:cNvSpPr txBox="1"/>
          <p:nvPr/>
        </p:nvSpPr>
        <p:spPr>
          <a:xfrm>
            <a:off x="1187623" y="1190615"/>
            <a:ext cx="7920881" cy="584775"/>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The price of the underlying security is simulated by a large number of random paths using a random number generator</a:t>
            </a:r>
          </a:p>
        </p:txBody>
      </p:sp>
      <p:sp>
        <p:nvSpPr>
          <p:cNvPr id="13" name="TextovéPole 12">
            <a:extLst>
              <a:ext uri="{FF2B5EF4-FFF2-40B4-BE49-F238E27FC236}">
                <a16:creationId xmlns:a16="http://schemas.microsoft.com/office/drawing/2014/main" id="{017F1A9D-011D-6CC5-4D21-D3131AE7B4A1}"/>
              </a:ext>
            </a:extLst>
          </p:cNvPr>
          <p:cNvSpPr txBox="1"/>
          <p:nvPr/>
        </p:nvSpPr>
        <p:spPr>
          <a:xfrm>
            <a:off x="1187624" y="1687039"/>
            <a:ext cx="7776375" cy="584775"/>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The arithmetic average of simulated option payoffs is calculated that approximates the expected value of the call’s premium</a:t>
            </a:r>
          </a:p>
        </p:txBody>
      </p:sp>
      <p:sp>
        <p:nvSpPr>
          <p:cNvPr id="14" name="TextovéPole 13">
            <a:extLst>
              <a:ext uri="{FF2B5EF4-FFF2-40B4-BE49-F238E27FC236}">
                <a16:creationId xmlns:a16="http://schemas.microsoft.com/office/drawing/2014/main" id="{BD01D043-7531-3F37-C16F-213B7242D657}"/>
              </a:ext>
            </a:extLst>
          </p:cNvPr>
          <p:cNvSpPr txBox="1"/>
          <p:nvPr/>
        </p:nvSpPr>
        <p:spPr>
          <a:xfrm>
            <a:off x="1188000" y="2185039"/>
            <a:ext cx="7848872" cy="584775"/>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The current option premium is obtained by discounting the expected value at a risk-free interest rate</a:t>
            </a:r>
          </a:p>
        </p:txBody>
      </p:sp>
      <mc:AlternateContent xmlns:mc="http://schemas.openxmlformats.org/markup-compatibility/2006" xmlns:a14="http://schemas.microsoft.com/office/drawing/2010/main">
        <mc:Choice Requires="a14">
          <p:sp>
            <p:nvSpPr>
              <p:cNvPr id="15" name="TextovéPole 14">
                <a:extLst>
                  <a:ext uri="{FF2B5EF4-FFF2-40B4-BE49-F238E27FC236}">
                    <a16:creationId xmlns:a16="http://schemas.microsoft.com/office/drawing/2014/main" id="{F82BCEE3-B5B2-FD7C-94BC-3CAEE797B8FD}"/>
                  </a:ext>
                </a:extLst>
              </p:cNvPr>
              <p:cNvSpPr txBox="1"/>
              <p:nvPr/>
            </p:nvSpPr>
            <p:spPr>
              <a:xfrm>
                <a:off x="467544" y="5413324"/>
                <a:ext cx="4536055" cy="698012"/>
              </a:xfrm>
              <a:prstGeom prst="rect">
                <a:avLst/>
              </a:prstGeom>
              <a:noFill/>
              <a:ln>
                <a:noFill/>
              </a:ln>
            </p:spPr>
            <p:txBody>
              <a:bodyPr wrap="square" rtlCol="0">
                <a:spAutoFit/>
              </a:bodyPr>
              <a:lstStyle/>
              <a:p>
                <a:pPr marL="266700" indent="-266700">
                  <a:buClr>
                    <a:srgbClr val="7030A0"/>
                  </a:buClr>
                  <a:buSzPct val="100000"/>
                </a:pPr>
                <a14:m>
                  <m:oMathPara xmlns:m="http://schemas.openxmlformats.org/officeDocument/2006/math">
                    <m:oMathParaPr>
                      <m:jc m:val="left"/>
                    </m:oMathParaPr>
                    <m:oMath xmlns:m="http://schemas.openxmlformats.org/officeDocument/2006/math">
                      <m:sSub>
                        <m:sSubPr>
                          <m:ctrlPr>
                            <a:rPr lang="cs-CZ"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𝐶</m:t>
                          </m:r>
                        </m:e>
                        <m:sub>
                          <m:r>
                            <a:rPr lang="cs-CZ" sz="1400" b="0" i="1" smtClean="0">
                              <a:latin typeface="Cambria Math" panose="02040503050406030204" pitchFamily="18" charset="0"/>
                              <a:ea typeface="Cambria Math" panose="02040503050406030204" pitchFamily="18" charset="0"/>
                            </a:rPr>
                            <m:t>0</m:t>
                          </m:r>
                        </m:sub>
                      </m:sSub>
                      <m:r>
                        <a:rPr lang="en-GB" sz="1400" b="0" i="1" smtClean="0">
                          <a:latin typeface="Cambria Math" panose="02040503050406030204" pitchFamily="18" charset="0"/>
                          <a:ea typeface="Cambria Math" panose="02040503050406030204" pitchFamily="18" charset="0"/>
                        </a:rPr>
                        <m:t>=</m:t>
                      </m:r>
                      <m:sSup>
                        <m:sSupPr>
                          <m:ctrlPr>
                            <a:rPr lang="en-GB" sz="1400" b="0" i="1" smtClean="0">
                              <a:latin typeface="Cambria Math" panose="02040503050406030204" pitchFamily="18" charset="0"/>
                              <a:ea typeface="Cambria Math" panose="02040503050406030204" pitchFamily="18" charset="0"/>
                            </a:rPr>
                          </m:ctrlPr>
                        </m:sSupPr>
                        <m:e>
                          <m:r>
                            <a:rPr lang="cs-CZ" sz="1400" b="0" i="1" smtClean="0">
                              <a:latin typeface="Cambria Math" panose="02040503050406030204" pitchFamily="18" charset="0"/>
                              <a:ea typeface="Cambria Math" panose="02040503050406030204" pitchFamily="18" charset="0"/>
                            </a:rPr>
                            <m:t>𝑒</m:t>
                          </m:r>
                        </m:e>
                        <m:sup>
                          <m:r>
                            <a:rPr lang="cs-CZ" sz="1400" b="0" i="1" smtClean="0">
                              <a:latin typeface="Cambria Math" panose="02040503050406030204" pitchFamily="18" charset="0"/>
                              <a:ea typeface="Cambria Math" panose="02040503050406030204" pitchFamily="18" charset="0"/>
                            </a:rPr>
                            <m:t>−</m:t>
                          </m:r>
                          <m:r>
                            <a:rPr lang="cs-CZ" sz="1400" b="0" i="1" smtClean="0">
                              <a:latin typeface="Cambria Math" panose="02040503050406030204" pitchFamily="18" charset="0"/>
                              <a:ea typeface="Cambria Math" panose="02040503050406030204" pitchFamily="18" charset="0"/>
                            </a:rPr>
                            <m:t>𝑟𝑇</m:t>
                          </m:r>
                        </m:sup>
                      </m:sSup>
                      <m:f>
                        <m:fPr>
                          <m:ctrlPr>
                            <a:rPr lang="en-GB" sz="1400" b="0" i="1" smtClean="0">
                              <a:latin typeface="Cambria Math" panose="02040503050406030204" pitchFamily="18" charset="0"/>
                              <a:ea typeface="Cambria Math" panose="02040503050406030204" pitchFamily="18" charset="0"/>
                            </a:rPr>
                          </m:ctrlPr>
                        </m:fPr>
                        <m:num>
                          <m:r>
                            <a:rPr lang="cs-CZ" sz="1400" b="0" i="1" smtClean="0">
                              <a:latin typeface="Cambria Math" panose="02040503050406030204" pitchFamily="18" charset="0"/>
                              <a:ea typeface="Cambria Math" panose="02040503050406030204" pitchFamily="18" charset="0"/>
                            </a:rPr>
                            <m:t>1</m:t>
                          </m:r>
                        </m:num>
                        <m:den>
                          <m:r>
                            <a:rPr lang="cs-CZ" sz="1400" b="0" i="1" smtClean="0">
                              <a:latin typeface="Cambria Math" panose="02040503050406030204" pitchFamily="18" charset="0"/>
                              <a:ea typeface="Cambria Math" panose="02040503050406030204" pitchFamily="18" charset="0"/>
                            </a:rPr>
                            <m:t>1000</m:t>
                          </m:r>
                        </m:den>
                      </m:f>
                      <m:nary>
                        <m:naryPr>
                          <m:chr m:val="∑"/>
                          <m:ctrlPr>
                            <a:rPr lang="en-GB" sz="1400" b="0" i="1" smtClean="0">
                              <a:latin typeface="Cambria Math" panose="02040503050406030204" pitchFamily="18" charset="0"/>
                              <a:ea typeface="Cambria Math" panose="02040503050406030204" pitchFamily="18" charset="0"/>
                            </a:rPr>
                          </m:ctrlPr>
                        </m:naryPr>
                        <m:sub>
                          <m:r>
                            <m:rPr>
                              <m:brk m:alnAt="23"/>
                            </m:rPr>
                            <a:rPr lang="cs-CZ" sz="1400" b="0" i="1" smtClean="0">
                              <a:latin typeface="Cambria Math" panose="02040503050406030204" pitchFamily="18" charset="0"/>
                              <a:ea typeface="Cambria Math" panose="02040503050406030204" pitchFamily="18" charset="0"/>
                            </a:rPr>
                            <m:t>𝑘</m:t>
                          </m:r>
                          <m:r>
                            <a:rPr lang="cs-CZ" sz="1400" b="0" i="1" smtClean="0">
                              <a:latin typeface="Cambria Math" panose="02040503050406030204" pitchFamily="18" charset="0"/>
                              <a:ea typeface="Cambria Math" panose="02040503050406030204" pitchFamily="18" charset="0"/>
                            </a:rPr>
                            <m:t>=1</m:t>
                          </m:r>
                        </m:sub>
                        <m:sup>
                          <m:r>
                            <a:rPr lang="cs-CZ" sz="1400" b="0" i="1" smtClean="0">
                              <a:latin typeface="Cambria Math" panose="02040503050406030204" pitchFamily="18" charset="0"/>
                              <a:ea typeface="Cambria Math" panose="02040503050406030204" pitchFamily="18" charset="0"/>
                            </a:rPr>
                            <m:t>1000</m:t>
                          </m:r>
                        </m:sup>
                        <m:e>
                          <m:sSub>
                            <m:sSubPr>
                              <m:ctrlPr>
                                <a:rPr lang="en-GB" sz="1400" b="0" i="1" smtClean="0">
                                  <a:latin typeface="Cambria Math" panose="02040503050406030204" pitchFamily="18" charset="0"/>
                                  <a:ea typeface="Cambria Math" panose="02040503050406030204" pitchFamily="18" charset="0"/>
                                </a:rPr>
                              </m:ctrlPr>
                            </m:sSubPr>
                            <m:e>
                              <m:r>
                                <a:rPr lang="cs-CZ" sz="1400" b="0" i="1" smtClean="0">
                                  <a:latin typeface="Cambria Math" panose="02040503050406030204" pitchFamily="18" charset="0"/>
                                  <a:ea typeface="Cambria Math" panose="02040503050406030204" pitchFamily="18" charset="0"/>
                                </a:rPr>
                                <m:t>𝐶</m:t>
                              </m:r>
                            </m:e>
                            <m:sub>
                              <m:r>
                                <a:rPr lang="cs-CZ" sz="1400" b="0" i="1" smtClean="0">
                                  <a:latin typeface="Cambria Math" panose="02040503050406030204" pitchFamily="18" charset="0"/>
                                  <a:ea typeface="Cambria Math" panose="02040503050406030204" pitchFamily="18" charset="0"/>
                                </a:rPr>
                                <m:t>𝑘</m:t>
                              </m:r>
                            </m:sub>
                          </m:sSub>
                          <m:r>
                            <a:rPr lang="cs-CZ" sz="1400" b="0" i="1" smtClean="0">
                              <a:latin typeface="Cambria Math" panose="02040503050406030204" pitchFamily="18" charset="0"/>
                              <a:ea typeface="Cambria Math" panose="02040503050406030204" pitchFamily="18" charset="0"/>
                            </a:rPr>
                            <m:t>=</m:t>
                          </m:r>
                          <m:sSup>
                            <m:sSupPr>
                              <m:ctrlPr>
                                <a:rPr lang="cs-CZ" sz="1400" b="0" i="1" smtClean="0">
                                  <a:latin typeface="Cambria Math" panose="02040503050406030204" pitchFamily="18" charset="0"/>
                                  <a:ea typeface="Cambria Math" panose="02040503050406030204" pitchFamily="18" charset="0"/>
                                </a:rPr>
                              </m:ctrlPr>
                            </m:sSupPr>
                            <m:e>
                              <m:r>
                                <a:rPr lang="cs-CZ" sz="1400" b="0" i="1" smtClean="0">
                                  <a:latin typeface="Cambria Math" panose="02040503050406030204" pitchFamily="18" charset="0"/>
                                  <a:ea typeface="Cambria Math" panose="02040503050406030204" pitchFamily="18" charset="0"/>
                                </a:rPr>
                                <m:t>𝑒</m:t>
                              </m:r>
                            </m:e>
                            <m:sup>
                              <m:r>
                                <a:rPr lang="cs-CZ" sz="1400" b="0" i="1" smtClean="0">
                                  <a:latin typeface="Cambria Math" panose="02040503050406030204" pitchFamily="18" charset="0"/>
                                  <a:ea typeface="Cambria Math" panose="02040503050406030204" pitchFamily="18" charset="0"/>
                                </a:rPr>
                                <m:t>−0.1×10</m:t>
                              </m:r>
                            </m:sup>
                          </m:sSup>
                          <m:r>
                            <a:rPr lang="cs-CZ" sz="1400" b="0" i="1" smtClean="0">
                              <a:latin typeface="Cambria Math" panose="02040503050406030204" pitchFamily="18" charset="0"/>
                              <a:ea typeface="Cambria Math" panose="02040503050406030204" pitchFamily="18" charset="0"/>
                            </a:rPr>
                            <m:t>×93.963=</m:t>
                          </m:r>
                          <m:r>
                            <a:rPr lang="cs-CZ" sz="1400" b="1" i="1" smtClean="0">
                              <a:solidFill>
                                <a:srgbClr val="C00000"/>
                              </a:solidFill>
                              <a:latin typeface="Cambria Math" panose="02040503050406030204" pitchFamily="18" charset="0"/>
                              <a:ea typeface="Cambria Math" panose="02040503050406030204" pitchFamily="18" charset="0"/>
                            </a:rPr>
                            <m:t>€</m:t>
                          </m:r>
                          <m:r>
                            <a:rPr lang="cs-CZ" sz="1400" b="1" i="1" smtClean="0">
                              <a:solidFill>
                                <a:srgbClr val="C00000"/>
                              </a:solidFill>
                              <a:latin typeface="Cambria Math" panose="02040503050406030204" pitchFamily="18" charset="0"/>
                              <a:ea typeface="Cambria Math" panose="02040503050406030204" pitchFamily="18" charset="0"/>
                            </a:rPr>
                            <m:t>𝟑𝟒</m:t>
                          </m:r>
                          <m:r>
                            <a:rPr lang="cs-CZ" sz="1400" b="1" i="1" smtClean="0">
                              <a:solidFill>
                                <a:srgbClr val="C00000"/>
                              </a:solidFill>
                              <a:latin typeface="Cambria Math" panose="02040503050406030204" pitchFamily="18" charset="0"/>
                              <a:ea typeface="Cambria Math" panose="02040503050406030204" pitchFamily="18" charset="0"/>
                            </a:rPr>
                            <m:t>.</m:t>
                          </m:r>
                          <m:r>
                            <a:rPr lang="cs-CZ" sz="1400" b="1" i="1" smtClean="0">
                              <a:solidFill>
                                <a:srgbClr val="C00000"/>
                              </a:solidFill>
                              <a:latin typeface="Cambria Math" panose="02040503050406030204" pitchFamily="18" charset="0"/>
                              <a:ea typeface="Cambria Math" panose="02040503050406030204" pitchFamily="18" charset="0"/>
                            </a:rPr>
                            <m:t>𝟓𝟕</m:t>
                          </m:r>
                        </m:e>
                      </m:nary>
                    </m:oMath>
                  </m:oMathPara>
                </a14:m>
                <a:endParaRPr lang="en-GB" sz="1400" dirty="0">
                  <a:latin typeface="Cambria Math" panose="02040503050406030204" pitchFamily="18" charset="0"/>
                  <a:ea typeface="Cambria Math" panose="02040503050406030204" pitchFamily="18" charset="0"/>
                </a:endParaRPr>
              </a:p>
            </p:txBody>
          </p:sp>
        </mc:Choice>
        <mc:Fallback xmlns="">
          <p:sp>
            <p:nvSpPr>
              <p:cNvPr id="15" name="TextovéPole 14">
                <a:extLst>
                  <a:ext uri="{FF2B5EF4-FFF2-40B4-BE49-F238E27FC236}">
                    <a16:creationId xmlns:a16="http://schemas.microsoft.com/office/drawing/2014/main" id="{F82BCEE3-B5B2-FD7C-94BC-3CAEE797B8FD}"/>
                  </a:ext>
                </a:extLst>
              </p:cNvPr>
              <p:cNvSpPr txBox="1">
                <a:spLocks noRot="1" noChangeAspect="1" noMove="1" noResize="1" noEditPoints="1" noAdjustHandles="1" noChangeArrowheads="1" noChangeShapeType="1" noTextEdit="1"/>
              </p:cNvSpPr>
              <p:nvPr/>
            </p:nvSpPr>
            <p:spPr>
              <a:xfrm>
                <a:off x="467544" y="5413324"/>
                <a:ext cx="4536055" cy="698012"/>
              </a:xfrm>
              <a:prstGeom prst="rect">
                <a:avLst/>
              </a:prstGeom>
              <a:blipFill>
                <a:blip r:embed="rId18"/>
                <a:stretch>
                  <a:fillRect/>
                </a:stretch>
              </a:blipFill>
              <a:ln>
                <a:noFill/>
              </a:ln>
            </p:spPr>
            <p:txBody>
              <a:bodyPr/>
              <a:lstStyle/>
              <a:p>
                <a:r>
                  <a:rPr lang="en-GB">
                    <a:noFill/>
                  </a:rPr>
                  <a:t> </a:t>
                </a:r>
              </a:p>
            </p:txBody>
          </p:sp>
        </mc:Fallback>
      </mc:AlternateContent>
      <p:sp>
        <p:nvSpPr>
          <p:cNvPr id="18" name="TextovéPole 17">
            <a:extLst>
              <a:ext uri="{FF2B5EF4-FFF2-40B4-BE49-F238E27FC236}">
                <a16:creationId xmlns:a16="http://schemas.microsoft.com/office/drawing/2014/main" id="{02FCE3F4-E53D-B937-A33A-88045A639A0A}"/>
              </a:ext>
            </a:extLst>
          </p:cNvPr>
          <p:cNvSpPr txBox="1"/>
          <p:nvPr/>
        </p:nvSpPr>
        <p:spPr>
          <a:xfrm>
            <a:off x="3203847" y="5840936"/>
            <a:ext cx="1872209" cy="246221"/>
          </a:xfrm>
          <a:prstGeom prst="rect">
            <a:avLst/>
          </a:prstGeom>
          <a:noFill/>
        </p:spPr>
        <p:txBody>
          <a:bodyPr wrap="square">
            <a:spAutoFit/>
          </a:bodyPr>
          <a:lstStyle/>
          <a:p>
            <a:r>
              <a:rPr lang="cs-CZ" sz="1000" dirty="0">
                <a:latin typeface="Cambria Math"/>
                <a:ea typeface="Cambria Math" panose="02040503050406030204" pitchFamily="18" charset="0"/>
              </a:rPr>
              <a:t>(€34.27 in BM, €34.84 in B-S)</a:t>
            </a:r>
          </a:p>
        </p:txBody>
      </p:sp>
      <p:sp>
        <p:nvSpPr>
          <p:cNvPr id="60" name="TextovéPole 59">
            <a:extLst>
              <a:ext uri="{FF2B5EF4-FFF2-40B4-BE49-F238E27FC236}">
                <a16:creationId xmlns:a16="http://schemas.microsoft.com/office/drawing/2014/main" id="{23DE60BC-6DF6-D228-A94A-8EE43A89DA6A}"/>
              </a:ext>
            </a:extLst>
          </p:cNvPr>
          <p:cNvSpPr txBox="1"/>
          <p:nvPr/>
        </p:nvSpPr>
        <p:spPr>
          <a:xfrm>
            <a:off x="151200" y="4179360"/>
            <a:ext cx="1038390" cy="246221"/>
          </a:xfrm>
          <a:prstGeom prst="rect">
            <a:avLst/>
          </a:prstGeom>
          <a:noFill/>
        </p:spPr>
        <p:txBody>
          <a:bodyPr wrap="square" rtlCol="0">
            <a:spAutoFit/>
          </a:bodyPr>
          <a:lstStyle/>
          <a:p>
            <a:r>
              <a:rPr lang="en-GB" sz="1000" dirty="0">
                <a:latin typeface="Cambria Math"/>
                <a:ea typeface="Cambria Math" panose="02040503050406030204" pitchFamily="18" charset="0"/>
              </a:rPr>
              <a:t>→ NORM.INV</a:t>
            </a:r>
          </a:p>
        </p:txBody>
      </p:sp>
      <p:grpSp>
        <p:nvGrpSpPr>
          <p:cNvPr id="61" name="Skupina 60">
            <a:extLst>
              <a:ext uri="{FF2B5EF4-FFF2-40B4-BE49-F238E27FC236}">
                <a16:creationId xmlns:a16="http://schemas.microsoft.com/office/drawing/2014/main" id="{55454A84-7C17-3B88-A624-5358A225FA59}"/>
              </a:ext>
            </a:extLst>
          </p:cNvPr>
          <p:cNvGrpSpPr/>
          <p:nvPr/>
        </p:nvGrpSpPr>
        <p:grpSpPr>
          <a:xfrm>
            <a:off x="-37540" y="4491616"/>
            <a:ext cx="1369180" cy="796457"/>
            <a:chOff x="-99548" y="4543007"/>
            <a:chExt cx="1369180" cy="796457"/>
          </a:xfrm>
        </p:grpSpPr>
        <p:cxnSp>
          <p:nvCxnSpPr>
            <p:cNvPr id="80" name="Přímá spojnice 79">
              <a:extLst>
                <a:ext uri="{FF2B5EF4-FFF2-40B4-BE49-F238E27FC236}">
                  <a16:creationId xmlns:a16="http://schemas.microsoft.com/office/drawing/2014/main" id="{A2980D75-5438-30C2-2903-488A3E929384}"/>
                </a:ext>
              </a:extLst>
            </p:cNvPr>
            <p:cNvCxnSpPr>
              <a:cxnSpLocks/>
            </p:cNvCxnSpPr>
            <p:nvPr/>
          </p:nvCxnSpPr>
          <p:spPr>
            <a:xfrm>
              <a:off x="707371" y="4562395"/>
              <a:ext cx="0" cy="694806"/>
            </a:xfrm>
            <a:prstGeom prst="line">
              <a:avLst/>
            </a:prstGeom>
            <a:ln w="12700">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1" name="Přímá spojnice 80">
              <a:extLst>
                <a:ext uri="{FF2B5EF4-FFF2-40B4-BE49-F238E27FC236}">
                  <a16:creationId xmlns:a16="http://schemas.microsoft.com/office/drawing/2014/main" id="{3D29C269-47F4-B4BE-8A2C-66FFBEA36BC2}"/>
                </a:ext>
              </a:extLst>
            </p:cNvPr>
            <p:cNvCxnSpPr>
              <a:cxnSpLocks/>
            </p:cNvCxnSpPr>
            <p:nvPr/>
          </p:nvCxnSpPr>
          <p:spPr>
            <a:xfrm>
              <a:off x="112616" y="5257201"/>
              <a:ext cx="1152682" cy="0"/>
            </a:xfrm>
            <a:prstGeom prst="line">
              <a:avLst/>
            </a:prstGeom>
            <a:ln w="127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Volný tvar: obrazec 81">
              <a:extLst>
                <a:ext uri="{FF2B5EF4-FFF2-40B4-BE49-F238E27FC236}">
                  <a16:creationId xmlns:a16="http://schemas.microsoft.com/office/drawing/2014/main" id="{F0FC408F-DB46-EBA8-E229-60589410E283}"/>
                </a:ext>
              </a:extLst>
            </p:cNvPr>
            <p:cNvSpPr>
              <a:spLocks noChangeAspect="1"/>
            </p:cNvSpPr>
            <p:nvPr/>
          </p:nvSpPr>
          <p:spPr>
            <a:xfrm>
              <a:off x="240293" y="4578240"/>
              <a:ext cx="1019339" cy="658857"/>
            </a:xfrm>
            <a:custGeom>
              <a:avLst/>
              <a:gdLst>
                <a:gd name="connsiteX0" fmla="*/ 0 w 3191317"/>
                <a:gd name="connsiteY0" fmla="*/ 1980190 h 1980190"/>
                <a:gd name="connsiteX1" fmla="*/ 526840 w 3191317"/>
                <a:gd name="connsiteY1" fmla="*/ 1937801 h 1980190"/>
                <a:gd name="connsiteX2" fmla="*/ 908345 w 3191317"/>
                <a:gd name="connsiteY2" fmla="*/ 1786410 h 1980190"/>
                <a:gd name="connsiteX3" fmla="*/ 1150570 w 3191317"/>
                <a:gd name="connsiteY3" fmla="*/ 1586575 h 1980190"/>
                <a:gd name="connsiteX4" fmla="*/ 1308016 w 3191317"/>
                <a:gd name="connsiteY4" fmla="*/ 1392794 h 1980190"/>
                <a:gd name="connsiteX5" fmla="*/ 1453351 w 3191317"/>
                <a:gd name="connsiteY5" fmla="*/ 1192959 h 1980190"/>
                <a:gd name="connsiteX6" fmla="*/ 1586575 w 3191317"/>
                <a:gd name="connsiteY6" fmla="*/ 993123 h 1980190"/>
                <a:gd name="connsiteX7" fmla="*/ 1725855 w 3191317"/>
                <a:gd name="connsiteY7" fmla="*/ 793287 h 1980190"/>
                <a:gd name="connsiteX8" fmla="*/ 1871190 w 3191317"/>
                <a:gd name="connsiteY8" fmla="*/ 593451 h 1980190"/>
                <a:gd name="connsiteX9" fmla="*/ 2125526 w 3191317"/>
                <a:gd name="connsiteY9" fmla="*/ 302781 h 1980190"/>
                <a:gd name="connsiteX10" fmla="*/ 2295084 w 3191317"/>
                <a:gd name="connsiteY10" fmla="*/ 193780 h 1980190"/>
                <a:gd name="connsiteX11" fmla="*/ 2664477 w 3191317"/>
                <a:gd name="connsiteY11" fmla="*/ 42389 h 1980190"/>
                <a:gd name="connsiteX12" fmla="*/ 3191317 w 3191317"/>
                <a:gd name="connsiteY12" fmla="*/ 0 h 1980190"/>
                <a:gd name="connsiteX0" fmla="*/ 0 w 3191317"/>
                <a:gd name="connsiteY0" fmla="*/ 1980190 h 1980190"/>
                <a:gd name="connsiteX1" fmla="*/ 526840 w 3191317"/>
                <a:gd name="connsiteY1" fmla="*/ 1937801 h 1980190"/>
                <a:gd name="connsiteX2" fmla="*/ 908345 w 3191317"/>
                <a:gd name="connsiteY2" fmla="*/ 1786410 h 1980190"/>
                <a:gd name="connsiteX3" fmla="*/ 1150570 w 3191317"/>
                <a:gd name="connsiteY3" fmla="*/ 1586575 h 1980190"/>
                <a:gd name="connsiteX4" fmla="*/ 1308016 w 3191317"/>
                <a:gd name="connsiteY4" fmla="*/ 1392794 h 1980190"/>
                <a:gd name="connsiteX5" fmla="*/ 1453351 w 3191317"/>
                <a:gd name="connsiteY5" fmla="*/ 1192959 h 1980190"/>
                <a:gd name="connsiteX6" fmla="*/ 1586575 w 3191317"/>
                <a:gd name="connsiteY6" fmla="*/ 993123 h 1980190"/>
                <a:gd name="connsiteX7" fmla="*/ 1725855 w 3191317"/>
                <a:gd name="connsiteY7" fmla="*/ 793287 h 1980190"/>
                <a:gd name="connsiteX8" fmla="*/ 1871190 w 3191317"/>
                <a:gd name="connsiteY8" fmla="*/ 593451 h 1980190"/>
                <a:gd name="connsiteX9" fmla="*/ 2125526 w 3191317"/>
                <a:gd name="connsiteY9" fmla="*/ 302781 h 1980190"/>
                <a:gd name="connsiteX10" fmla="*/ 2301140 w 3191317"/>
                <a:gd name="connsiteY10" fmla="*/ 163502 h 1980190"/>
                <a:gd name="connsiteX11" fmla="*/ 2664477 w 3191317"/>
                <a:gd name="connsiteY11" fmla="*/ 42389 h 1980190"/>
                <a:gd name="connsiteX12" fmla="*/ 3191317 w 3191317"/>
                <a:gd name="connsiteY12" fmla="*/ 0 h 1980190"/>
                <a:gd name="connsiteX0" fmla="*/ 0 w 3191317"/>
                <a:gd name="connsiteY0" fmla="*/ 1980190 h 1980190"/>
                <a:gd name="connsiteX1" fmla="*/ 526840 w 3191317"/>
                <a:gd name="connsiteY1" fmla="*/ 1937801 h 1980190"/>
                <a:gd name="connsiteX2" fmla="*/ 908345 w 3191317"/>
                <a:gd name="connsiteY2" fmla="*/ 1786410 h 1980190"/>
                <a:gd name="connsiteX3" fmla="*/ 1150570 w 3191317"/>
                <a:gd name="connsiteY3" fmla="*/ 1586575 h 1980190"/>
                <a:gd name="connsiteX4" fmla="*/ 1308016 w 3191317"/>
                <a:gd name="connsiteY4" fmla="*/ 1392794 h 1980190"/>
                <a:gd name="connsiteX5" fmla="*/ 1453351 w 3191317"/>
                <a:gd name="connsiteY5" fmla="*/ 1192959 h 1980190"/>
                <a:gd name="connsiteX6" fmla="*/ 1586575 w 3191317"/>
                <a:gd name="connsiteY6" fmla="*/ 993123 h 1980190"/>
                <a:gd name="connsiteX7" fmla="*/ 1725855 w 3191317"/>
                <a:gd name="connsiteY7" fmla="*/ 793287 h 1980190"/>
                <a:gd name="connsiteX8" fmla="*/ 1871190 w 3191317"/>
                <a:gd name="connsiteY8" fmla="*/ 593451 h 1980190"/>
                <a:gd name="connsiteX9" fmla="*/ 2071026 w 3191317"/>
                <a:gd name="connsiteY9" fmla="*/ 345171 h 1980190"/>
                <a:gd name="connsiteX10" fmla="*/ 2301140 w 3191317"/>
                <a:gd name="connsiteY10" fmla="*/ 163502 h 1980190"/>
                <a:gd name="connsiteX11" fmla="*/ 2664477 w 3191317"/>
                <a:gd name="connsiteY11" fmla="*/ 42389 h 1980190"/>
                <a:gd name="connsiteX12" fmla="*/ 3191317 w 3191317"/>
                <a:gd name="connsiteY12" fmla="*/ 0 h 198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1317" h="1980190">
                  <a:moveTo>
                    <a:pt x="0" y="1980190"/>
                  </a:moveTo>
                  <a:cubicBezTo>
                    <a:pt x="187724" y="1975144"/>
                    <a:pt x="375449" y="1970098"/>
                    <a:pt x="526840" y="1937801"/>
                  </a:cubicBezTo>
                  <a:cubicBezTo>
                    <a:pt x="678231" y="1905504"/>
                    <a:pt x="804390" y="1844948"/>
                    <a:pt x="908345" y="1786410"/>
                  </a:cubicBezTo>
                  <a:cubicBezTo>
                    <a:pt x="1012300" y="1727872"/>
                    <a:pt x="1083958" y="1652178"/>
                    <a:pt x="1150570" y="1586575"/>
                  </a:cubicBezTo>
                  <a:cubicBezTo>
                    <a:pt x="1217182" y="1520972"/>
                    <a:pt x="1257553" y="1458397"/>
                    <a:pt x="1308016" y="1392794"/>
                  </a:cubicBezTo>
                  <a:cubicBezTo>
                    <a:pt x="1358480" y="1327191"/>
                    <a:pt x="1406925" y="1259571"/>
                    <a:pt x="1453351" y="1192959"/>
                  </a:cubicBezTo>
                  <a:cubicBezTo>
                    <a:pt x="1499778" y="1126347"/>
                    <a:pt x="1586575" y="993123"/>
                    <a:pt x="1586575" y="993123"/>
                  </a:cubicBezTo>
                  <a:cubicBezTo>
                    <a:pt x="1631992" y="926511"/>
                    <a:pt x="1678419" y="859899"/>
                    <a:pt x="1725855" y="793287"/>
                  </a:cubicBezTo>
                  <a:cubicBezTo>
                    <a:pt x="1773291" y="726675"/>
                    <a:pt x="1813662" y="668137"/>
                    <a:pt x="1871190" y="593451"/>
                  </a:cubicBezTo>
                  <a:cubicBezTo>
                    <a:pt x="1928718" y="518765"/>
                    <a:pt x="1999368" y="416829"/>
                    <a:pt x="2071026" y="345171"/>
                  </a:cubicBezTo>
                  <a:cubicBezTo>
                    <a:pt x="2142684" y="273513"/>
                    <a:pt x="2202232" y="213966"/>
                    <a:pt x="2301140" y="163502"/>
                  </a:cubicBezTo>
                  <a:cubicBezTo>
                    <a:pt x="2400048" y="113038"/>
                    <a:pt x="2515105" y="74686"/>
                    <a:pt x="2664477" y="42389"/>
                  </a:cubicBezTo>
                  <a:cubicBezTo>
                    <a:pt x="2813849" y="10092"/>
                    <a:pt x="3002583" y="5046"/>
                    <a:pt x="3191317" y="0"/>
                  </a:cubicBezTo>
                </a:path>
              </a:pathLst>
            </a:custGeom>
            <a:noFill/>
            <a:ln w="222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3" name="Přímá spojnice 82">
              <a:extLst>
                <a:ext uri="{FF2B5EF4-FFF2-40B4-BE49-F238E27FC236}">
                  <a16:creationId xmlns:a16="http://schemas.microsoft.com/office/drawing/2014/main" id="{D769D2F0-9CF3-060B-71A6-8941E04A58DB}"/>
                </a:ext>
              </a:extLst>
            </p:cNvPr>
            <p:cNvCxnSpPr>
              <a:cxnSpLocks/>
            </p:cNvCxnSpPr>
            <p:nvPr/>
          </p:nvCxnSpPr>
          <p:spPr>
            <a:xfrm>
              <a:off x="112739" y="4562395"/>
              <a:ext cx="1152682" cy="0"/>
            </a:xfrm>
            <a:prstGeom prst="line">
              <a:avLst/>
            </a:prstGeom>
            <a:ln w="127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4" name="TextovéPole 83">
              <a:extLst>
                <a:ext uri="{FF2B5EF4-FFF2-40B4-BE49-F238E27FC236}">
                  <a16:creationId xmlns:a16="http://schemas.microsoft.com/office/drawing/2014/main" id="{7F719362-1F0F-96F3-C2B0-2F79808075C2}"/>
                </a:ext>
              </a:extLst>
            </p:cNvPr>
            <p:cNvSpPr txBox="1"/>
            <p:nvPr/>
          </p:nvSpPr>
          <p:spPr>
            <a:xfrm>
              <a:off x="615103" y="4543007"/>
              <a:ext cx="127002" cy="153888"/>
            </a:xfrm>
            <a:prstGeom prst="rect">
              <a:avLst/>
            </a:prstGeom>
            <a:noFill/>
          </p:spPr>
          <p:txBody>
            <a:bodyPr wrap="square" lIns="0" tIns="0" rIns="0" bIns="0" rtlCol="0">
              <a:spAutoFit/>
            </a:bodyPr>
            <a:lstStyle/>
            <a:p>
              <a:pPr algn="ctr"/>
              <a:r>
                <a:rPr lang="cs-CZ" sz="1000" dirty="0">
                  <a:latin typeface="Cambria Math"/>
                  <a:ea typeface="Cambria Math" panose="02040503050406030204" pitchFamily="18" charset="0"/>
                </a:rPr>
                <a:t>1</a:t>
              </a:r>
              <a:endParaRPr lang="en-GB" sz="1000" dirty="0">
                <a:latin typeface="Cambria Math"/>
                <a:ea typeface="Cambria Math" panose="02040503050406030204" pitchFamily="18" charset="0"/>
              </a:endParaRPr>
            </a:p>
          </p:txBody>
        </p:sp>
        <p:sp>
          <p:nvSpPr>
            <p:cNvPr id="85" name="TextovéPole 84">
              <a:extLst>
                <a:ext uri="{FF2B5EF4-FFF2-40B4-BE49-F238E27FC236}">
                  <a16:creationId xmlns:a16="http://schemas.microsoft.com/office/drawing/2014/main" id="{7547E9CC-F7E9-FC3E-4A2C-8E2F5509D962}"/>
                </a:ext>
              </a:extLst>
            </p:cNvPr>
            <p:cNvSpPr txBox="1"/>
            <p:nvPr/>
          </p:nvSpPr>
          <p:spPr>
            <a:xfrm>
              <a:off x="561429" y="5120647"/>
              <a:ext cx="200203" cy="153888"/>
            </a:xfrm>
            <a:prstGeom prst="rect">
              <a:avLst/>
            </a:prstGeom>
            <a:noFill/>
          </p:spPr>
          <p:txBody>
            <a:bodyPr wrap="square" lIns="0" tIns="0" rIns="0" bIns="0" rtlCol="0">
              <a:spAutoFit/>
            </a:bodyPr>
            <a:lstStyle/>
            <a:p>
              <a:pPr algn="ctr"/>
              <a:r>
                <a:rPr lang="cs-CZ" sz="1000" dirty="0">
                  <a:latin typeface="Cambria Math"/>
                  <a:ea typeface="Cambria Math" panose="02040503050406030204" pitchFamily="18" charset="0"/>
                </a:rPr>
                <a:t>0</a:t>
              </a:r>
              <a:endParaRPr lang="en-GB" sz="1000" dirty="0">
                <a:latin typeface="Cambria Math"/>
                <a:ea typeface="Cambria Math" panose="02040503050406030204" pitchFamily="18" charset="0"/>
              </a:endParaRPr>
            </a:p>
          </p:txBody>
        </p:sp>
        <p:sp>
          <p:nvSpPr>
            <p:cNvPr id="86" name="TextovéPole 85">
              <a:extLst>
                <a:ext uri="{FF2B5EF4-FFF2-40B4-BE49-F238E27FC236}">
                  <a16:creationId xmlns:a16="http://schemas.microsoft.com/office/drawing/2014/main" id="{3A0BC84A-4F8F-CA7A-0600-5E8FF72FCEC6}"/>
                </a:ext>
              </a:extLst>
            </p:cNvPr>
            <p:cNvSpPr txBox="1"/>
            <p:nvPr/>
          </p:nvSpPr>
          <p:spPr>
            <a:xfrm>
              <a:off x="1043608" y="5120483"/>
              <a:ext cx="226024" cy="169277"/>
            </a:xfrm>
            <a:prstGeom prst="rect">
              <a:avLst/>
            </a:prstGeom>
            <a:noFill/>
          </p:spPr>
          <p:txBody>
            <a:bodyPr wrap="none" lIns="0" tIns="0" rIns="0" bIns="0" rtlCol="0">
              <a:spAutoFit/>
            </a:bodyPr>
            <a:lstStyle/>
            <a:p>
              <a:pPr algn="ctr"/>
              <a:r>
                <a:rPr lang="cs-CZ" sz="1100" dirty="0">
                  <a:latin typeface="Cambria Math"/>
                  <a:ea typeface="Cambria Math" panose="02040503050406030204" pitchFamily="18" charset="0"/>
                </a:rPr>
                <a:t>+∞</a:t>
              </a:r>
              <a:endParaRPr lang="en-GB" sz="1100" dirty="0">
                <a:latin typeface="Cambria Math"/>
                <a:ea typeface="Cambria Math" panose="02040503050406030204" pitchFamily="18" charset="0"/>
              </a:endParaRPr>
            </a:p>
          </p:txBody>
        </p:sp>
        <p:sp>
          <p:nvSpPr>
            <p:cNvPr id="90" name="TextovéPole 89">
              <a:extLst>
                <a:ext uri="{FF2B5EF4-FFF2-40B4-BE49-F238E27FC236}">
                  <a16:creationId xmlns:a16="http://schemas.microsoft.com/office/drawing/2014/main" id="{5DB4F24A-EAFA-AE81-9CB8-C46CA4386985}"/>
                </a:ext>
              </a:extLst>
            </p:cNvPr>
            <p:cNvSpPr txBox="1"/>
            <p:nvPr/>
          </p:nvSpPr>
          <p:spPr>
            <a:xfrm>
              <a:off x="-99548" y="5077854"/>
              <a:ext cx="405880" cy="261610"/>
            </a:xfrm>
            <a:prstGeom prst="rect">
              <a:avLst/>
            </a:prstGeom>
            <a:noFill/>
          </p:spPr>
          <p:txBody>
            <a:bodyPr wrap="none" rtlCol="0">
              <a:spAutoFit/>
            </a:bodyPr>
            <a:lstStyle/>
            <a:p>
              <a:pPr algn="ctr"/>
              <a:r>
                <a:rPr lang="en-GB" sz="1100" dirty="0">
                  <a:latin typeface="Cambria Math" panose="02040503050406030204" pitchFamily="18" charset="0"/>
                  <a:ea typeface="Cambria Math" panose="02040503050406030204" pitchFamily="18" charset="0"/>
                </a:rPr>
                <a:t> –</a:t>
              </a:r>
              <a:r>
                <a:rPr lang="cs-CZ" sz="1100" dirty="0">
                  <a:latin typeface="Cambria Math"/>
                  <a:ea typeface="Cambria Math" panose="02040503050406030204" pitchFamily="18" charset="0"/>
                </a:rPr>
                <a:t>∞</a:t>
              </a:r>
              <a:endParaRPr lang="en-GB" sz="1100" dirty="0">
                <a:latin typeface="Cambria Math"/>
                <a:ea typeface="Cambria Math" panose="02040503050406030204" pitchFamily="18" charset="0"/>
              </a:endParaRPr>
            </a:p>
          </p:txBody>
        </p:sp>
      </p:grpSp>
      <p:cxnSp>
        <p:nvCxnSpPr>
          <p:cNvPr id="76" name="Přímá spojnice se šipkou 75">
            <a:extLst>
              <a:ext uri="{FF2B5EF4-FFF2-40B4-BE49-F238E27FC236}">
                <a16:creationId xmlns:a16="http://schemas.microsoft.com/office/drawing/2014/main" id="{C2273C85-F61B-4C16-7442-F5280A2FAE21}"/>
              </a:ext>
            </a:extLst>
          </p:cNvPr>
          <p:cNvCxnSpPr>
            <a:endCxn id="82" idx="8"/>
          </p:cNvCxnSpPr>
          <p:nvPr/>
        </p:nvCxnSpPr>
        <p:spPr>
          <a:xfrm flipV="1">
            <a:off x="769379" y="4724304"/>
            <a:ext cx="130599" cy="840"/>
          </a:xfrm>
          <a:prstGeom prst="straightConnector1">
            <a:avLst/>
          </a:prstGeom>
          <a:ln w="25400">
            <a:solidFill>
              <a:srgbClr val="00B05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8" name="Přímá spojnice se šipkou 77">
            <a:extLst>
              <a:ext uri="{FF2B5EF4-FFF2-40B4-BE49-F238E27FC236}">
                <a16:creationId xmlns:a16="http://schemas.microsoft.com/office/drawing/2014/main" id="{167921FA-940A-3B5D-4A5F-37CCF65BEC57}"/>
              </a:ext>
            </a:extLst>
          </p:cNvPr>
          <p:cNvCxnSpPr>
            <a:cxnSpLocks/>
          </p:cNvCxnSpPr>
          <p:nvPr/>
        </p:nvCxnSpPr>
        <p:spPr>
          <a:xfrm>
            <a:off x="899978" y="4736416"/>
            <a:ext cx="22" cy="461402"/>
          </a:xfrm>
          <a:prstGeom prst="straightConnector1">
            <a:avLst/>
          </a:prstGeom>
          <a:ln w="25400">
            <a:solidFill>
              <a:srgbClr val="00B050"/>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3" name="TextovéPole 72">
            <a:extLst>
              <a:ext uri="{FF2B5EF4-FFF2-40B4-BE49-F238E27FC236}">
                <a16:creationId xmlns:a16="http://schemas.microsoft.com/office/drawing/2014/main" id="{ED479BFA-383D-3005-634E-9598EE4B2AC0}"/>
              </a:ext>
            </a:extLst>
          </p:cNvPr>
          <p:cNvSpPr txBox="1"/>
          <p:nvPr/>
        </p:nvSpPr>
        <p:spPr>
          <a:xfrm>
            <a:off x="2045861" y="5364000"/>
            <a:ext cx="684493" cy="246221"/>
          </a:xfrm>
          <a:prstGeom prst="rect">
            <a:avLst/>
          </a:prstGeom>
          <a:noFill/>
        </p:spPr>
        <p:txBody>
          <a:bodyPr wrap="square">
            <a:spAutoFit/>
          </a:bodyPr>
          <a:lstStyle/>
          <a:p>
            <a:pPr algn="ctr"/>
            <a:r>
              <a:rPr lang="cs-CZ" sz="1000" dirty="0">
                <a:latin typeface="Cambria Math"/>
                <a:ea typeface="Cambria Math" panose="02040503050406030204" pitchFamily="18" charset="0"/>
              </a:rPr>
              <a:t>(0.5)</a:t>
            </a:r>
          </a:p>
        </p:txBody>
      </p:sp>
      <p:sp>
        <p:nvSpPr>
          <p:cNvPr id="74" name="TextovéPole 73">
            <a:extLst>
              <a:ext uri="{FF2B5EF4-FFF2-40B4-BE49-F238E27FC236}">
                <a16:creationId xmlns:a16="http://schemas.microsoft.com/office/drawing/2014/main" id="{4C265379-C482-FC4A-F63A-1CE52D4423CD}"/>
              </a:ext>
            </a:extLst>
          </p:cNvPr>
          <p:cNvSpPr txBox="1"/>
          <p:nvPr/>
        </p:nvSpPr>
        <p:spPr>
          <a:xfrm>
            <a:off x="2740660" y="5364000"/>
            <a:ext cx="664941" cy="246221"/>
          </a:xfrm>
          <a:prstGeom prst="rect">
            <a:avLst/>
          </a:prstGeom>
          <a:noFill/>
        </p:spPr>
        <p:txBody>
          <a:bodyPr wrap="square">
            <a:spAutoFit/>
          </a:bodyPr>
          <a:lstStyle/>
          <a:p>
            <a:pPr algn="ctr"/>
            <a:r>
              <a:rPr lang="cs-CZ" sz="1000" dirty="0">
                <a:latin typeface="Cambria Math"/>
                <a:ea typeface="Cambria Math" panose="02040503050406030204" pitchFamily="18" charset="0"/>
              </a:rPr>
              <a:t>(0.56)</a:t>
            </a:r>
          </a:p>
        </p:txBody>
      </p:sp>
    </p:spTree>
    <p:extLst>
      <p:ext uri="{BB962C8B-B14F-4D97-AF65-F5344CB8AC3E}">
        <p14:creationId xmlns:p14="http://schemas.microsoft.com/office/powerpoint/2010/main" val="4081722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p:cNvSpPr>
            <a:spLocks noGrp="1"/>
          </p:cNvSpPr>
          <p:nvPr>
            <p:ph type="sldNum" sz="quarter" idx="12"/>
          </p:nvPr>
        </p:nvSpPr>
        <p:spPr>
          <a:xfrm>
            <a:off x="7164000" y="6336000"/>
            <a:ext cx="1800000" cy="360000"/>
          </a:xfrm>
        </p:spPr>
        <p:txBody>
          <a:bodyPr/>
          <a:lstStyle/>
          <a:p>
            <a:pPr algn="r"/>
            <a:fld id="{DFE5482F-2F05-49C5-9E15-73F945A41231}" type="slidenum">
              <a:rPr lang="cs-CZ" smtClean="0"/>
              <a:pPr algn="r"/>
              <a:t>10</a:t>
            </a:fld>
            <a:endParaRPr lang="cs-CZ" dirty="0"/>
          </a:p>
        </p:txBody>
      </p:sp>
      <p:sp>
        <p:nvSpPr>
          <p:cNvPr id="4" name="Nadpis 3"/>
          <p:cNvSpPr>
            <a:spLocks noGrp="1"/>
          </p:cNvSpPr>
          <p:nvPr>
            <p:ph type="title"/>
          </p:nvPr>
        </p:nvSpPr>
        <p:spPr>
          <a:xfrm>
            <a:off x="144000" y="144000"/>
            <a:ext cx="5148080" cy="648072"/>
          </a:xfrm>
        </p:spPr>
        <p:txBody>
          <a:bodyPr/>
          <a:lstStyle/>
          <a:p>
            <a:r>
              <a:rPr lang="en-GB" dirty="0">
                <a:solidFill>
                  <a:srgbClr val="000000"/>
                </a:solidFill>
              </a:rPr>
              <a:t>Extensions of B</a:t>
            </a:r>
            <a:r>
              <a:rPr lang="cs-CZ" dirty="0">
                <a:solidFill>
                  <a:srgbClr val="000000"/>
                </a:solidFill>
              </a:rPr>
              <a:t>-</a:t>
            </a:r>
            <a:r>
              <a:rPr lang="en-GB" dirty="0">
                <a:solidFill>
                  <a:srgbClr val="000000"/>
                </a:solidFill>
              </a:rPr>
              <a:t>S formula (1)</a:t>
            </a:r>
          </a:p>
        </p:txBody>
      </p:sp>
      <p:sp>
        <p:nvSpPr>
          <p:cNvPr id="29" name="TextovéPole 28"/>
          <p:cNvSpPr txBox="1"/>
          <p:nvPr/>
        </p:nvSpPr>
        <p:spPr>
          <a:xfrm>
            <a:off x="900000" y="857619"/>
            <a:ext cx="6156000" cy="430887"/>
          </a:xfrm>
          <a:prstGeom prst="rect">
            <a:avLst/>
          </a:prstGeom>
          <a:noFill/>
          <a:ln>
            <a:noFill/>
          </a:ln>
        </p:spPr>
        <p:txBody>
          <a:bodyPr wrap="square" rtlCol="0">
            <a:spAutoFit/>
          </a:bodyPr>
          <a:lstStyle/>
          <a:p>
            <a:pPr marL="324000" indent="-324000">
              <a:buClr>
                <a:srgbClr val="7030A0"/>
              </a:buClr>
              <a:buSzPct val="100000"/>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European put on </a:t>
            </a:r>
            <a:r>
              <a:rPr lang="cs-CZ" sz="2200" dirty="0">
                <a:latin typeface="Cambria Math" panose="02040503050406030204" pitchFamily="18" charset="0"/>
                <a:ea typeface="Cambria Math" panose="02040503050406030204" pitchFamily="18" charset="0"/>
              </a:rPr>
              <a:t>a </a:t>
            </a:r>
            <a:r>
              <a:rPr lang="en-GB" sz="2200" dirty="0">
                <a:latin typeface="Cambria Math" panose="02040503050406030204" pitchFamily="18" charset="0"/>
                <a:ea typeface="Cambria Math" panose="02040503050406030204" pitchFamily="18" charset="0"/>
              </a:rPr>
              <a:t>non-dividend</a:t>
            </a:r>
            <a:r>
              <a:rPr lang="cs-CZ" sz="2200" dirty="0">
                <a:latin typeface="Cambria Math" panose="02040503050406030204" pitchFamily="18" charset="0"/>
                <a:ea typeface="Cambria Math" panose="02040503050406030204" pitchFamily="18" charset="0"/>
              </a:rPr>
              <a:t>-</a:t>
            </a:r>
            <a:r>
              <a:rPr lang="en-GB" sz="2200" dirty="0">
                <a:latin typeface="Cambria Math" panose="02040503050406030204" pitchFamily="18" charset="0"/>
                <a:ea typeface="Cambria Math" panose="02040503050406030204" pitchFamily="18" charset="0"/>
              </a:rPr>
              <a:t>paying stock </a:t>
            </a:r>
          </a:p>
        </p:txBody>
      </p:sp>
      <p:sp>
        <p:nvSpPr>
          <p:cNvPr id="83" name="TextovéPole 82">
            <a:extLst>
              <a:ext uri="{FF2B5EF4-FFF2-40B4-BE49-F238E27FC236}">
                <a16:creationId xmlns:a16="http://schemas.microsoft.com/office/drawing/2014/main" id="{EE16E3B3-D303-4859-B2FD-649CC47A3C14}"/>
              </a:ext>
            </a:extLst>
          </p:cNvPr>
          <p:cNvSpPr txBox="1"/>
          <p:nvPr/>
        </p:nvSpPr>
        <p:spPr>
          <a:xfrm>
            <a:off x="1188000" y="1209900"/>
            <a:ext cx="4104080"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Put-call parity (will be derived later)</a:t>
            </a:r>
          </a:p>
        </p:txBody>
      </p:sp>
      <p:sp>
        <p:nvSpPr>
          <p:cNvPr id="155" name="TextovéPole 154">
            <a:extLst>
              <a:ext uri="{FF2B5EF4-FFF2-40B4-BE49-F238E27FC236}">
                <a16:creationId xmlns:a16="http://schemas.microsoft.com/office/drawing/2014/main" id="{EE16E3B3-D303-4859-B2FD-649CC47A3C14}"/>
              </a:ext>
            </a:extLst>
          </p:cNvPr>
          <p:cNvSpPr txBox="1"/>
          <p:nvPr/>
        </p:nvSpPr>
        <p:spPr>
          <a:xfrm>
            <a:off x="1188000" y="4006141"/>
            <a:ext cx="7595648"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A rational trader would not usually exercise the options earlier because a better alternative is to sell them and seize their time value</a:t>
            </a:r>
          </a:p>
        </p:txBody>
      </p:sp>
      <mc:AlternateContent xmlns:mc="http://schemas.openxmlformats.org/markup-compatibility/2006" xmlns:a14="http://schemas.microsoft.com/office/drawing/2010/main">
        <mc:Choice Requires="a14">
          <p:sp>
            <p:nvSpPr>
              <p:cNvPr id="82" name="TextovéPole 81"/>
              <p:cNvSpPr txBox="1"/>
              <p:nvPr/>
            </p:nvSpPr>
            <p:spPr>
              <a:xfrm>
                <a:off x="1629798" y="1591748"/>
                <a:ext cx="1767022" cy="24622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cs-CZ" sz="1600" b="0" i="1" smtClean="0">
                          <a:latin typeface="Cambria Math" panose="02040503050406030204" pitchFamily="18" charset="0"/>
                          <a:ea typeface="Cambria Math" panose="02040503050406030204" pitchFamily="18" charset="0"/>
                        </a:rPr>
                        <m:t> </m:t>
                      </m:r>
                      <m:r>
                        <a:rPr lang="cs-CZ" sz="1600" b="0" i="1" smtClean="0">
                          <a:latin typeface="Cambria Math" panose="02040503050406030204" pitchFamily="18" charset="0"/>
                          <a:ea typeface="Cambria Math" panose="02040503050406030204" pitchFamily="18" charset="0"/>
                        </a:rPr>
                        <m:t>𝐶</m:t>
                      </m:r>
                      <m:r>
                        <a:rPr lang="cs-CZ" sz="1600" b="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𝑋</m:t>
                      </m:r>
                      <m:sSup>
                        <m:sSupPr>
                          <m:ctrlPr>
                            <a:rPr lang="cs-CZ" sz="1600" i="1">
                              <a:latin typeface="Cambria Math" panose="02040503050406030204" pitchFamily="18" charset="0"/>
                              <a:ea typeface="Cambria Math" panose="02040503050406030204" pitchFamily="18" charset="0"/>
                            </a:rPr>
                          </m:ctrlPr>
                        </m:sSupPr>
                        <m:e>
                          <m:r>
                            <a:rPr lang="cs-CZ" sz="1600" i="1">
                              <a:latin typeface="Cambria Math" panose="02040503050406030204" pitchFamily="18" charset="0"/>
                              <a:ea typeface="Cambria Math" panose="02040503050406030204" pitchFamily="18" charset="0"/>
                            </a:rPr>
                            <m:t>𝑒</m:t>
                          </m:r>
                        </m:e>
                        <m:sup>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𝑟𝑇</m:t>
                          </m:r>
                        </m:sup>
                      </m:sSup>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𝑃</m:t>
                      </m:r>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𝑆</m:t>
                      </m:r>
                    </m:oMath>
                  </m:oMathPara>
                </a14:m>
                <a:endParaRPr lang="cs-CZ" sz="1600" i="1" dirty="0">
                  <a:latin typeface="Cambria Math"/>
                  <a:ea typeface="Cambria Math" panose="02040503050406030204" pitchFamily="18" charset="0"/>
                </a:endParaRPr>
              </a:p>
            </p:txBody>
          </p:sp>
        </mc:Choice>
        <mc:Fallback xmlns="">
          <p:sp>
            <p:nvSpPr>
              <p:cNvPr id="82" name="TextovéPole 81"/>
              <p:cNvSpPr txBox="1">
                <a:spLocks noRot="1" noChangeAspect="1" noMove="1" noResize="1" noEditPoints="1" noAdjustHandles="1" noChangeArrowheads="1" noChangeShapeType="1" noTextEdit="1"/>
              </p:cNvSpPr>
              <p:nvPr/>
            </p:nvSpPr>
            <p:spPr>
              <a:xfrm>
                <a:off x="1629798" y="1591748"/>
                <a:ext cx="1767022" cy="246221"/>
              </a:xfrm>
              <a:prstGeom prst="rect">
                <a:avLst/>
              </a:prstGeom>
              <a:blipFill>
                <a:blip r:embed="rId14"/>
                <a:stretch>
                  <a:fillRect l="-1034" r="-345" b="-73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4" name="TextovéPole 83"/>
              <p:cNvSpPr txBox="1"/>
              <p:nvPr/>
            </p:nvSpPr>
            <p:spPr>
              <a:xfrm>
                <a:off x="1683995" y="1877874"/>
                <a:ext cx="5057795" cy="524182"/>
              </a:xfrm>
              <a:prstGeom prst="rect">
                <a:avLst/>
              </a:prstGeom>
              <a:noFill/>
            </p:spPr>
            <p:txBody>
              <a:bodyPr wrap="none" lIns="0" tIns="0" rIns="0" bIns="0" rtlCol="0">
                <a:spAutoFit/>
              </a:bodyPr>
              <a:lstStyle/>
              <a:p>
                <a:pPr algn="ctr"/>
                <a14:m>
                  <m:oMathPara xmlns:m="http://schemas.openxmlformats.org/officeDocument/2006/math">
                    <m:oMathParaPr>
                      <m:jc m:val="left"/>
                    </m:oMathParaPr>
                    <m:oMath xmlns:m="http://schemas.openxmlformats.org/officeDocument/2006/math">
                      <m:r>
                        <a:rPr lang="cs-CZ" sz="1600" b="0" i="1" smtClean="0">
                          <a:latin typeface="Cambria Math" panose="02040503050406030204" pitchFamily="18" charset="0"/>
                          <a:ea typeface="Cambria Math" panose="02040503050406030204" pitchFamily="18" charset="0"/>
                        </a:rPr>
                        <m:t>𝑃</m:t>
                      </m:r>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𝐶</m:t>
                      </m:r>
                      <m:r>
                        <a:rPr lang="cs-CZ" sz="1600" b="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𝑋</m:t>
                      </m:r>
                      <m:sSup>
                        <m:sSupPr>
                          <m:ctrlPr>
                            <a:rPr lang="cs-CZ" sz="1600" i="1">
                              <a:latin typeface="Cambria Math" panose="02040503050406030204" pitchFamily="18" charset="0"/>
                              <a:ea typeface="Cambria Math" panose="02040503050406030204" pitchFamily="18" charset="0"/>
                            </a:rPr>
                          </m:ctrlPr>
                        </m:sSupPr>
                        <m:e>
                          <m:r>
                            <a:rPr lang="cs-CZ" sz="1600" i="1">
                              <a:latin typeface="Cambria Math" panose="02040503050406030204" pitchFamily="18" charset="0"/>
                              <a:ea typeface="Cambria Math" panose="02040503050406030204" pitchFamily="18" charset="0"/>
                            </a:rPr>
                            <m:t>𝑒</m:t>
                          </m:r>
                        </m:e>
                        <m:sup>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𝑟𝑇</m:t>
                          </m:r>
                        </m:sup>
                      </m:sSup>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𝑆</m:t>
                      </m:r>
                      <m:r>
                        <a:rPr lang="cs-CZ" sz="1600" b="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𝑋</m:t>
                      </m:r>
                      <m:sSup>
                        <m:sSupPr>
                          <m:ctrlPr>
                            <a:rPr lang="cs-CZ" sz="1600" i="1">
                              <a:latin typeface="Cambria Math" panose="02040503050406030204" pitchFamily="18" charset="0"/>
                              <a:ea typeface="Cambria Math" panose="02040503050406030204" pitchFamily="18" charset="0"/>
                            </a:rPr>
                          </m:ctrlPr>
                        </m:sSupPr>
                        <m:e>
                          <m:r>
                            <a:rPr lang="cs-CZ" sz="1600" i="1">
                              <a:latin typeface="Cambria Math" panose="02040503050406030204" pitchFamily="18" charset="0"/>
                              <a:ea typeface="Cambria Math" panose="02040503050406030204" pitchFamily="18" charset="0"/>
                            </a:rPr>
                            <m:t>𝑒</m:t>
                          </m:r>
                        </m:e>
                        <m:sup>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𝑟𝑇</m:t>
                          </m:r>
                        </m:sup>
                      </m:sSup>
                      <m:d>
                        <m:dPr>
                          <m:ctrlPr>
                            <a:rPr lang="cs-CZ" sz="1600" i="1" smtClean="0">
                              <a:latin typeface="Cambria Math" panose="02040503050406030204" pitchFamily="18" charset="0"/>
                              <a:ea typeface="Cambria Math" panose="02040503050406030204" pitchFamily="18" charset="0"/>
                            </a:rPr>
                          </m:ctrlPr>
                        </m:dPr>
                        <m:e>
                          <m:r>
                            <a:rPr lang="cs-CZ" sz="1600" i="1">
                              <a:latin typeface="Cambria Math" panose="02040503050406030204" pitchFamily="18" charset="0"/>
                              <a:ea typeface="Cambria Math" panose="02040503050406030204" pitchFamily="18" charset="0"/>
                            </a:rPr>
                            <m:t>1−</m:t>
                          </m:r>
                          <m:r>
                            <a:rPr lang="cs-CZ" sz="1600" i="1">
                              <a:latin typeface="Cambria Math" panose="02040503050406030204" pitchFamily="18" charset="0"/>
                              <a:ea typeface="Cambria Math" panose="02040503050406030204" pitchFamily="18" charset="0"/>
                            </a:rPr>
                            <m:t>𝑁</m:t>
                          </m:r>
                          <m:d>
                            <m:dPr>
                              <m:ctrlPr>
                                <a:rPr lang="cs-CZ" sz="1600" i="1">
                                  <a:latin typeface="Cambria Math" panose="02040503050406030204" pitchFamily="18" charset="0"/>
                                  <a:ea typeface="Cambria Math" panose="02040503050406030204" pitchFamily="18" charset="0"/>
                                </a:rPr>
                              </m:ctrlPr>
                            </m:dPr>
                            <m:e>
                              <m:sSub>
                                <m:sSubPr>
                                  <m:ctrlPr>
                                    <a:rPr lang="cs-CZ"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𝑑</m:t>
                                  </m:r>
                                </m:e>
                                <m:sub>
                                  <m:r>
                                    <a:rPr lang="cs-CZ" sz="1600" b="0" i="1" smtClean="0">
                                      <a:latin typeface="Cambria Math" panose="02040503050406030204" pitchFamily="18" charset="0"/>
                                      <a:ea typeface="Cambria Math" panose="02040503050406030204" pitchFamily="18" charset="0"/>
                                    </a:rPr>
                                    <m:t>2</m:t>
                                  </m:r>
                                </m:sub>
                              </m:sSub>
                            </m:e>
                          </m:d>
                        </m:e>
                      </m:d>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𝑆</m:t>
                      </m:r>
                      <m:d>
                        <m:dPr>
                          <m:ctrlPr>
                            <a:rPr lang="cs-CZ" sz="1600" b="0" i="1" smtClean="0">
                              <a:latin typeface="Cambria Math" panose="02040503050406030204" pitchFamily="18" charset="0"/>
                              <a:ea typeface="Cambria Math" panose="02040503050406030204" pitchFamily="18" charset="0"/>
                            </a:rPr>
                          </m:ctrlPr>
                        </m:dPr>
                        <m:e>
                          <m:r>
                            <a:rPr lang="cs-CZ" sz="1600" i="1">
                              <a:latin typeface="Cambria Math" panose="02040503050406030204" pitchFamily="18" charset="0"/>
                              <a:ea typeface="Cambria Math" panose="02040503050406030204" pitchFamily="18" charset="0"/>
                            </a:rPr>
                            <m:t>1−</m:t>
                          </m:r>
                          <m:r>
                            <a:rPr lang="cs-CZ" sz="1600" i="1">
                              <a:latin typeface="Cambria Math" panose="02040503050406030204" pitchFamily="18" charset="0"/>
                              <a:ea typeface="Cambria Math" panose="02040503050406030204" pitchFamily="18" charset="0"/>
                            </a:rPr>
                            <m:t>𝑁</m:t>
                          </m:r>
                          <m:d>
                            <m:dPr>
                              <m:ctrlPr>
                                <a:rPr lang="cs-CZ" sz="1600" i="1">
                                  <a:latin typeface="Cambria Math" panose="02040503050406030204" pitchFamily="18" charset="0"/>
                                  <a:ea typeface="Cambria Math" panose="02040503050406030204" pitchFamily="18" charset="0"/>
                                </a:rPr>
                              </m:ctrlPr>
                            </m:dPr>
                            <m:e>
                              <m:sSub>
                                <m:sSubPr>
                                  <m:ctrlPr>
                                    <a:rPr lang="cs-CZ" sz="1600" i="1">
                                      <a:latin typeface="Cambria Math" panose="02040503050406030204" pitchFamily="18" charset="0"/>
                                      <a:ea typeface="Cambria Math" panose="02040503050406030204" pitchFamily="18" charset="0"/>
                                    </a:rPr>
                                  </m:ctrlPr>
                                </m:sSubPr>
                                <m:e>
                                  <m:r>
                                    <a:rPr lang="cs-CZ" sz="1600" i="1">
                                      <a:latin typeface="Cambria Math" panose="02040503050406030204" pitchFamily="18" charset="0"/>
                                      <a:ea typeface="Cambria Math" panose="02040503050406030204" pitchFamily="18" charset="0"/>
                                    </a:rPr>
                                    <m:t>𝑑</m:t>
                                  </m:r>
                                </m:e>
                                <m:sub>
                                  <m:r>
                                    <a:rPr lang="cs-CZ" sz="1600" b="0" i="1" smtClean="0">
                                      <a:latin typeface="Cambria Math" panose="02040503050406030204" pitchFamily="18" charset="0"/>
                                      <a:ea typeface="Cambria Math" panose="02040503050406030204" pitchFamily="18" charset="0"/>
                                    </a:rPr>
                                    <m:t>1</m:t>
                                  </m:r>
                                </m:sub>
                              </m:sSub>
                            </m:e>
                          </m:d>
                        </m:e>
                      </m:d>
                    </m:oMath>
                  </m:oMathPara>
                </a14:m>
                <a:endParaRPr lang="cs-CZ" sz="1600" b="0" i="1" dirty="0">
                  <a:latin typeface="Cambria Math" panose="02040503050406030204" pitchFamily="18" charset="0"/>
                  <a:ea typeface="Cambria Math" panose="02040503050406030204" pitchFamily="18" charset="0"/>
                </a:endParaRPr>
              </a:p>
              <a:p>
                <a:pPr marL="176213" indent="-176213" algn="ctr">
                  <a:tabLst>
                    <a:tab pos="176213" algn="l"/>
                  </a:tabLst>
                </a:pPr>
                <a14:m>
                  <m:oMathPara xmlns:m="http://schemas.openxmlformats.org/officeDocument/2006/math">
                    <m:oMathParaPr>
                      <m:jc m:val="left"/>
                    </m:oMathParaPr>
                    <m:oMath xmlns:m="http://schemas.openxmlformats.org/officeDocument/2006/math">
                      <m:r>
                        <a:rPr lang="cs-CZ" sz="1600" b="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𝑋</m:t>
                      </m:r>
                      <m:sSup>
                        <m:sSupPr>
                          <m:ctrlPr>
                            <a:rPr lang="cs-CZ" sz="1600" i="1">
                              <a:latin typeface="Cambria Math" panose="02040503050406030204" pitchFamily="18" charset="0"/>
                              <a:ea typeface="Cambria Math" panose="02040503050406030204" pitchFamily="18" charset="0"/>
                            </a:rPr>
                          </m:ctrlPr>
                        </m:sSupPr>
                        <m:e>
                          <m:r>
                            <a:rPr lang="cs-CZ" sz="1600" i="1">
                              <a:latin typeface="Cambria Math" panose="02040503050406030204" pitchFamily="18" charset="0"/>
                              <a:ea typeface="Cambria Math" panose="02040503050406030204" pitchFamily="18" charset="0"/>
                            </a:rPr>
                            <m:t>𝑒</m:t>
                          </m:r>
                        </m:e>
                        <m:sup>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𝑟𝑇</m:t>
                          </m:r>
                        </m:sup>
                      </m:sSup>
                      <m:r>
                        <a:rPr lang="cs-CZ" sz="1600" i="1">
                          <a:latin typeface="Cambria Math" panose="02040503050406030204" pitchFamily="18" charset="0"/>
                          <a:ea typeface="Cambria Math" panose="02040503050406030204" pitchFamily="18" charset="0"/>
                        </a:rPr>
                        <m:t>𝑁</m:t>
                      </m:r>
                      <m:d>
                        <m:dPr>
                          <m:ctrlPr>
                            <a:rPr lang="cs-CZ" sz="1600" i="1">
                              <a:latin typeface="Cambria Math" panose="02040503050406030204" pitchFamily="18" charset="0"/>
                              <a:ea typeface="Cambria Math" panose="02040503050406030204" pitchFamily="18" charset="0"/>
                            </a:rPr>
                          </m:ctrlPr>
                        </m:dPr>
                        <m:e>
                          <m:sSub>
                            <m:sSubPr>
                              <m:ctrlPr>
                                <a:rPr lang="cs-CZ" sz="1600" i="1">
                                  <a:latin typeface="Cambria Math" panose="02040503050406030204" pitchFamily="18" charset="0"/>
                                  <a:ea typeface="Cambria Math" panose="02040503050406030204" pitchFamily="18" charset="0"/>
                                </a:rPr>
                              </m:ctrlPr>
                            </m:sSubPr>
                            <m:e>
                              <m:r>
                                <a:rPr lang="cs-CZ" sz="1600" b="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𝑑</m:t>
                              </m:r>
                            </m:e>
                            <m:sub>
                              <m:r>
                                <a:rPr lang="cs-CZ" sz="1600" i="1">
                                  <a:latin typeface="Cambria Math" panose="02040503050406030204" pitchFamily="18" charset="0"/>
                                  <a:ea typeface="Cambria Math" panose="02040503050406030204" pitchFamily="18" charset="0"/>
                                </a:rPr>
                                <m:t>2</m:t>
                              </m:r>
                            </m:sub>
                          </m:sSub>
                        </m:e>
                      </m:d>
                      <m:r>
                        <a:rPr lang="cs-CZ" sz="1600" i="1">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𝑆𝑁</m:t>
                      </m:r>
                      <m:d>
                        <m:dPr>
                          <m:ctrlPr>
                            <a:rPr lang="cs-CZ" sz="1600" i="1">
                              <a:latin typeface="Cambria Math" panose="02040503050406030204" pitchFamily="18" charset="0"/>
                              <a:ea typeface="Cambria Math" panose="02040503050406030204" pitchFamily="18" charset="0"/>
                            </a:rPr>
                          </m:ctrlPr>
                        </m:dPr>
                        <m:e>
                          <m:sSub>
                            <m:sSubPr>
                              <m:ctrlPr>
                                <a:rPr lang="cs-CZ" sz="1600" i="1">
                                  <a:latin typeface="Cambria Math" panose="02040503050406030204" pitchFamily="18" charset="0"/>
                                  <a:ea typeface="Cambria Math" panose="02040503050406030204" pitchFamily="18" charset="0"/>
                                </a:rPr>
                              </m:ctrlPr>
                            </m:sSubPr>
                            <m:e>
                              <m:r>
                                <a:rPr lang="cs-CZ" sz="1600" b="0" i="1" smtClean="0">
                                  <a:latin typeface="Cambria Math" panose="02040503050406030204" pitchFamily="18" charset="0"/>
                                  <a:ea typeface="Cambria Math" panose="02040503050406030204" pitchFamily="18" charset="0"/>
                                </a:rPr>
                                <m:t>−</m:t>
                              </m:r>
                              <m:r>
                                <a:rPr lang="cs-CZ" sz="1600" i="1">
                                  <a:latin typeface="Cambria Math" panose="02040503050406030204" pitchFamily="18" charset="0"/>
                                  <a:ea typeface="Cambria Math" panose="02040503050406030204" pitchFamily="18" charset="0"/>
                                </a:rPr>
                                <m:t>𝑑</m:t>
                              </m:r>
                            </m:e>
                            <m:sub>
                              <m:r>
                                <a:rPr lang="cs-CZ" sz="1600" b="0" i="1" smtClean="0">
                                  <a:latin typeface="Cambria Math" panose="02040503050406030204" pitchFamily="18" charset="0"/>
                                  <a:ea typeface="Cambria Math" panose="02040503050406030204" pitchFamily="18" charset="0"/>
                                </a:rPr>
                                <m:t>1</m:t>
                              </m:r>
                            </m:sub>
                          </m:sSub>
                        </m:e>
                      </m:d>
                    </m:oMath>
                  </m:oMathPara>
                </a14:m>
                <a:endParaRPr lang="cs-CZ" sz="1600" b="0" i="1" dirty="0">
                  <a:latin typeface="Cambria Math" panose="02040503050406030204" pitchFamily="18" charset="0"/>
                  <a:ea typeface="Cambria Math" panose="02040503050406030204" pitchFamily="18" charset="0"/>
                </a:endParaRPr>
              </a:p>
            </p:txBody>
          </p:sp>
        </mc:Choice>
        <mc:Fallback xmlns="">
          <p:sp>
            <p:nvSpPr>
              <p:cNvPr id="84" name="TextovéPole 83"/>
              <p:cNvSpPr txBox="1">
                <a:spLocks noRot="1" noChangeAspect="1" noMove="1" noResize="1" noEditPoints="1" noAdjustHandles="1" noChangeArrowheads="1" noChangeShapeType="1" noTextEdit="1"/>
              </p:cNvSpPr>
              <p:nvPr/>
            </p:nvSpPr>
            <p:spPr>
              <a:xfrm>
                <a:off x="1683995" y="1877874"/>
                <a:ext cx="5057795" cy="524182"/>
              </a:xfrm>
              <a:prstGeom prst="rect">
                <a:avLst/>
              </a:prstGeom>
              <a:blipFill>
                <a:blip r:embed="rId15"/>
                <a:stretch>
                  <a:fillRect l="-1325" b="-814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0" name="TextovéPole 59">
                <a:extLst>
                  <a:ext uri="{FF2B5EF4-FFF2-40B4-BE49-F238E27FC236}">
                    <a16:creationId xmlns:a16="http://schemas.microsoft.com/office/drawing/2014/main" id="{05FC8A4A-3761-4383-881C-9096ADBF4AD7}"/>
                  </a:ext>
                </a:extLst>
              </p:cNvPr>
              <p:cNvSpPr txBox="1"/>
              <p:nvPr/>
            </p:nvSpPr>
            <p:spPr>
              <a:xfrm>
                <a:off x="7020272" y="1331303"/>
                <a:ext cx="1964642" cy="1107996"/>
              </a:xfrm>
              <a:prstGeom prst="rect">
                <a:avLst/>
              </a:prstGeom>
              <a:noFill/>
              <a:ln>
                <a:noFill/>
              </a:ln>
            </p:spPr>
            <p:txBody>
              <a:bodyPr wrap="square" rtlCol="0">
                <a:spAutoFit/>
              </a:bodyPr>
              <a:lstStyle/>
              <a:p>
                <a:pPr>
                  <a:buClr>
                    <a:srgbClr val="7030A0"/>
                  </a:buClr>
                  <a:buSzPct val="100000"/>
                </a:pPr>
                <a14:m>
                  <m:oMath xmlns:m="http://schemas.openxmlformats.org/officeDocument/2006/math">
                    <m:r>
                      <a:rPr lang="en-GB" sz="1100" b="0" i="1" smtClean="0">
                        <a:latin typeface="Cambria Math" panose="02040503050406030204" pitchFamily="18" charset="0"/>
                        <a:ea typeface="Cambria Math" panose="02040503050406030204" pitchFamily="18" charset="0"/>
                      </a:rPr>
                      <m:t>𝐶</m:t>
                    </m:r>
                  </m:oMath>
                </a14:m>
                <a:r>
                  <a:rPr lang="en-GB" sz="1100" dirty="0">
                    <a:latin typeface="Cambria Math" panose="02040503050406030204" pitchFamily="18" charset="0"/>
                    <a:ea typeface="Cambria Math" panose="02040503050406030204" pitchFamily="18" charset="0"/>
                  </a:rPr>
                  <a:t>… premium of call option</a:t>
                </a:r>
              </a:p>
              <a:p>
                <a:pPr>
                  <a:buClr>
                    <a:srgbClr val="7030A0"/>
                  </a:buClr>
                  <a:buSzPct val="100000"/>
                </a:pPr>
                <a14:m>
                  <m:oMath xmlns:m="http://schemas.openxmlformats.org/officeDocument/2006/math">
                    <m:r>
                      <a:rPr lang="en-GB" sz="1100" b="0" i="1" smtClean="0">
                        <a:latin typeface="Cambria Math" panose="02040503050406030204" pitchFamily="18" charset="0"/>
                        <a:ea typeface="Cambria Math" panose="02040503050406030204" pitchFamily="18" charset="0"/>
                      </a:rPr>
                      <m:t>𝑃</m:t>
                    </m:r>
                  </m:oMath>
                </a14:m>
                <a:r>
                  <a:rPr lang="en-GB" sz="1100" dirty="0">
                    <a:latin typeface="Cambria Math" panose="02040503050406030204" pitchFamily="18" charset="0"/>
                    <a:ea typeface="Cambria Math" panose="02040503050406030204" pitchFamily="18" charset="0"/>
                  </a:rPr>
                  <a:t>… premium of put option</a:t>
                </a:r>
              </a:p>
              <a:p>
                <a:pPr>
                  <a:buClr>
                    <a:srgbClr val="7030A0"/>
                  </a:buClr>
                  <a:buSzPct val="100000"/>
                </a:pPr>
                <a14:m>
                  <m:oMath xmlns:m="http://schemas.openxmlformats.org/officeDocument/2006/math">
                    <m:r>
                      <a:rPr lang="en-GB" sz="1100" b="0" i="1" smtClean="0">
                        <a:latin typeface="Cambria Math" panose="02040503050406030204" pitchFamily="18" charset="0"/>
                        <a:ea typeface="Cambria Math" panose="02040503050406030204" pitchFamily="18" charset="0"/>
                      </a:rPr>
                      <m:t>𝑆</m:t>
                    </m:r>
                  </m:oMath>
                </a14:m>
                <a:r>
                  <a:rPr lang="en-GB" sz="1100" dirty="0">
                    <a:latin typeface="Cambria Math" panose="02040503050406030204" pitchFamily="18" charset="0"/>
                    <a:ea typeface="Cambria Math" panose="02040503050406030204" pitchFamily="18" charset="0"/>
                  </a:rPr>
                  <a:t>… price of the stock</a:t>
                </a:r>
              </a:p>
              <a:p>
                <a:pPr>
                  <a:buClr>
                    <a:srgbClr val="7030A0"/>
                  </a:buClr>
                  <a:buSzPct val="100000"/>
                </a:pPr>
                <a14:m>
                  <m:oMath xmlns:m="http://schemas.openxmlformats.org/officeDocument/2006/math">
                    <m:r>
                      <a:rPr lang="en-GB" sz="1100" b="0" i="1" smtClean="0">
                        <a:latin typeface="Cambria Math" panose="02040503050406030204" pitchFamily="18" charset="0"/>
                        <a:ea typeface="Cambria Math" panose="02040503050406030204" pitchFamily="18" charset="0"/>
                      </a:rPr>
                      <m:t>𝑋</m:t>
                    </m:r>
                  </m:oMath>
                </a14:m>
                <a:r>
                  <a:rPr lang="en-GB" sz="1100" dirty="0">
                    <a:latin typeface="Cambria Math" panose="02040503050406030204" pitchFamily="18" charset="0"/>
                    <a:ea typeface="Cambria Math" panose="02040503050406030204" pitchFamily="18" charset="0"/>
                  </a:rPr>
                  <a:t>… exercise price</a:t>
                </a:r>
              </a:p>
              <a:p>
                <a:pPr>
                  <a:buClr>
                    <a:srgbClr val="7030A0"/>
                  </a:buClr>
                  <a:buSzPct val="100000"/>
                </a:pPr>
                <a14:m>
                  <m:oMath xmlns:m="http://schemas.openxmlformats.org/officeDocument/2006/math">
                    <m:r>
                      <a:rPr lang="en-GB" sz="1100" b="0" i="1" smtClean="0">
                        <a:latin typeface="Cambria Math" panose="02040503050406030204" pitchFamily="18" charset="0"/>
                        <a:ea typeface="Cambria Math" panose="02040503050406030204" pitchFamily="18" charset="0"/>
                      </a:rPr>
                      <m:t>𝑟</m:t>
                    </m:r>
                  </m:oMath>
                </a14:m>
                <a:r>
                  <a:rPr lang="en-GB" sz="1100" dirty="0">
                    <a:latin typeface="Cambria Math" panose="02040503050406030204" pitchFamily="18" charset="0"/>
                    <a:ea typeface="Cambria Math" panose="02040503050406030204" pitchFamily="18" charset="0"/>
                  </a:rPr>
                  <a:t>… risk-free interest rate</a:t>
                </a:r>
              </a:p>
              <a:p>
                <a:pPr>
                  <a:buClr>
                    <a:srgbClr val="7030A0"/>
                  </a:buClr>
                  <a:buSzPct val="100000"/>
                </a:pPr>
                <a14:m>
                  <m:oMath xmlns:m="http://schemas.openxmlformats.org/officeDocument/2006/math">
                    <m:r>
                      <a:rPr lang="en-GB" sz="1100" b="0" i="1" smtClean="0">
                        <a:latin typeface="Cambria Math" panose="02040503050406030204" pitchFamily="18" charset="0"/>
                        <a:ea typeface="Cambria Math" panose="02040503050406030204" pitchFamily="18" charset="0"/>
                      </a:rPr>
                      <m:t>𝑇</m:t>
                    </m:r>
                  </m:oMath>
                </a14:m>
                <a:r>
                  <a:rPr lang="en-GB" sz="1100" dirty="0">
                    <a:latin typeface="Cambria Math" panose="02040503050406030204" pitchFamily="18" charset="0"/>
                    <a:ea typeface="Cambria Math" panose="02040503050406030204" pitchFamily="18" charset="0"/>
                  </a:rPr>
                  <a:t>… time to expiry date</a:t>
                </a:r>
              </a:p>
            </p:txBody>
          </p:sp>
        </mc:Choice>
        <mc:Fallback xmlns="">
          <p:sp>
            <p:nvSpPr>
              <p:cNvPr id="60" name="TextovéPole 59">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7020272" y="1331303"/>
                <a:ext cx="1964642" cy="1107996"/>
              </a:xfrm>
              <a:prstGeom prst="rect">
                <a:avLst/>
              </a:prstGeom>
              <a:blipFill>
                <a:blip r:embed="rId16"/>
                <a:stretch>
                  <a:fillRect t="-549" b="-2747"/>
                </a:stretch>
              </a:blipFill>
              <a:ln>
                <a:noFill/>
              </a:ln>
            </p:spPr>
            <p:txBody>
              <a:bodyPr/>
              <a:lstStyle/>
              <a:p>
                <a:r>
                  <a:rPr lang="en-GB">
                    <a:noFill/>
                  </a:rPr>
                  <a:t> </a:t>
                </a:r>
              </a:p>
            </p:txBody>
          </p:sp>
        </mc:Fallback>
      </mc:AlternateContent>
      <p:sp>
        <p:nvSpPr>
          <p:cNvPr id="72" name="TextovéPole 71"/>
          <p:cNvSpPr txBox="1"/>
          <p:nvPr/>
        </p:nvSpPr>
        <p:spPr>
          <a:xfrm>
            <a:off x="864000" y="2448000"/>
            <a:ext cx="7056000" cy="430887"/>
          </a:xfrm>
          <a:prstGeom prst="rect">
            <a:avLst/>
          </a:prstGeom>
          <a:noFill/>
          <a:ln>
            <a:noFill/>
          </a:ln>
        </p:spPr>
        <p:txBody>
          <a:bodyPr wrap="square" rtlCol="0">
            <a:spAutoFit/>
          </a:bodyPr>
          <a:lstStyle/>
          <a:p>
            <a:pPr marL="324000" indent="-324000">
              <a:buClr>
                <a:srgbClr val="7030A0"/>
              </a:buClr>
              <a:buSzPct val="100000"/>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American call and put on </a:t>
            </a:r>
            <a:r>
              <a:rPr lang="cs-CZ" sz="2200" dirty="0">
                <a:latin typeface="Cambria Math" panose="02040503050406030204" pitchFamily="18" charset="0"/>
                <a:ea typeface="Cambria Math" panose="02040503050406030204" pitchFamily="18" charset="0"/>
              </a:rPr>
              <a:t>a </a:t>
            </a:r>
            <a:r>
              <a:rPr lang="en-GB" sz="2200" dirty="0">
                <a:latin typeface="Cambria Math" panose="02040503050406030204" pitchFamily="18" charset="0"/>
                <a:ea typeface="Cambria Math" panose="02040503050406030204" pitchFamily="18" charset="0"/>
              </a:rPr>
              <a:t>non-dividend</a:t>
            </a:r>
            <a:r>
              <a:rPr lang="cs-CZ" sz="2200" dirty="0">
                <a:latin typeface="Cambria Math" panose="02040503050406030204" pitchFamily="18" charset="0"/>
                <a:ea typeface="Cambria Math" panose="02040503050406030204" pitchFamily="18" charset="0"/>
              </a:rPr>
              <a:t>-</a:t>
            </a:r>
            <a:r>
              <a:rPr lang="en-GB" sz="2200" dirty="0">
                <a:latin typeface="Cambria Math" panose="02040503050406030204" pitchFamily="18" charset="0"/>
                <a:ea typeface="Cambria Math" panose="02040503050406030204" pitchFamily="18" charset="0"/>
              </a:rPr>
              <a:t>paying stock </a:t>
            </a:r>
          </a:p>
        </p:txBody>
      </p:sp>
      <p:sp>
        <p:nvSpPr>
          <p:cNvPr id="89" name="TextovéPole 88">
            <a:extLst>
              <a:ext uri="{FF2B5EF4-FFF2-40B4-BE49-F238E27FC236}">
                <a16:creationId xmlns:a16="http://schemas.microsoft.com/office/drawing/2014/main" id="{EE16E3B3-D303-4859-B2FD-649CC47A3C14}"/>
              </a:ext>
            </a:extLst>
          </p:cNvPr>
          <p:cNvSpPr txBox="1"/>
          <p:nvPr/>
        </p:nvSpPr>
        <p:spPr>
          <a:xfrm>
            <a:off x="1188000" y="5045612"/>
            <a:ext cx="7216225"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For deep in-the-money options</a:t>
            </a:r>
            <a:r>
              <a:rPr lang="cs-CZ" dirty="0">
                <a:latin typeface="Cambria Math" panose="02040503050406030204" pitchFamily="18" charset="0"/>
                <a:ea typeface="Cambria Math" panose="02040503050406030204" pitchFamily="18" charset="0"/>
              </a:rPr>
              <a:t>,</a:t>
            </a:r>
            <a:r>
              <a:rPr lang="en-GB" dirty="0">
                <a:latin typeface="Cambria Math" panose="02040503050406030204" pitchFamily="18" charset="0"/>
                <a:ea typeface="Cambria Math" panose="02040503050406030204" pitchFamily="18" charset="0"/>
              </a:rPr>
              <a:t> it may be rational to exercise earlier</a:t>
            </a:r>
          </a:p>
        </p:txBody>
      </p:sp>
      <p:sp>
        <p:nvSpPr>
          <p:cNvPr id="92" name="TextovéPole 91">
            <a:extLst>
              <a:ext uri="{FF2B5EF4-FFF2-40B4-BE49-F238E27FC236}">
                <a16:creationId xmlns:a16="http://schemas.microsoft.com/office/drawing/2014/main" id="{EE16E3B3-D303-4859-B2FD-649CC47A3C14}"/>
              </a:ext>
            </a:extLst>
          </p:cNvPr>
          <p:cNvSpPr txBox="1"/>
          <p:nvPr/>
        </p:nvSpPr>
        <p:spPr>
          <a:xfrm>
            <a:off x="1512000" y="4548193"/>
            <a:ext cx="7431704" cy="584775"/>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The American feature has no added value, so the B-S formulas for European options on a non-dividend-paying stock can be applied</a:t>
            </a:r>
          </a:p>
        </p:txBody>
      </p:sp>
      <mc:AlternateContent xmlns:mc="http://schemas.openxmlformats.org/markup-compatibility/2006" xmlns:a14="http://schemas.microsoft.com/office/drawing/2010/main">
        <mc:Choice Requires="a14">
          <p:graphicFrame>
            <p:nvGraphicFramePr>
              <p:cNvPr id="6" name="Tabulka 5">
                <a:extLst>
                  <a:ext uri="{FF2B5EF4-FFF2-40B4-BE49-F238E27FC236}">
                    <a16:creationId xmlns:a16="http://schemas.microsoft.com/office/drawing/2014/main" id="{93836A39-4BA7-A6D3-8B15-4D6FDC648461}"/>
                  </a:ext>
                </a:extLst>
              </p:cNvPr>
              <p:cNvGraphicFramePr>
                <a:graphicFrameLocks noGrp="1"/>
              </p:cNvGraphicFramePr>
              <p:nvPr>
                <p:extLst>
                  <p:ext uri="{D42A27DB-BD31-4B8C-83A1-F6EECF244321}">
                    <p14:modId xmlns:p14="http://schemas.microsoft.com/office/powerpoint/2010/main" val="1178701457"/>
                  </p:ext>
                </p:extLst>
              </p:nvPr>
            </p:nvGraphicFramePr>
            <p:xfrm>
              <a:off x="2880000" y="2879803"/>
              <a:ext cx="3240000" cy="1125420"/>
            </p:xfrm>
            <a:graphic>
              <a:graphicData uri="http://schemas.openxmlformats.org/drawingml/2006/table">
                <a:tbl>
                  <a:tblPr>
                    <a:tableStyleId>{7DF18680-E054-41AD-8BC1-D1AEF772440D}</a:tableStyleId>
                  </a:tblPr>
                  <a:tblGrid>
                    <a:gridCol w="10800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5"/>
                        </a:ext>
                      </a:extLst>
                    </a:gridCol>
                  </a:tblGrid>
                  <a:tr h="288000">
                    <a:tc>
                      <a:txBody>
                        <a:bodyPr/>
                        <a:lstStyle/>
                        <a:p>
                          <a:pPr algn="ctr" fontAlgn="b"/>
                          <a:endParaRPr lang="en-GB" sz="1200" b="0" i="0" u="none" strike="noStrike" noProof="0"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tc gridSpan="2">
                      <a:txBody>
                        <a:bodyPr/>
                        <a:lstStyle/>
                        <a:p>
                          <a:pPr algn="ctr" fontAlgn="b"/>
                          <a14:m>
                            <m:oMathPara xmlns:m="http://schemas.openxmlformats.org/officeDocument/2006/math">
                              <m:oMathParaPr>
                                <m:jc m:val="center"/>
                              </m:oMathParaPr>
                              <m:oMath xmlns:m="http://schemas.openxmlformats.org/officeDocument/2006/math">
                                <m:r>
                                  <m:rPr>
                                    <m:nor/>
                                  </m:rPr>
                                  <a:rPr lang="en-GB" sz="1200" i="0" u="none" strike="noStrike" noProof="0" smtClean="0">
                                    <a:solidFill>
                                      <a:schemeClr val="bg1"/>
                                    </a:solidFill>
                                    <a:effectLst/>
                                    <a:latin typeface="Cambria Math" panose="02040503050406030204" pitchFamily="18" charset="0"/>
                                    <a:ea typeface="Cambria Math" panose="02040503050406030204" pitchFamily="18" charset="0"/>
                                  </a:rPr>
                                  <m:t>R</m:t>
                                </m:r>
                                <m:r>
                                  <m:rPr>
                                    <m:nor/>
                                  </m:rPr>
                                  <a:rPr lang="en-GB" sz="1200" b="0" i="0" u="none" strike="noStrike" noProof="0" smtClean="0">
                                    <a:solidFill>
                                      <a:schemeClr val="bg1"/>
                                    </a:solidFill>
                                    <a:effectLst/>
                                    <a:latin typeface="Cambria Math" panose="02040503050406030204" pitchFamily="18" charset="0"/>
                                    <a:ea typeface="Cambria Math" panose="02040503050406030204" pitchFamily="18" charset="0"/>
                                  </a:rPr>
                                  <m:t>evenue</m:t>
                                </m:r>
                              </m:oMath>
                            </m:oMathPara>
                          </a14:m>
                          <a:endParaRPr lang="en-GB" sz="1200" b="0" i="0" u="none" strike="noStrike" noProof="0"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tc hMerge="1">
                      <a:txBody>
                        <a:bodyPr/>
                        <a:lstStyle/>
                        <a:p>
                          <a:pPr algn="ctr" fontAlgn="b"/>
                          <a14:m>
                            <m:oMathPara xmlns:m="http://schemas.openxmlformats.org/officeDocument/2006/math">
                              <m:oMathParaPr>
                                <m:jc m:val="center"/>
                              </m:oMathParaPr>
                              <m:oMath xmlns:m="http://schemas.openxmlformats.org/officeDocument/2006/math">
                                <m:sSub>
                                  <m:sSubPr>
                                    <m:ctrlPr>
                                      <a:rPr lang="cs-CZ" sz="1200" b="0" i="1" u="none" strike="noStrike" dirty="0" smtClean="0">
                                        <a:solidFill>
                                          <a:schemeClr val="bg1"/>
                                        </a:solidFill>
                                        <a:effectLst/>
                                        <a:latin typeface="Cambria Math" panose="02040503050406030204" pitchFamily="18" charset="0"/>
                                        <a:ea typeface="Cambria Math" panose="02040503050406030204" pitchFamily="18" charset="0"/>
                                      </a:rPr>
                                    </m:ctrlPr>
                                  </m:sSubPr>
                                  <m:e>
                                    <m:r>
                                      <a:rPr lang="cs-CZ" sz="1200" b="0" i="1" u="none" strike="noStrike" dirty="0" smtClean="0">
                                        <a:solidFill>
                                          <a:schemeClr val="bg1"/>
                                        </a:solidFill>
                                        <a:effectLst/>
                                        <a:latin typeface="Cambria Math"/>
                                        <a:ea typeface="Cambria Math" panose="02040503050406030204" pitchFamily="18" charset="0"/>
                                      </a:rPr>
                                      <m:t>𝐸</m:t>
                                    </m:r>
                                  </m:e>
                                  <m:sub>
                                    <m:r>
                                      <a:rPr lang="cs-CZ" sz="1200" b="0" i="1" u="none" strike="noStrike" dirty="0" smtClean="0">
                                        <a:solidFill>
                                          <a:schemeClr val="bg1"/>
                                        </a:solidFill>
                                        <a:effectLst/>
                                        <a:latin typeface="Cambria Math"/>
                                        <a:ea typeface="Cambria Math" panose="02040503050406030204" pitchFamily="18" charset="0"/>
                                      </a:rPr>
                                      <m:t>𝑘</m:t>
                                    </m:r>
                                  </m:sub>
                                </m:sSub>
                              </m:oMath>
                            </m:oMathPara>
                          </a14:m>
                          <a:endParaRPr lang="cs-CZ" sz="12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0000"/>
                      </a:ext>
                    </a:extLst>
                  </a:tr>
                  <a:tr h="190500">
                    <a:tc>
                      <a:txBody>
                        <a:bodyPr/>
                        <a:lstStyle/>
                        <a:p>
                          <a:pPr algn="ctr" fontAlgn="b"/>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ctr" fontAlgn="b"/>
                          <a:r>
                            <a:rPr lang="en-GB" sz="1100" u="none" strike="noStrike" noProof="0" dirty="0">
                              <a:effectLst/>
                              <a:latin typeface="Cambria Math" panose="02040503050406030204" pitchFamily="18" charset="0"/>
                              <a:ea typeface="Cambria Math" panose="02040503050406030204" pitchFamily="18" charset="0"/>
                            </a:rPr>
                            <a:t>Call option</a:t>
                          </a:r>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ctr" fontAlgn="b"/>
                          <a:r>
                            <a:rPr lang="en-GB" sz="1100" u="none" strike="noStrike" noProof="0" dirty="0">
                              <a:effectLst/>
                              <a:latin typeface="Cambria Math" panose="02040503050406030204" pitchFamily="18" charset="0"/>
                              <a:ea typeface="Cambria Math" panose="02040503050406030204" pitchFamily="18" charset="0"/>
                            </a:rPr>
                            <a:t>Put option</a:t>
                          </a:r>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0001"/>
                      </a:ext>
                    </a:extLst>
                  </a:tr>
                  <a:tr h="190500">
                    <a:tc>
                      <a:txBody>
                        <a:bodyPr/>
                        <a:lstStyle/>
                        <a:p>
                          <a:pPr algn="ctr" fontAlgn="b"/>
                          <a:r>
                            <a:rPr lang="en-GB" sz="1100" u="none" strike="noStrike" noProof="0" dirty="0">
                              <a:effectLst/>
                              <a:latin typeface="Cambria Math" panose="02040503050406030204" pitchFamily="18" charset="0"/>
                              <a:ea typeface="Cambria Math" panose="02040503050406030204" pitchFamily="18" charset="0"/>
                            </a:rPr>
                            <a:t>Early exercise</a:t>
                          </a:r>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marL="0" indent="0" algn="l" fontAlgn="b">
                            <a:tabLst/>
                          </a:pPr>
                          <a14:m>
                            <m:oMathPara xmlns:m="http://schemas.openxmlformats.org/officeDocument/2006/math">
                              <m:oMathParaPr>
                                <m:jc m:val="left"/>
                              </m:oMathParaPr>
                              <m:oMath xmlns:m="http://schemas.openxmlformats.org/officeDocument/2006/math">
                                <m:r>
                                  <m:rPr>
                                    <m:sty m:val="p"/>
                                  </m:rPr>
                                  <a:rPr lang="cs-CZ" sz="1100" b="0" i="0" u="none" strike="noStrike" noProof="0" smtClean="0">
                                    <a:solidFill>
                                      <a:srgbClr val="000000"/>
                                    </a:solidFill>
                                    <a:effectLst/>
                                    <a:latin typeface="Cambria Math" panose="02040503050406030204" pitchFamily="18" charset="0"/>
                                    <a:ea typeface="Cambria Math" panose="02040503050406030204" pitchFamily="18" charset="0"/>
                                  </a:rPr>
                                  <m:t>IV</m:t>
                                </m:r>
                                <m:r>
                                  <a:rPr lang="cs-CZ" sz="1100" b="0" i="1" u="none" strike="noStrike" noProof="0" smtClean="0">
                                    <a:solidFill>
                                      <a:srgbClr val="000000"/>
                                    </a:solidFill>
                                    <a:effectLst/>
                                    <a:latin typeface="Cambria Math" panose="02040503050406030204" pitchFamily="18" charset="0"/>
                                    <a:ea typeface="Cambria Math" panose="02040503050406030204" pitchFamily="18" charset="0"/>
                                  </a:rPr>
                                  <m:t>=</m:t>
                                </m:r>
                                <m:r>
                                  <a:rPr lang="cs-CZ" sz="1100" b="0" i="1" u="none" strike="noStrike" noProof="0" smtClean="0">
                                    <a:solidFill>
                                      <a:srgbClr val="000000"/>
                                    </a:solidFill>
                                    <a:effectLst/>
                                    <a:latin typeface="Cambria Math" panose="02040503050406030204" pitchFamily="18" charset="0"/>
                                    <a:ea typeface="Cambria Math" panose="02040503050406030204" pitchFamily="18" charset="0"/>
                                  </a:rPr>
                                  <m:t>𝑆</m:t>
                                </m:r>
                                <m:r>
                                  <a:rPr lang="cs-CZ" sz="1100" b="0" i="1" u="none" strike="noStrike" noProof="0" smtClean="0">
                                    <a:solidFill>
                                      <a:srgbClr val="000000"/>
                                    </a:solidFill>
                                    <a:effectLst/>
                                    <a:latin typeface="Cambria Math" panose="02040503050406030204" pitchFamily="18" charset="0"/>
                                    <a:ea typeface="Cambria Math" panose="02040503050406030204" pitchFamily="18" charset="0"/>
                                  </a:rPr>
                                  <m:t>−</m:t>
                                </m:r>
                                <m:r>
                                  <a:rPr lang="cs-CZ" sz="1100" b="0" i="1" u="none" strike="noStrike" noProof="0" smtClean="0">
                                    <a:solidFill>
                                      <a:srgbClr val="000000"/>
                                    </a:solidFill>
                                    <a:effectLst/>
                                    <a:latin typeface="Cambria Math" panose="02040503050406030204" pitchFamily="18" charset="0"/>
                                    <a:ea typeface="Cambria Math" panose="02040503050406030204" pitchFamily="18" charset="0"/>
                                  </a:rPr>
                                  <m:t>𝑋</m:t>
                                </m:r>
                              </m:oMath>
                            </m:oMathPara>
                          </a14:m>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txBody>
                      <a:tcPr marL="72000" marR="36000" marT="36000" marB="36000" anchor="ctr">
                        <a:solidFill>
                          <a:schemeClr val="tx2">
                            <a:lumMod val="20000"/>
                            <a:lumOff val="80000"/>
                          </a:schemeClr>
                        </a:solidFill>
                      </a:tcPr>
                    </a:tc>
                    <a:tc>
                      <a:txBody>
                        <a:bodyPr/>
                        <a:lstStyle/>
                        <a:p>
                          <a:pPr marL="0" indent="0" algn="l" fontAlgn="b">
                            <a:tabLst/>
                          </a:pPr>
                          <a14:m>
                            <m:oMathPara xmlns:m="http://schemas.openxmlformats.org/officeDocument/2006/math">
                              <m:oMathParaPr>
                                <m:jc m:val="left"/>
                              </m:oMathParaPr>
                              <m:oMath xmlns:m="http://schemas.openxmlformats.org/officeDocument/2006/math">
                                <m:r>
                                  <m:rPr>
                                    <m:sty m:val="p"/>
                                  </m:rPr>
                                  <a:rPr lang="en-GB" sz="1100" b="0" i="0" u="none" strike="noStrike" noProof="0" smtClean="0">
                                    <a:solidFill>
                                      <a:srgbClr val="000000"/>
                                    </a:solidFill>
                                    <a:effectLst/>
                                    <a:latin typeface="Cambria Math" panose="02040503050406030204" pitchFamily="18" charset="0"/>
                                    <a:ea typeface="Cambria Math" panose="02040503050406030204" pitchFamily="18" charset="0"/>
                                  </a:rPr>
                                  <m:t>IV</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𝑋</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𝑆</m:t>
                                </m:r>
                              </m:oMath>
                            </m:oMathPara>
                          </a14:m>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txBody>
                      <a:tcPr marL="72000" marR="36000" marT="36000" marB="36000" anchor="b">
                        <a:lnR w="1905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2"/>
                      </a:ext>
                    </a:extLst>
                  </a:tr>
                  <a:tr h="190500">
                    <a:tc>
                      <a:txBody>
                        <a:bodyPr/>
                        <a:lstStyle/>
                        <a:p>
                          <a:pPr algn="ctr" fontAlgn="b"/>
                          <a:r>
                            <a:rPr lang="en-GB" sz="1100" b="0" i="0" u="none" strike="noStrike" noProof="0" dirty="0">
                              <a:solidFill>
                                <a:srgbClr val="000000"/>
                              </a:solidFill>
                              <a:effectLst/>
                              <a:latin typeface="Cambria Math" panose="02040503050406030204" pitchFamily="18" charset="0"/>
                              <a:ea typeface="Cambria Math" panose="02040503050406030204" pitchFamily="18" charset="0"/>
                            </a:rPr>
                            <a:t>Sale of option</a:t>
                          </a:r>
                        </a:p>
                      </a:txBody>
                      <a:tcPr marL="9525" marR="9525" marT="9525" marB="0"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indent="0" algn="l" fontAlgn="b">
                            <a:tabLst/>
                          </a:pPr>
                          <a14:m>
                            <m:oMathPara xmlns:m="http://schemas.openxmlformats.org/officeDocument/2006/math">
                              <m:oMathParaPr>
                                <m:jc m:val="left"/>
                              </m:oMathParaPr>
                              <m:oMath xmlns:m="http://schemas.openxmlformats.org/officeDocument/2006/math">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𝐶</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m:t>
                                </m:r>
                                <m:r>
                                  <m:rPr>
                                    <m:sty m:val="p"/>
                                  </m:rPr>
                                  <a:rPr lang="en-GB" sz="1100" b="0" i="0" u="none" strike="noStrike" noProof="0" smtClean="0">
                                    <a:solidFill>
                                      <a:srgbClr val="000000"/>
                                    </a:solidFill>
                                    <a:effectLst/>
                                    <a:latin typeface="Cambria Math" panose="02040503050406030204" pitchFamily="18" charset="0"/>
                                    <a:ea typeface="Cambria Math" panose="02040503050406030204" pitchFamily="18" charset="0"/>
                                  </a:rPr>
                                  <m:t>IV</m:t>
                                </m:r>
                                <m:r>
                                  <a:rPr lang="en-GB" sz="1100" b="0" i="0" u="none" strike="noStrike" noProof="0" smtClean="0">
                                    <a:solidFill>
                                      <a:srgbClr val="000000"/>
                                    </a:solidFill>
                                    <a:effectLst/>
                                    <a:latin typeface="Cambria Math" panose="02040503050406030204" pitchFamily="18" charset="0"/>
                                    <a:ea typeface="Cambria Math" panose="02040503050406030204" pitchFamily="18" charset="0"/>
                                  </a:rPr>
                                  <m:t>+</m:t>
                                </m:r>
                                <m:r>
                                  <m:rPr>
                                    <m:sty m:val="p"/>
                                  </m:rPr>
                                  <a:rPr lang="en-GB" sz="1100" b="0" i="0" u="none" strike="noStrike" noProof="0" smtClean="0">
                                    <a:solidFill>
                                      <a:srgbClr val="000000"/>
                                    </a:solidFill>
                                    <a:effectLst/>
                                    <a:latin typeface="Cambria Math" panose="02040503050406030204" pitchFamily="18" charset="0"/>
                                    <a:ea typeface="Cambria Math" panose="02040503050406030204" pitchFamily="18" charset="0"/>
                                  </a:rPr>
                                  <m:t>TV</m:t>
                                </m:r>
                              </m:oMath>
                            </m:oMathPara>
                          </a14:m>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p>
                          <a:pPr marL="90488" indent="0" algn="l" fontAlgn="b">
                            <a:tabLst/>
                          </a:pPr>
                          <a14:m>
                            <m:oMathPara xmlns:m="http://schemas.openxmlformats.org/officeDocument/2006/math">
                              <m:oMathParaPr>
                                <m:jc m:val="left"/>
                              </m:oMathParaPr>
                              <m:oMath xmlns:m="http://schemas.openxmlformats.org/officeDocument/2006/math">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 =</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𝑆</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𝑋</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m:t>
                                </m:r>
                                <m:r>
                                  <m:rPr>
                                    <m:sty m:val="p"/>
                                  </m:rPr>
                                  <a:rPr lang="en-GB" sz="1100" b="0" i="0" u="none" strike="noStrike" noProof="0" smtClean="0">
                                    <a:solidFill>
                                      <a:srgbClr val="000000"/>
                                    </a:solidFill>
                                    <a:effectLst/>
                                    <a:latin typeface="Cambria Math" panose="02040503050406030204" pitchFamily="18" charset="0"/>
                                    <a:ea typeface="Cambria Math" panose="02040503050406030204" pitchFamily="18" charset="0"/>
                                  </a:rPr>
                                  <m:t>TV</m:t>
                                </m:r>
                              </m:oMath>
                            </m:oMathPara>
                          </a14:m>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txBody>
                      <a:tcPr marL="72000" marR="9525" marT="36000" marB="36000" anchor="b">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indent="0" algn="l" fontAlgn="b">
                            <a:tabLst/>
                          </a:pPr>
                          <a14:m>
                            <m:oMathPara xmlns:m="http://schemas.openxmlformats.org/officeDocument/2006/math">
                              <m:oMathParaPr>
                                <m:jc m:val="left"/>
                              </m:oMathParaPr>
                              <m:oMath xmlns:m="http://schemas.openxmlformats.org/officeDocument/2006/math">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𝑃</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m:t>
                                </m:r>
                                <m:r>
                                  <m:rPr>
                                    <m:sty m:val="p"/>
                                  </m:rPr>
                                  <a:rPr lang="en-GB" sz="1100" b="0" i="0" u="none" strike="noStrike" noProof="0" smtClean="0">
                                    <a:solidFill>
                                      <a:srgbClr val="000000"/>
                                    </a:solidFill>
                                    <a:effectLst/>
                                    <a:latin typeface="Cambria Math" panose="02040503050406030204" pitchFamily="18" charset="0"/>
                                    <a:ea typeface="Cambria Math" panose="02040503050406030204" pitchFamily="18" charset="0"/>
                                  </a:rPr>
                                  <m:t>IV</m:t>
                                </m:r>
                                <m:r>
                                  <a:rPr lang="en-GB" sz="1100" b="0" i="0" u="none" strike="noStrike" noProof="0" smtClean="0">
                                    <a:solidFill>
                                      <a:srgbClr val="000000"/>
                                    </a:solidFill>
                                    <a:effectLst/>
                                    <a:latin typeface="Cambria Math" panose="02040503050406030204" pitchFamily="18" charset="0"/>
                                    <a:ea typeface="Cambria Math" panose="02040503050406030204" pitchFamily="18" charset="0"/>
                                  </a:rPr>
                                  <m:t>+</m:t>
                                </m:r>
                                <m:r>
                                  <m:rPr>
                                    <m:sty m:val="p"/>
                                  </m:rPr>
                                  <a:rPr lang="en-GB" sz="1100" b="0" i="0" u="none" strike="noStrike" noProof="0" smtClean="0">
                                    <a:solidFill>
                                      <a:srgbClr val="000000"/>
                                    </a:solidFill>
                                    <a:effectLst/>
                                    <a:latin typeface="Cambria Math" panose="02040503050406030204" pitchFamily="18" charset="0"/>
                                    <a:ea typeface="Cambria Math" panose="02040503050406030204" pitchFamily="18" charset="0"/>
                                  </a:rPr>
                                  <m:t>TV</m:t>
                                </m:r>
                              </m:oMath>
                            </m:oMathPara>
                          </a14:m>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p>
                          <a:pPr marL="90488" indent="0" algn="l" fontAlgn="b">
                            <a:tabLst/>
                          </a:pPr>
                          <a14:m>
                            <m:oMathPara xmlns:m="http://schemas.openxmlformats.org/officeDocument/2006/math">
                              <m:oMathParaPr>
                                <m:jc m:val="left"/>
                              </m:oMathParaPr>
                              <m:oMath xmlns:m="http://schemas.openxmlformats.org/officeDocument/2006/math">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 =</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𝑋</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𝑆</m:t>
                                </m:r>
                                <m:r>
                                  <a:rPr lang="en-GB" sz="1100" b="0" i="1" u="none" strike="noStrike" noProof="0" smtClean="0">
                                    <a:solidFill>
                                      <a:srgbClr val="000000"/>
                                    </a:solidFill>
                                    <a:effectLst/>
                                    <a:latin typeface="Cambria Math" panose="02040503050406030204" pitchFamily="18" charset="0"/>
                                    <a:ea typeface="Cambria Math" panose="02040503050406030204" pitchFamily="18" charset="0"/>
                                  </a:rPr>
                                  <m:t>+</m:t>
                                </m:r>
                                <m:r>
                                  <m:rPr>
                                    <m:sty m:val="p"/>
                                  </m:rPr>
                                  <a:rPr lang="en-GB" sz="1100" b="0" i="0" u="none" strike="noStrike" noProof="0" smtClean="0">
                                    <a:solidFill>
                                      <a:srgbClr val="000000"/>
                                    </a:solidFill>
                                    <a:effectLst/>
                                    <a:latin typeface="Cambria Math" panose="02040503050406030204" pitchFamily="18" charset="0"/>
                                    <a:ea typeface="Cambria Math" panose="02040503050406030204" pitchFamily="18" charset="0"/>
                                  </a:rPr>
                                  <m:t>TV</m:t>
                                </m:r>
                              </m:oMath>
                            </m:oMathPara>
                          </a14:m>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txBody>
                      <a:tcPr marL="72000" marR="36000" marT="36000" marB="36000" anchor="b">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3"/>
                      </a:ext>
                    </a:extLst>
                  </a:tr>
                </a:tbl>
              </a:graphicData>
            </a:graphic>
          </p:graphicFrame>
        </mc:Choice>
        <mc:Fallback xmlns="">
          <p:graphicFrame>
            <p:nvGraphicFramePr>
              <p:cNvPr id="6" name="Tabulka 5">
                <a:extLst>
                  <a:ext uri="{FF2B5EF4-FFF2-40B4-BE49-F238E27FC236}">
                    <a16:creationId xmlns:a16="http://schemas.microsoft.com/office/drawing/2014/main" id="{93836A39-4BA7-A6D3-8B15-4D6FDC648461}"/>
                  </a:ext>
                </a:extLst>
              </p:cNvPr>
              <p:cNvGraphicFramePr>
                <a:graphicFrameLocks noGrp="1"/>
              </p:cNvGraphicFramePr>
              <p:nvPr>
                <p:extLst>
                  <p:ext uri="{D42A27DB-BD31-4B8C-83A1-F6EECF244321}">
                    <p14:modId xmlns:p14="http://schemas.microsoft.com/office/powerpoint/2010/main" val="1178701457"/>
                  </p:ext>
                </p:extLst>
              </p:nvPr>
            </p:nvGraphicFramePr>
            <p:xfrm>
              <a:off x="2880000" y="2879803"/>
              <a:ext cx="3240000" cy="1125420"/>
            </p:xfrm>
            <a:graphic>
              <a:graphicData uri="http://schemas.openxmlformats.org/drawingml/2006/table">
                <a:tbl>
                  <a:tblPr>
                    <a:tableStyleId>{7DF18680-E054-41AD-8BC1-D1AEF772440D}</a:tableStyleId>
                  </a:tblPr>
                  <a:tblGrid>
                    <a:gridCol w="10800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5"/>
                        </a:ext>
                      </a:extLst>
                    </a:gridCol>
                  </a:tblGrid>
                  <a:tr h="288000">
                    <a:tc>
                      <a:txBody>
                        <a:bodyPr/>
                        <a:lstStyle/>
                        <a:p>
                          <a:pPr algn="ctr" fontAlgn="b"/>
                          <a:endParaRPr lang="en-GB" sz="1200" b="0" i="0" u="none" strike="noStrike" noProof="0"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tc gridSpan="2">
                      <a:txBody>
                        <a:bodyPr/>
                        <a:lstStyle/>
                        <a:p>
                          <a:endParaRPr lang="en-US"/>
                        </a:p>
                      </a:txBody>
                      <a:tcPr marL="9525" marR="9525" marT="9525" marB="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17"/>
                          <a:stretch>
                            <a:fillRect l="-50423" t="-4167" r="-1127" b="-293750"/>
                          </a:stretch>
                        </a:blipFill>
                      </a:tcPr>
                    </a:tc>
                    <a:tc hMerge="1">
                      <a:txBody>
                        <a:bodyPr/>
                        <a:lstStyle/>
                        <a:p>
                          <a:pPr algn="ctr" fontAlgn="b"/>
                          <a14:m xmlns:a14="http://schemas.microsoft.com/office/drawing/2010/main">
                            <m:oMathPara xmlns:m="http://schemas.openxmlformats.org/officeDocument/2006/math">
                              <m:oMathParaPr>
                                <m:jc m:val="center"/>
                              </m:oMathParaPr>
                              <m:oMath xmlns:m="http://schemas.openxmlformats.org/officeDocument/2006/math">
                                <m:sSub>
                                  <m:sSubPr>
                                    <m:ctrlPr>
                                      <a:rPr lang="cs-CZ" sz="1200" b="0" i="1" u="none" strike="noStrike" dirty="0" smtClean="0">
                                        <a:solidFill>
                                          <a:schemeClr val="bg1"/>
                                        </a:solidFill>
                                        <a:effectLst/>
                                        <a:latin typeface="Cambria Math" panose="02040503050406030204" pitchFamily="18" charset="0"/>
                                        <a:ea typeface="Cambria Math" panose="02040503050406030204" pitchFamily="18" charset="0"/>
                                      </a:rPr>
                                    </m:ctrlPr>
                                  </m:sSubPr>
                                  <m:e>
                                    <m:r>
                                      <a:rPr lang="cs-CZ" sz="1200" b="0" i="1" u="none" strike="noStrike" dirty="0" smtClean="0">
                                        <a:solidFill>
                                          <a:schemeClr val="bg1"/>
                                        </a:solidFill>
                                        <a:effectLst/>
                                        <a:latin typeface="Cambria Math"/>
                                        <a:ea typeface="Cambria Math" panose="02040503050406030204" pitchFamily="18" charset="0"/>
                                      </a:rPr>
                                      <m:t>𝐸</m:t>
                                    </m:r>
                                  </m:e>
                                  <m:sub>
                                    <m:r>
                                      <a:rPr lang="cs-CZ" sz="1200" b="0" i="1" u="none" strike="noStrike" dirty="0" smtClean="0">
                                        <a:solidFill>
                                          <a:schemeClr val="bg1"/>
                                        </a:solidFill>
                                        <a:effectLst/>
                                        <a:latin typeface="Cambria Math"/>
                                        <a:ea typeface="Cambria Math" panose="02040503050406030204" pitchFamily="18" charset="0"/>
                                      </a:rPr>
                                      <m:t>𝑘</m:t>
                                    </m:r>
                                  </m:sub>
                                </m:sSub>
                              </m:oMath>
                            </m:oMathPara>
                          </a14:m>
                          <a:endParaRPr lang="cs-CZ" sz="1200" b="0" i="0" u="none" strike="noStrike" dirty="0">
                            <a:solidFill>
                              <a:schemeClr val="bg1"/>
                            </a:solidFill>
                            <a:effectLst/>
                            <a:latin typeface="Cambria Math" panose="02040503050406030204" pitchFamily="18" charset="0"/>
                            <a:ea typeface="Cambria Math" panose="02040503050406030204" pitchFamily="18" charset="0"/>
                          </a:endParaRPr>
                        </a:p>
                      </a:txBody>
                      <a:tcPr marL="9525" marR="9525" marT="9525" marB="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0000"/>
                      </a:ext>
                    </a:extLst>
                  </a:tr>
                  <a:tr h="190500">
                    <a:tc>
                      <a:txBody>
                        <a:bodyPr/>
                        <a:lstStyle/>
                        <a:p>
                          <a:pPr algn="ctr" fontAlgn="b"/>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b">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ctr" fontAlgn="b"/>
                          <a:r>
                            <a:rPr lang="en-GB" sz="1100" u="none" strike="noStrike" noProof="0" dirty="0">
                              <a:effectLst/>
                              <a:latin typeface="Cambria Math" panose="02040503050406030204" pitchFamily="18" charset="0"/>
                              <a:ea typeface="Cambria Math" panose="02040503050406030204" pitchFamily="18" charset="0"/>
                            </a:rPr>
                            <a:t>Call option</a:t>
                          </a:r>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T w="19050" cap="flat" cmpd="sng" algn="ctr">
                          <a:solidFill>
                            <a:schemeClr val="tx1"/>
                          </a:solidFill>
                          <a:prstDash val="solid"/>
                          <a:round/>
                          <a:headEnd type="none" w="med" len="med"/>
                          <a:tailEnd type="none" w="med" len="med"/>
                        </a:lnT>
                        <a:solidFill>
                          <a:schemeClr val="tx2">
                            <a:lumMod val="20000"/>
                            <a:lumOff val="80000"/>
                          </a:schemeClr>
                        </a:solidFill>
                      </a:tcPr>
                    </a:tc>
                    <a:tc>
                      <a:txBody>
                        <a:bodyPr/>
                        <a:lstStyle/>
                        <a:p>
                          <a:pPr algn="ctr" fontAlgn="b"/>
                          <a:r>
                            <a:rPr lang="en-GB" sz="1100" u="none" strike="noStrike" noProof="0" dirty="0">
                              <a:effectLst/>
                              <a:latin typeface="Cambria Math" panose="02040503050406030204" pitchFamily="18" charset="0"/>
                              <a:ea typeface="Cambria Math" panose="02040503050406030204" pitchFamily="18" charset="0"/>
                            </a:rPr>
                            <a:t>Put option</a:t>
                          </a:r>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txBody>
                      <a:tcPr marL="9525" marR="36000" marT="9525" marB="0" anchor="b">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10001"/>
                      </a:ext>
                    </a:extLst>
                  </a:tr>
                  <a:tr h="239640">
                    <a:tc>
                      <a:txBody>
                        <a:bodyPr/>
                        <a:lstStyle/>
                        <a:p>
                          <a:pPr algn="ctr" fontAlgn="b"/>
                          <a:r>
                            <a:rPr lang="en-GB" sz="1100" u="none" strike="noStrike" noProof="0" dirty="0">
                              <a:effectLst/>
                              <a:latin typeface="Cambria Math" panose="02040503050406030204" pitchFamily="18" charset="0"/>
                              <a:ea typeface="Cambria Math" panose="02040503050406030204" pitchFamily="18" charset="0"/>
                            </a:rPr>
                            <a:t>Early exercise</a:t>
                          </a:r>
                          <a:endParaRPr lang="en-GB" sz="1100" b="0" i="0" u="none" strike="noStrike" noProof="0" dirty="0">
                            <a:solidFill>
                              <a:srgbClr val="000000"/>
                            </a:solidFill>
                            <a:effectLst/>
                            <a:latin typeface="Cambria Math" panose="02040503050406030204" pitchFamily="18" charset="0"/>
                            <a:ea typeface="Cambria Math" panose="02040503050406030204" pitchFamily="18" charset="0"/>
                          </a:endParaRPr>
                        </a:p>
                      </a:txBody>
                      <a:tcPr marL="9525" marR="9525" marT="9525" marB="0" anchor="ctr">
                        <a:lnL w="19050"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endParaRPr lang="en-US"/>
                        </a:p>
                      </a:txBody>
                      <a:tcPr marL="72000" marR="36000" marT="36000" marB="36000" anchor="ctr">
                        <a:blipFill>
                          <a:blip r:embed="rId17"/>
                          <a:stretch>
                            <a:fillRect l="-100562" t="-202500" r="-101685" b="-175000"/>
                          </a:stretch>
                        </a:blipFill>
                      </a:tcPr>
                    </a:tc>
                    <a:tc>
                      <a:txBody>
                        <a:bodyPr/>
                        <a:lstStyle/>
                        <a:p>
                          <a:endParaRPr lang="en-US"/>
                        </a:p>
                      </a:txBody>
                      <a:tcPr marL="72000" marR="36000" marT="36000" marB="36000" anchor="b">
                        <a:lnR w="19050" cap="flat" cmpd="sng" algn="ctr">
                          <a:solidFill>
                            <a:schemeClr val="tx1"/>
                          </a:solidFill>
                          <a:prstDash val="solid"/>
                          <a:round/>
                          <a:headEnd type="none" w="med" len="med"/>
                          <a:tailEnd type="none" w="med" len="med"/>
                        </a:lnR>
                        <a:blipFill>
                          <a:blip r:embed="rId17"/>
                          <a:stretch>
                            <a:fillRect l="-201695" t="-202500" r="-2260" b="-175000"/>
                          </a:stretch>
                        </a:blipFill>
                      </a:tcPr>
                    </a:tc>
                    <a:extLst>
                      <a:ext uri="{0D108BD9-81ED-4DB2-BD59-A6C34878D82A}">
                        <a16:rowId xmlns:a16="http://schemas.microsoft.com/office/drawing/2014/main" val="10002"/>
                      </a:ext>
                    </a:extLst>
                  </a:tr>
                  <a:tr h="407280">
                    <a:tc>
                      <a:txBody>
                        <a:bodyPr/>
                        <a:lstStyle/>
                        <a:p>
                          <a:pPr algn="ctr" fontAlgn="b"/>
                          <a:r>
                            <a:rPr lang="en-GB" sz="1100" b="0" i="0" u="none" strike="noStrike" noProof="0" dirty="0">
                              <a:solidFill>
                                <a:srgbClr val="000000"/>
                              </a:solidFill>
                              <a:effectLst/>
                              <a:latin typeface="Cambria Math" panose="02040503050406030204" pitchFamily="18" charset="0"/>
                              <a:ea typeface="Cambria Math" panose="02040503050406030204" pitchFamily="18" charset="0"/>
                            </a:rPr>
                            <a:t>Sale of option</a:t>
                          </a:r>
                        </a:p>
                      </a:txBody>
                      <a:tcPr marL="9525" marR="9525" marT="9525" marB="0"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endParaRPr lang="en-US"/>
                        </a:p>
                      </a:txBody>
                      <a:tcPr marL="72000" marR="9525" marT="36000" marB="36000" anchor="b">
                        <a:lnB w="19050" cap="flat" cmpd="sng" algn="ctr">
                          <a:solidFill>
                            <a:schemeClr val="tx1"/>
                          </a:solidFill>
                          <a:prstDash val="solid"/>
                          <a:round/>
                          <a:headEnd type="none" w="med" len="med"/>
                          <a:tailEnd type="none" w="med" len="med"/>
                        </a:lnB>
                        <a:blipFill>
                          <a:blip r:embed="rId17"/>
                          <a:stretch>
                            <a:fillRect l="-100562" t="-180597" r="-101685" b="-4478"/>
                          </a:stretch>
                        </a:blipFill>
                      </a:tcPr>
                    </a:tc>
                    <a:tc>
                      <a:txBody>
                        <a:bodyPr/>
                        <a:lstStyle/>
                        <a:p>
                          <a:endParaRPr lang="en-US"/>
                        </a:p>
                      </a:txBody>
                      <a:tcPr marL="72000" marR="36000" marT="36000" marB="36000" anchor="b">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17"/>
                          <a:stretch>
                            <a:fillRect l="-201695" t="-180597" r="-2260" b="-4478"/>
                          </a:stretch>
                        </a:blipFill>
                      </a:tcPr>
                    </a:tc>
                    <a:extLst>
                      <a:ext uri="{0D108BD9-81ED-4DB2-BD59-A6C34878D82A}">
                        <a16:rowId xmlns:a16="http://schemas.microsoft.com/office/drawing/2014/main" val="10013"/>
                      </a:ext>
                    </a:extLst>
                  </a:tr>
                </a:tbl>
              </a:graphicData>
            </a:graphic>
          </p:graphicFrame>
        </mc:Fallback>
      </mc:AlternateContent>
      <mc:AlternateContent xmlns:mc="http://schemas.openxmlformats.org/markup-compatibility/2006" xmlns:a14="http://schemas.microsoft.com/office/drawing/2010/main">
        <mc:Choice Requires="a14">
          <p:sp>
            <p:nvSpPr>
              <p:cNvPr id="7" name="TextovéPole 6">
                <a:extLst>
                  <a:ext uri="{FF2B5EF4-FFF2-40B4-BE49-F238E27FC236}">
                    <a16:creationId xmlns:a16="http://schemas.microsoft.com/office/drawing/2014/main" id="{AE5FCF08-12ED-D463-90B9-46C12AEA1EA7}"/>
                  </a:ext>
                </a:extLst>
              </p:cNvPr>
              <p:cNvSpPr txBox="1"/>
              <p:nvPr/>
            </p:nvSpPr>
            <p:spPr>
              <a:xfrm>
                <a:off x="6659912" y="3212976"/>
                <a:ext cx="1584176" cy="461665"/>
              </a:xfrm>
              <a:prstGeom prst="rect">
                <a:avLst/>
              </a:prstGeom>
              <a:noFill/>
              <a:ln>
                <a:noFill/>
              </a:ln>
            </p:spPr>
            <p:txBody>
              <a:bodyPr wrap="square" rtlCol="0">
                <a:spAutoFit/>
              </a:bodyPr>
              <a:lstStyle/>
              <a:p>
                <a:pPr>
                  <a:buClr>
                    <a:srgbClr val="7030A0"/>
                  </a:buClr>
                  <a:buSzPct val="100000"/>
                </a:pPr>
                <a14:m>
                  <m:oMath xmlns:m="http://schemas.openxmlformats.org/officeDocument/2006/math">
                    <m:r>
                      <m:rPr>
                        <m:nor/>
                      </m:rPr>
                      <a:rPr lang="en-GB" sz="1200" b="0" i="0" smtClean="0">
                        <a:latin typeface="Cambria Math" panose="02040503050406030204" pitchFamily="18" charset="0"/>
                        <a:ea typeface="Cambria Math" panose="02040503050406030204" pitchFamily="18" charset="0"/>
                      </a:rPr>
                      <m:t>IV</m:t>
                    </m:r>
                    <m:r>
                      <a:rPr lang="cs-CZ" sz="1200" b="0" i="1" smtClean="0">
                        <a:latin typeface="Cambria Math" panose="02040503050406030204" pitchFamily="18" charset="0"/>
                        <a:ea typeface="Cambria Math" panose="02040503050406030204" pitchFamily="18" charset="0"/>
                      </a:rPr>
                      <m:t> </m:t>
                    </m:r>
                  </m:oMath>
                </a14:m>
                <a:r>
                  <a:rPr lang="en-GB" sz="1200" dirty="0">
                    <a:latin typeface="Cambria Math" panose="02040503050406030204" pitchFamily="18" charset="0"/>
                    <a:ea typeface="Cambria Math" panose="02040503050406030204" pitchFamily="18" charset="0"/>
                  </a:rPr>
                  <a:t>… intrinsic value</a:t>
                </a:r>
              </a:p>
              <a:p>
                <a:pPr>
                  <a:buClr>
                    <a:srgbClr val="7030A0"/>
                  </a:buClr>
                  <a:buSzPct val="100000"/>
                </a:pPr>
                <a14:m>
                  <m:oMath xmlns:m="http://schemas.openxmlformats.org/officeDocument/2006/math">
                    <m:r>
                      <m:rPr>
                        <m:nor/>
                      </m:rPr>
                      <a:rPr lang="en-GB" sz="1200" b="0" i="0" smtClean="0">
                        <a:latin typeface="Cambria Math" panose="02040503050406030204" pitchFamily="18" charset="0"/>
                        <a:ea typeface="Cambria Math" panose="02040503050406030204" pitchFamily="18" charset="0"/>
                      </a:rPr>
                      <m:t>TV</m:t>
                    </m:r>
                  </m:oMath>
                </a14:m>
                <a:r>
                  <a:rPr lang="en-GB" sz="1200" dirty="0">
                    <a:latin typeface="Cambria Math" panose="02040503050406030204" pitchFamily="18" charset="0"/>
                    <a:ea typeface="Cambria Math" panose="02040503050406030204" pitchFamily="18" charset="0"/>
                  </a:rPr>
                  <a:t>… time value</a:t>
                </a:r>
              </a:p>
            </p:txBody>
          </p:sp>
        </mc:Choice>
        <mc:Fallback xmlns="">
          <p:sp>
            <p:nvSpPr>
              <p:cNvPr id="7" name="TextovéPole 6">
                <a:extLst>
                  <a:ext uri="{FF2B5EF4-FFF2-40B4-BE49-F238E27FC236}">
                    <a16:creationId xmlns:a16="http://schemas.microsoft.com/office/drawing/2014/main" id="{AE5FCF08-12ED-D463-90B9-46C12AEA1EA7}"/>
                  </a:ext>
                </a:extLst>
              </p:cNvPr>
              <p:cNvSpPr txBox="1">
                <a:spLocks noRot="1" noChangeAspect="1" noMove="1" noResize="1" noEditPoints="1" noAdjustHandles="1" noChangeArrowheads="1" noChangeShapeType="1" noTextEdit="1"/>
              </p:cNvSpPr>
              <p:nvPr/>
            </p:nvSpPr>
            <p:spPr>
              <a:xfrm>
                <a:off x="6659912" y="3212976"/>
                <a:ext cx="1584176" cy="461665"/>
              </a:xfrm>
              <a:prstGeom prst="rect">
                <a:avLst/>
              </a:prstGeom>
              <a:blipFill>
                <a:blip r:embed="rId18"/>
                <a:stretch>
                  <a:fillRect b="-9211"/>
                </a:stretch>
              </a:blipFill>
              <a:ln>
                <a:noFill/>
              </a:ln>
            </p:spPr>
            <p:txBody>
              <a:bodyPr/>
              <a:lstStyle/>
              <a:p>
                <a:r>
                  <a:rPr lang="en-GB">
                    <a:noFill/>
                  </a:rPr>
                  <a:t> </a:t>
                </a:r>
              </a:p>
            </p:txBody>
          </p:sp>
        </mc:Fallback>
      </mc:AlternateContent>
      <p:sp>
        <p:nvSpPr>
          <p:cNvPr id="9" name="TextovéPole 8">
            <a:extLst>
              <a:ext uri="{FF2B5EF4-FFF2-40B4-BE49-F238E27FC236}">
                <a16:creationId xmlns:a16="http://schemas.microsoft.com/office/drawing/2014/main" id="{450F9744-E804-5585-4FFB-B8795BE53B55}"/>
              </a:ext>
            </a:extLst>
          </p:cNvPr>
          <p:cNvSpPr txBox="1"/>
          <p:nvPr/>
        </p:nvSpPr>
        <p:spPr>
          <a:xfrm>
            <a:off x="1512000" y="5307264"/>
            <a:ext cx="6156344"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Traders believe that options can only lose their IV (TV is negative)</a:t>
            </a:r>
          </a:p>
        </p:txBody>
      </p:sp>
      <p:sp>
        <p:nvSpPr>
          <p:cNvPr id="10" name="TextovéPole 9">
            <a:extLst>
              <a:ext uri="{FF2B5EF4-FFF2-40B4-BE49-F238E27FC236}">
                <a16:creationId xmlns:a16="http://schemas.microsoft.com/office/drawing/2014/main" id="{0C3D9CCE-D1DA-80D6-FC7D-B9A32FA766D8}"/>
              </a:ext>
            </a:extLst>
          </p:cNvPr>
          <p:cNvSpPr txBox="1"/>
          <p:nvPr/>
        </p:nvSpPr>
        <p:spPr>
          <a:xfrm>
            <a:off x="1512488" y="5558960"/>
            <a:ext cx="7286904"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By not exercising</a:t>
            </a:r>
            <a:r>
              <a:rPr lang="cs-CZ" sz="1600" dirty="0">
                <a:latin typeface="Cambria Math" panose="02040503050406030204" pitchFamily="18" charset="0"/>
                <a:ea typeface="Cambria Math" panose="02040503050406030204" pitchFamily="18" charset="0"/>
              </a:rPr>
              <a:t>,</a:t>
            </a:r>
            <a:r>
              <a:rPr lang="en-GB" sz="1600" dirty="0">
                <a:latin typeface="Cambria Math" panose="02040503050406030204" pitchFamily="18" charset="0"/>
                <a:ea typeface="Cambria Math" panose="02040503050406030204" pitchFamily="18" charset="0"/>
              </a:rPr>
              <a:t> traders lose the </a:t>
            </a:r>
            <a:r>
              <a:rPr lang="cs-CZ" sz="1600" dirty="0">
                <a:latin typeface="Cambria Math" panose="02040503050406030204" pitchFamily="18" charset="0"/>
                <a:ea typeface="Cambria Math" panose="02040503050406030204" pitchFamily="18" charset="0"/>
              </a:rPr>
              <a:t>risk-free </a:t>
            </a:r>
            <a:r>
              <a:rPr lang="en-GB" sz="1600" dirty="0">
                <a:latin typeface="Cambria Math" panose="02040503050406030204" pitchFamily="18" charset="0"/>
                <a:ea typeface="Cambria Math" panose="02040503050406030204" pitchFamily="18" charset="0"/>
              </a:rPr>
              <a:t>interest earned on received income</a:t>
            </a:r>
          </a:p>
        </p:txBody>
      </p:sp>
      <p:sp>
        <p:nvSpPr>
          <p:cNvPr id="12" name="TextovéPole 11">
            <a:extLst>
              <a:ext uri="{FF2B5EF4-FFF2-40B4-BE49-F238E27FC236}">
                <a16:creationId xmlns:a16="http://schemas.microsoft.com/office/drawing/2014/main" id="{ACD2FE30-C619-2B7F-39A7-92EB261F9B71}"/>
              </a:ext>
            </a:extLst>
          </p:cNvPr>
          <p:cNvSpPr txBox="1"/>
          <p:nvPr/>
        </p:nvSpPr>
        <p:spPr>
          <a:xfrm>
            <a:off x="1512000" y="5814638"/>
            <a:ext cx="6507512"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As of today, there is no closed-form solution for pricing these options</a:t>
            </a:r>
          </a:p>
        </p:txBody>
      </p:sp>
      <p:sp>
        <p:nvSpPr>
          <p:cNvPr id="30" name="Pravá složená závorka 29">
            <a:extLst>
              <a:ext uri="{FF2B5EF4-FFF2-40B4-BE49-F238E27FC236}">
                <a16:creationId xmlns:a16="http://schemas.microsoft.com/office/drawing/2014/main" id="{D7F36A60-76AC-2526-9857-7EE06281F088}"/>
              </a:ext>
            </a:extLst>
          </p:cNvPr>
          <p:cNvSpPr/>
          <p:nvPr/>
        </p:nvSpPr>
        <p:spPr>
          <a:xfrm rot="16200000">
            <a:off x="4617889" y="1428485"/>
            <a:ext cx="144000" cy="809156"/>
          </a:xfrm>
          <a:prstGeom prst="rightBrace">
            <a:avLst/>
          </a:prstGeom>
          <a:ln w="25400">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1" name="Pravá složená závorka 30">
            <a:extLst>
              <a:ext uri="{FF2B5EF4-FFF2-40B4-BE49-F238E27FC236}">
                <a16:creationId xmlns:a16="http://schemas.microsoft.com/office/drawing/2014/main" id="{902F2547-DB56-D3E7-DA57-1E59872FA7A6}"/>
              </a:ext>
            </a:extLst>
          </p:cNvPr>
          <p:cNvSpPr/>
          <p:nvPr/>
        </p:nvSpPr>
        <p:spPr>
          <a:xfrm rot="16200000">
            <a:off x="6048000" y="1428485"/>
            <a:ext cx="144000" cy="809156"/>
          </a:xfrm>
          <a:prstGeom prst="rightBrace">
            <a:avLst/>
          </a:prstGeom>
          <a:ln w="25400">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3" name="TextovéPole 32">
                <a:extLst>
                  <a:ext uri="{FF2B5EF4-FFF2-40B4-BE49-F238E27FC236}">
                    <a16:creationId xmlns:a16="http://schemas.microsoft.com/office/drawing/2014/main" id="{5050FF0D-4E42-399B-ABE5-406CFA630B74}"/>
                  </a:ext>
                </a:extLst>
              </p:cNvPr>
              <p:cNvSpPr txBox="1"/>
              <p:nvPr/>
            </p:nvSpPr>
            <p:spPr>
              <a:xfrm>
                <a:off x="4469595" y="1566000"/>
                <a:ext cx="503768" cy="24622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cs-CZ" sz="1000" i="1" smtClean="0">
                          <a:latin typeface="Cambria Math" panose="02040503050406030204" pitchFamily="18" charset="0"/>
                          <a:ea typeface="Cambria Math" panose="02040503050406030204" pitchFamily="18" charset="0"/>
                        </a:rPr>
                        <m:t>𝑁</m:t>
                      </m:r>
                      <m:d>
                        <m:dPr>
                          <m:ctrlPr>
                            <a:rPr lang="cs-CZ" sz="1000" i="1">
                              <a:latin typeface="Cambria Math" panose="02040503050406030204" pitchFamily="18" charset="0"/>
                              <a:ea typeface="Cambria Math" panose="02040503050406030204" pitchFamily="18" charset="0"/>
                            </a:rPr>
                          </m:ctrlPr>
                        </m:dPr>
                        <m:e>
                          <m:sSub>
                            <m:sSubPr>
                              <m:ctrlPr>
                                <a:rPr lang="cs-CZ" sz="1000" i="1">
                                  <a:latin typeface="Cambria Math" panose="02040503050406030204" pitchFamily="18" charset="0"/>
                                  <a:ea typeface="Cambria Math" panose="02040503050406030204" pitchFamily="18" charset="0"/>
                                </a:rPr>
                              </m:ctrlPr>
                            </m:sSubPr>
                            <m:e>
                              <m:r>
                                <a:rPr lang="cs-CZ" sz="1000" b="0" i="1" smtClean="0">
                                  <a:latin typeface="Cambria Math" panose="02040503050406030204" pitchFamily="18" charset="0"/>
                                  <a:ea typeface="Cambria Math" panose="02040503050406030204" pitchFamily="18" charset="0"/>
                                </a:rPr>
                                <m:t>−</m:t>
                              </m:r>
                              <m:r>
                                <a:rPr lang="cs-CZ" sz="1000" i="1">
                                  <a:latin typeface="Cambria Math" panose="02040503050406030204" pitchFamily="18" charset="0"/>
                                  <a:ea typeface="Cambria Math" panose="02040503050406030204" pitchFamily="18" charset="0"/>
                                </a:rPr>
                                <m:t>𝑑</m:t>
                              </m:r>
                            </m:e>
                            <m:sub>
                              <m:r>
                                <a:rPr lang="cs-CZ" sz="1000" i="1">
                                  <a:latin typeface="Cambria Math" panose="02040503050406030204" pitchFamily="18" charset="0"/>
                                  <a:ea typeface="Cambria Math" panose="02040503050406030204" pitchFamily="18" charset="0"/>
                                </a:rPr>
                                <m:t>2</m:t>
                              </m:r>
                            </m:sub>
                          </m:sSub>
                        </m:e>
                      </m:d>
                    </m:oMath>
                  </m:oMathPara>
                </a14:m>
                <a:endParaRPr lang="en-GB" sz="1000" i="1" dirty="0">
                  <a:latin typeface="Cambria Math"/>
                  <a:ea typeface="Cambria Math" panose="02040503050406030204" pitchFamily="18" charset="0"/>
                </a:endParaRPr>
              </a:p>
            </p:txBody>
          </p:sp>
        </mc:Choice>
        <mc:Fallback xmlns="">
          <p:sp>
            <p:nvSpPr>
              <p:cNvPr id="33" name="TextovéPole 32">
                <a:extLst>
                  <a:ext uri="{FF2B5EF4-FFF2-40B4-BE49-F238E27FC236}">
                    <a16:creationId xmlns:a16="http://schemas.microsoft.com/office/drawing/2014/main" id="{5050FF0D-4E42-399B-ABE5-406CFA630B74}"/>
                  </a:ext>
                </a:extLst>
              </p:cNvPr>
              <p:cNvSpPr txBox="1">
                <a:spLocks noRot="1" noChangeAspect="1" noMove="1" noResize="1" noEditPoints="1" noAdjustHandles="1" noChangeArrowheads="1" noChangeShapeType="1" noTextEdit="1"/>
              </p:cNvSpPr>
              <p:nvPr/>
            </p:nvSpPr>
            <p:spPr>
              <a:xfrm>
                <a:off x="4469595" y="1566000"/>
                <a:ext cx="503768" cy="246221"/>
              </a:xfrm>
              <a:prstGeom prst="rect">
                <a:avLst/>
              </a:prstGeom>
              <a:blipFill>
                <a:blip r:embed="rId19"/>
                <a:stretch>
                  <a:fillRect l="-481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ovéPole 33">
                <a:extLst>
                  <a:ext uri="{FF2B5EF4-FFF2-40B4-BE49-F238E27FC236}">
                    <a16:creationId xmlns:a16="http://schemas.microsoft.com/office/drawing/2014/main" id="{199E4441-BCC2-FE87-A2AB-54976E680AC5}"/>
                  </a:ext>
                </a:extLst>
              </p:cNvPr>
              <p:cNvSpPr txBox="1"/>
              <p:nvPr/>
            </p:nvSpPr>
            <p:spPr>
              <a:xfrm>
                <a:off x="5892664" y="1566000"/>
                <a:ext cx="503768" cy="24622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cs-CZ" sz="1000" i="1" smtClean="0">
                          <a:latin typeface="Cambria Math" panose="02040503050406030204" pitchFamily="18" charset="0"/>
                          <a:ea typeface="Cambria Math" panose="02040503050406030204" pitchFamily="18" charset="0"/>
                        </a:rPr>
                        <m:t>𝑁</m:t>
                      </m:r>
                      <m:d>
                        <m:dPr>
                          <m:ctrlPr>
                            <a:rPr lang="cs-CZ" sz="1000" i="1">
                              <a:latin typeface="Cambria Math" panose="02040503050406030204" pitchFamily="18" charset="0"/>
                              <a:ea typeface="Cambria Math" panose="02040503050406030204" pitchFamily="18" charset="0"/>
                            </a:rPr>
                          </m:ctrlPr>
                        </m:dPr>
                        <m:e>
                          <m:sSub>
                            <m:sSubPr>
                              <m:ctrlPr>
                                <a:rPr lang="cs-CZ" sz="1000" i="1">
                                  <a:latin typeface="Cambria Math" panose="02040503050406030204" pitchFamily="18" charset="0"/>
                                  <a:ea typeface="Cambria Math" panose="02040503050406030204" pitchFamily="18" charset="0"/>
                                </a:rPr>
                              </m:ctrlPr>
                            </m:sSubPr>
                            <m:e>
                              <m:r>
                                <a:rPr lang="cs-CZ" sz="1000" b="0" i="1" smtClean="0">
                                  <a:latin typeface="Cambria Math" panose="02040503050406030204" pitchFamily="18" charset="0"/>
                                  <a:ea typeface="Cambria Math" panose="02040503050406030204" pitchFamily="18" charset="0"/>
                                </a:rPr>
                                <m:t>−</m:t>
                              </m:r>
                              <m:r>
                                <a:rPr lang="cs-CZ" sz="1000" i="1">
                                  <a:latin typeface="Cambria Math" panose="02040503050406030204" pitchFamily="18" charset="0"/>
                                  <a:ea typeface="Cambria Math" panose="02040503050406030204" pitchFamily="18" charset="0"/>
                                </a:rPr>
                                <m:t>𝑑</m:t>
                              </m:r>
                            </m:e>
                            <m:sub>
                              <m:r>
                                <a:rPr lang="cs-CZ" sz="1000" b="0" i="1" smtClean="0">
                                  <a:latin typeface="Cambria Math" panose="02040503050406030204" pitchFamily="18" charset="0"/>
                                  <a:ea typeface="Cambria Math" panose="02040503050406030204" pitchFamily="18" charset="0"/>
                                </a:rPr>
                                <m:t>1</m:t>
                              </m:r>
                            </m:sub>
                          </m:sSub>
                        </m:e>
                      </m:d>
                    </m:oMath>
                  </m:oMathPara>
                </a14:m>
                <a:endParaRPr lang="en-GB" sz="1000" i="1" dirty="0">
                  <a:latin typeface="Cambria Math"/>
                  <a:ea typeface="Cambria Math" panose="02040503050406030204" pitchFamily="18" charset="0"/>
                </a:endParaRPr>
              </a:p>
            </p:txBody>
          </p:sp>
        </mc:Choice>
        <mc:Fallback xmlns="">
          <p:sp>
            <p:nvSpPr>
              <p:cNvPr id="34" name="TextovéPole 33">
                <a:extLst>
                  <a:ext uri="{FF2B5EF4-FFF2-40B4-BE49-F238E27FC236}">
                    <a16:creationId xmlns:a16="http://schemas.microsoft.com/office/drawing/2014/main" id="{199E4441-BCC2-FE87-A2AB-54976E680AC5}"/>
                  </a:ext>
                </a:extLst>
              </p:cNvPr>
              <p:cNvSpPr txBox="1">
                <a:spLocks noRot="1" noChangeAspect="1" noMove="1" noResize="1" noEditPoints="1" noAdjustHandles="1" noChangeArrowheads="1" noChangeShapeType="1" noTextEdit="1"/>
              </p:cNvSpPr>
              <p:nvPr/>
            </p:nvSpPr>
            <p:spPr>
              <a:xfrm>
                <a:off x="5892664" y="1566000"/>
                <a:ext cx="503768" cy="246221"/>
              </a:xfrm>
              <a:prstGeom prst="rect">
                <a:avLst/>
              </a:prstGeom>
              <a:blipFill>
                <a:blip r:embed="rId20"/>
                <a:stretch>
                  <a:fillRect l="-4878"/>
                </a:stretch>
              </a:blipFill>
            </p:spPr>
            <p:txBody>
              <a:bodyPr/>
              <a:lstStyle/>
              <a:p>
                <a:r>
                  <a:rPr lang="en-GB">
                    <a:noFill/>
                  </a:rPr>
                  <a:t> </a:t>
                </a:r>
              </a:p>
            </p:txBody>
          </p:sp>
        </mc:Fallback>
      </mc:AlternateContent>
    </p:spTree>
    <p:extLst>
      <p:ext uri="{BB962C8B-B14F-4D97-AF65-F5344CB8AC3E}">
        <p14:creationId xmlns:p14="http://schemas.microsoft.com/office/powerpoint/2010/main" val="4007677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p:cNvSpPr>
            <a:spLocks noGrp="1"/>
          </p:cNvSpPr>
          <p:nvPr>
            <p:ph type="sldNum" sz="quarter" idx="12"/>
          </p:nvPr>
        </p:nvSpPr>
        <p:spPr>
          <a:xfrm>
            <a:off x="7164000" y="6336000"/>
            <a:ext cx="1800000" cy="360000"/>
          </a:xfrm>
        </p:spPr>
        <p:txBody>
          <a:bodyPr/>
          <a:lstStyle/>
          <a:p>
            <a:pPr algn="r"/>
            <a:fld id="{DFE5482F-2F05-49C5-9E15-73F945A41231}" type="slidenum">
              <a:rPr lang="cs-CZ" smtClean="0"/>
              <a:pPr algn="r"/>
              <a:t>11</a:t>
            </a:fld>
            <a:endParaRPr lang="cs-CZ" dirty="0"/>
          </a:p>
        </p:txBody>
      </p:sp>
      <p:sp>
        <p:nvSpPr>
          <p:cNvPr id="4" name="Nadpis 3"/>
          <p:cNvSpPr>
            <a:spLocks noGrp="1"/>
          </p:cNvSpPr>
          <p:nvPr>
            <p:ph type="title"/>
          </p:nvPr>
        </p:nvSpPr>
        <p:spPr>
          <a:xfrm>
            <a:off x="144000" y="144000"/>
            <a:ext cx="5148080" cy="648072"/>
          </a:xfrm>
        </p:spPr>
        <p:txBody>
          <a:bodyPr/>
          <a:lstStyle/>
          <a:p>
            <a:r>
              <a:rPr lang="en-GB" dirty="0">
                <a:solidFill>
                  <a:srgbClr val="000000"/>
                </a:solidFill>
              </a:rPr>
              <a:t>Extensions of B</a:t>
            </a:r>
            <a:r>
              <a:rPr lang="cs-CZ" dirty="0">
                <a:solidFill>
                  <a:srgbClr val="000000"/>
                </a:solidFill>
              </a:rPr>
              <a:t>-</a:t>
            </a:r>
            <a:r>
              <a:rPr lang="en-GB" dirty="0">
                <a:solidFill>
                  <a:srgbClr val="000000"/>
                </a:solidFill>
              </a:rPr>
              <a:t>S formula (</a:t>
            </a:r>
            <a:r>
              <a:rPr lang="cs-CZ" dirty="0">
                <a:solidFill>
                  <a:srgbClr val="000000"/>
                </a:solidFill>
              </a:rPr>
              <a:t>2</a:t>
            </a:r>
            <a:r>
              <a:rPr lang="en-GB" dirty="0">
                <a:solidFill>
                  <a:srgbClr val="000000"/>
                </a:solidFill>
              </a:rPr>
              <a:t>)</a:t>
            </a:r>
          </a:p>
        </p:txBody>
      </p:sp>
      <p:sp>
        <p:nvSpPr>
          <p:cNvPr id="29" name="TextovéPole 28"/>
          <p:cNvSpPr txBox="1"/>
          <p:nvPr/>
        </p:nvSpPr>
        <p:spPr>
          <a:xfrm>
            <a:off x="864000" y="864000"/>
            <a:ext cx="5580208" cy="430887"/>
          </a:xfrm>
          <a:prstGeom prst="rect">
            <a:avLst/>
          </a:prstGeom>
          <a:noFill/>
          <a:ln>
            <a:noFill/>
          </a:ln>
        </p:spPr>
        <p:txBody>
          <a:bodyPr wrap="square" rtlCol="0">
            <a:spAutoFit/>
          </a:bodyPr>
          <a:lstStyle/>
          <a:p>
            <a:pPr marL="324000" indent="-324000">
              <a:buClr>
                <a:srgbClr val="7030A0"/>
              </a:buClr>
              <a:buSzPct val="100000"/>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European call on a dividend-paying stock </a:t>
            </a:r>
          </a:p>
        </p:txBody>
      </p:sp>
      <p:sp>
        <p:nvSpPr>
          <p:cNvPr id="83" name="TextovéPole 82">
            <a:extLst>
              <a:ext uri="{FF2B5EF4-FFF2-40B4-BE49-F238E27FC236}">
                <a16:creationId xmlns:a16="http://schemas.microsoft.com/office/drawing/2014/main" id="{EE16E3B3-D303-4859-B2FD-649CC47A3C14}"/>
              </a:ext>
            </a:extLst>
          </p:cNvPr>
          <p:cNvSpPr txBox="1"/>
          <p:nvPr/>
        </p:nvSpPr>
        <p:spPr>
          <a:xfrm>
            <a:off x="1188000" y="1226368"/>
            <a:ext cx="3888056"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Decomposition of the stock price</a:t>
            </a:r>
          </a:p>
        </p:txBody>
      </p:sp>
      <p:sp>
        <p:nvSpPr>
          <p:cNvPr id="155" name="TextovéPole 154">
            <a:extLst>
              <a:ext uri="{FF2B5EF4-FFF2-40B4-BE49-F238E27FC236}">
                <a16:creationId xmlns:a16="http://schemas.microsoft.com/office/drawing/2014/main" id="{EE16E3B3-D303-4859-B2FD-649CC47A3C14}"/>
              </a:ext>
            </a:extLst>
          </p:cNvPr>
          <p:cNvSpPr txBox="1"/>
          <p:nvPr/>
        </p:nvSpPr>
        <p:spPr>
          <a:xfrm>
            <a:off x="1188000" y="2496588"/>
            <a:ext cx="3600023"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Application of the B-S formula</a:t>
            </a:r>
          </a:p>
        </p:txBody>
      </p:sp>
      <p:sp>
        <p:nvSpPr>
          <p:cNvPr id="72" name="TextovéPole 71"/>
          <p:cNvSpPr txBox="1"/>
          <p:nvPr/>
        </p:nvSpPr>
        <p:spPr>
          <a:xfrm>
            <a:off x="864000" y="3773608"/>
            <a:ext cx="5868240" cy="430887"/>
          </a:xfrm>
          <a:prstGeom prst="rect">
            <a:avLst/>
          </a:prstGeom>
          <a:noFill/>
          <a:ln>
            <a:noFill/>
          </a:ln>
        </p:spPr>
        <p:txBody>
          <a:bodyPr wrap="square" rtlCol="0">
            <a:spAutoFit/>
          </a:bodyPr>
          <a:lstStyle/>
          <a:p>
            <a:pPr marL="324000" indent="-324000">
              <a:buClr>
                <a:srgbClr val="7030A0"/>
              </a:buClr>
              <a:buSzPct val="100000"/>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American put on a dividend-paying stock </a:t>
            </a:r>
          </a:p>
        </p:txBody>
      </p:sp>
      <p:sp>
        <p:nvSpPr>
          <p:cNvPr id="89" name="TextovéPole 88">
            <a:extLst>
              <a:ext uri="{FF2B5EF4-FFF2-40B4-BE49-F238E27FC236}">
                <a16:creationId xmlns:a16="http://schemas.microsoft.com/office/drawing/2014/main" id="{EE16E3B3-D303-4859-B2FD-649CC47A3C14}"/>
              </a:ext>
            </a:extLst>
          </p:cNvPr>
          <p:cNvSpPr txBox="1"/>
          <p:nvPr/>
        </p:nvSpPr>
        <p:spPr>
          <a:xfrm>
            <a:off x="1188000" y="5217518"/>
            <a:ext cx="7766328"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One can benefit from the American feature and exercise the option earlier, depending on the relative sizes of the gains and losses</a:t>
            </a:r>
          </a:p>
        </p:txBody>
      </p:sp>
      <p:sp>
        <p:nvSpPr>
          <p:cNvPr id="92" name="TextovéPole 91">
            <a:extLst>
              <a:ext uri="{FF2B5EF4-FFF2-40B4-BE49-F238E27FC236}">
                <a16:creationId xmlns:a16="http://schemas.microsoft.com/office/drawing/2014/main" id="{EE16E3B3-D303-4859-B2FD-649CC47A3C14}"/>
              </a:ext>
            </a:extLst>
          </p:cNvPr>
          <p:cNvSpPr txBox="1"/>
          <p:nvPr/>
        </p:nvSpPr>
        <p:spPr>
          <a:xfrm>
            <a:off x="1188000" y="4105034"/>
            <a:ext cx="7720224"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Exercising the option before ex-dividend day: the option holder earns interest from depositing the selling price but loses the dividend</a:t>
            </a:r>
          </a:p>
        </p:txBody>
      </p:sp>
      <p:sp>
        <p:nvSpPr>
          <p:cNvPr id="46" name="TextovéPole 45">
            <a:extLst>
              <a:ext uri="{FF2B5EF4-FFF2-40B4-BE49-F238E27FC236}">
                <a16:creationId xmlns:a16="http://schemas.microsoft.com/office/drawing/2014/main" id="{05FC8A4A-3761-4383-881C-9096ADBF4AD7}"/>
              </a:ext>
            </a:extLst>
          </p:cNvPr>
          <p:cNvSpPr txBox="1"/>
          <p:nvPr/>
        </p:nvSpPr>
        <p:spPr>
          <a:xfrm>
            <a:off x="1513127" y="1508324"/>
            <a:ext cx="7379353" cy="830997"/>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Risk-free component: the present value of all dividends during the life of the option discounted at a risk-free interest rate from ex-dividend days (the amount and timing of dividends can be predicted with certainty)</a:t>
            </a:r>
          </a:p>
        </p:txBody>
      </p:sp>
      <p:sp>
        <p:nvSpPr>
          <p:cNvPr id="57" name="TextovéPole 56">
            <a:extLst>
              <a:ext uri="{FF2B5EF4-FFF2-40B4-BE49-F238E27FC236}">
                <a16:creationId xmlns:a16="http://schemas.microsoft.com/office/drawing/2014/main" id="{05FC8A4A-3761-4383-881C-9096ADBF4AD7}"/>
              </a:ext>
            </a:extLst>
          </p:cNvPr>
          <p:cNvSpPr txBox="1"/>
          <p:nvPr/>
        </p:nvSpPr>
        <p:spPr>
          <a:xfrm>
            <a:off x="1512000" y="2251456"/>
            <a:ext cx="7445305"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Risky component: remaining value of the stock price (following random walk)</a:t>
            </a:r>
          </a:p>
        </p:txBody>
      </p:sp>
      <p:sp>
        <p:nvSpPr>
          <p:cNvPr id="59" name="TextovéPole 58">
            <a:extLst>
              <a:ext uri="{FF2B5EF4-FFF2-40B4-BE49-F238E27FC236}">
                <a16:creationId xmlns:a16="http://schemas.microsoft.com/office/drawing/2014/main" id="{EE16E3B3-D303-4859-B2FD-649CC47A3C14}"/>
              </a:ext>
            </a:extLst>
          </p:cNvPr>
          <p:cNvSpPr txBox="1"/>
          <p:nvPr/>
        </p:nvSpPr>
        <p:spPr>
          <a:xfrm>
            <a:off x="1188000" y="4659787"/>
            <a:ext cx="7720224"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Exercising the option after ex-dividend day: the option holder forgoes interest from depositing the selling price and receives the dividend</a:t>
            </a:r>
          </a:p>
        </p:txBody>
      </p:sp>
      <p:sp>
        <p:nvSpPr>
          <p:cNvPr id="60" name="TextovéPole 59">
            <a:extLst>
              <a:ext uri="{FF2B5EF4-FFF2-40B4-BE49-F238E27FC236}">
                <a16:creationId xmlns:a16="http://schemas.microsoft.com/office/drawing/2014/main" id="{EE16E3B3-D303-4859-B2FD-649CC47A3C14}"/>
              </a:ext>
            </a:extLst>
          </p:cNvPr>
          <p:cNvSpPr txBox="1"/>
          <p:nvPr/>
        </p:nvSpPr>
        <p:spPr>
          <a:xfrm>
            <a:off x="1188000" y="5773402"/>
            <a:ext cx="7595226"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As of today, there is no closed-form solution for pricing this put option</a:t>
            </a:r>
          </a:p>
        </p:txBody>
      </p:sp>
      <p:sp>
        <p:nvSpPr>
          <p:cNvPr id="9" name="TextovéPole 8">
            <a:extLst>
              <a:ext uri="{FF2B5EF4-FFF2-40B4-BE49-F238E27FC236}">
                <a16:creationId xmlns:a16="http://schemas.microsoft.com/office/drawing/2014/main" id="{6861BD14-1B07-9B59-0848-5F2234F03491}"/>
              </a:ext>
            </a:extLst>
          </p:cNvPr>
          <p:cNvSpPr txBox="1"/>
          <p:nvPr/>
        </p:nvSpPr>
        <p:spPr>
          <a:xfrm>
            <a:off x="1512000" y="3285251"/>
            <a:ext cx="7379353" cy="584775"/>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The risk-free component can be ignored once dividends have been paid during the life of the option</a:t>
            </a:r>
          </a:p>
        </p:txBody>
      </p:sp>
      <mc:AlternateContent xmlns:mc="http://schemas.openxmlformats.org/markup-compatibility/2006" xmlns:a14="http://schemas.microsoft.com/office/drawing/2010/main">
        <mc:Choice Requires="a14">
          <p:sp>
            <p:nvSpPr>
              <p:cNvPr id="10" name="TextovéPole 9">
                <a:extLst>
                  <a:ext uri="{FF2B5EF4-FFF2-40B4-BE49-F238E27FC236}">
                    <a16:creationId xmlns:a16="http://schemas.microsoft.com/office/drawing/2014/main" id="{70FA3E41-ECAE-E9D0-5B26-64433DDAF093}"/>
                  </a:ext>
                </a:extLst>
              </p:cNvPr>
              <p:cNvSpPr txBox="1"/>
              <p:nvPr/>
            </p:nvSpPr>
            <p:spPr>
              <a:xfrm>
                <a:off x="1512000" y="2780928"/>
                <a:ext cx="7342529" cy="584775"/>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The </a:t>
                </a:r>
                <a14:m>
                  <m:oMath xmlns:m="http://schemas.openxmlformats.org/officeDocument/2006/math">
                    <m:r>
                      <a:rPr lang="en-GB" sz="1600" b="0" i="1" smtClean="0">
                        <a:latin typeface="Cambria Math" panose="02040503050406030204" pitchFamily="18" charset="0"/>
                        <a:ea typeface="Cambria Math" panose="02040503050406030204" pitchFamily="18" charset="0"/>
                      </a:rPr>
                      <m:t>𝑆</m:t>
                    </m:r>
                  </m:oMath>
                </a14:m>
                <a:r>
                  <a:rPr lang="en-GB" sz="1600" dirty="0">
                    <a:latin typeface="Cambria Math" panose="02040503050406030204" pitchFamily="18" charset="0"/>
                    <a:ea typeface="Cambria Math" panose="02040503050406030204" pitchFamily="18" charset="0"/>
                  </a:rPr>
                  <a:t> in the B-S formula represents the stock price reduced by the risk-free component</a:t>
                </a:r>
              </a:p>
            </p:txBody>
          </p:sp>
        </mc:Choice>
        <mc:Fallback xmlns="">
          <p:sp>
            <p:nvSpPr>
              <p:cNvPr id="10" name="TextovéPole 9">
                <a:extLst>
                  <a:ext uri="{FF2B5EF4-FFF2-40B4-BE49-F238E27FC236}">
                    <a16:creationId xmlns:a16="http://schemas.microsoft.com/office/drawing/2014/main" id="{70FA3E41-ECAE-E9D0-5B26-64433DDAF093}"/>
                  </a:ext>
                </a:extLst>
              </p:cNvPr>
              <p:cNvSpPr txBox="1">
                <a:spLocks noRot="1" noChangeAspect="1" noMove="1" noResize="1" noEditPoints="1" noAdjustHandles="1" noChangeArrowheads="1" noChangeShapeType="1" noTextEdit="1"/>
              </p:cNvSpPr>
              <p:nvPr/>
            </p:nvSpPr>
            <p:spPr>
              <a:xfrm>
                <a:off x="1512000" y="2780928"/>
                <a:ext cx="7342529" cy="584775"/>
              </a:xfrm>
              <a:prstGeom prst="rect">
                <a:avLst/>
              </a:prstGeom>
              <a:blipFill>
                <a:blip r:embed="rId15"/>
                <a:stretch>
                  <a:fillRect l="-332" t="-4167" b="-11458"/>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260593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p:cNvSpPr>
            <a:spLocks noGrp="1"/>
          </p:cNvSpPr>
          <p:nvPr>
            <p:ph type="sldNum" sz="quarter" idx="12"/>
          </p:nvPr>
        </p:nvSpPr>
        <p:spPr>
          <a:xfrm>
            <a:off x="7164000" y="6336000"/>
            <a:ext cx="1800000" cy="360000"/>
          </a:xfrm>
        </p:spPr>
        <p:txBody>
          <a:bodyPr/>
          <a:lstStyle/>
          <a:p>
            <a:pPr algn="r"/>
            <a:fld id="{DFE5482F-2F05-49C5-9E15-73F945A41231}" type="slidenum">
              <a:rPr lang="cs-CZ" smtClean="0"/>
              <a:pPr algn="r"/>
              <a:t>12</a:t>
            </a:fld>
            <a:endParaRPr lang="cs-CZ" dirty="0"/>
          </a:p>
        </p:txBody>
      </p:sp>
      <p:sp>
        <p:nvSpPr>
          <p:cNvPr id="4" name="Nadpis 3"/>
          <p:cNvSpPr>
            <a:spLocks noGrp="1"/>
          </p:cNvSpPr>
          <p:nvPr>
            <p:ph type="title"/>
          </p:nvPr>
        </p:nvSpPr>
        <p:spPr>
          <a:xfrm>
            <a:off x="144000" y="144000"/>
            <a:ext cx="2699808" cy="648072"/>
          </a:xfrm>
        </p:spPr>
        <p:txBody>
          <a:bodyPr/>
          <a:lstStyle/>
          <a:p>
            <a:r>
              <a:rPr lang="cs-CZ" dirty="0">
                <a:solidFill>
                  <a:srgbClr val="000000"/>
                </a:solidFill>
              </a:rPr>
              <a:t>Volatility smile</a:t>
            </a:r>
            <a:endParaRPr lang="en-GB" dirty="0">
              <a:solidFill>
                <a:srgbClr val="000000"/>
              </a:solidFill>
            </a:endParaRPr>
          </a:p>
        </p:txBody>
      </p:sp>
      <p:sp>
        <p:nvSpPr>
          <p:cNvPr id="29" name="TextovéPole 28"/>
          <p:cNvSpPr txBox="1"/>
          <p:nvPr/>
        </p:nvSpPr>
        <p:spPr>
          <a:xfrm>
            <a:off x="864000" y="864000"/>
            <a:ext cx="1907800"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Motivation</a:t>
            </a:r>
          </a:p>
        </p:txBody>
      </p:sp>
      <p:sp>
        <p:nvSpPr>
          <p:cNvPr id="83" name="TextovéPole 82">
            <a:extLst>
              <a:ext uri="{FF2B5EF4-FFF2-40B4-BE49-F238E27FC236}">
                <a16:creationId xmlns:a16="http://schemas.microsoft.com/office/drawing/2014/main" id="{EE16E3B3-D303-4859-B2FD-649CC47A3C14}"/>
              </a:ext>
            </a:extLst>
          </p:cNvPr>
          <p:cNvSpPr txBox="1"/>
          <p:nvPr/>
        </p:nvSpPr>
        <p:spPr>
          <a:xfrm>
            <a:off x="1188000" y="1257122"/>
            <a:ext cx="7812000"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A </a:t>
            </a:r>
            <a:r>
              <a:rPr lang="en-GB" dirty="0">
                <a:solidFill>
                  <a:srgbClr val="7030A0"/>
                </a:solidFill>
                <a:latin typeface="Cambria Math" panose="02040503050406030204" pitchFamily="18" charset="0"/>
                <a:ea typeface="Cambria Math" panose="02040503050406030204" pitchFamily="18" charset="0"/>
              </a:rPr>
              <a:t>volatility smile </a:t>
            </a:r>
            <a:r>
              <a:rPr lang="en-GB" dirty="0">
                <a:latin typeface="Cambria Math" panose="02040503050406030204" pitchFamily="18" charset="0"/>
                <a:ea typeface="Cambria Math" panose="02040503050406030204" pitchFamily="18" charset="0"/>
              </a:rPr>
              <a:t>is the empirical relationship between the price volatility of an asset and the exercise price of the option written on this asset</a:t>
            </a:r>
          </a:p>
        </p:txBody>
      </p:sp>
      <p:sp>
        <p:nvSpPr>
          <p:cNvPr id="155" name="TextovéPole 154">
            <a:extLst>
              <a:ext uri="{FF2B5EF4-FFF2-40B4-BE49-F238E27FC236}">
                <a16:creationId xmlns:a16="http://schemas.microsoft.com/office/drawing/2014/main" id="{EE16E3B3-D303-4859-B2FD-649CC47A3C14}"/>
              </a:ext>
            </a:extLst>
          </p:cNvPr>
          <p:cNvSpPr txBox="1"/>
          <p:nvPr/>
        </p:nvSpPr>
        <p:spPr>
          <a:xfrm>
            <a:off x="1188000" y="3766952"/>
            <a:ext cx="7939549" cy="923330"/>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A volatility smile is a response to poor estimation results of the B-S formula when applied to deep out-of-the money and deep in-the money options (normal distribution tends to underestimate tail events) </a:t>
            </a:r>
          </a:p>
        </p:txBody>
      </p:sp>
      <p:sp>
        <p:nvSpPr>
          <p:cNvPr id="114" name="TextovéPole 113">
            <a:extLst>
              <a:ext uri="{FF2B5EF4-FFF2-40B4-BE49-F238E27FC236}">
                <a16:creationId xmlns:a16="http://schemas.microsoft.com/office/drawing/2014/main" id="{EE16E3B3-D303-4859-B2FD-649CC47A3C14}"/>
              </a:ext>
            </a:extLst>
          </p:cNvPr>
          <p:cNvSpPr txBox="1"/>
          <p:nvPr/>
        </p:nvSpPr>
        <p:spPr>
          <a:xfrm>
            <a:off x="1187624" y="2943889"/>
            <a:ext cx="7812000" cy="923330"/>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A volatility smile is not consistent with the B-S formula because volatility is an attribute of an underlying asset (option pricing formulas should use the same volatility regardless of selected exercise prices)</a:t>
            </a:r>
          </a:p>
        </p:txBody>
      </p:sp>
      <p:grpSp>
        <p:nvGrpSpPr>
          <p:cNvPr id="7" name="Skupina 6"/>
          <p:cNvGrpSpPr/>
          <p:nvPr/>
        </p:nvGrpSpPr>
        <p:grpSpPr>
          <a:xfrm>
            <a:off x="1501667" y="418385"/>
            <a:ext cx="2998325" cy="2559735"/>
            <a:chOff x="3335527" y="395093"/>
            <a:chExt cx="2998325" cy="2561106"/>
          </a:xfrm>
        </p:grpSpPr>
        <mc:AlternateContent xmlns:mc="http://schemas.openxmlformats.org/markup-compatibility/2006" xmlns:a14="http://schemas.microsoft.com/office/drawing/2010/main">
          <mc:Choice Requires="a14">
            <p:sp>
              <p:nvSpPr>
                <p:cNvPr id="116" name="TextovéPole 115">
                  <a:extLst>
                    <a:ext uri="{FF2B5EF4-FFF2-40B4-BE49-F238E27FC236}">
                      <a16:creationId xmlns:a16="http://schemas.microsoft.com/office/drawing/2014/main" id="{4DB67B49-6BE4-460E-9AC7-878827710557}"/>
                    </a:ext>
                  </a:extLst>
                </p:cNvPr>
                <p:cNvSpPr txBox="1"/>
                <p:nvPr/>
              </p:nvSpPr>
              <p:spPr>
                <a:xfrm>
                  <a:off x="5246986" y="2694140"/>
                  <a:ext cx="188095" cy="262059"/>
                </a:xfrm>
                <a:prstGeom prst="rect">
                  <a:avLst/>
                </a:prstGeom>
                <a:noFill/>
              </p:spPr>
              <p:txBody>
                <a:bodyPr wrap="square" lIns="0" rIns="0" rtlCol="0">
                  <a:spAutoFit/>
                </a:bodyPr>
                <a:lstStyle/>
                <a:p>
                  <a:pPr algn="ctr"/>
                  <a14:m>
                    <m:oMathPara xmlns:m="http://schemas.openxmlformats.org/officeDocument/2006/math">
                      <m:oMathParaPr>
                        <m:jc m:val="centerGroup"/>
                      </m:oMathParaPr>
                      <m:oMath xmlns:m="http://schemas.openxmlformats.org/officeDocument/2006/math">
                        <m:r>
                          <a:rPr lang="cs-CZ" sz="1100" b="0" i="1" smtClean="0">
                            <a:latin typeface="Cambria Math" panose="02040503050406030204" pitchFamily="18" charset="0"/>
                          </a:rPr>
                          <m:t>𝑋</m:t>
                        </m:r>
                      </m:oMath>
                    </m:oMathPara>
                  </a14:m>
                  <a:endParaRPr lang="en-GB" sz="1100" i="1" baseline="-25000" dirty="0"/>
                </a:p>
              </p:txBody>
            </p:sp>
          </mc:Choice>
          <mc:Fallback xmlns="">
            <p:sp>
              <p:nvSpPr>
                <p:cNvPr id="116" name="TextovéPole 115">
                  <a:extLst>
                    <a:ext uri="{FF2B5EF4-FFF2-40B4-BE49-F238E27FC236}">
                      <a16:creationId xmlns:a16="http://schemas.microsoft.com/office/drawing/2014/main" id="{4DB67B49-6BE4-460E-9AC7-878827710557}"/>
                    </a:ext>
                  </a:extLst>
                </p:cNvPr>
                <p:cNvSpPr txBox="1">
                  <a:spLocks noRot="1" noChangeAspect="1" noMove="1" noResize="1" noEditPoints="1" noAdjustHandles="1" noChangeArrowheads="1" noChangeShapeType="1" noTextEdit="1"/>
                </p:cNvSpPr>
                <p:nvPr/>
              </p:nvSpPr>
              <p:spPr>
                <a:xfrm>
                  <a:off x="5246986" y="2694140"/>
                  <a:ext cx="188095" cy="262059"/>
                </a:xfrm>
                <a:prstGeom prst="rect">
                  <a:avLst/>
                </a:prstGeom>
                <a:blipFill>
                  <a:blip r:embed="rId13"/>
                  <a:stretch>
                    <a:fillRect l="-6452"/>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117" name="TextovéPole 116">
                  <a:extLst>
                    <a:ext uri="{FF2B5EF4-FFF2-40B4-BE49-F238E27FC236}">
                      <a16:creationId xmlns:a16="http://schemas.microsoft.com/office/drawing/2014/main" id="{1129F341-0890-4352-8ECF-8AB4C01D6AF5}"/>
                    </a:ext>
                  </a:extLst>
                </p:cNvPr>
                <p:cNvSpPr txBox="1"/>
                <p:nvPr/>
              </p:nvSpPr>
              <p:spPr>
                <a:xfrm>
                  <a:off x="3335527" y="1807164"/>
                  <a:ext cx="187089" cy="261225"/>
                </a:xfrm>
                <a:prstGeom prst="rect">
                  <a:avLst/>
                </a:prstGeom>
                <a:noFill/>
              </p:spPr>
              <p:txBody>
                <a:bodyPr wrap="square" lIns="0" rIns="0" rtlCol="0">
                  <a:spAutoFit/>
                </a:bodyPr>
                <a:lstStyle/>
                <a:p>
                  <a:pPr algn="ct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ea typeface="Cambria Math" panose="02040503050406030204" pitchFamily="18" charset="0"/>
                          </a:rPr>
                          <m:t>𝜎</m:t>
                        </m:r>
                      </m:oMath>
                    </m:oMathPara>
                  </a14:m>
                  <a:endParaRPr lang="en-GB" sz="1100" i="1" baseline="-25000" dirty="0"/>
                </a:p>
              </p:txBody>
            </p:sp>
          </mc:Choice>
          <mc:Fallback xmlns="">
            <p:sp>
              <p:nvSpPr>
                <p:cNvPr id="117" name="TextovéPole 116">
                  <a:extLst>
                    <a:ext uri="{FF2B5EF4-FFF2-40B4-BE49-F238E27FC236}">
                      <a16:creationId xmlns:a16="http://schemas.microsoft.com/office/drawing/2014/main" id="{1129F341-0890-4352-8ECF-8AB4C01D6AF5}"/>
                    </a:ext>
                  </a:extLst>
                </p:cNvPr>
                <p:cNvSpPr txBox="1">
                  <a:spLocks noRot="1" noChangeAspect="1" noMove="1" noResize="1" noEditPoints="1" noAdjustHandles="1" noChangeArrowheads="1" noChangeShapeType="1" noTextEdit="1"/>
                </p:cNvSpPr>
                <p:nvPr/>
              </p:nvSpPr>
              <p:spPr>
                <a:xfrm>
                  <a:off x="3335527" y="1807164"/>
                  <a:ext cx="187089" cy="261225"/>
                </a:xfrm>
                <a:prstGeom prst="rect">
                  <a:avLst/>
                </a:prstGeom>
                <a:blipFill>
                  <a:blip r:embed="rId14"/>
                  <a:stretch>
                    <a:fillRect l="-3333"/>
                  </a:stretch>
                </a:blipFill>
              </p:spPr>
              <p:txBody>
                <a:bodyPr/>
                <a:lstStyle/>
                <a:p>
                  <a:r>
                    <a:rPr lang="cs-CZ">
                      <a:noFill/>
                    </a:rPr>
                    <a:t> </a:t>
                  </a:r>
                </a:p>
              </p:txBody>
            </p:sp>
          </mc:Fallback>
        </mc:AlternateContent>
        <p:cxnSp>
          <p:nvCxnSpPr>
            <p:cNvPr id="118" name="Přímá spojnice 117">
              <a:extLst>
                <a:ext uri="{FF2B5EF4-FFF2-40B4-BE49-F238E27FC236}">
                  <a16:creationId xmlns:a16="http://schemas.microsoft.com/office/drawing/2014/main" id="{1A8E3DAD-B6C4-40D4-9CE0-16917D2F95E3}"/>
                </a:ext>
              </a:extLst>
            </p:cNvPr>
            <p:cNvCxnSpPr/>
            <p:nvPr/>
          </p:nvCxnSpPr>
          <p:spPr>
            <a:xfrm>
              <a:off x="3515194" y="1883320"/>
              <a:ext cx="0" cy="871522"/>
            </a:xfrm>
            <a:prstGeom prst="line">
              <a:avLst/>
            </a:prstGeom>
            <a:ln w="12700">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1" name="Přímá spojnice 120">
              <a:extLst>
                <a:ext uri="{FF2B5EF4-FFF2-40B4-BE49-F238E27FC236}">
                  <a16:creationId xmlns:a16="http://schemas.microsoft.com/office/drawing/2014/main" id="{366013F4-C598-4589-BCA9-4D63C7A09A98}"/>
                </a:ext>
              </a:extLst>
            </p:cNvPr>
            <p:cNvCxnSpPr/>
            <p:nvPr/>
          </p:nvCxnSpPr>
          <p:spPr>
            <a:xfrm>
              <a:off x="3502496" y="2751672"/>
              <a:ext cx="1923273" cy="0"/>
            </a:xfrm>
            <a:prstGeom prst="line">
              <a:avLst/>
            </a:prstGeom>
            <a:ln w="127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Oblouk 5"/>
            <p:cNvSpPr/>
            <p:nvPr/>
          </p:nvSpPr>
          <p:spPr>
            <a:xfrm rot="8930834">
              <a:off x="3425427" y="395093"/>
              <a:ext cx="2908425" cy="2016224"/>
            </a:xfrm>
            <a:prstGeom prst="arc">
              <a:avLst/>
            </a:prstGeom>
            <a:ln w="317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cs-CZ"/>
            </a:p>
          </p:txBody>
        </p:sp>
      </p:grpSp>
      <p:sp>
        <p:nvSpPr>
          <p:cNvPr id="88" name="TextovéPole 87"/>
          <p:cNvSpPr txBox="1"/>
          <p:nvPr/>
        </p:nvSpPr>
        <p:spPr>
          <a:xfrm>
            <a:off x="864000" y="4613720"/>
            <a:ext cx="3708000"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Volatility term structure</a:t>
            </a:r>
          </a:p>
        </p:txBody>
      </p:sp>
      <p:sp>
        <p:nvSpPr>
          <p:cNvPr id="90" name="TextovéPole 89">
            <a:extLst>
              <a:ext uri="{FF2B5EF4-FFF2-40B4-BE49-F238E27FC236}">
                <a16:creationId xmlns:a16="http://schemas.microsoft.com/office/drawing/2014/main" id="{EE16E3B3-D303-4859-B2FD-649CC47A3C14}"/>
              </a:ext>
            </a:extLst>
          </p:cNvPr>
          <p:cNvSpPr txBox="1"/>
          <p:nvPr/>
        </p:nvSpPr>
        <p:spPr>
          <a:xfrm>
            <a:off x="1193760" y="4946437"/>
            <a:ext cx="7698720"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Empirical relationship between the volatility of an underlying asset and the time to maturity of the option written on this asset</a:t>
            </a:r>
          </a:p>
        </p:txBody>
      </p:sp>
      <p:grpSp>
        <p:nvGrpSpPr>
          <p:cNvPr id="9" name="Skupina 8"/>
          <p:cNvGrpSpPr/>
          <p:nvPr/>
        </p:nvGrpSpPr>
        <p:grpSpPr>
          <a:xfrm>
            <a:off x="4443352" y="1905684"/>
            <a:ext cx="1815830" cy="871135"/>
            <a:chOff x="4499992" y="1996524"/>
            <a:chExt cx="1815830" cy="871135"/>
          </a:xfrm>
        </p:grpSpPr>
        <p:grpSp>
          <p:nvGrpSpPr>
            <p:cNvPr id="46" name="Skupina 45"/>
            <p:cNvGrpSpPr/>
            <p:nvPr/>
          </p:nvGrpSpPr>
          <p:grpSpPr>
            <a:xfrm>
              <a:off x="4499992" y="1996524"/>
              <a:ext cx="1815830" cy="871135"/>
              <a:chOff x="2252114" y="2708920"/>
              <a:chExt cx="1167758" cy="593367"/>
            </a:xfrm>
          </p:grpSpPr>
          <p:grpSp>
            <p:nvGrpSpPr>
              <p:cNvPr id="57" name="Skupina 56"/>
              <p:cNvGrpSpPr>
                <a:grpSpLocks noChangeAspect="1"/>
              </p:cNvGrpSpPr>
              <p:nvPr/>
            </p:nvGrpSpPr>
            <p:grpSpPr>
              <a:xfrm>
                <a:off x="2339752" y="2804400"/>
                <a:ext cx="1002541" cy="395879"/>
                <a:chOff x="3662783" y="2949195"/>
                <a:chExt cx="1824892" cy="720606"/>
              </a:xfrm>
            </p:grpSpPr>
            <p:sp>
              <p:nvSpPr>
                <p:cNvPr id="61" name="Volný tvar 60"/>
                <p:cNvSpPr/>
                <p:nvPr/>
              </p:nvSpPr>
              <p:spPr>
                <a:xfrm rot="20346039">
                  <a:off x="3662783" y="2953811"/>
                  <a:ext cx="1072193" cy="715990"/>
                </a:xfrm>
                <a:custGeom>
                  <a:avLst/>
                  <a:gdLst>
                    <a:gd name="connsiteX0" fmla="*/ 0 w 1029660"/>
                    <a:gd name="connsiteY0" fmla="*/ 751089 h 795978"/>
                    <a:gd name="connsiteX1" fmla="*/ 384202 w 1029660"/>
                    <a:gd name="connsiteY1" fmla="*/ 728037 h 795978"/>
                    <a:gd name="connsiteX2" fmla="*/ 753035 w 1029660"/>
                    <a:gd name="connsiteY2" fmla="*/ 105631 h 795978"/>
                    <a:gd name="connsiteX3" fmla="*/ 1029660 w 1029660"/>
                    <a:gd name="connsiteY3" fmla="*/ 5738 h 795978"/>
                  </a:gdLst>
                  <a:ahLst/>
                  <a:cxnLst>
                    <a:cxn ang="0">
                      <a:pos x="connsiteX0" y="connsiteY0"/>
                    </a:cxn>
                    <a:cxn ang="0">
                      <a:pos x="connsiteX1" y="connsiteY1"/>
                    </a:cxn>
                    <a:cxn ang="0">
                      <a:pos x="connsiteX2" y="connsiteY2"/>
                    </a:cxn>
                    <a:cxn ang="0">
                      <a:pos x="connsiteX3" y="connsiteY3"/>
                    </a:cxn>
                  </a:cxnLst>
                  <a:rect l="l" t="t" r="r" b="b"/>
                  <a:pathLst>
                    <a:path w="1029660" h="795978">
                      <a:moveTo>
                        <a:pt x="0" y="751089"/>
                      </a:moveTo>
                      <a:cubicBezTo>
                        <a:pt x="129348" y="793351"/>
                        <a:pt x="258696" y="835613"/>
                        <a:pt x="384202" y="728037"/>
                      </a:cubicBezTo>
                      <a:cubicBezTo>
                        <a:pt x="509708" y="620461"/>
                        <a:pt x="645459" y="226014"/>
                        <a:pt x="753035" y="105631"/>
                      </a:cubicBezTo>
                      <a:cubicBezTo>
                        <a:pt x="860611" y="-14752"/>
                        <a:pt x="945135" y="-4507"/>
                        <a:pt x="1029660" y="5738"/>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2" name="Volný tvar 61"/>
                <p:cNvSpPr/>
                <p:nvPr/>
              </p:nvSpPr>
              <p:spPr>
                <a:xfrm rot="1253961" flipH="1">
                  <a:off x="4415482" y="2949195"/>
                  <a:ext cx="1072193" cy="715990"/>
                </a:xfrm>
                <a:custGeom>
                  <a:avLst/>
                  <a:gdLst>
                    <a:gd name="connsiteX0" fmla="*/ 0 w 1029660"/>
                    <a:gd name="connsiteY0" fmla="*/ 751089 h 795978"/>
                    <a:gd name="connsiteX1" fmla="*/ 384202 w 1029660"/>
                    <a:gd name="connsiteY1" fmla="*/ 728037 h 795978"/>
                    <a:gd name="connsiteX2" fmla="*/ 753035 w 1029660"/>
                    <a:gd name="connsiteY2" fmla="*/ 105631 h 795978"/>
                    <a:gd name="connsiteX3" fmla="*/ 1029660 w 1029660"/>
                    <a:gd name="connsiteY3" fmla="*/ 5738 h 795978"/>
                  </a:gdLst>
                  <a:ahLst/>
                  <a:cxnLst>
                    <a:cxn ang="0">
                      <a:pos x="connsiteX0" y="connsiteY0"/>
                    </a:cxn>
                    <a:cxn ang="0">
                      <a:pos x="connsiteX1" y="connsiteY1"/>
                    </a:cxn>
                    <a:cxn ang="0">
                      <a:pos x="connsiteX2" y="connsiteY2"/>
                    </a:cxn>
                    <a:cxn ang="0">
                      <a:pos x="connsiteX3" y="connsiteY3"/>
                    </a:cxn>
                  </a:cxnLst>
                  <a:rect l="l" t="t" r="r" b="b"/>
                  <a:pathLst>
                    <a:path w="1029660" h="795978">
                      <a:moveTo>
                        <a:pt x="0" y="751089"/>
                      </a:moveTo>
                      <a:cubicBezTo>
                        <a:pt x="129348" y="793351"/>
                        <a:pt x="258696" y="835613"/>
                        <a:pt x="384202" y="728037"/>
                      </a:cubicBezTo>
                      <a:cubicBezTo>
                        <a:pt x="509708" y="620461"/>
                        <a:pt x="645459" y="226014"/>
                        <a:pt x="753035" y="105631"/>
                      </a:cubicBezTo>
                      <a:cubicBezTo>
                        <a:pt x="860611" y="-14752"/>
                        <a:pt x="945135" y="-4507"/>
                        <a:pt x="1029660" y="5738"/>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cxnSp>
            <p:nvCxnSpPr>
              <p:cNvPr id="59" name="Přímá spojnice 58"/>
              <p:cNvCxnSpPr/>
              <p:nvPr/>
            </p:nvCxnSpPr>
            <p:spPr>
              <a:xfrm>
                <a:off x="2252114" y="3302287"/>
                <a:ext cx="1167758" cy="0"/>
              </a:xfrm>
              <a:prstGeom prst="line">
                <a:avLst/>
              </a:prstGeom>
              <a:ln w="12700">
                <a:solidFill>
                  <a:schemeClr val="accent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Přímá spojnice se šipkou 59"/>
              <p:cNvCxnSpPr/>
              <p:nvPr/>
            </p:nvCxnSpPr>
            <p:spPr>
              <a:xfrm>
                <a:off x="2843808" y="2708920"/>
                <a:ext cx="0" cy="593367"/>
              </a:xfrm>
              <a:prstGeom prst="straightConnector1">
                <a:avLst/>
              </a:prstGeom>
              <a:ln w="12700">
                <a:solidFill>
                  <a:schemeClr val="accent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3" name="Volný tvar 62"/>
            <p:cNvSpPr/>
            <p:nvPr/>
          </p:nvSpPr>
          <p:spPr>
            <a:xfrm rot="20346039">
              <a:off x="4596221" y="2261307"/>
              <a:ext cx="915926" cy="347800"/>
            </a:xfrm>
            <a:custGeom>
              <a:avLst/>
              <a:gdLst>
                <a:gd name="connsiteX0" fmla="*/ 0 w 1029660"/>
                <a:gd name="connsiteY0" fmla="*/ 751089 h 795978"/>
                <a:gd name="connsiteX1" fmla="*/ 384202 w 1029660"/>
                <a:gd name="connsiteY1" fmla="*/ 728037 h 795978"/>
                <a:gd name="connsiteX2" fmla="*/ 753035 w 1029660"/>
                <a:gd name="connsiteY2" fmla="*/ 105631 h 795978"/>
                <a:gd name="connsiteX3" fmla="*/ 1029660 w 1029660"/>
                <a:gd name="connsiteY3" fmla="*/ 5738 h 795978"/>
              </a:gdLst>
              <a:ahLst/>
              <a:cxnLst>
                <a:cxn ang="0">
                  <a:pos x="connsiteX0" y="connsiteY0"/>
                </a:cxn>
                <a:cxn ang="0">
                  <a:pos x="connsiteX1" y="connsiteY1"/>
                </a:cxn>
                <a:cxn ang="0">
                  <a:pos x="connsiteX2" y="connsiteY2"/>
                </a:cxn>
                <a:cxn ang="0">
                  <a:pos x="connsiteX3" y="connsiteY3"/>
                </a:cxn>
              </a:cxnLst>
              <a:rect l="l" t="t" r="r" b="b"/>
              <a:pathLst>
                <a:path w="1029660" h="795978">
                  <a:moveTo>
                    <a:pt x="0" y="751089"/>
                  </a:moveTo>
                  <a:cubicBezTo>
                    <a:pt x="129348" y="793351"/>
                    <a:pt x="258696" y="835613"/>
                    <a:pt x="384202" y="728037"/>
                  </a:cubicBezTo>
                  <a:cubicBezTo>
                    <a:pt x="509708" y="620461"/>
                    <a:pt x="645459" y="226014"/>
                    <a:pt x="753035" y="105631"/>
                  </a:cubicBezTo>
                  <a:cubicBezTo>
                    <a:pt x="860611" y="-14752"/>
                    <a:pt x="945135" y="-4507"/>
                    <a:pt x="1029660" y="5738"/>
                  </a:cubicBezTo>
                </a:path>
              </a:pathLst>
            </a:cu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5" name="Volný tvar 64"/>
            <p:cNvSpPr/>
            <p:nvPr/>
          </p:nvSpPr>
          <p:spPr>
            <a:xfrm rot="1253961" flipH="1">
              <a:off x="5326457" y="2261731"/>
              <a:ext cx="915926" cy="347800"/>
            </a:xfrm>
            <a:custGeom>
              <a:avLst/>
              <a:gdLst>
                <a:gd name="connsiteX0" fmla="*/ 0 w 1029660"/>
                <a:gd name="connsiteY0" fmla="*/ 751089 h 795978"/>
                <a:gd name="connsiteX1" fmla="*/ 384202 w 1029660"/>
                <a:gd name="connsiteY1" fmla="*/ 728037 h 795978"/>
                <a:gd name="connsiteX2" fmla="*/ 753035 w 1029660"/>
                <a:gd name="connsiteY2" fmla="*/ 105631 h 795978"/>
                <a:gd name="connsiteX3" fmla="*/ 1029660 w 1029660"/>
                <a:gd name="connsiteY3" fmla="*/ 5738 h 795978"/>
              </a:gdLst>
              <a:ahLst/>
              <a:cxnLst>
                <a:cxn ang="0">
                  <a:pos x="connsiteX0" y="connsiteY0"/>
                </a:cxn>
                <a:cxn ang="0">
                  <a:pos x="connsiteX1" y="connsiteY1"/>
                </a:cxn>
                <a:cxn ang="0">
                  <a:pos x="connsiteX2" y="connsiteY2"/>
                </a:cxn>
                <a:cxn ang="0">
                  <a:pos x="connsiteX3" y="connsiteY3"/>
                </a:cxn>
              </a:cxnLst>
              <a:rect l="l" t="t" r="r" b="b"/>
              <a:pathLst>
                <a:path w="1029660" h="795978">
                  <a:moveTo>
                    <a:pt x="0" y="751089"/>
                  </a:moveTo>
                  <a:cubicBezTo>
                    <a:pt x="129348" y="793351"/>
                    <a:pt x="258696" y="835613"/>
                    <a:pt x="384202" y="728037"/>
                  </a:cubicBezTo>
                  <a:cubicBezTo>
                    <a:pt x="509708" y="620461"/>
                    <a:pt x="645459" y="226014"/>
                    <a:pt x="753035" y="105631"/>
                  </a:cubicBezTo>
                  <a:cubicBezTo>
                    <a:pt x="860611" y="-14752"/>
                    <a:pt x="945135" y="-4507"/>
                    <a:pt x="1029660" y="5738"/>
                  </a:cubicBezTo>
                </a:path>
              </a:pathLst>
            </a:cu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14" name="Skupina 13">
            <a:extLst>
              <a:ext uri="{FF2B5EF4-FFF2-40B4-BE49-F238E27FC236}">
                <a16:creationId xmlns:a16="http://schemas.microsoft.com/office/drawing/2014/main" id="{9517A9D6-32B7-0C1D-4965-143F5A79A48E}"/>
              </a:ext>
            </a:extLst>
          </p:cNvPr>
          <p:cNvGrpSpPr/>
          <p:nvPr/>
        </p:nvGrpSpPr>
        <p:grpSpPr>
          <a:xfrm>
            <a:off x="6516216" y="2020100"/>
            <a:ext cx="2257654" cy="544804"/>
            <a:chOff x="6516216" y="2020100"/>
            <a:chExt cx="2257654" cy="544804"/>
          </a:xfrm>
        </p:grpSpPr>
        <p:cxnSp>
          <p:nvCxnSpPr>
            <p:cNvPr id="11" name="Přímá spojnice 10"/>
            <p:cNvCxnSpPr/>
            <p:nvPr/>
          </p:nvCxnSpPr>
          <p:spPr>
            <a:xfrm>
              <a:off x="6516216" y="2181625"/>
              <a:ext cx="431760" cy="0"/>
            </a:xfrm>
            <a:prstGeom prst="lin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66" name="TextovéPole 65">
              <a:extLst>
                <a:ext uri="{FF2B5EF4-FFF2-40B4-BE49-F238E27FC236}">
                  <a16:creationId xmlns:a16="http://schemas.microsoft.com/office/drawing/2014/main" id="{05FC8A4A-3761-4383-881C-9096ADBF4AD7}"/>
                </a:ext>
              </a:extLst>
            </p:cNvPr>
            <p:cNvSpPr txBox="1"/>
            <p:nvPr/>
          </p:nvSpPr>
          <p:spPr>
            <a:xfrm>
              <a:off x="7092280" y="2020100"/>
              <a:ext cx="1537286" cy="276999"/>
            </a:xfrm>
            <a:prstGeom prst="rect">
              <a:avLst/>
            </a:prstGeom>
            <a:noFill/>
            <a:ln>
              <a:noFill/>
            </a:ln>
          </p:spPr>
          <p:txBody>
            <a:bodyPr wrap="square" rtlCol="0">
              <a:spAutoFit/>
            </a:bodyPr>
            <a:lstStyle/>
            <a:p>
              <a:pPr marL="538163" indent="-538163">
                <a:buClr>
                  <a:srgbClr val="7030A0"/>
                </a:buClr>
                <a:buSzPct val="100000"/>
              </a:pPr>
              <a:r>
                <a:rPr lang="en-GB" sz="1200" dirty="0">
                  <a:latin typeface="Cambria Math" panose="02040503050406030204" pitchFamily="18" charset="0"/>
                  <a:ea typeface="Cambria Math" panose="02040503050406030204" pitchFamily="18" charset="0"/>
                </a:rPr>
                <a:t>normal distribution</a:t>
              </a:r>
            </a:p>
          </p:txBody>
        </p:sp>
        <p:cxnSp>
          <p:nvCxnSpPr>
            <p:cNvPr id="67" name="Přímá spojnice 66"/>
            <p:cNvCxnSpPr/>
            <p:nvPr/>
          </p:nvCxnSpPr>
          <p:spPr>
            <a:xfrm>
              <a:off x="6524319" y="2417395"/>
              <a:ext cx="431760" cy="0"/>
            </a:xfrm>
            <a:prstGeom prst="line">
              <a:avLst/>
            </a:prstGeom>
            <a:ln w="317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8" name="TextovéPole 67">
              <a:extLst>
                <a:ext uri="{FF2B5EF4-FFF2-40B4-BE49-F238E27FC236}">
                  <a16:creationId xmlns:a16="http://schemas.microsoft.com/office/drawing/2014/main" id="{05FC8A4A-3761-4383-881C-9096ADBF4AD7}"/>
                </a:ext>
              </a:extLst>
            </p:cNvPr>
            <p:cNvSpPr txBox="1"/>
            <p:nvPr/>
          </p:nvSpPr>
          <p:spPr>
            <a:xfrm>
              <a:off x="7101768" y="2287905"/>
              <a:ext cx="1672102" cy="276999"/>
            </a:xfrm>
            <a:prstGeom prst="rect">
              <a:avLst/>
            </a:prstGeom>
            <a:noFill/>
            <a:ln>
              <a:noFill/>
            </a:ln>
          </p:spPr>
          <p:txBody>
            <a:bodyPr wrap="square" rtlCol="0">
              <a:spAutoFit/>
            </a:bodyPr>
            <a:lstStyle/>
            <a:p>
              <a:pPr marL="538163" indent="-538163">
                <a:buClr>
                  <a:srgbClr val="7030A0"/>
                </a:buClr>
                <a:buSzPct val="100000"/>
              </a:pPr>
              <a:r>
                <a:rPr lang="en-GB" sz="1200" dirty="0">
                  <a:latin typeface="Cambria Math" panose="02040503050406030204" pitchFamily="18" charset="0"/>
                  <a:ea typeface="Cambria Math" panose="02040503050406030204" pitchFamily="18" charset="0"/>
                </a:rPr>
                <a:t>empirical distribution</a:t>
              </a:r>
            </a:p>
          </p:txBody>
        </p:sp>
      </p:grpSp>
      <p:sp>
        <p:nvSpPr>
          <p:cNvPr id="69" name="TextovéPole 68">
            <a:extLst>
              <a:ext uri="{FF2B5EF4-FFF2-40B4-BE49-F238E27FC236}">
                <a16:creationId xmlns:a16="http://schemas.microsoft.com/office/drawing/2014/main" id="{EE16E3B3-D303-4859-B2FD-649CC47A3C14}"/>
              </a:ext>
            </a:extLst>
          </p:cNvPr>
          <p:cNvSpPr txBox="1"/>
          <p:nvPr/>
        </p:nvSpPr>
        <p:spPr>
          <a:xfrm>
            <a:off x="1187624" y="5506197"/>
            <a:ext cx="7698720"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Inconsistency with the B</a:t>
            </a:r>
            <a:r>
              <a:rPr lang="cs-CZ" dirty="0">
                <a:latin typeface="Cambria Math" panose="02040503050406030204" pitchFamily="18" charset="0"/>
                <a:ea typeface="Cambria Math" panose="02040503050406030204" pitchFamily="18" charset="0"/>
              </a:rPr>
              <a:t>-</a:t>
            </a:r>
            <a:r>
              <a:rPr lang="en-GB" dirty="0">
                <a:latin typeface="Cambria Math" panose="02040503050406030204" pitchFamily="18" charset="0"/>
                <a:ea typeface="Cambria Math" panose="02040503050406030204" pitchFamily="18" charset="0"/>
              </a:rPr>
              <a:t>S formula (all options written on a given asset should use the same volatility regardless of their time to maturity)</a:t>
            </a:r>
          </a:p>
        </p:txBody>
      </p:sp>
      <mc:AlternateContent xmlns:mc="http://schemas.openxmlformats.org/markup-compatibility/2006" xmlns:a14="http://schemas.microsoft.com/office/drawing/2010/main">
        <mc:Choice Requires="a14">
          <p:graphicFrame>
            <p:nvGraphicFramePr>
              <p:cNvPr id="12" name="Tabulka 11">
                <a:extLst>
                  <a:ext uri="{FF2B5EF4-FFF2-40B4-BE49-F238E27FC236}">
                    <a16:creationId xmlns:a16="http://schemas.microsoft.com/office/drawing/2014/main" id="{ACF07270-A63C-C129-B6EC-C211454CD7C2}"/>
                  </a:ext>
                </a:extLst>
              </p:cNvPr>
              <p:cNvGraphicFramePr>
                <a:graphicFrameLocks noGrp="1"/>
              </p:cNvGraphicFramePr>
              <p:nvPr>
                <p:extLst>
                  <p:ext uri="{D42A27DB-BD31-4B8C-83A1-F6EECF244321}">
                    <p14:modId xmlns:p14="http://schemas.microsoft.com/office/powerpoint/2010/main" val="2017920564"/>
                  </p:ext>
                </p:extLst>
              </p:nvPr>
            </p:nvGraphicFramePr>
            <p:xfrm>
              <a:off x="173488" y="5086282"/>
              <a:ext cx="1008000" cy="914400"/>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2518808504"/>
                        </a:ext>
                      </a:extLst>
                    </a:gridCol>
                    <a:gridCol w="252000">
                      <a:extLst>
                        <a:ext uri="{9D8B030D-6E8A-4147-A177-3AD203B41FA5}">
                          <a16:colId xmlns:a16="http://schemas.microsoft.com/office/drawing/2014/main" val="2127920362"/>
                        </a:ext>
                      </a:extLst>
                    </a:gridCol>
                    <a:gridCol w="252000">
                      <a:extLst>
                        <a:ext uri="{9D8B030D-6E8A-4147-A177-3AD203B41FA5}">
                          <a16:colId xmlns:a16="http://schemas.microsoft.com/office/drawing/2014/main" val="3891918238"/>
                        </a:ext>
                      </a:extLst>
                    </a:gridCol>
                    <a:gridCol w="252000">
                      <a:extLst>
                        <a:ext uri="{9D8B030D-6E8A-4147-A177-3AD203B41FA5}">
                          <a16:colId xmlns:a16="http://schemas.microsoft.com/office/drawing/2014/main" val="2801677999"/>
                        </a:ext>
                      </a:extLst>
                    </a:gridCol>
                  </a:tblGrid>
                  <a:tr h="216000">
                    <a:tc>
                      <a:txBody>
                        <a:bodyPr/>
                        <a:lstStyle/>
                        <a:p>
                          <a:pPr algn="ctr"/>
                          <a:endParaRPr lang="en-GB" sz="900" dirty="0"/>
                        </a:p>
                      </a:txBody>
                      <a:tcPr marL="9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GB" sz="900" i="1" smtClean="0">
                                        <a:latin typeface="Cambria Math" panose="02040503050406030204" pitchFamily="18" charset="0"/>
                                      </a:rPr>
                                    </m:ctrlPr>
                                  </m:sSubPr>
                                  <m:e>
                                    <m:r>
                                      <a:rPr lang="cs-CZ" sz="900" b="1" i="1" smtClean="0">
                                        <a:latin typeface="Cambria Math" panose="02040503050406030204" pitchFamily="18" charset="0"/>
                                      </a:rPr>
                                      <m:t>𝑻</m:t>
                                    </m:r>
                                  </m:e>
                                  <m:sub>
                                    <m:r>
                                      <a:rPr lang="cs-CZ" sz="900" b="1" i="1" smtClean="0">
                                        <a:latin typeface="Cambria Math" panose="02040503050406030204" pitchFamily="18" charset="0"/>
                                      </a:rPr>
                                      <m:t>𝟏</m:t>
                                    </m:r>
                                  </m:sub>
                                </m:sSub>
                              </m:oMath>
                            </m:oMathPara>
                          </a14:m>
                          <a:endParaRPr lang="en-GB" sz="900" dirty="0"/>
                        </a:p>
                      </a:txBody>
                      <a:tcPr marL="9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GB" sz="900" i="1" smtClean="0">
                                        <a:latin typeface="Cambria Math" panose="02040503050406030204" pitchFamily="18" charset="0"/>
                                      </a:rPr>
                                    </m:ctrlPr>
                                  </m:sSubPr>
                                  <m:e>
                                    <m:r>
                                      <a:rPr lang="cs-CZ" sz="900" b="1" i="1" smtClean="0">
                                        <a:latin typeface="Cambria Math" panose="02040503050406030204" pitchFamily="18" charset="0"/>
                                      </a:rPr>
                                      <m:t>𝑻</m:t>
                                    </m:r>
                                  </m:e>
                                  <m:sub>
                                    <m:r>
                                      <a:rPr lang="cs-CZ" sz="900" b="1" i="1" smtClean="0">
                                        <a:latin typeface="Cambria Math" panose="02040503050406030204" pitchFamily="18" charset="0"/>
                                      </a:rPr>
                                      <m:t>𝒕</m:t>
                                    </m:r>
                                  </m:sub>
                                </m:sSub>
                              </m:oMath>
                            </m:oMathPara>
                          </a14:m>
                          <a:endParaRPr lang="en-GB" sz="900" dirty="0"/>
                        </a:p>
                      </a:txBody>
                      <a:tcPr marL="9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GB" sz="900" i="1" smtClean="0">
                                        <a:latin typeface="Cambria Math" panose="02040503050406030204" pitchFamily="18" charset="0"/>
                                      </a:rPr>
                                    </m:ctrlPr>
                                  </m:sSubPr>
                                  <m:e>
                                    <m:r>
                                      <a:rPr lang="cs-CZ" sz="900" b="1" i="1" smtClean="0">
                                        <a:latin typeface="Cambria Math" panose="02040503050406030204" pitchFamily="18" charset="0"/>
                                      </a:rPr>
                                      <m:t>𝑻</m:t>
                                    </m:r>
                                  </m:e>
                                  <m:sub>
                                    <m:r>
                                      <a:rPr lang="cs-CZ" sz="900" b="1" i="1" smtClean="0">
                                        <a:latin typeface="Cambria Math" panose="02040503050406030204" pitchFamily="18" charset="0"/>
                                      </a:rPr>
                                      <m:t>𝑴</m:t>
                                    </m:r>
                                  </m:sub>
                                </m:sSub>
                              </m:oMath>
                            </m:oMathPara>
                          </a14:m>
                          <a:endParaRPr lang="en-GB" sz="900" dirty="0"/>
                        </a:p>
                      </a:txBody>
                      <a:tcPr marL="9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250322"/>
                      </a:ext>
                    </a:extLst>
                  </a:tr>
                  <a:tr h="0">
                    <a:tc>
                      <a:txBody>
                        <a:bodyPr/>
                        <a:lstStyle/>
                        <a:p>
                          <a:pPr algn="ctr"/>
                          <a14:m>
                            <m:oMathPara xmlns:m="http://schemas.openxmlformats.org/officeDocument/2006/math">
                              <m:oMathParaPr>
                                <m:jc m:val="centerGroup"/>
                              </m:oMathParaPr>
                              <m:oMath xmlns:m="http://schemas.openxmlformats.org/officeDocument/2006/math">
                                <m:sSub>
                                  <m:sSubPr>
                                    <m:ctrlPr>
                                      <a:rPr lang="en-GB" sz="900" i="1" smtClean="0">
                                        <a:solidFill>
                                          <a:schemeClr val="bg1"/>
                                        </a:solidFill>
                                        <a:latin typeface="Cambria Math" panose="02040503050406030204" pitchFamily="18" charset="0"/>
                                      </a:rPr>
                                    </m:ctrlPr>
                                  </m:sSubPr>
                                  <m:e>
                                    <m:r>
                                      <a:rPr lang="cs-CZ" sz="900" b="1" i="1" smtClean="0">
                                        <a:solidFill>
                                          <a:schemeClr val="bg1"/>
                                        </a:solidFill>
                                        <a:latin typeface="Cambria Math" panose="02040503050406030204" pitchFamily="18" charset="0"/>
                                      </a:rPr>
                                      <m:t>𝑿</m:t>
                                    </m:r>
                                  </m:e>
                                  <m:sub>
                                    <m:r>
                                      <a:rPr lang="cs-CZ" sz="900" b="1" i="1" smtClean="0">
                                        <a:solidFill>
                                          <a:schemeClr val="bg1"/>
                                        </a:solidFill>
                                        <a:latin typeface="Cambria Math" panose="02040503050406030204" pitchFamily="18" charset="0"/>
                                      </a:rPr>
                                      <m:t>𝟏</m:t>
                                    </m:r>
                                  </m:sub>
                                </m:sSub>
                              </m:oMath>
                            </m:oMathPara>
                          </a14:m>
                          <a:endParaRPr lang="en-GB" sz="900" dirty="0">
                            <a:solidFill>
                              <a:schemeClr val="bg1"/>
                            </a:solidFill>
                          </a:endParaRPr>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67C8"/>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GB" sz="900" i="1" smtClean="0">
                                        <a:latin typeface="Cambria Math" panose="02040503050406030204" pitchFamily="18" charset="0"/>
                                      </a:rPr>
                                    </m:ctrlPr>
                                  </m:sSubPr>
                                  <m:e>
                                    <m:r>
                                      <a:rPr lang="en-GB" sz="900" i="1" smtClean="0">
                                        <a:latin typeface="Cambria Math" panose="02040503050406030204" pitchFamily="18" charset="0"/>
                                        <a:ea typeface="Cambria Math" panose="02040503050406030204" pitchFamily="18" charset="0"/>
                                      </a:rPr>
                                      <m:t>𝝈</m:t>
                                    </m:r>
                                  </m:e>
                                  <m:sub>
                                    <m:r>
                                      <a:rPr lang="cs-CZ" sz="900" b="1" i="1" smtClean="0">
                                        <a:latin typeface="Cambria Math" panose="02040503050406030204" pitchFamily="18" charset="0"/>
                                      </a:rPr>
                                      <m:t>𝟏𝟏</m:t>
                                    </m:r>
                                  </m:sub>
                                </m:sSub>
                              </m:oMath>
                            </m:oMathPara>
                          </a14:m>
                          <a:endParaRPr lang="en-GB" sz="900" dirty="0"/>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GB" sz="900" dirty="0"/>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GB" sz="900" i="1" smtClean="0">
                                        <a:latin typeface="Cambria Math" panose="02040503050406030204" pitchFamily="18" charset="0"/>
                                      </a:rPr>
                                    </m:ctrlPr>
                                  </m:sSubPr>
                                  <m:e>
                                    <m:r>
                                      <a:rPr lang="en-GB" sz="900" i="1" smtClean="0">
                                        <a:latin typeface="Cambria Math" panose="02040503050406030204" pitchFamily="18" charset="0"/>
                                        <a:ea typeface="Cambria Math" panose="02040503050406030204" pitchFamily="18" charset="0"/>
                                      </a:rPr>
                                      <m:t>𝝈</m:t>
                                    </m:r>
                                  </m:e>
                                  <m:sub>
                                    <m:r>
                                      <a:rPr lang="cs-CZ" sz="900" b="1" i="1" smtClean="0">
                                        <a:latin typeface="Cambria Math" panose="02040503050406030204" pitchFamily="18" charset="0"/>
                                      </a:rPr>
                                      <m:t>𝟏</m:t>
                                    </m:r>
                                    <m:r>
                                      <a:rPr lang="cs-CZ" sz="900" b="1" i="1" smtClean="0">
                                        <a:latin typeface="Cambria Math" panose="02040503050406030204" pitchFamily="18" charset="0"/>
                                      </a:rPr>
                                      <m:t>𝑴</m:t>
                                    </m:r>
                                  </m:sub>
                                </m:sSub>
                              </m:oMath>
                            </m:oMathPara>
                          </a14:m>
                          <a:endParaRPr lang="en-GB" sz="900" dirty="0"/>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167095"/>
                      </a:ext>
                    </a:extLst>
                  </a:tr>
                  <a:tr h="0">
                    <a:tc>
                      <a:txBody>
                        <a:bodyPr/>
                        <a:lstStyle/>
                        <a:p>
                          <a:pPr algn="ctr"/>
                          <a14:m>
                            <m:oMathPara xmlns:m="http://schemas.openxmlformats.org/officeDocument/2006/math">
                              <m:oMathParaPr>
                                <m:jc m:val="centerGroup"/>
                              </m:oMathParaPr>
                              <m:oMath xmlns:m="http://schemas.openxmlformats.org/officeDocument/2006/math">
                                <m:sSub>
                                  <m:sSubPr>
                                    <m:ctrlPr>
                                      <a:rPr lang="en-GB" sz="900" i="1" smtClean="0">
                                        <a:solidFill>
                                          <a:schemeClr val="bg1"/>
                                        </a:solidFill>
                                        <a:latin typeface="Cambria Math" panose="02040503050406030204" pitchFamily="18" charset="0"/>
                                      </a:rPr>
                                    </m:ctrlPr>
                                  </m:sSubPr>
                                  <m:e>
                                    <m:r>
                                      <a:rPr lang="cs-CZ" sz="900" b="1" i="1" smtClean="0">
                                        <a:solidFill>
                                          <a:schemeClr val="bg1"/>
                                        </a:solidFill>
                                        <a:latin typeface="Cambria Math" panose="02040503050406030204" pitchFamily="18" charset="0"/>
                                      </a:rPr>
                                      <m:t>𝑿</m:t>
                                    </m:r>
                                  </m:e>
                                  <m:sub>
                                    <m:r>
                                      <a:rPr lang="cs-CZ" sz="900" b="1" i="1" smtClean="0">
                                        <a:solidFill>
                                          <a:schemeClr val="bg1"/>
                                        </a:solidFill>
                                        <a:latin typeface="Cambria Math" panose="02040503050406030204" pitchFamily="18" charset="0"/>
                                      </a:rPr>
                                      <m:t>𝒙</m:t>
                                    </m:r>
                                  </m:sub>
                                </m:sSub>
                              </m:oMath>
                            </m:oMathPara>
                          </a14:m>
                          <a:endParaRPr lang="en-GB" sz="900" dirty="0">
                            <a:solidFill>
                              <a:schemeClr val="bg1"/>
                            </a:solidFill>
                          </a:endParaRPr>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67C8"/>
                        </a:solidFill>
                      </a:tcPr>
                    </a:tc>
                    <a:tc>
                      <a:txBody>
                        <a:bodyPr/>
                        <a:lstStyle/>
                        <a:p>
                          <a:pPr algn="ctr"/>
                          <a:endParaRPr lang="en-GB" sz="900" dirty="0"/>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GB" sz="900" i="1" smtClean="0">
                                        <a:latin typeface="Cambria Math" panose="02040503050406030204" pitchFamily="18" charset="0"/>
                                      </a:rPr>
                                    </m:ctrlPr>
                                  </m:sSubPr>
                                  <m:e>
                                    <m:r>
                                      <a:rPr lang="en-GB" sz="900" i="1" smtClean="0">
                                        <a:latin typeface="Cambria Math" panose="02040503050406030204" pitchFamily="18" charset="0"/>
                                        <a:ea typeface="Cambria Math" panose="02040503050406030204" pitchFamily="18" charset="0"/>
                                      </a:rPr>
                                      <m:t>𝝈</m:t>
                                    </m:r>
                                  </m:e>
                                  <m:sub>
                                    <m:r>
                                      <a:rPr lang="cs-CZ" sz="900" b="1" i="1" smtClean="0">
                                        <a:latin typeface="Cambria Math" panose="02040503050406030204" pitchFamily="18" charset="0"/>
                                        <a:ea typeface="Cambria Math" panose="02040503050406030204" pitchFamily="18" charset="0"/>
                                      </a:rPr>
                                      <m:t>𝒙𝒕</m:t>
                                    </m:r>
                                  </m:sub>
                                </m:sSub>
                              </m:oMath>
                            </m:oMathPara>
                          </a14:m>
                          <a:endParaRPr lang="en-GB" sz="900" dirty="0"/>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GB" sz="900" dirty="0"/>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9496342"/>
                      </a:ext>
                    </a:extLst>
                  </a:tr>
                  <a:tr h="0">
                    <a:tc>
                      <a:txBody>
                        <a:bodyPr/>
                        <a:lstStyle/>
                        <a:p>
                          <a:pPr algn="ctr"/>
                          <a14:m>
                            <m:oMathPara xmlns:m="http://schemas.openxmlformats.org/officeDocument/2006/math">
                              <m:oMathParaPr>
                                <m:jc m:val="centerGroup"/>
                              </m:oMathParaPr>
                              <m:oMath xmlns:m="http://schemas.openxmlformats.org/officeDocument/2006/math">
                                <m:sSub>
                                  <m:sSubPr>
                                    <m:ctrlPr>
                                      <a:rPr lang="en-GB" sz="900" i="1" smtClean="0">
                                        <a:solidFill>
                                          <a:schemeClr val="bg1"/>
                                        </a:solidFill>
                                        <a:latin typeface="Cambria Math" panose="02040503050406030204" pitchFamily="18" charset="0"/>
                                      </a:rPr>
                                    </m:ctrlPr>
                                  </m:sSubPr>
                                  <m:e>
                                    <m:r>
                                      <a:rPr lang="cs-CZ" sz="900" b="1" i="1" smtClean="0">
                                        <a:solidFill>
                                          <a:schemeClr val="bg1"/>
                                        </a:solidFill>
                                        <a:latin typeface="Cambria Math" panose="02040503050406030204" pitchFamily="18" charset="0"/>
                                      </a:rPr>
                                      <m:t>𝑿</m:t>
                                    </m:r>
                                  </m:e>
                                  <m:sub>
                                    <m:r>
                                      <a:rPr lang="cs-CZ" sz="900" b="1" i="1" smtClean="0">
                                        <a:solidFill>
                                          <a:schemeClr val="bg1"/>
                                        </a:solidFill>
                                        <a:latin typeface="Cambria Math" panose="02040503050406030204" pitchFamily="18" charset="0"/>
                                      </a:rPr>
                                      <m:t>𝑵</m:t>
                                    </m:r>
                                  </m:sub>
                                </m:sSub>
                              </m:oMath>
                            </m:oMathPara>
                          </a14:m>
                          <a:endParaRPr lang="en-GB" sz="900" dirty="0">
                            <a:solidFill>
                              <a:schemeClr val="bg1"/>
                            </a:solidFill>
                          </a:endParaRPr>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67C8"/>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GB" sz="900" i="1" smtClean="0">
                                        <a:latin typeface="Cambria Math" panose="02040503050406030204" pitchFamily="18" charset="0"/>
                                      </a:rPr>
                                    </m:ctrlPr>
                                  </m:sSubPr>
                                  <m:e>
                                    <m:r>
                                      <a:rPr lang="en-GB" sz="900" i="1" smtClean="0">
                                        <a:latin typeface="Cambria Math" panose="02040503050406030204" pitchFamily="18" charset="0"/>
                                        <a:ea typeface="Cambria Math" panose="02040503050406030204" pitchFamily="18" charset="0"/>
                                      </a:rPr>
                                      <m:t>𝝈</m:t>
                                    </m:r>
                                  </m:e>
                                  <m:sub>
                                    <m:r>
                                      <a:rPr lang="cs-CZ" sz="900" b="1" i="1" smtClean="0">
                                        <a:latin typeface="Cambria Math" panose="02040503050406030204" pitchFamily="18" charset="0"/>
                                        <a:ea typeface="Cambria Math" panose="02040503050406030204" pitchFamily="18" charset="0"/>
                                      </a:rPr>
                                      <m:t>𝑵</m:t>
                                    </m:r>
                                    <m:r>
                                      <a:rPr lang="cs-CZ" sz="900" b="1" i="1" smtClean="0">
                                        <a:latin typeface="Cambria Math" panose="02040503050406030204" pitchFamily="18" charset="0"/>
                                      </a:rPr>
                                      <m:t>𝟏</m:t>
                                    </m:r>
                                  </m:sub>
                                </m:sSub>
                              </m:oMath>
                            </m:oMathPara>
                          </a14:m>
                          <a:endParaRPr lang="en-GB" sz="900" dirty="0"/>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GB" sz="900" dirty="0"/>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GB" sz="900" i="1" smtClean="0">
                                        <a:latin typeface="Cambria Math" panose="02040503050406030204" pitchFamily="18" charset="0"/>
                                      </a:rPr>
                                    </m:ctrlPr>
                                  </m:sSubPr>
                                  <m:e>
                                    <m:r>
                                      <a:rPr lang="en-GB" sz="900" i="1" smtClean="0">
                                        <a:latin typeface="Cambria Math" panose="02040503050406030204" pitchFamily="18" charset="0"/>
                                        <a:ea typeface="Cambria Math" panose="02040503050406030204" pitchFamily="18" charset="0"/>
                                      </a:rPr>
                                      <m:t>𝝈</m:t>
                                    </m:r>
                                  </m:e>
                                  <m:sub>
                                    <m:r>
                                      <a:rPr lang="cs-CZ" sz="900" b="1" i="1" smtClean="0">
                                        <a:latin typeface="Cambria Math" panose="02040503050406030204" pitchFamily="18" charset="0"/>
                                        <a:ea typeface="Cambria Math" panose="02040503050406030204" pitchFamily="18" charset="0"/>
                                      </a:rPr>
                                      <m:t>𝑵𝑻</m:t>
                                    </m:r>
                                  </m:sub>
                                </m:sSub>
                              </m:oMath>
                            </m:oMathPara>
                          </a14:m>
                          <a:endParaRPr lang="en-GB" sz="900" dirty="0"/>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4147441"/>
                      </a:ext>
                    </a:extLst>
                  </a:tr>
                </a:tbl>
              </a:graphicData>
            </a:graphic>
          </p:graphicFrame>
        </mc:Choice>
        <mc:Fallback xmlns="">
          <p:graphicFrame>
            <p:nvGraphicFramePr>
              <p:cNvPr id="12" name="Tabulka 11">
                <a:extLst>
                  <a:ext uri="{FF2B5EF4-FFF2-40B4-BE49-F238E27FC236}">
                    <a16:creationId xmlns:a16="http://schemas.microsoft.com/office/drawing/2014/main" id="{ACF07270-A63C-C129-B6EC-C211454CD7C2}"/>
                  </a:ext>
                </a:extLst>
              </p:cNvPr>
              <p:cNvGraphicFramePr>
                <a:graphicFrameLocks noGrp="1"/>
              </p:cNvGraphicFramePr>
              <p:nvPr>
                <p:extLst>
                  <p:ext uri="{D42A27DB-BD31-4B8C-83A1-F6EECF244321}">
                    <p14:modId xmlns:p14="http://schemas.microsoft.com/office/powerpoint/2010/main" val="2017920564"/>
                  </p:ext>
                </p:extLst>
              </p:nvPr>
            </p:nvGraphicFramePr>
            <p:xfrm>
              <a:off x="173488" y="5086282"/>
              <a:ext cx="1008000" cy="914400"/>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2518808504"/>
                        </a:ext>
                      </a:extLst>
                    </a:gridCol>
                    <a:gridCol w="252000">
                      <a:extLst>
                        <a:ext uri="{9D8B030D-6E8A-4147-A177-3AD203B41FA5}">
                          <a16:colId xmlns:a16="http://schemas.microsoft.com/office/drawing/2014/main" val="2127920362"/>
                        </a:ext>
                      </a:extLst>
                    </a:gridCol>
                    <a:gridCol w="252000">
                      <a:extLst>
                        <a:ext uri="{9D8B030D-6E8A-4147-A177-3AD203B41FA5}">
                          <a16:colId xmlns:a16="http://schemas.microsoft.com/office/drawing/2014/main" val="3891918238"/>
                        </a:ext>
                      </a:extLst>
                    </a:gridCol>
                    <a:gridCol w="252000">
                      <a:extLst>
                        <a:ext uri="{9D8B030D-6E8A-4147-A177-3AD203B41FA5}">
                          <a16:colId xmlns:a16="http://schemas.microsoft.com/office/drawing/2014/main" val="2801677999"/>
                        </a:ext>
                      </a:extLst>
                    </a:gridCol>
                  </a:tblGrid>
                  <a:tr h="228600">
                    <a:tc>
                      <a:txBody>
                        <a:bodyPr/>
                        <a:lstStyle/>
                        <a:p>
                          <a:pPr algn="ctr"/>
                          <a:endParaRPr lang="en-GB" sz="900" dirty="0"/>
                        </a:p>
                      </a:txBody>
                      <a:tcPr marL="9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9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15"/>
                          <a:stretch>
                            <a:fillRect l="-104878" t="-2632" r="-207317" b="-302632"/>
                          </a:stretch>
                        </a:blipFill>
                      </a:tcPr>
                    </a:tc>
                    <a:tc>
                      <a:txBody>
                        <a:bodyPr/>
                        <a:lstStyle/>
                        <a:p>
                          <a:endParaRPr lang="en-US"/>
                        </a:p>
                      </a:txBody>
                      <a:tcPr marL="9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15"/>
                          <a:stretch>
                            <a:fillRect l="-200000" t="-2632" r="-102381" b="-302632"/>
                          </a:stretch>
                        </a:blipFill>
                      </a:tcPr>
                    </a:tc>
                    <a:tc>
                      <a:txBody>
                        <a:bodyPr/>
                        <a:lstStyle/>
                        <a:p>
                          <a:endParaRPr lang="en-US"/>
                        </a:p>
                      </a:txBody>
                      <a:tcPr marL="9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15"/>
                          <a:stretch>
                            <a:fillRect l="-307317" t="-2632" r="-4878" b="-302632"/>
                          </a:stretch>
                        </a:blipFill>
                      </a:tcPr>
                    </a:tc>
                    <a:extLst>
                      <a:ext uri="{0D108BD9-81ED-4DB2-BD59-A6C34878D82A}">
                        <a16:rowId xmlns:a16="http://schemas.microsoft.com/office/drawing/2014/main" val="10250322"/>
                      </a:ext>
                    </a:extLst>
                  </a:tr>
                  <a:tr h="228600">
                    <a:tc>
                      <a:txBody>
                        <a:bodyPr/>
                        <a:lstStyle/>
                        <a:p>
                          <a:endParaRPr lang="en-US"/>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15"/>
                          <a:stretch>
                            <a:fillRect l="-2381" t="-102632" r="-300000" b="-202632"/>
                          </a:stretch>
                        </a:blipFill>
                      </a:tcPr>
                    </a:tc>
                    <a:tc>
                      <a:txBody>
                        <a:bodyPr/>
                        <a:lstStyle/>
                        <a:p>
                          <a:endParaRPr lang="en-US"/>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15"/>
                          <a:stretch>
                            <a:fillRect l="-104878" t="-102632" r="-207317" b="-202632"/>
                          </a:stretch>
                        </a:blipFill>
                      </a:tcPr>
                    </a:tc>
                    <a:tc>
                      <a:txBody>
                        <a:bodyPr/>
                        <a:lstStyle/>
                        <a:p>
                          <a:pPr algn="ctr"/>
                          <a:endParaRPr lang="en-GB" sz="900" dirty="0"/>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15"/>
                          <a:stretch>
                            <a:fillRect l="-307317" t="-102632" r="-4878" b="-202632"/>
                          </a:stretch>
                        </a:blipFill>
                      </a:tcPr>
                    </a:tc>
                    <a:extLst>
                      <a:ext uri="{0D108BD9-81ED-4DB2-BD59-A6C34878D82A}">
                        <a16:rowId xmlns:a16="http://schemas.microsoft.com/office/drawing/2014/main" val="406167095"/>
                      </a:ext>
                    </a:extLst>
                  </a:tr>
                  <a:tr h="228600">
                    <a:tc>
                      <a:txBody>
                        <a:bodyPr/>
                        <a:lstStyle/>
                        <a:p>
                          <a:endParaRPr lang="en-US"/>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15"/>
                          <a:stretch>
                            <a:fillRect l="-2381" t="-208108" r="-300000" b="-108108"/>
                          </a:stretch>
                        </a:blipFill>
                      </a:tcPr>
                    </a:tc>
                    <a:tc>
                      <a:txBody>
                        <a:bodyPr/>
                        <a:lstStyle/>
                        <a:p>
                          <a:pPr algn="ctr"/>
                          <a:endParaRPr lang="en-GB" sz="900" dirty="0"/>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15"/>
                          <a:stretch>
                            <a:fillRect l="-200000" t="-208108" r="-102381" b="-108108"/>
                          </a:stretch>
                        </a:blipFill>
                      </a:tcPr>
                    </a:tc>
                    <a:tc>
                      <a:txBody>
                        <a:bodyPr/>
                        <a:lstStyle/>
                        <a:p>
                          <a:pPr algn="ctr"/>
                          <a:endParaRPr lang="en-GB" sz="900" dirty="0"/>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9496342"/>
                      </a:ext>
                    </a:extLst>
                  </a:tr>
                  <a:tr h="228600">
                    <a:tc>
                      <a:txBody>
                        <a:bodyPr/>
                        <a:lstStyle/>
                        <a:p>
                          <a:endParaRPr lang="en-US"/>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15"/>
                          <a:stretch>
                            <a:fillRect l="-2381" t="-300000" r="-300000" b="-5263"/>
                          </a:stretch>
                        </a:blipFill>
                      </a:tcPr>
                    </a:tc>
                    <a:tc>
                      <a:txBody>
                        <a:bodyPr/>
                        <a:lstStyle/>
                        <a:p>
                          <a:endParaRPr lang="en-US"/>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15"/>
                          <a:stretch>
                            <a:fillRect l="-104878" t="-300000" r="-207317" b="-5263"/>
                          </a:stretch>
                        </a:blipFill>
                      </a:tcPr>
                    </a:tc>
                    <a:tc>
                      <a:txBody>
                        <a:bodyPr/>
                        <a:lstStyle/>
                        <a:p>
                          <a:pPr algn="ctr"/>
                          <a:endParaRPr lang="en-GB" sz="900" dirty="0"/>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15"/>
                          <a:stretch>
                            <a:fillRect l="-307317" t="-300000" r="-4878" b="-5263"/>
                          </a:stretch>
                        </a:blipFill>
                      </a:tcPr>
                    </a:tc>
                    <a:extLst>
                      <a:ext uri="{0D108BD9-81ED-4DB2-BD59-A6C34878D82A}">
                        <a16:rowId xmlns:a16="http://schemas.microsoft.com/office/drawing/2014/main" val="294147441"/>
                      </a:ext>
                    </a:extLst>
                  </a:tr>
                </a:tbl>
              </a:graphicData>
            </a:graphic>
          </p:graphicFrame>
        </mc:Fallback>
      </mc:AlternateContent>
    </p:spTree>
    <p:extLst>
      <p:ext uri="{BB962C8B-B14F-4D97-AF65-F5344CB8AC3E}">
        <p14:creationId xmlns:p14="http://schemas.microsoft.com/office/powerpoint/2010/main" val="4177755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p:cNvSpPr>
            <a:spLocks noGrp="1"/>
          </p:cNvSpPr>
          <p:nvPr>
            <p:ph type="sldNum" sz="quarter" idx="12"/>
          </p:nvPr>
        </p:nvSpPr>
        <p:spPr>
          <a:xfrm>
            <a:off x="7164000" y="6336000"/>
            <a:ext cx="1800000" cy="360000"/>
          </a:xfrm>
        </p:spPr>
        <p:txBody>
          <a:bodyPr/>
          <a:lstStyle/>
          <a:p>
            <a:pPr algn="r"/>
            <a:fld id="{DFE5482F-2F05-49C5-9E15-73F945A41231}" type="slidenum">
              <a:rPr lang="cs-CZ" smtClean="0"/>
              <a:pPr algn="r"/>
              <a:t>13</a:t>
            </a:fld>
            <a:endParaRPr lang="cs-CZ" dirty="0"/>
          </a:p>
        </p:txBody>
      </p:sp>
      <p:sp>
        <p:nvSpPr>
          <p:cNvPr id="4" name="Nadpis 3"/>
          <p:cNvSpPr>
            <a:spLocks noGrp="1"/>
          </p:cNvSpPr>
          <p:nvPr>
            <p:ph type="title"/>
          </p:nvPr>
        </p:nvSpPr>
        <p:spPr>
          <a:xfrm>
            <a:off x="144000" y="144000"/>
            <a:ext cx="4644024" cy="648072"/>
          </a:xfrm>
        </p:spPr>
        <p:txBody>
          <a:bodyPr/>
          <a:lstStyle/>
          <a:p>
            <a:r>
              <a:rPr lang="en-GB" dirty="0">
                <a:solidFill>
                  <a:srgbClr val="000000"/>
                </a:solidFill>
              </a:rPr>
              <a:t>Put-call parity </a:t>
            </a:r>
            <a:r>
              <a:rPr lang="en-GB" dirty="0">
                <a:latin typeface="Cambria Math" panose="02040503050406030204" pitchFamily="18" charset="0"/>
                <a:ea typeface="Cambria Math" panose="02040503050406030204" pitchFamily="18" charset="0"/>
              </a:rPr>
              <a:t>– </a:t>
            </a:r>
            <a:r>
              <a:rPr lang="en-GB" dirty="0">
                <a:solidFill>
                  <a:srgbClr val="000000"/>
                </a:solidFill>
              </a:rPr>
              <a:t>derivation</a:t>
            </a:r>
          </a:p>
        </p:txBody>
      </p:sp>
      <p:sp>
        <p:nvSpPr>
          <p:cNvPr id="29" name="TextovéPole 28"/>
          <p:cNvSpPr txBox="1"/>
          <p:nvPr/>
        </p:nvSpPr>
        <p:spPr>
          <a:xfrm>
            <a:off x="864000" y="864000"/>
            <a:ext cx="1907800"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Description</a:t>
            </a:r>
          </a:p>
        </p:txBody>
      </p:sp>
      <p:sp>
        <p:nvSpPr>
          <p:cNvPr id="31" name="TextovéPole 30"/>
          <p:cNvSpPr txBox="1"/>
          <p:nvPr/>
        </p:nvSpPr>
        <p:spPr>
          <a:xfrm>
            <a:off x="1188000" y="2047636"/>
            <a:ext cx="6977093"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Perfect financial markets that do not allow arbitrage opportunities</a:t>
            </a:r>
          </a:p>
        </p:txBody>
      </p:sp>
      <p:sp>
        <p:nvSpPr>
          <p:cNvPr id="59" name="TextovéPole 58"/>
          <p:cNvSpPr txBox="1"/>
          <p:nvPr/>
        </p:nvSpPr>
        <p:spPr>
          <a:xfrm>
            <a:off x="1187623" y="1197664"/>
            <a:ext cx="6732377"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solidFill>
                  <a:srgbClr val="7030A0"/>
                </a:solidFill>
                <a:latin typeface="Cambria Math" panose="02040503050406030204" pitchFamily="18" charset="0"/>
                <a:ea typeface="Cambria Math" panose="02040503050406030204" pitchFamily="18" charset="0"/>
              </a:rPr>
              <a:t>Put-call parity </a:t>
            </a:r>
            <a:r>
              <a:rPr lang="en-GB" dirty="0">
                <a:latin typeface="Cambria Math" panose="02040503050406030204" pitchFamily="18" charset="0"/>
                <a:ea typeface="Cambria Math" panose="02040503050406030204" pitchFamily="18" charset="0"/>
              </a:rPr>
              <a:t>links premiums of European call and put options</a:t>
            </a:r>
          </a:p>
        </p:txBody>
      </p:sp>
      <mc:AlternateContent xmlns:mc="http://schemas.openxmlformats.org/markup-compatibility/2006" xmlns:a14="http://schemas.microsoft.com/office/drawing/2010/main">
        <mc:Choice Requires="a14">
          <p:sp>
            <p:nvSpPr>
              <p:cNvPr id="91" name="TextovéPole 90">
                <a:extLst>
                  <a:ext uri="{FF2B5EF4-FFF2-40B4-BE49-F238E27FC236}">
                    <a16:creationId xmlns:a16="http://schemas.microsoft.com/office/drawing/2014/main" id="{3B2D848F-0F85-43DE-B979-92E15EF0C158}"/>
                  </a:ext>
                </a:extLst>
              </p:cNvPr>
              <p:cNvSpPr txBox="1"/>
              <p:nvPr/>
            </p:nvSpPr>
            <p:spPr>
              <a:xfrm>
                <a:off x="1188000" y="1482605"/>
                <a:ext cx="7770360" cy="646331"/>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Assumptions: the same underlying asset</a:t>
                </a:r>
                <a:r>
                  <a:rPr lang="cs-CZ" dirty="0">
                    <a:latin typeface="Cambria Math" panose="02040503050406030204" pitchFamily="18" charset="0"/>
                    <a:ea typeface="Cambria Math" panose="02040503050406030204" pitchFamily="18" charset="0"/>
                  </a:rPr>
                  <a:t> </a:t>
                </a:r>
                <a14:m>
                  <m:oMath xmlns:m="http://schemas.openxmlformats.org/officeDocument/2006/math">
                    <m:r>
                      <a:rPr lang="cs-CZ" b="0" i="1" smtClean="0">
                        <a:latin typeface="Cambria Math" panose="02040503050406030204" pitchFamily="18" charset="0"/>
                        <a:ea typeface="Cambria Math" panose="02040503050406030204" pitchFamily="18" charset="0"/>
                      </a:rPr>
                      <m:t>𝑆</m:t>
                    </m:r>
                  </m:oMath>
                </a14:m>
                <a:r>
                  <a:rPr lang="en-GB" dirty="0">
                    <a:latin typeface="Cambria Math" panose="02040503050406030204" pitchFamily="18" charset="0"/>
                    <a:ea typeface="Cambria Math" panose="02040503050406030204" pitchFamily="18" charset="0"/>
                  </a:rPr>
                  <a:t>, the same exercise price</a:t>
                </a:r>
                <a:r>
                  <a:rPr lang="cs-CZ" dirty="0">
                    <a:latin typeface="Cambria Math" panose="02040503050406030204" pitchFamily="18" charset="0"/>
                    <a:ea typeface="Cambria Math" panose="02040503050406030204" pitchFamily="18" charset="0"/>
                  </a:rPr>
                  <a:t> </a:t>
                </a:r>
                <a14:m>
                  <m:oMath xmlns:m="http://schemas.openxmlformats.org/officeDocument/2006/math">
                    <m:r>
                      <a:rPr lang="cs-CZ" b="0" i="1" smtClean="0">
                        <a:latin typeface="Cambria Math" panose="02040503050406030204" pitchFamily="18" charset="0"/>
                        <a:ea typeface="Cambria Math" panose="02040503050406030204" pitchFamily="18" charset="0"/>
                      </a:rPr>
                      <m:t>𝑋</m:t>
                    </m:r>
                  </m:oMath>
                </a14:m>
                <a:r>
                  <a:rPr lang="en-GB" dirty="0">
                    <a:latin typeface="Cambria Math" panose="02040503050406030204" pitchFamily="18" charset="0"/>
                    <a:ea typeface="Cambria Math" panose="02040503050406030204" pitchFamily="18" charset="0"/>
                  </a:rPr>
                  <a:t> </a:t>
                </a:r>
                <a:r>
                  <a:rPr lang="cs-CZ" dirty="0">
                    <a:latin typeface="Cambria Math" panose="02040503050406030204" pitchFamily="18" charset="0"/>
                    <a:ea typeface="Cambria Math" panose="02040503050406030204" pitchFamily="18" charset="0"/>
                  </a:rPr>
                  <a:t>and </a:t>
                </a:r>
                <a:r>
                  <a:rPr lang="en-GB" dirty="0">
                    <a:latin typeface="Cambria Math" panose="02040503050406030204" pitchFamily="18" charset="0"/>
                    <a:ea typeface="Cambria Math" panose="02040503050406030204" pitchFamily="18" charset="0"/>
                  </a:rPr>
                  <a:t>the same time to expiry</a:t>
                </a:r>
                <a:r>
                  <a:rPr lang="cs-CZ" dirty="0">
                    <a:latin typeface="Cambria Math" panose="02040503050406030204" pitchFamily="18" charset="0"/>
                    <a:ea typeface="Cambria Math" panose="02040503050406030204" pitchFamily="18" charset="0"/>
                  </a:rPr>
                  <a:t> </a:t>
                </a:r>
                <a14:m>
                  <m:oMath xmlns:m="http://schemas.openxmlformats.org/officeDocument/2006/math">
                    <m:r>
                      <a:rPr lang="cs-CZ" b="0" i="1" smtClean="0">
                        <a:latin typeface="Cambria Math" panose="02040503050406030204" pitchFamily="18" charset="0"/>
                        <a:ea typeface="Cambria Math" panose="02040503050406030204" pitchFamily="18" charset="0"/>
                      </a:rPr>
                      <m:t>𝑇</m:t>
                    </m:r>
                  </m:oMath>
                </a14:m>
                <a:endParaRPr lang="en-GB" dirty="0">
                  <a:latin typeface="Cambria Math" panose="02040503050406030204" pitchFamily="18" charset="0"/>
                  <a:ea typeface="Cambria Math" panose="02040503050406030204" pitchFamily="18" charset="0"/>
                </a:endParaRPr>
              </a:p>
            </p:txBody>
          </p:sp>
        </mc:Choice>
        <mc:Fallback xmlns="">
          <p:sp>
            <p:nvSpPr>
              <p:cNvPr id="91" name="TextovéPole 90">
                <a:extLst>
                  <a:ext uri="{FF2B5EF4-FFF2-40B4-BE49-F238E27FC236}">
                    <a16:creationId xmlns:a16="http://schemas.microsoft.com/office/drawing/2014/main" id="{3B2D848F-0F85-43DE-B979-92E15EF0C158}"/>
                  </a:ext>
                </a:extLst>
              </p:cNvPr>
              <p:cNvSpPr txBox="1">
                <a:spLocks noRot="1" noChangeAspect="1" noMove="1" noResize="1" noEditPoints="1" noAdjustHandles="1" noChangeArrowheads="1" noChangeShapeType="1" noTextEdit="1"/>
              </p:cNvSpPr>
              <p:nvPr/>
            </p:nvSpPr>
            <p:spPr>
              <a:xfrm>
                <a:off x="1188000" y="1482605"/>
                <a:ext cx="7770360" cy="646331"/>
              </a:xfrm>
              <a:prstGeom prst="rect">
                <a:avLst/>
              </a:prstGeom>
              <a:blipFill>
                <a:blip r:embed="rId18"/>
                <a:stretch>
                  <a:fillRect l="-157" t="-5660" b="-13208"/>
                </a:stretch>
              </a:blipFill>
              <a:ln>
                <a:noFill/>
              </a:ln>
            </p:spPr>
            <p:txBody>
              <a:bodyPr/>
              <a:lstStyle/>
              <a:p>
                <a:r>
                  <a:rPr lang="en-GB">
                    <a:noFill/>
                  </a:rPr>
                  <a:t> </a:t>
                </a:r>
              </a:p>
            </p:txBody>
          </p:sp>
        </mc:Fallback>
      </mc:AlternateContent>
      <p:sp>
        <p:nvSpPr>
          <p:cNvPr id="70" name="TextovéPole 69"/>
          <p:cNvSpPr txBox="1"/>
          <p:nvPr/>
        </p:nvSpPr>
        <p:spPr>
          <a:xfrm>
            <a:off x="864000" y="2340000"/>
            <a:ext cx="1979808"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Derivation</a:t>
            </a:r>
          </a:p>
        </p:txBody>
      </p:sp>
      <mc:AlternateContent xmlns:mc="http://schemas.openxmlformats.org/markup-compatibility/2006" xmlns:a14="http://schemas.microsoft.com/office/drawing/2010/main">
        <mc:Choice Requires="a14">
          <p:sp>
            <p:nvSpPr>
              <p:cNvPr id="36" name="TextovéPole 35">
                <a:extLst>
                  <a:ext uri="{FF2B5EF4-FFF2-40B4-BE49-F238E27FC236}">
                    <a16:creationId xmlns:a16="http://schemas.microsoft.com/office/drawing/2014/main" id="{05FC8A4A-3761-4383-881C-9096ADBF4AD7}"/>
                  </a:ext>
                </a:extLst>
              </p:cNvPr>
              <p:cNvSpPr txBox="1"/>
              <p:nvPr/>
            </p:nvSpPr>
            <p:spPr>
              <a:xfrm>
                <a:off x="1513127" y="2962244"/>
                <a:ext cx="3922969"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Portfolio A: European call &amp; cash </a:t>
                </a:r>
                <a14:m>
                  <m:oMath xmlns:m="http://schemas.openxmlformats.org/officeDocument/2006/math">
                    <m:r>
                      <a:rPr lang="en-GB" sz="1600" b="0" i="1" smtClean="0">
                        <a:latin typeface="Cambria Math" panose="02040503050406030204" pitchFamily="18" charset="0"/>
                        <a:ea typeface="Cambria Math" panose="02040503050406030204" pitchFamily="18" charset="0"/>
                      </a:rPr>
                      <m:t>𝑋</m:t>
                    </m:r>
                    <m:sSup>
                      <m:sSupPr>
                        <m:ctrlPr>
                          <a:rPr lang="en-GB" sz="1600" b="0" i="1" smtClean="0">
                            <a:latin typeface="Cambria Math" panose="02040503050406030204" pitchFamily="18" charset="0"/>
                            <a:ea typeface="Cambria Math" panose="02040503050406030204" pitchFamily="18" charset="0"/>
                          </a:rPr>
                        </m:ctrlPr>
                      </m:sSupPr>
                      <m:e>
                        <m:r>
                          <a:rPr lang="en-GB" sz="1600" b="0" i="1" smtClean="0">
                            <a:latin typeface="Cambria Math" panose="02040503050406030204" pitchFamily="18" charset="0"/>
                            <a:ea typeface="Cambria Math" panose="02040503050406030204" pitchFamily="18" charset="0"/>
                          </a:rPr>
                          <m:t>𝑒</m:t>
                        </m:r>
                      </m:e>
                      <m:sup>
                        <m: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𝑟𝑇</m:t>
                        </m:r>
                      </m:sup>
                    </m:sSup>
                  </m:oMath>
                </a14:m>
                <a:endParaRPr lang="en-GB" sz="1600" dirty="0">
                  <a:latin typeface="Cambria Math" panose="02040503050406030204" pitchFamily="18" charset="0"/>
                  <a:ea typeface="Cambria Math" panose="02040503050406030204" pitchFamily="18" charset="0"/>
                </a:endParaRPr>
              </a:p>
            </p:txBody>
          </p:sp>
        </mc:Choice>
        <mc:Fallback xmlns="">
          <p:sp>
            <p:nvSpPr>
              <p:cNvPr id="36" name="TextovéPole 35">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513127" y="2962244"/>
                <a:ext cx="3922969" cy="338554"/>
              </a:xfrm>
              <a:prstGeom prst="rect">
                <a:avLst/>
              </a:prstGeom>
              <a:blipFill>
                <a:blip r:embed="rId19"/>
                <a:stretch>
                  <a:fillRect l="-621" t="-7273" b="-21818"/>
                </a:stretch>
              </a:blipFill>
              <a:ln>
                <a:noFill/>
              </a:ln>
            </p:spPr>
            <p:txBody>
              <a:bodyPr/>
              <a:lstStyle/>
              <a:p>
                <a:r>
                  <a:rPr lang="en-GB">
                    <a:noFill/>
                  </a:rPr>
                  <a:t> </a:t>
                </a:r>
              </a:p>
            </p:txBody>
          </p:sp>
        </mc:Fallback>
      </mc:AlternateContent>
      <p:sp>
        <p:nvSpPr>
          <p:cNvPr id="46" name="TextovéPole 45">
            <a:extLst>
              <a:ext uri="{FF2B5EF4-FFF2-40B4-BE49-F238E27FC236}">
                <a16:creationId xmlns:a16="http://schemas.microsoft.com/office/drawing/2014/main" id="{05FC8A4A-3761-4383-881C-9096ADBF4AD7}"/>
              </a:ext>
            </a:extLst>
          </p:cNvPr>
          <p:cNvSpPr txBox="1"/>
          <p:nvPr/>
        </p:nvSpPr>
        <p:spPr>
          <a:xfrm>
            <a:off x="1512000" y="3222547"/>
            <a:ext cx="4927279"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r>
              <a:rPr lang="en-GB" sz="1600" dirty="0">
                <a:latin typeface="Cambria Math" panose="02040503050406030204" pitchFamily="18" charset="0"/>
                <a:ea typeface="Cambria Math" panose="02040503050406030204" pitchFamily="18" charset="0"/>
              </a:rPr>
              <a:t>Portfolio B: European put option &amp; underlying asset</a:t>
            </a:r>
          </a:p>
        </p:txBody>
      </p:sp>
      <p:sp>
        <p:nvSpPr>
          <p:cNvPr id="60" name="TextovéPole 59"/>
          <p:cNvSpPr txBox="1"/>
          <p:nvPr/>
        </p:nvSpPr>
        <p:spPr>
          <a:xfrm>
            <a:off x="1188000" y="2675456"/>
            <a:ext cx="3016652"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Participating portfolios</a:t>
            </a:r>
          </a:p>
        </p:txBody>
      </p:sp>
      <p:sp>
        <p:nvSpPr>
          <p:cNvPr id="61" name="TextovéPole 60"/>
          <p:cNvSpPr txBox="1"/>
          <p:nvPr/>
        </p:nvSpPr>
        <p:spPr>
          <a:xfrm>
            <a:off x="1188000" y="3482912"/>
            <a:ext cx="3600024"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Expiration values of portfolio A</a:t>
            </a:r>
          </a:p>
        </p:txBody>
      </p:sp>
      <mc:AlternateContent xmlns:mc="http://schemas.openxmlformats.org/markup-compatibility/2006" xmlns:a14="http://schemas.microsoft.com/office/drawing/2010/main">
        <mc:Choice Requires="a14">
          <p:sp>
            <p:nvSpPr>
              <p:cNvPr id="62" name="TextovéPole 61">
                <a:extLst>
                  <a:ext uri="{FF2B5EF4-FFF2-40B4-BE49-F238E27FC236}">
                    <a16:creationId xmlns:a16="http://schemas.microsoft.com/office/drawing/2014/main" id="{05FC8A4A-3761-4383-881C-9096ADBF4AD7}"/>
                  </a:ext>
                </a:extLst>
              </p:cNvPr>
              <p:cNvSpPr txBox="1"/>
              <p:nvPr/>
            </p:nvSpPr>
            <p:spPr>
              <a:xfrm>
                <a:off x="1512000" y="3769700"/>
                <a:ext cx="7379353" cy="584775"/>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14:m>
                  <m:oMath xmlns:m="http://schemas.openxmlformats.org/officeDocument/2006/math">
                    <m:sSub>
                      <m:sSubPr>
                        <m:ctrlPr>
                          <a:rPr lang="en-GB" sz="160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𝑆</m:t>
                        </m:r>
                      </m:e>
                      <m:sub>
                        <m:r>
                          <a:rPr lang="en-GB" sz="1600" b="0" i="1" smtClean="0">
                            <a:latin typeface="Cambria Math" panose="02040503050406030204" pitchFamily="18" charset="0"/>
                            <a:ea typeface="Cambria Math" panose="02040503050406030204" pitchFamily="18" charset="0"/>
                          </a:rPr>
                          <m:t>𝑇</m:t>
                        </m:r>
                      </m:sub>
                    </m:sSub>
                    <m:r>
                      <a:rPr lang="en-GB" sz="1600" b="0" i="1" smtClean="0">
                        <a:latin typeface="Cambria Math" panose="02040503050406030204" pitchFamily="18" charset="0"/>
                        <a:ea typeface="Cambria Math" panose="02040503050406030204" pitchFamily="18" charset="0"/>
                      </a:rPr>
                      <m:t>&gt;</m:t>
                    </m:r>
                    <m:r>
                      <a:rPr lang="en-GB" sz="1600" b="0" i="1" smtClean="0">
                        <a:latin typeface="Cambria Math" panose="02040503050406030204" pitchFamily="18" charset="0"/>
                        <a:ea typeface="Cambria Math" panose="02040503050406030204" pitchFamily="18" charset="0"/>
                      </a:rPr>
                      <m:t>𝑋</m:t>
                    </m:r>
                    <m:r>
                      <a:rPr lang="en-GB" sz="1600" b="0" i="1" smtClean="0">
                        <a:latin typeface="Cambria Math" panose="02040503050406030204" pitchFamily="18" charset="0"/>
                        <a:ea typeface="Cambria Math" panose="02040503050406030204" pitchFamily="18" charset="0"/>
                      </a:rPr>
                      <m:t>⇨</m:t>
                    </m:r>
                    <m:sSub>
                      <m:sSubPr>
                        <m:ctrlPr>
                          <a:rPr lang="en-GB" sz="1600" b="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𝑉</m:t>
                        </m:r>
                      </m:e>
                      <m:sub>
                        <m:r>
                          <a:rPr lang="en-GB" sz="1600" b="0" i="1" smtClean="0">
                            <a:latin typeface="Cambria Math" panose="02040503050406030204" pitchFamily="18" charset="0"/>
                            <a:ea typeface="Cambria Math" panose="02040503050406030204" pitchFamily="18" charset="0"/>
                          </a:rPr>
                          <m:t>𝐴</m:t>
                        </m:r>
                      </m:sub>
                    </m:sSub>
                    <m:r>
                      <a:rPr lang="en-GB" sz="1600" b="0" i="1" smtClean="0">
                        <a:latin typeface="Cambria Math" panose="02040503050406030204" pitchFamily="18" charset="0"/>
                        <a:ea typeface="Cambria Math" panose="02040503050406030204" pitchFamily="18" charset="0"/>
                      </a:rPr>
                      <m:t>=</m:t>
                    </m:r>
                    <m:sSub>
                      <m:sSubPr>
                        <m:ctrlPr>
                          <a:rPr lang="en-GB" sz="1600" b="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𝑆</m:t>
                        </m:r>
                      </m:e>
                      <m:sub>
                        <m:r>
                          <a:rPr lang="en-GB" sz="1600" b="0" i="1" smtClean="0">
                            <a:latin typeface="Cambria Math" panose="02040503050406030204" pitchFamily="18" charset="0"/>
                            <a:ea typeface="Cambria Math" panose="02040503050406030204" pitchFamily="18" charset="0"/>
                          </a:rPr>
                          <m:t>𝑇</m:t>
                        </m:r>
                      </m:sub>
                    </m:sSub>
                  </m:oMath>
                </a14:m>
                <a:r>
                  <a:rPr lang="en-GB" sz="1600" dirty="0">
                    <a:latin typeface="Cambria Math" panose="02040503050406030204" pitchFamily="18" charset="0"/>
                    <a:ea typeface="Cambria Math" panose="02040503050406030204" pitchFamily="18" charset="0"/>
                  </a:rPr>
                  <a:t> (the cash accrues its value to an amount of </a:t>
                </a:r>
                <a14:m>
                  <m:oMath xmlns:m="http://schemas.openxmlformats.org/officeDocument/2006/math">
                    <m:r>
                      <a:rPr lang="en-GB" sz="1600" b="0" i="1" smtClean="0">
                        <a:latin typeface="Cambria Math" panose="02040503050406030204" pitchFamily="18" charset="0"/>
                        <a:ea typeface="Cambria Math" panose="02040503050406030204" pitchFamily="18" charset="0"/>
                      </a:rPr>
                      <m:t>𝑋</m:t>
                    </m:r>
                  </m:oMath>
                </a14:m>
                <a:r>
                  <a:rPr lang="en-GB" sz="1600" dirty="0">
                    <a:latin typeface="Cambria Math" panose="02040503050406030204" pitchFamily="18" charset="0"/>
                    <a:ea typeface="Cambria Math" panose="02040503050406030204" pitchFamily="18" charset="0"/>
                  </a:rPr>
                  <a:t> and is used for buying the asset at the call’s exercise price)</a:t>
                </a:r>
              </a:p>
            </p:txBody>
          </p:sp>
        </mc:Choice>
        <mc:Fallback xmlns="">
          <p:sp>
            <p:nvSpPr>
              <p:cNvPr id="62" name="TextovéPole 61">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512000" y="3769700"/>
                <a:ext cx="7379353" cy="584775"/>
              </a:xfrm>
              <a:prstGeom prst="rect">
                <a:avLst/>
              </a:prstGeom>
              <a:blipFill>
                <a:blip r:embed="rId20"/>
                <a:stretch>
                  <a:fillRect l="-330" t="-4167" b="-11458"/>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ovéPole 63">
                <a:extLst>
                  <a:ext uri="{FF2B5EF4-FFF2-40B4-BE49-F238E27FC236}">
                    <a16:creationId xmlns:a16="http://schemas.microsoft.com/office/drawing/2014/main" id="{05FC8A4A-3761-4383-881C-9096ADBF4AD7}"/>
                  </a:ext>
                </a:extLst>
              </p:cNvPr>
              <p:cNvSpPr txBox="1"/>
              <p:nvPr/>
            </p:nvSpPr>
            <p:spPr>
              <a:xfrm>
                <a:off x="1512000" y="4275177"/>
                <a:ext cx="7379353"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14:m>
                  <m:oMath xmlns:m="http://schemas.openxmlformats.org/officeDocument/2006/math">
                    <m:sSub>
                      <m:sSubPr>
                        <m:ctrlPr>
                          <a:rPr lang="en-GB" sz="160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𝑆</m:t>
                        </m:r>
                      </m:e>
                      <m:sub>
                        <m:r>
                          <a:rPr lang="en-GB" sz="1600" b="0" i="1" smtClean="0">
                            <a:latin typeface="Cambria Math" panose="02040503050406030204" pitchFamily="18" charset="0"/>
                            <a:ea typeface="Cambria Math" panose="02040503050406030204" pitchFamily="18" charset="0"/>
                          </a:rPr>
                          <m:t>𝑇</m:t>
                        </m:r>
                      </m:sub>
                    </m:sSub>
                    <m:r>
                      <a:rPr lang="en-GB" sz="1600" b="0" i="1" smtClean="0">
                        <a:latin typeface="Cambria Math" panose="02040503050406030204" pitchFamily="18" charset="0"/>
                        <a:ea typeface="Cambria Math" panose="02040503050406030204" pitchFamily="18" charset="0"/>
                      </a:rPr>
                      <m:t>&lt;</m:t>
                    </m:r>
                    <m:r>
                      <a:rPr lang="en-GB" sz="1600" b="0" i="1" smtClean="0">
                        <a:latin typeface="Cambria Math" panose="02040503050406030204" pitchFamily="18" charset="0"/>
                        <a:ea typeface="Cambria Math" panose="02040503050406030204" pitchFamily="18" charset="0"/>
                      </a:rPr>
                      <m:t>𝑋</m:t>
                    </m:r>
                    <m:r>
                      <a:rPr lang="en-GB" sz="1600" b="0" i="1" smtClean="0">
                        <a:latin typeface="Cambria Math" panose="02040503050406030204" pitchFamily="18" charset="0"/>
                        <a:ea typeface="Cambria Math" panose="02040503050406030204" pitchFamily="18" charset="0"/>
                      </a:rPr>
                      <m:t>⇨</m:t>
                    </m:r>
                    <m:sSub>
                      <m:sSubPr>
                        <m:ctrlPr>
                          <a:rPr lang="en-GB" sz="1600" b="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𝑉</m:t>
                        </m:r>
                      </m:e>
                      <m:sub>
                        <m:r>
                          <a:rPr lang="en-GB" sz="1600" b="0" i="1" smtClean="0">
                            <a:latin typeface="Cambria Math" panose="02040503050406030204" pitchFamily="18" charset="0"/>
                            <a:ea typeface="Cambria Math" panose="02040503050406030204" pitchFamily="18" charset="0"/>
                          </a:rPr>
                          <m:t>𝐴</m:t>
                        </m:r>
                      </m:sub>
                    </m:sSub>
                    <m: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𝑋</m:t>
                    </m:r>
                  </m:oMath>
                </a14:m>
                <a:r>
                  <a:rPr lang="en-GB" sz="1600" dirty="0">
                    <a:latin typeface="Cambria Math" panose="02040503050406030204" pitchFamily="18" charset="0"/>
                    <a:ea typeface="Cambria Math" panose="02040503050406030204" pitchFamily="18" charset="0"/>
                  </a:rPr>
                  <a:t> (the cash accrues to an amount of </a:t>
                </a:r>
                <a14:m>
                  <m:oMath xmlns:m="http://schemas.openxmlformats.org/officeDocument/2006/math">
                    <m:r>
                      <a:rPr lang="en-GB" sz="1600" b="0" i="1" smtClean="0">
                        <a:latin typeface="Cambria Math" panose="02040503050406030204" pitchFamily="18" charset="0"/>
                        <a:ea typeface="Cambria Math" panose="02040503050406030204" pitchFamily="18" charset="0"/>
                      </a:rPr>
                      <m:t>𝑋</m:t>
                    </m:r>
                  </m:oMath>
                </a14:m>
                <a:r>
                  <a:rPr lang="en-GB" sz="1600" dirty="0">
                    <a:latin typeface="Cambria Math" panose="02040503050406030204" pitchFamily="18" charset="0"/>
                    <a:ea typeface="Cambria Math" panose="02040503050406030204" pitchFamily="18" charset="0"/>
                  </a:rPr>
                  <a:t> but the call is worthless)</a:t>
                </a:r>
              </a:p>
            </p:txBody>
          </p:sp>
        </mc:Choice>
        <mc:Fallback xmlns="">
          <p:sp>
            <p:nvSpPr>
              <p:cNvPr id="64" name="TextovéPole 63">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512000" y="4275177"/>
                <a:ext cx="7379353" cy="338554"/>
              </a:xfrm>
              <a:prstGeom prst="rect">
                <a:avLst/>
              </a:prstGeom>
              <a:blipFill>
                <a:blip r:embed="rId21"/>
                <a:stretch>
                  <a:fillRect l="-330" t="-7143" b="-19643"/>
                </a:stretch>
              </a:blipFill>
              <a:ln>
                <a:noFill/>
              </a:ln>
            </p:spPr>
            <p:txBody>
              <a:bodyPr/>
              <a:lstStyle/>
              <a:p>
                <a:r>
                  <a:rPr lang="en-GB">
                    <a:noFill/>
                  </a:rPr>
                  <a:t> </a:t>
                </a:r>
              </a:p>
            </p:txBody>
          </p:sp>
        </mc:Fallback>
      </mc:AlternateContent>
      <p:sp>
        <p:nvSpPr>
          <p:cNvPr id="65" name="TextovéPole 64"/>
          <p:cNvSpPr txBox="1"/>
          <p:nvPr/>
        </p:nvSpPr>
        <p:spPr>
          <a:xfrm>
            <a:off x="1188000" y="4570177"/>
            <a:ext cx="3672032"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Expiration values of portfolio B</a:t>
            </a:r>
          </a:p>
        </p:txBody>
      </p:sp>
      <mc:AlternateContent xmlns:mc="http://schemas.openxmlformats.org/markup-compatibility/2006" xmlns:a14="http://schemas.microsoft.com/office/drawing/2010/main">
        <mc:Choice Requires="a14">
          <p:sp>
            <p:nvSpPr>
              <p:cNvPr id="66" name="TextovéPole 65">
                <a:extLst>
                  <a:ext uri="{FF2B5EF4-FFF2-40B4-BE49-F238E27FC236}">
                    <a16:creationId xmlns:a16="http://schemas.microsoft.com/office/drawing/2014/main" id="{05FC8A4A-3761-4383-881C-9096ADBF4AD7}"/>
                  </a:ext>
                </a:extLst>
              </p:cNvPr>
              <p:cNvSpPr txBox="1"/>
              <p:nvPr/>
            </p:nvSpPr>
            <p:spPr>
              <a:xfrm>
                <a:off x="1512000" y="4856965"/>
                <a:ext cx="6109720"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14:m>
                  <m:oMath xmlns:m="http://schemas.openxmlformats.org/officeDocument/2006/math">
                    <m:sSub>
                      <m:sSubPr>
                        <m:ctrlPr>
                          <a:rPr lang="en-GB" sz="160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𝑆</m:t>
                        </m:r>
                      </m:e>
                      <m:sub>
                        <m:r>
                          <a:rPr lang="en-GB" sz="1600" b="0" i="1" smtClean="0">
                            <a:latin typeface="Cambria Math" panose="02040503050406030204" pitchFamily="18" charset="0"/>
                            <a:ea typeface="Cambria Math" panose="02040503050406030204" pitchFamily="18" charset="0"/>
                          </a:rPr>
                          <m:t>𝑇</m:t>
                        </m:r>
                      </m:sub>
                    </m:sSub>
                    <m:r>
                      <a:rPr lang="en-GB" sz="1600" b="0" i="1" smtClean="0">
                        <a:latin typeface="Cambria Math" panose="02040503050406030204" pitchFamily="18" charset="0"/>
                        <a:ea typeface="Cambria Math" panose="02040503050406030204" pitchFamily="18" charset="0"/>
                      </a:rPr>
                      <m:t>&gt;</m:t>
                    </m:r>
                    <m:r>
                      <a:rPr lang="en-GB" sz="1600" b="0" i="1" smtClean="0">
                        <a:latin typeface="Cambria Math" panose="02040503050406030204" pitchFamily="18" charset="0"/>
                        <a:ea typeface="Cambria Math" panose="02040503050406030204" pitchFamily="18" charset="0"/>
                      </a:rPr>
                      <m:t>𝑋</m:t>
                    </m:r>
                    <m:r>
                      <a:rPr lang="en-GB" sz="1600" b="0" i="1" smtClean="0">
                        <a:latin typeface="Cambria Math" panose="02040503050406030204" pitchFamily="18" charset="0"/>
                        <a:ea typeface="Cambria Math" panose="02040503050406030204" pitchFamily="18" charset="0"/>
                      </a:rPr>
                      <m:t>⇨</m:t>
                    </m:r>
                    <m:sSub>
                      <m:sSubPr>
                        <m:ctrlPr>
                          <a:rPr lang="en-GB" sz="1600" b="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𝑉</m:t>
                        </m:r>
                      </m:e>
                      <m:sub>
                        <m:r>
                          <a:rPr lang="en-GB" sz="1600" b="0" i="1" smtClean="0">
                            <a:latin typeface="Cambria Math" panose="02040503050406030204" pitchFamily="18" charset="0"/>
                            <a:ea typeface="Cambria Math" panose="02040503050406030204" pitchFamily="18" charset="0"/>
                          </a:rPr>
                          <m:t>𝐵</m:t>
                        </m:r>
                      </m:sub>
                    </m:sSub>
                    <m:r>
                      <a:rPr lang="en-GB" sz="1600" b="0" i="1" smtClean="0">
                        <a:latin typeface="Cambria Math" panose="02040503050406030204" pitchFamily="18" charset="0"/>
                        <a:ea typeface="Cambria Math" panose="02040503050406030204" pitchFamily="18" charset="0"/>
                      </a:rPr>
                      <m:t>=</m:t>
                    </m:r>
                    <m:sSub>
                      <m:sSubPr>
                        <m:ctrlPr>
                          <a:rPr lang="en-GB" sz="1600" b="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𝑆</m:t>
                        </m:r>
                      </m:e>
                      <m:sub>
                        <m:r>
                          <a:rPr lang="en-GB" sz="1600" b="0" i="1" smtClean="0">
                            <a:latin typeface="Cambria Math" panose="02040503050406030204" pitchFamily="18" charset="0"/>
                            <a:ea typeface="Cambria Math" panose="02040503050406030204" pitchFamily="18" charset="0"/>
                          </a:rPr>
                          <m:t>𝑇</m:t>
                        </m:r>
                      </m:sub>
                    </m:sSub>
                  </m:oMath>
                </a14:m>
                <a:r>
                  <a:rPr lang="en-GB" sz="1600" dirty="0">
                    <a:latin typeface="Cambria Math" panose="02040503050406030204" pitchFamily="18" charset="0"/>
                    <a:ea typeface="Cambria Math" panose="02040503050406030204" pitchFamily="18" charset="0"/>
                  </a:rPr>
                  <a:t> (the put is worthless and the asset is retained)</a:t>
                </a:r>
              </a:p>
            </p:txBody>
          </p:sp>
        </mc:Choice>
        <mc:Fallback xmlns="">
          <p:sp>
            <p:nvSpPr>
              <p:cNvPr id="66" name="TextovéPole 65">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512000" y="4856965"/>
                <a:ext cx="6109720" cy="338554"/>
              </a:xfrm>
              <a:prstGeom prst="rect">
                <a:avLst/>
              </a:prstGeom>
              <a:blipFill>
                <a:blip r:embed="rId22"/>
                <a:stretch>
                  <a:fillRect l="-399" t="-7273" b="-21818"/>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TextovéPole 66">
                <a:extLst>
                  <a:ext uri="{FF2B5EF4-FFF2-40B4-BE49-F238E27FC236}">
                    <a16:creationId xmlns:a16="http://schemas.microsoft.com/office/drawing/2014/main" id="{05FC8A4A-3761-4383-881C-9096ADBF4AD7}"/>
                  </a:ext>
                </a:extLst>
              </p:cNvPr>
              <p:cNvSpPr txBox="1"/>
              <p:nvPr/>
            </p:nvSpPr>
            <p:spPr>
              <a:xfrm>
                <a:off x="1512000" y="5130168"/>
                <a:ext cx="5930240"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14:m>
                  <m:oMath xmlns:m="http://schemas.openxmlformats.org/officeDocument/2006/math">
                    <m:sSub>
                      <m:sSubPr>
                        <m:ctrlPr>
                          <a:rPr lang="en-GB" sz="160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𝑆</m:t>
                        </m:r>
                      </m:e>
                      <m:sub>
                        <m:r>
                          <a:rPr lang="en-GB" sz="1600" b="0" i="1" smtClean="0">
                            <a:latin typeface="Cambria Math" panose="02040503050406030204" pitchFamily="18" charset="0"/>
                            <a:ea typeface="Cambria Math" panose="02040503050406030204" pitchFamily="18" charset="0"/>
                          </a:rPr>
                          <m:t>𝑇</m:t>
                        </m:r>
                      </m:sub>
                    </m:sSub>
                    <m:r>
                      <a:rPr lang="en-GB" sz="1600" b="0" i="1" smtClean="0">
                        <a:latin typeface="Cambria Math" panose="02040503050406030204" pitchFamily="18" charset="0"/>
                        <a:ea typeface="Cambria Math" panose="02040503050406030204" pitchFamily="18" charset="0"/>
                      </a:rPr>
                      <m:t>&lt;</m:t>
                    </m:r>
                    <m:r>
                      <a:rPr lang="en-GB" sz="1600" b="0" i="1" smtClean="0">
                        <a:latin typeface="Cambria Math" panose="02040503050406030204" pitchFamily="18" charset="0"/>
                        <a:ea typeface="Cambria Math" panose="02040503050406030204" pitchFamily="18" charset="0"/>
                      </a:rPr>
                      <m:t>𝑋</m:t>
                    </m:r>
                    <m:r>
                      <a:rPr lang="en-GB" sz="1600" b="0" i="1" smtClean="0">
                        <a:latin typeface="Cambria Math" panose="02040503050406030204" pitchFamily="18" charset="0"/>
                        <a:ea typeface="Cambria Math" panose="02040503050406030204" pitchFamily="18" charset="0"/>
                      </a:rPr>
                      <m:t>⇨</m:t>
                    </m:r>
                    <m:sSub>
                      <m:sSubPr>
                        <m:ctrlPr>
                          <a:rPr lang="en-GB" sz="1600" b="0" i="1" smtClean="0">
                            <a:latin typeface="Cambria Math" panose="02040503050406030204" pitchFamily="18" charset="0"/>
                            <a:ea typeface="Cambria Math" panose="02040503050406030204" pitchFamily="18" charset="0"/>
                          </a:rPr>
                        </m:ctrlPr>
                      </m:sSubPr>
                      <m:e>
                        <m:r>
                          <a:rPr lang="en-GB" sz="1600" b="0" i="1" smtClean="0">
                            <a:latin typeface="Cambria Math" panose="02040503050406030204" pitchFamily="18" charset="0"/>
                            <a:ea typeface="Cambria Math" panose="02040503050406030204" pitchFamily="18" charset="0"/>
                          </a:rPr>
                          <m:t>𝑉</m:t>
                        </m:r>
                      </m:e>
                      <m:sub>
                        <m:r>
                          <a:rPr lang="en-GB" sz="1600" b="0" i="1" smtClean="0">
                            <a:latin typeface="Cambria Math" panose="02040503050406030204" pitchFamily="18" charset="0"/>
                            <a:ea typeface="Cambria Math" panose="02040503050406030204" pitchFamily="18" charset="0"/>
                          </a:rPr>
                          <m:t>𝐵</m:t>
                        </m:r>
                      </m:sub>
                    </m:sSub>
                    <m: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𝑋</m:t>
                    </m:r>
                  </m:oMath>
                </a14:m>
                <a:r>
                  <a:rPr lang="en-GB" sz="1600" dirty="0">
                    <a:latin typeface="Cambria Math" panose="02040503050406030204" pitchFamily="18" charset="0"/>
                    <a:ea typeface="Cambria Math" panose="02040503050406030204" pitchFamily="18" charset="0"/>
                  </a:rPr>
                  <a:t> (the asset is sold at the put’s exercise price</a:t>
                </a:r>
                <a:r>
                  <a:rPr lang="cs-CZ" sz="1600" dirty="0">
                    <a:latin typeface="Cambria Math" panose="02040503050406030204" pitchFamily="18" charset="0"/>
                    <a:ea typeface="Cambria Math" panose="02040503050406030204" pitchFamily="18" charset="0"/>
                  </a:rPr>
                  <a:t>)</a:t>
                </a:r>
                <a:endParaRPr lang="en-GB" sz="1600" dirty="0">
                  <a:latin typeface="Cambria Math" panose="02040503050406030204" pitchFamily="18" charset="0"/>
                  <a:ea typeface="Cambria Math" panose="02040503050406030204" pitchFamily="18" charset="0"/>
                </a:endParaRPr>
              </a:p>
            </p:txBody>
          </p:sp>
        </mc:Choice>
        <mc:Fallback xmlns="">
          <p:sp>
            <p:nvSpPr>
              <p:cNvPr id="67" name="TextovéPole 66">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1512000" y="5130168"/>
                <a:ext cx="5930240" cy="338554"/>
              </a:xfrm>
              <a:prstGeom prst="rect">
                <a:avLst/>
              </a:prstGeom>
              <a:blipFill>
                <a:blip r:embed="rId23"/>
                <a:stretch>
                  <a:fillRect l="-411" t="-7273" b="-21818"/>
                </a:stretch>
              </a:blipFill>
              <a:ln>
                <a:noFill/>
              </a:ln>
            </p:spPr>
            <p:txBody>
              <a:bodyPr/>
              <a:lstStyle/>
              <a:p>
                <a:r>
                  <a:rPr lang="en-GB">
                    <a:noFill/>
                  </a:rPr>
                  <a:t> </a:t>
                </a:r>
              </a:p>
            </p:txBody>
          </p:sp>
        </mc:Fallback>
      </mc:AlternateContent>
      <p:sp>
        <p:nvSpPr>
          <p:cNvPr id="68" name="TextovéPole 67"/>
          <p:cNvSpPr txBox="1"/>
          <p:nvPr/>
        </p:nvSpPr>
        <p:spPr>
          <a:xfrm>
            <a:off x="1188000" y="5414560"/>
            <a:ext cx="7804693" cy="369332"/>
          </a:xfrm>
          <a:prstGeom prst="rect">
            <a:avLst/>
          </a:prstGeom>
          <a:noFill/>
          <a:ln>
            <a:noFill/>
          </a:ln>
        </p:spPr>
        <p:txBody>
          <a:bodyPr wrap="square" rtlCol="0">
            <a:spAutoFit/>
          </a:bodyPr>
          <a:lstStyle/>
          <a:p>
            <a:pPr marL="324000" indent="-324000">
              <a:buClr>
                <a:srgbClr val="7030A0"/>
              </a:buClr>
              <a:buSzPct val="80000"/>
              <a:buFont typeface="Wingdings" panose="05000000000000000000" pitchFamily="2" charset="2"/>
              <a:buChar char="q"/>
            </a:pPr>
            <a:r>
              <a:rPr lang="en-GB" dirty="0">
                <a:latin typeface="Cambria Math" panose="02040503050406030204" pitchFamily="18" charset="0"/>
                <a:ea typeface="Cambria Math" panose="02040503050406030204" pitchFamily="18" charset="0"/>
              </a:rPr>
              <a:t>Identical future payoffs imply identical current values on efficient markets</a:t>
            </a:r>
          </a:p>
        </p:txBody>
      </p:sp>
      <mc:AlternateContent xmlns:mc="http://schemas.openxmlformats.org/markup-compatibility/2006" xmlns:a14="http://schemas.microsoft.com/office/drawing/2010/main">
        <mc:Choice Requires="a14">
          <p:sp>
            <p:nvSpPr>
              <p:cNvPr id="69" name="TextovéPole 68">
                <a:extLst>
                  <a:ext uri="{FF2B5EF4-FFF2-40B4-BE49-F238E27FC236}">
                    <a16:creationId xmlns:a16="http://schemas.microsoft.com/office/drawing/2014/main" id="{05FC8A4A-3761-4383-881C-9096ADBF4AD7}"/>
                  </a:ext>
                </a:extLst>
              </p:cNvPr>
              <p:cNvSpPr txBox="1"/>
              <p:nvPr/>
            </p:nvSpPr>
            <p:spPr>
              <a:xfrm>
                <a:off x="5148064" y="5760000"/>
                <a:ext cx="3511304" cy="338554"/>
              </a:xfrm>
              <a:prstGeom prst="rect">
                <a:avLst/>
              </a:prstGeom>
              <a:noFill/>
              <a:ln>
                <a:noFill/>
              </a:ln>
            </p:spPr>
            <p:txBody>
              <a:bodyPr wrap="square" rtlCol="0">
                <a:spAutoFit/>
              </a:bodyPr>
              <a:lstStyle/>
              <a:p>
                <a:pPr>
                  <a:buClr>
                    <a:srgbClr val="7030A0"/>
                  </a:buClr>
                  <a:buSzPct val="100000"/>
                </a:pPr>
                <a14:m>
                  <m:oMathPara xmlns:m="http://schemas.openxmlformats.org/officeDocument/2006/math">
                    <m:oMathParaPr>
                      <m:jc m:val="centerGroup"/>
                    </m:oMathParaPr>
                    <m:oMath xmlns:m="http://schemas.openxmlformats.org/officeDocument/2006/math">
                      <m:r>
                        <m:rPr>
                          <m:nor/>
                        </m:rPr>
                        <a:rPr lang="cs-CZ" sz="1600" b="0" i="0" smtClean="0">
                          <a:latin typeface="Cambria Math" panose="02040503050406030204" pitchFamily="18" charset="0"/>
                          <a:ea typeface="Cambria Math" panose="02040503050406030204" pitchFamily="18" charset="0"/>
                        </a:rPr>
                        <m:t>PV</m:t>
                      </m:r>
                      <m:d>
                        <m:dPr>
                          <m:ctrlPr>
                            <a:rPr lang="cs-CZ" sz="1600" b="0" i="1" smtClean="0">
                              <a:latin typeface="Cambria Math" panose="02040503050406030204" pitchFamily="18" charset="0"/>
                              <a:ea typeface="Cambria Math" panose="02040503050406030204" pitchFamily="18" charset="0"/>
                            </a:rPr>
                          </m:ctrlPr>
                        </m:dPr>
                        <m:e>
                          <m:r>
                            <m:rPr>
                              <m:nor/>
                            </m:rPr>
                            <a:rPr lang="cs-CZ" sz="1600" b="0" i="0" smtClean="0">
                              <a:latin typeface="Cambria Math" panose="02040503050406030204" pitchFamily="18" charset="0"/>
                              <a:ea typeface="Cambria Math" panose="02040503050406030204" pitchFamily="18" charset="0"/>
                            </a:rPr>
                            <m:t>A</m:t>
                          </m:r>
                        </m:e>
                      </m:d>
                      <m:r>
                        <a:rPr lang="cs-CZ" sz="1600" b="0" i="1" smtClean="0">
                          <a:latin typeface="Cambria Math" panose="02040503050406030204" pitchFamily="18" charset="0"/>
                          <a:ea typeface="Cambria Math" panose="02040503050406030204" pitchFamily="18" charset="0"/>
                        </a:rPr>
                        <m:t>=</m:t>
                      </m:r>
                      <m:r>
                        <a:rPr lang="cs-CZ" sz="1600" i="1" smtClean="0">
                          <a:latin typeface="Cambria Math" panose="02040503050406030204" pitchFamily="18" charset="0"/>
                          <a:ea typeface="Cambria Math" panose="02040503050406030204" pitchFamily="18" charset="0"/>
                        </a:rPr>
                        <m:t>𝐶</m:t>
                      </m:r>
                      <m:r>
                        <a:rPr lang="cs-CZ" sz="1600" b="0" i="1" smtClean="0">
                          <a:latin typeface="Cambria Math" panose="02040503050406030204" pitchFamily="18" charset="0"/>
                          <a:ea typeface="Cambria Math" panose="02040503050406030204" pitchFamily="18" charset="0"/>
                        </a:rPr>
                        <m:t>+</m:t>
                      </m:r>
                      <m:r>
                        <a:rPr lang="en-GB" sz="1600" i="1">
                          <a:latin typeface="Cambria Math" panose="02040503050406030204" pitchFamily="18" charset="0"/>
                          <a:ea typeface="Cambria Math" panose="02040503050406030204" pitchFamily="18" charset="0"/>
                        </a:rPr>
                        <m:t>𝑋</m:t>
                      </m:r>
                      <m:sSup>
                        <m:sSupPr>
                          <m:ctrlPr>
                            <a:rPr lang="en-GB" sz="1600" i="1">
                              <a:latin typeface="Cambria Math" panose="02040503050406030204" pitchFamily="18" charset="0"/>
                              <a:ea typeface="Cambria Math" panose="02040503050406030204" pitchFamily="18" charset="0"/>
                            </a:rPr>
                          </m:ctrlPr>
                        </m:sSupPr>
                        <m:e>
                          <m:r>
                            <a:rPr lang="en-GB" sz="1600" i="1">
                              <a:latin typeface="Cambria Math" panose="02040503050406030204" pitchFamily="18" charset="0"/>
                              <a:ea typeface="Cambria Math" panose="02040503050406030204" pitchFamily="18" charset="0"/>
                            </a:rPr>
                            <m:t>𝑒</m:t>
                          </m:r>
                        </m:e>
                        <m:sup>
                          <m:r>
                            <a:rPr lang="en-GB" sz="1600" i="1">
                              <a:latin typeface="Cambria Math" panose="02040503050406030204" pitchFamily="18" charset="0"/>
                              <a:ea typeface="Cambria Math" panose="02040503050406030204" pitchFamily="18" charset="0"/>
                            </a:rPr>
                            <m:t>−</m:t>
                          </m:r>
                          <m:r>
                            <a:rPr lang="en-GB" sz="1600" i="1">
                              <a:latin typeface="Cambria Math" panose="02040503050406030204" pitchFamily="18" charset="0"/>
                              <a:ea typeface="Cambria Math" panose="02040503050406030204" pitchFamily="18" charset="0"/>
                            </a:rPr>
                            <m:t>𝑟𝑇</m:t>
                          </m:r>
                        </m:sup>
                      </m:sSup>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𝑃</m:t>
                      </m:r>
                      <m:r>
                        <a:rPr lang="cs-CZ" sz="1600" b="0" i="1" smtClean="0">
                          <a:latin typeface="Cambria Math" panose="02040503050406030204" pitchFamily="18" charset="0"/>
                          <a:ea typeface="Cambria Math" panose="02040503050406030204" pitchFamily="18" charset="0"/>
                        </a:rPr>
                        <m:t>+</m:t>
                      </m:r>
                      <m:r>
                        <a:rPr lang="cs-CZ" sz="1600" b="0" i="1" smtClean="0">
                          <a:latin typeface="Cambria Math" panose="02040503050406030204" pitchFamily="18" charset="0"/>
                          <a:ea typeface="Cambria Math" panose="02040503050406030204" pitchFamily="18" charset="0"/>
                        </a:rPr>
                        <m:t>𝑆</m:t>
                      </m:r>
                      <m:r>
                        <a:rPr lang="cs-CZ" sz="1600" b="0" i="1" smtClean="0">
                          <a:latin typeface="Cambria Math" panose="02040503050406030204" pitchFamily="18" charset="0"/>
                          <a:ea typeface="Cambria Math" panose="02040503050406030204" pitchFamily="18" charset="0"/>
                        </a:rPr>
                        <m:t>=</m:t>
                      </m:r>
                      <m:r>
                        <m:rPr>
                          <m:nor/>
                        </m:rPr>
                        <a:rPr lang="cs-CZ" sz="1600" b="0" i="0" smtClean="0">
                          <a:latin typeface="Cambria Math" panose="02040503050406030204" pitchFamily="18" charset="0"/>
                          <a:ea typeface="Cambria Math" panose="02040503050406030204" pitchFamily="18" charset="0"/>
                        </a:rPr>
                        <m:t>PV</m:t>
                      </m:r>
                      <m:r>
                        <m:rPr>
                          <m:nor/>
                        </m:rPr>
                        <a:rPr lang="cs-CZ" sz="1600" b="0" i="0" smtClean="0">
                          <a:latin typeface="Cambria Math" panose="02040503050406030204" pitchFamily="18" charset="0"/>
                          <a:ea typeface="Cambria Math" panose="02040503050406030204" pitchFamily="18" charset="0"/>
                        </a:rPr>
                        <m:t>(</m:t>
                      </m:r>
                      <m:r>
                        <m:rPr>
                          <m:nor/>
                        </m:rPr>
                        <a:rPr lang="cs-CZ" sz="1600" b="0" i="0" smtClean="0">
                          <a:latin typeface="Cambria Math" panose="02040503050406030204" pitchFamily="18" charset="0"/>
                          <a:ea typeface="Cambria Math" panose="02040503050406030204" pitchFamily="18" charset="0"/>
                        </a:rPr>
                        <m:t>B</m:t>
                      </m:r>
                      <m:r>
                        <m:rPr>
                          <m:nor/>
                        </m:rPr>
                        <a:rPr lang="cs-CZ" sz="1600" b="0" i="0" smtClean="0">
                          <a:latin typeface="Cambria Math" panose="02040503050406030204" pitchFamily="18" charset="0"/>
                          <a:ea typeface="Cambria Math" panose="02040503050406030204" pitchFamily="18" charset="0"/>
                        </a:rPr>
                        <m:t>)</m:t>
                      </m:r>
                    </m:oMath>
                  </m:oMathPara>
                </a14:m>
                <a:endParaRPr lang="en-GB" sz="1600" dirty="0">
                  <a:latin typeface="Cambria Math" panose="02040503050406030204" pitchFamily="18" charset="0"/>
                  <a:ea typeface="Cambria Math" panose="02040503050406030204" pitchFamily="18" charset="0"/>
                </a:endParaRPr>
              </a:p>
            </p:txBody>
          </p:sp>
        </mc:Choice>
        <mc:Fallback xmlns="">
          <p:sp>
            <p:nvSpPr>
              <p:cNvPr id="69" name="TextovéPole 68">
                <a:extLst>
                  <a:ext uri="{FF2B5EF4-FFF2-40B4-BE49-F238E27FC236}">
                    <a16:creationId xmlns:a16="http://schemas.microsoft.com/office/drawing/2014/main" id="{05FC8A4A-3761-4383-881C-9096ADBF4AD7}"/>
                  </a:ext>
                </a:extLst>
              </p:cNvPr>
              <p:cNvSpPr txBox="1">
                <a:spLocks noRot="1" noChangeAspect="1" noMove="1" noResize="1" noEditPoints="1" noAdjustHandles="1" noChangeArrowheads="1" noChangeShapeType="1" noTextEdit="1"/>
              </p:cNvSpPr>
              <p:nvPr/>
            </p:nvSpPr>
            <p:spPr>
              <a:xfrm>
                <a:off x="5148064" y="5760000"/>
                <a:ext cx="3511304" cy="338554"/>
              </a:xfrm>
              <a:prstGeom prst="rect">
                <a:avLst/>
              </a:prstGeom>
              <a:blipFill>
                <a:blip r:embed="rId24"/>
                <a:stretch>
                  <a:fillRect b="-1272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7" name="TextovéPole 76">
                <a:extLst>
                  <a:ext uri="{FF2B5EF4-FFF2-40B4-BE49-F238E27FC236}">
                    <a16:creationId xmlns:a16="http://schemas.microsoft.com/office/drawing/2014/main" id="{37AF7495-0FE6-7B07-D8B7-CDA70FB96928}"/>
                  </a:ext>
                </a:extLst>
              </p:cNvPr>
              <p:cNvSpPr txBox="1"/>
              <p:nvPr/>
            </p:nvSpPr>
            <p:spPr>
              <a:xfrm>
                <a:off x="1512000" y="5760000"/>
                <a:ext cx="3276024" cy="338554"/>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14:m>
                  <m:oMath xmlns:m="http://schemas.openxmlformats.org/officeDocument/2006/math">
                    <m:r>
                      <m:rPr>
                        <m:nor/>
                      </m:rPr>
                      <a:rPr lang="cs-CZ" sz="1600">
                        <a:latin typeface="Cambria Math" panose="02040503050406030204" pitchFamily="18" charset="0"/>
                        <a:ea typeface="Cambria Math" panose="02040503050406030204" pitchFamily="18" charset="0"/>
                      </a:rPr>
                      <m:t>FV</m:t>
                    </m:r>
                    <m:d>
                      <m:dPr>
                        <m:ctrlPr>
                          <a:rPr lang="cs-CZ" sz="1600" i="1">
                            <a:latin typeface="Cambria Math" panose="02040503050406030204" pitchFamily="18" charset="0"/>
                            <a:ea typeface="Cambria Math" panose="02040503050406030204" pitchFamily="18" charset="0"/>
                          </a:rPr>
                        </m:ctrlPr>
                      </m:dPr>
                      <m:e>
                        <m:r>
                          <m:rPr>
                            <m:nor/>
                          </m:rPr>
                          <a:rPr lang="cs-CZ" sz="1600">
                            <a:latin typeface="Cambria Math" panose="02040503050406030204" pitchFamily="18" charset="0"/>
                            <a:ea typeface="Cambria Math" panose="02040503050406030204" pitchFamily="18" charset="0"/>
                          </a:rPr>
                          <m:t>A</m:t>
                        </m:r>
                      </m:e>
                    </m:d>
                    <m:r>
                      <m:rPr>
                        <m:nor/>
                      </m:rPr>
                      <a:rPr lang="cs-CZ" sz="1600">
                        <a:latin typeface="Cambria Math" panose="02040503050406030204" pitchFamily="18" charset="0"/>
                        <a:ea typeface="Cambria Math" panose="02040503050406030204" pitchFamily="18" charset="0"/>
                      </a:rPr>
                      <m:t> = </m:t>
                    </m:r>
                    <m:r>
                      <m:rPr>
                        <m:nor/>
                      </m:rPr>
                      <a:rPr lang="cs-CZ" sz="1600">
                        <a:latin typeface="Cambria Math" panose="02040503050406030204" pitchFamily="18" charset="0"/>
                        <a:ea typeface="Cambria Math" panose="02040503050406030204" pitchFamily="18" charset="0"/>
                      </a:rPr>
                      <m:t>FV</m:t>
                    </m:r>
                    <m:d>
                      <m:dPr>
                        <m:ctrlPr>
                          <a:rPr lang="cs-CZ" sz="1600" i="1">
                            <a:latin typeface="Cambria Math" panose="02040503050406030204" pitchFamily="18" charset="0"/>
                            <a:ea typeface="Cambria Math" panose="02040503050406030204" pitchFamily="18" charset="0"/>
                          </a:rPr>
                        </m:ctrlPr>
                      </m:dPr>
                      <m:e>
                        <m:r>
                          <m:rPr>
                            <m:nor/>
                          </m:rPr>
                          <a:rPr lang="cs-CZ" sz="1600">
                            <a:latin typeface="Cambria Math" panose="02040503050406030204" pitchFamily="18" charset="0"/>
                            <a:ea typeface="Cambria Math" panose="02040503050406030204" pitchFamily="18" charset="0"/>
                          </a:rPr>
                          <m:t>B</m:t>
                        </m:r>
                      </m:e>
                    </m:d>
                    <m:r>
                      <a:rPr lang="en-GB" sz="1600" i="1">
                        <a:latin typeface="Cambria Math" panose="02040503050406030204" pitchFamily="18" charset="0"/>
                        <a:ea typeface="Cambria Math" panose="02040503050406030204" pitchFamily="18" charset="0"/>
                      </a:rPr>
                      <m:t>⇨</m:t>
                    </m:r>
                    <m:r>
                      <m:rPr>
                        <m:nor/>
                      </m:rPr>
                      <a:rPr lang="cs-CZ" sz="1600">
                        <a:latin typeface="Cambria Math" panose="02040503050406030204" pitchFamily="18" charset="0"/>
                        <a:ea typeface="Cambria Math" panose="02040503050406030204" pitchFamily="18" charset="0"/>
                      </a:rPr>
                      <m:t>PV</m:t>
                    </m:r>
                    <m:d>
                      <m:dPr>
                        <m:ctrlPr>
                          <a:rPr lang="cs-CZ" sz="1600" i="1">
                            <a:latin typeface="Cambria Math" panose="02040503050406030204" pitchFamily="18" charset="0"/>
                            <a:ea typeface="Cambria Math" panose="02040503050406030204" pitchFamily="18" charset="0"/>
                          </a:rPr>
                        </m:ctrlPr>
                      </m:dPr>
                      <m:e>
                        <m:r>
                          <m:rPr>
                            <m:nor/>
                          </m:rPr>
                          <a:rPr lang="cs-CZ" sz="1600">
                            <a:latin typeface="Cambria Math" panose="02040503050406030204" pitchFamily="18" charset="0"/>
                            <a:ea typeface="Cambria Math" panose="02040503050406030204" pitchFamily="18" charset="0"/>
                          </a:rPr>
                          <m:t>A</m:t>
                        </m:r>
                      </m:e>
                    </m:d>
                    <m:r>
                      <a:rPr lang="cs-CZ" sz="1600">
                        <a:latin typeface="Cambria Math" panose="02040503050406030204" pitchFamily="18" charset="0"/>
                        <a:ea typeface="Cambria Math" panose="02040503050406030204" pitchFamily="18" charset="0"/>
                      </a:rPr>
                      <m:t> </m:t>
                    </m:r>
                    <m:r>
                      <m:rPr>
                        <m:nor/>
                      </m:rPr>
                      <a:rPr lang="cs-CZ" sz="1600">
                        <a:latin typeface="Cambria Math" panose="02040503050406030204" pitchFamily="18" charset="0"/>
                        <a:ea typeface="Cambria Math" panose="02040503050406030204" pitchFamily="18" charset="0"/>
                      </a:rPr>
                      <m:t>= </m:t>
                    </m:r>
                    <m:r>
                      <m:rPr>
                        <m:nor/>
                      </m:rPr>
                      <a:rPr lang="cs-CZ" sz="1600">
                        <a:latin typeface="Cambria Math" panose="02040503050406030204" pitchFamily="18" charset="0"/>
                        <a:ea typeface="Cambria Math" panose="02040503050406030204" pitchFamily="18" charset="0"/>
                      </a:rPr>
                      <m:t>PV</m:t>
                    </m:r>
                    <m:r>
                      <m:rPr>
                        <m:nor/>
                      </m:rPr>
                      <a:rPr lang="cs-CZ" sz="1600">
                        <a:latin typeface="Cambria Math" panose="02040503050406030204" pitchFamily="18" charset="0"/>
                        <a:ea typeface="Cambria Math" panose="02040503050406030204" pitchFamily="18" charset="0"/>
                      </a:rPr>
                      <m:t>(</m:t>
                    </m:r>
                    <m:r>
                      <m:rPr>
                        <m:nor/>
                      </m:rPr>
                      <a:rPr lang="cs-CZ" sz="1600">
                        <a:latin typeface="Cambria Math" panose="02040503050406030204" pitchFamily="18" charset="0"/>
                        <a:ea typeface="Cambria Math" panose="02040503050406030204" pitchFamily="18" charset="0"/>
                      </a:rPr>
                      <m:t>B</m:t>
                    </m:r>
                    <m:r>
                      <m:rPr>
                        <m:nor/>
                      </m:rPr>
                      <a:rPr lang="cs-CZ" sz="1600">
                        <a:latin typeface="Cambria Math" panose="02040503050406030204" pitchFamily="18" charset="0"/>
                        <a:ea typeface="Cambria Math" panose="02040503050406030204" pitchFamily="18" charset="0"/>
                      </a:rPr>
                      <m:t>)</m:t>
                    </m:r>
                  </m:oMath>
                </a14:m>
                <a:endParaRPr lang="en-GB" sz="1600" dirty="0">
                  <a:latin typeface="Cambria Math" panose="02040503050406030204" pitchFamily="18" charset="0"/>
                  <a:ea typeface="Cambria Math" panose="02040503050406030204" pitchFamily="18" charset="0"/>
                </a:endParaRPr>
              </a:p>
            </p:txBody>
          </p:sp>
        </mc:Choice>
        <mc:Fallback xmlns="">
          <p:sp>
            <p:nvSpPr>
              <p:cNvPr id="77" name="TextovéPole 76">
                <a:extLst>
                  <a:ext uri="{FF2B5EF4-FFF2-40B4-BE49-F238E27FC236}">
                    <a16:creationId xmlns:a16="http://schemas.microsoft.com/office/drawing/2014/main" id="{37AF7495-0FE6-7B07-D8B7-CDA70FB96928}"/>
                  </a:ext>
                </a:extLst>
              </p:cNvPr>
              <p:cNvSpPr txBox="1">
                <a:spLocks noRot="1" noChangeAspect="1" noMove="1" noResize="1" noEditPoints="1" noAdjustHandles="1" noChangeArrowheads="1" noChangeShapeType="1" noTextEdit="1"/>
              </p:cNvSpPr>
              <p:nvPr/>
            </p:nvSpPr>
            <p:spPr>
              <a:xfrm>
                <a:off x="1512000" y="5760000"/>
                <a:ext cx="3276024" cy="338554"/>
              </a:xfrm>
              <a:prstGeom prst="rect">
                <a:avLst/>
              </a:prstGeom>
              <a:blipFill>
                <a:blip r:embed="rId25"/>
                <a:stretch>
                  <a:fillRect l="-745" b="-18182"/>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3550888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zápatí 1"/>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p:cNvSpPr>
            <a:spLocks noGrp="1"/>
          </p:cNvSpPr>
          <p:nvPr>
            <p:ph type="sldNum" sz="quarter" idx="12"/>
          </p:nvPr>
        </p:nvSpPr>
        <p:spPr>
          <a:xfrm>
            <a:off x="7164000" y="6336000"/>
            <a:ext cx="1800000" cy="360000"/>
          </a:xfrm>
        </p:spPr>
        <p:txBody>
          <a:bodyPr/>
          <a:lstStyle/>
          <a:p>
            <a:pPr algn="r"/>
            <a:fld id="{DFE5482F-2F05-49C5-9E15-73F945A41231}" type="slidenum">
              <a:rPr lang="cs-CZ" smtClean="0"/>
              <a:pPr algn="r"/>
              <a:t>14</a:t>
            </a:fld>
            <a:endParaRPr lang="cs-CZ" dirty="0"/>
          </a:p>
        </p:txBody>
      </p:sp>
      <p:sp>
        <p:nvSpPr>
          <p:cNvPr id="4" name="Nadpis 3"/>
          <p:cNvSpPr>
            <a:spLocks noGrp="1"/>
          </p:cNvSpPr>
          <p:nvPr>
            <p:ph type="title"/>
          </p:nvPr>
        </p:nvSpPr>
        <p:spPr>
          <a:xfrm>
            <a:off x="143999" y="144000"/>
            <a:ext cx="4716033" cy="648072"/>
          </a:xfrm>
        </p:spPr>
        <p:txBody>
          <a:bodyPr/>
          <a:lstStyle/>
          <a:p>
            <a:r>
              <a:rPr lang="en-GB" dirty="0">
                <a:solidFill>
                  <a:srgbClr val="000000"/>
                </a:solidFill>
              </a:rPr>
              <a:t>Put-call parity </a:t>
            </a:r>
            <a:r>
              <a:rPr lang="en-GB" dirty="0">
                <a:latin typeface="Cambria Math" panose="02040503050406030204" pitchFamily="18" charset="0"/>
                <a:ea typeface="Cambria Math" panose="02040503050406030204" pitchFamily="18" charset="0"/>
              </a:rPr>
              <a:t>– </a:t>
            </a:r>
            <a:r>
              <a:rPr lang="en-GB" dirty="0">
                <a:solidFill>
                  <a:srgbClr val="000000"/>
                </a:solidFill>
              </a:rPr>
              <a:t>examples</a:t>
            </a:r>
          </a:p>
        </p:txBody>
      </p:sp>
      <p:sp>
        <p:nvSpPr>
          <p:cNvPr id="29" name="TextovéPole 28"/>
          <p:cNvSpPr txBox="1"/>
          <p:nvPr/>
        </p:nvSpPr>
        <p:spPr>
          <a:xfrm>
            <a:off x="864000" y="864000"/>
            <a:ext cx="2339848"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Initial revenue</a:t>
            </a:r>
          </a:p>
        </p:txBody>
      </p:sp>
      <mc:AlternateContent xmlns:mc="http://schemas.openxmlformats.org/markup-compatibility/2006" xmlns:a14="http://schemas.microsoft.com/office/drawing/2010/main">
        <mc:Choice Requires="a14">
          <p:graphicFrame>
            <p:nvGraphicFramePr>
              <p:cNvPr id="6" name="Tabulka 5">
                <a:extLst>
                  <a:ext uri="{FF2B5EF4-FFF2-40B4-BE49-F238E27FC236}">
                    <a16:creationId xmlns:a16="http://schemas.microsoft.com/office/drawing/2014/main" id="{981165FB-1EA0-6241-424F-25B0CAA4D126}"/>
                  </a:ext>
                </a:extLst>
              </p:cNvPr>
              <p:cNvGraphicFramePr>
                <a:graphicFrameLocks noGrp="1"/>
              </p:cNvGraphicFramePr>
              <p:nvPr>
                <p:extLst>
                  <p:ext uri="{D42A27DB-BD31-4B8C-83A1-F6EECF244321}">
                    <p14:modId xmlns:p14="http://schemas.microsoft.com/office/powerpoint/2010/main" val="1492563191"/>
                  </p:ext>
                </p:extLst>
              </p:nvPr>
            </p:nvGraphicFramePr>
            <p:xfrm>
              <a:off x="1296000" y="1220312"/>
              <a:ext cx="6983527" cy="1548000"/>
            </p:xfrm>
            <a:graphic>
              <a:graphicData uri="http://schemas.openxmlformats.org/drawingml/2006/table">
                <a:tbl>
                  <a:tblPr firstRow="1" bandRow="1">
                    <a:tableStyleId>{5C22544A-7EE6-4342-B048-85BDC9FD1C3A}</a:tableStyleId>
                  </a:tblPr>
                  <a:tblGrid>
                    <a:gridCol w="1539957">
                      <a:extLst>
                        <a:ext uri="{9D8B030D-6E8A-4147-A177-3AD203B41FA5}">
                          <a16:colId xmlns:a16="http://schemas.microsoft.com/office/drawing/2014/main" val="3036616937"/>
                        </a:ext>
                      </a:extLst>
                    </a:gridCol>
                    <a:gridCol w="2220404">
                      <a:extLst>
                        <a:ext uri="{9D8B030D-6E8A-4147-A177-3AD203B41FA5}">
                          <a16:colId xmlns:a16="http://schemas.microsoft.com/office/drawing/2014/main" val="2208154657"/>
                        </a:ext>
                      </a:extLst>
                    </a:gridCol>
                    <a:gridCol w="1611583">
                      <a:extLst>
                        <a:ext uri="{9D8B030D-6E8A-4147-A177-3AD203B41FA5}">
                          <a16:colId xmlns:a16="http://schemas.microsoft.com/office/drawing/2014/main" val="3026091146"/>
                        </a:ext>
                      </a:extLst>
                    </a:gridCol>
                    <a:gridCol w="1611583">
                      <a:extLst>
                        <a:ext uri="{9D8B030D-6E8A-4147-A177-3AD203B41FA5}">
                          <a16:colId xmlns:a16="http://schemas.microsoft.com/office/drawing/2014/main" val="1590493125"/>
                        </a:ext>
                      </a:extLst>
                    </a:gridCol>
                  </a:tblGrid>
                  <a:tr h="288000">
                    <a:tc gridSpan="4">
                      <a:txBody>
                        <a:bodyPr/>
                        <a:lstStyle/>
                        <a:p>
                          <a:pPr/>
                          <a14:m>
                            <m:oMathPara xmlns:m="http://schemas.openxmlformats.org/officeDocument/2006/math">
                              <m:oMathParaPr>
                                <m:jc m:val="centerGroup"/>
                              </m:oMathParaPr>
                              <m:oMath xmlns:m="http://schemas.openxmlformats.org/officeDocument/2006/math">
                                <m:r>
                                  <a:rPr lang="en-GB" sz="1000" b="1" i="1" noProof="0" smtClean="0">
                                    <a:latin typeface="Cambria Math" panose="02040503050406030204" pitchFamily="18" charset="0"/>
                                  </a:rPr>
                                  <m:t>𝑺</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𝟑𝟏</m:t>
                                </m:r>
                                <m:r>
                                  <a:rPr lang="en-GB" sz="1000" b="1" i="1" noProof="0" smtClean="0">
                                    <a:latin typeface="Cambria Math" panose="02040503050406030204" pitchFamily="18" charset="0"/>
                                  </a:rPr>
                                  <m:t>, </m:t>
                                </m:r>
                                <m:r>
                                  <a:rPr lang="en-GB" sz="1000" b="1" i="1" noProof="0" smtClean="0">
                                    <a:latin typeface="Cambria Math" panose="02040503050406030204" pitchFamily="18" charset="0"/>
                                  </a:rPr>
                                  <m:t>𝑿</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𝟑𝟎</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𝑪</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𝟑</m:t>
                                </m:r>
                                <m:r>
                                  <a:rPr lang="en-GB" sz="1000" b="1" i="1" noProof="0" smtClean="0">
                                    <a:latin typeface="Cambria Math" panose="02040503050406030204" pitchFamily="18" charset="0"/>
                                  </a:rPr>
                                  <m:t>, </m:t>
                                </m:r>
                                <m:r>
                                  <a:rPr lang="en-GB" sz="1000" b="1" i="1" noProof="0" smtClean="0">
                                    <a:latin typeface="Cambria Math" panose="02040503050406030204" pitchFamily="18" charset="0"/>
                                  </a:rPr>
                                  <m:t>𝑷</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𝟐</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𝟑</m:t>
                                </m:r>
                                <m:r>
                                  <a:rPr lang="en-GB" sz="1000" b="1" i="1" noProof="0" smtClean="0">
                                    <a:latin typeface="Cambria Math" panose="02040503050406030204" pitchFamily="18" charset="0"/>
                                  </a:rPr>
                                  <m:t>, </m:t>
                                </m:r>
                                <m:r>
                                  <a:rPr lang="en-GB" sz="1000" b="1" i="1" noProof="0" smtClean="0">
                                    <a:latin typeface="Cambria Math" panose="02040503050406030204" pitchFamily="18" charset="0"/>
                                  </a:rPr>
                                  <m:t>𝑻</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𝟑</m:t>
                                </m:r>
                                <m:r>
                                  <a:rPr lang="en-GB" sz="1000" b="1" i="1" noProof="0" smtClean="0">
                                    <a:latin typeface="Cambria Math" panose="02040503050406030204" pitchFamily="18" charset="0"/>
                                  </a:rPr>
                                  <m:t>, </m:t>
                                </m:r>
                                <m:r>
                                  <a:rPr lang="en-GB" sz="1000" b="1" i="1" noProof="0" smtClean="0">
                                    <a:latin typeface="Cambria Math" panose="02040503050406030204" pitchFamily="18" charset="0"/>
                                  </a:rPr>
                                  <m:t>𝒓</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𝟏𝟎</m:t>
                                </m:r>
                                <m:r>
                                  <a:rPr lang="en-GB" sz="1000" b="1" i="1" noProof="0" smtClean="0">
                                    <a:latin typeface="Cambria Math" panose="02040503050406030204" pitchFamily="18" charset="0"/>
                                  </a:rPr>
                                  <m:t>%</m:t>
                                </m:r>
                              </m:oMath>
                            </m:oMathPara>
                          </a14:m>
                          <a:endParaRPr lang="en-GB" sz="1000" noProof="0" dirty="0"/>
                        </a:p>
                      </a:txBody>
                      <a:tcPr anchor="ctr"/>
                    </a:tc>
                    <a:tc hMerge="1">
                      <a:txBody>
                        <a:bodyPr/>
                        <a:lstStyle/>
                        <a:p>
                          <a:endParaRPr lang="en-GB" dirty="0"/>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3916840126"/>
                      </a:ext>
                    </a:extLst>
                  </a:tr>
                  <a:tr h="252000">
                    <a:tc>
                      <a:txBody>
                        <a:bodyPr/>
                        <a:lstStyle/>
                        <a:p>
                          <a:pPr algn="ctr"/>
                          <a:r>
                            <a:rPr lang="en-GB" sz="800" b="1" kern="1200" noProof="0" dirty="0">
                              <a:solidFill>
                                <a:schemeClr val="dk1"/>
                              </a:solidFill>
                              <a:latin typeface="Cambria Math" panose="02040503050406030204" pitchFamily="18" charset="0"/>
                              <a:ea typeface="Cambria Math" panose="02040503050406030204" pitchFamily="18" charset="0"/>
                              <a:cs typeface="+mn-cs"/>
                            </a:rPr>
                            <a:t>Current portfolio value</a:t>
                          </a:r>
                        </a:p>
                      </a:txBody>
                      <a:tcPr marT="0" marB="0" anchor="ctr"/>
                    </a:tc>
                    <a:tc>
                      <a:txBody>
                        <a:bodyPr/>
                        <a:lstStyle/>
                        <a:p>
                          <a:pPr algn="ctr"/>
                          <a:r>
                            <a:rPr lang="en-GB" sz="800" b="1" noProof="0" dirty="0">
                              <a:latin typeface="Cambria Math" panose="02040503050406030204" pitchFamily="18" charset="0"/>
                              <a:ea typeface="Cambria Math" panose="02040503050406030204" pitchFamily="18" charset="0"/>
                            </a:rPr>
                            <a:t>Arbitrage strategy</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n-GB" sz="800" b="1" i="1" noProof="0" smtClean="0">
                                        <a:latin typeface="Cambria Math" panose="02040503050406030204" pitchFamily="18" charset="0"/>
                                      </a:rPr>
                                    </m:ctrlPr>
                                  </m:sSubPr>
                                  <m:e>
                                    <m:r>
                                      <a:rPr lang="en-GB" sz="800" b="1" i="1" noProof="0" smtClean="0">
                                        <a:latin typeface="Cambria Math" panose="02040503050406030204" pitchFamily="18" charset="0"/>
                                      </a:rPr>
                                      <m:t>𝑺</m:t>
                                    </m:r>
                                  </m:e>
                                  <m:sub>
                                    <m:r>
                                      <a:rPr lang="en-GB" sz="800" b="1" i="1" noProof="0" smtClean="0">
                                        <a:latin typeface="Cambria Math" panose="02040503050406030204" pitchFamily="18" charset="0"/>
                                      </a:rPr>
                                      <m:t>𝑻</m:t>
                                    </m:r>
                                  </m:sub>
                                </m:sSub>
                                <m:r>
                                  <a:rPr lang="en-GB" sz="800" b="1" i="1" noProof="0" smtClean="0">
                                    <a:latin typeface="Cambria Math" panose="02040503050406030204" pitchFamily="18" charset="0"/>
                                  </a:rPr>
                                  <m:t>&gt;</m:t>
                                </m:r>
                                <m:r>
                                  <a:rPr lang="en-GB" sz="800" b="1" i="1" noProof="0" smtClean="0">
                                    <a:latin typeface="Cambria Math" panose="02040503050406030204" pitchFamily="18" charset="0"/>
                                  </a:rPr>
                                  <m:t>𝑿</m:t>
                                </m:r>
                              </m:oMath>
                            </m:oMathPara>
                          </a14:m>
                          <a:endParaRPr lang="en-GB" sz="800" b="1" noProof="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GB" sz="800" b="1" i="1" noProof="0" smtClean="0">
                                        <a:latin typeface="Cambria Math" panose="02040503050406030204" pitchFamily="18" charset="0"/>
                                      </a:rPr>
                                    </m:ctrlPr>
                                  </m:sSubPr>
                                  <m:e>
                                    <m:r>
                                      <a:rPr lang="en-GB" sz="800" b="1" i="1" noProof="0" smtClean="0">
                                        <a:latin typeface="Cambria Math" panose="02040503050406030204" pitchFamily="18" charset="0"/>
                                      </a:rPr>
                                      <m:t>𝑺</m:t>
                                    </m:r>
                                  </m:e>
                                  <m:sub>
                                    <m:r>
                                      <a:rPr lang="en-GB" sz="800" b="1" i="1" noProof="0" smtClean="0">
                                        <a:latin typeface="Cambria Math" panose="02040503050406030204" pitchFamily="18" charset="0"/>
                                      </a:rPr>
                                      <m:t>𝑻</m:t>
                                    </m:r>
                                  </m:sub>
                                </m:sSub>
                                <m:r>
                                  <a:rPr lang="en-GB" sz="800" b="1" i="1" noProof="0" smtClean="0">
                                    <a:latin typeface="Cambria Math" panose="02040503050406030204" pitchFamily="18" charset="0"/>
                                  </a:rPr>
                                  <m:t>&lt;</m:t>
                                </m:r>
                                <m:r>
                                  <a:rPr lang="en-GB" sz="800" b="1" i="1" noProof="0" smtClean="0">
                                    <a:latin typeface="Cambria Math" panose="02040503050406030204" pitchFamily="18" charset="0"/>
                                  </a:rPr>
                                  <m:t>𝑿</m:t>
                                </m:r>
                              </m:oMath>
                            </m:oMathPara>
                          </a14:m>
                          <a:endParaRPr lang="en-GB" sz="800" b="1" noProof="0" dirty="0"/>
                        </a:p>
                      </a:txBody>
                      <a:tcPr/>
                    </a:tc>
                    <a:extLst>
                      <a:ext uri="{0D108BD9-81ED-4DB2-BD59-A6C34878D82A}">
                        <a16:rowId xmlns:a16="http://schemas.microsoft.com/office/drawing/2014/main" val="262899253"/>
                      </a:ext>
                    </a:extLst>
                  </a:tr>
                  <a:tr h="252000">
                    <a:tc>
                      <a:txBody>
                        <a:bodyPr/>
                        <a:lstStyle/>
                        <a:p>
                          <a:pPr/>
                          <a14:m>
                            <m:oMathPara xmlns:m="http://schemas.openxmlformats.org/officeDocument/2006/math">
                              <m:oMathParaPr>
                                <m:jc m:val="left"/>
                              </m:oMathParaPr>
                              <m:oMath xmlns:m="http://schemas.openxmlformats.org/officeDocument/2006/math">
                                <m:sSub>
                                  <m:sSubPr>
                                    <m:ctrlPr>
                                      <a:rPr lang="en-GB" sz="800" b="0" i="1" noProof="0" smtClean="0">
                                        <a:latin typeface="Cambria Math" panose="02040503050406030204" pitchFamily="18" charset="0"/>
                                      </a:rPr>
                                    </m:ctrlPr>
                                  </m:sSubPr>
                                  <m:e>
                                    <m:r>
                                      <a:rPr lang="en-GB" sz="800" b="0" i="1" noProof="0" smtClean="0">
                                        <a:latin typeface="Cambria Math" panose="02040503050406030204" pitchFamily="18" charset="0"/>
                                      </a:rPr>
                                      <m:t>𝑉</m:t>
                                    </m:r>
                                  </m:e>
                                  <m:sub>
                                    <m:r>
                                      <a:rPr lang="en-GB" sz="800" b="0" i="1" noProof="0" smtClean="0">
                                        <a:latin typeface="Cambria Math" panose="02040503050406030204" pitchFamily="18" charset="0"/>
                                      </a:rPr>
                                      <m:t>𝐴</m:t>
                                    </m:r>
                                  </m:sub>
                                </m:sSub>
                                <m:r>
                                  <a:rPr lang="en-GB" sz="800" b="0" i="1" noProof="0" smtClean="0">
                                    <a:latin typeface="Cambria Math" panose="02040503050406030204" pitchFamily="18" charset="0"/>
                                  </a:rPr>
                                  <m:t>=</m:t>
                                </m:r>
                                <m:r>
                                  <a:rPr lang="en-GB" sz="800" b="0" i="0" noProof="0" smtClean="0">
                                    <a:latin typeface="Cambria Math" panose="02040503050406030204" pitchFamily="18" charset="0"/>
                                  </a:rPr>
                                  <m:t>3+30</m:t>
                                </m:r>
                                <m:sSup>
                                  <m:sSupPr>
                                    <m:ctrlPr>
                                      <a:rPr lang="en-GB" sz="800" b="0" i="1" noProof="0" smtClean="0">
                                        <a:latin typeface="Cambria Math" panose="02040503050406030204" pitchFamily="18" charset="0"/>
                                      </a:rPr>
                                    </m:ctrlPr>
                                  </m:sSupPr>
                                  <m:e>
                                    <m:r>
                                      <a:rPr lang="en-GB" sz="800" b="0" i="1" noProof="0" smtClean="0">
                                        <a:latin typeface="Cambria Math" panose="02040503050406030204" pitchFamily="18" charset="0"/>
                                      </a:rPr>
                                      <m:t>𝑒</m:t>
                                    </m:r>
                                  </m:e>
                                  <m:sup>
                                    <m:r>
                                      <a:rPr lang="en-GB" sz="800" b="0" i="1" noProof="0" smtClean="0">
                                        <a:latin typeface="Cambria Math" panose="02040503050406030204" pitchFamily="18" charset="0"/>
                                      </a:rPr>
                                      <m:t>−0.1</m:t>
                                    </m:r>
                                    <m:r>
                                      <a:rPr lang="en-GB" sz="800" b="0" i="1" noProof="0" smtClean="0">
                                        <a:latin typeface="Cambria Math" panose="02040503050406030204" pitchFamily="18" charset="0"/>
                                        <a:ea typeface="Cambria Math" panose="02040503050406030204" pitchFamily="18" charset="0"/>
                                      </a:rPr>
                                      <m:t>×0.25</m:t>
                                    </m:r>
                                  </m:sup>
                                </m:sSup>
                                <m:r>
                                  <a:rPr lang="en-GB" sz="800" b="0" i="1" noProof="0" smtClean="0">
                                    <a:latin typeface="Cambria Math" panose="02040503050406030204" pitchFamily="18" charset="0"/>
                                  </a:rPr>
                                  <m:t>=32.26</m:t>
                                </m:r>
                              </m:oMath>
                            </m:oMathPara>
                          </a14:m>
                          <a:endParaRPr lang="en-GB" sz="800" noProof="0" dirty="0"/>
                        </a:p>
                      </a:txBody>
                      <a:tcPr marT="0" marB="0" anchor="ctr"/>
                    </a:tc>
                    <a:tc>
                      <a:txBody>
                        <a:bodyPr/>
                        <a:lstStyle/>
                        <a:p>
                          <a:pPr algn="ctr"/>
                          <a:r>
                            <a:rPr lang="en-GB" sz="800" i="0" noProof="0" dirty="0">
                              <a:latin typeface="Cambria Math" panose="02040503050406030204" pitchFamily="18" charset="0"/>
                              <a:ea typeface="Cambria Math" panose="02040503050406030204" pitchFamily="18" charset="0"/>
                            </a:rPr>
                            <a:t>G</a:t>
                          </a:r>
                          <a:r>
                            <a:rPr lang="cs-CZ" sz="800" i="0" noProof="0" dirty="0">
                              <a:latin typeface="Cambria Math" panose="02040503050406030204" pitchFamily="18" charset="0"/>
                              <a:ea typeface="Cambria Math" panose="02040503050406030204" pitchFamily="18" charset="0"/>
                            </a:rPr>
                            <a:t>O LONG</a:t>
                          </a:r>
                          <a:endParaRPr lang="en-GB" sz="800" i="0" noProof="0" dirty="0">
                            <a:latin typeface="Cambria Math" panose="02040503050406030204" pitchFamily="18" charset="0"/>
                            <a:ea typeface="Cambria Math" panose="02040503050406030204" pitchFamily="18" charset="0"/>
                          </a:endParaRPr>
                        </a:p>
                        <a:p>
                          <a:pPr algn="l"/>
                          <a:r>
                            <a:rPr lang="en-GB" sz="800" noProof="0" dirty="0">
                              <a:latin typeface="Cambria Math" panose="02040503050406030204" pitchFamily="18" charset="0"/>
                              <a:ea typeface="Cambria Math" panose="02040503050406030204" pitchFamily="18" charset="0"/>
                            </a:rPr>
                            <a:t>Buy call (‒3)</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Exercise call</a:t>
                          </a:r>
                          <a:r>
                            <a:rPr lang="cs-CZ" sz="800" kern="1200" noProof="0" dirty="0">
                              <a:solidFill>
                                <a:schemeClr val="dk1"/>
                              </a:solidFill>
                              <a:latin typeface="Cambria Math" panose="02040503050406030204" pitchFamily="18" charset="0"/>
                              <a:ea typeface="Cambria Math" panose="02040503050406030204" pitchFamily="18" charset="0"/>
                              <a:cs typeface="+mn-cs"/>
                            </a:rPr>
                            <a:t>, </a:t>
                          </a:r>
                          <a:r>
                            <a:rPr lang="en-GB" sz="800" kern="1200" noProof="0" dirty="0">
                              <a:solidFill>
                                <a:schemeClr val="dk1"/>
                              </a:solidFill>
                              <a:latin typeface="Cambria Math" panose="02040503050406030204" pitchFamily="18" charset="0"/>
                              <a:ea typeface="Cambria Math" panose="02040503050406030204" pitchFamily="18" charset="0"/>
                              <a:cs typeface="+mn-cs"/>
                            </a:rPr>
                            <a:t>buy share for 30 </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 Worthless call</a:t>
                          </a:r>
                        </a:p>
                      </a:txBody>
                      <a:tcPr anchor="ctr"/>
                    </a:tc>
                    <a:extLst>
                      <a:ext uri="{0D108BD9-81ED-4DB2-BD59-A6C34878D82A}">
                        <a16:rowId xmlns:a16="http://schemas.microsoft.com/office/drawing/2014/main" val="387667018"/>
                      </a:ext>
                    </a:extLst>
                  </a:tr>
                  <a:tr h="252000">
                    <a:tc>
                      <a:txBody>
                        <a:bodyPr/>
                        <a:lstStyle/>
                        <a:p>
                          <a:pPr/>
                          <a14:m>
                            <m:oMathPara xmlns:m="http://schemas.openxmlformats.org/officeDocument/2006/math">
                              <m:oMathParaPr>
                                <m:jc m:val="left"/>
                              </m:oMathParaPr>
                              <m:oMath xmlns:m="http://schemas.openxmlformats.org/officeDocument/2006/math">
                                <m:sSub>
                                  <m:sSubPr>
                                    <m:ctrlPr>
                                      <a:rPr lang="en-GB" sz="800" b="0" i="1" noProof="0" smtClean="0">
                                        <a:latin typeface="Cambria Math" panose="02040503050406030204" pitchFamily="18" charset="0"/>
                                      </a:rPr>
                                    </m:ctrlPr>
                                  </m:sSubPr>
                                  <m:e>
                                    <m:r>
                                      <a:rPr lang="en-GB" sz="800" b="0" i="1" noProof="0" smtClean="0">
                                        <a:latin typeface="Cambria Math" panose="02040503050406030204" pitchFamily="18" charset="0"/>
                                      </a:rPr>
                                      <m:t>𝑉</m:t>
                                    </m:r>
                                  </m:e>
                                  <m:sub>
                                    <m:r>
                                      <a:rPr lang="en-GB" sz="800" b="0" i="1" noProof="0" smtClean="0">
                                        <a:latin typeface="Cambria Math" panose="02040503050406030204" pitchFamily="18" charset="0"/>
                                      </a:rPr>
                                      <m:t>𝐵</m:t>
                                    </m:r>
                                  </m:sub>
                                </m:sSub>
                                <m:r>
                                  <a:rPr lang="en-GB" sz="800" b="0" i="1" noProof="0" smtClean="0">
                                    <a:latin typeface="Cambria Math" panose="02040503050406030204" pitchFamily="18" charset="0"/>
                                  </a:rPr>
                                  <m:t>=2.3+31=33.3</m:t>
                                </m:r>
                              </m:oMath>
                            </m:oMathPara>
                          </a14:m>
                          <a:endParaRPr lang="en-GB" sz="800" noProof="0" dirty="0"/>
                        </a:p>
                      </a:txBody>
                      <a:tcPr marT="0" marB="0" anchor="ctr"/>
                    </a:tc>
                    <a:tc>
                      <a:txBody>
                        <a:bodyPr/>
                        <a:lstStyle/>
                        <a:p>
                          <a:pPr algn="ctr"/>
                          <a:r>
                            <a:rPr lang="en-GB" sz="800" i="0" kern="1200" noProof="0" dirty="0">
                              <a:solidFill>
                                <a:schemeClr val="dk1"/>
                              </a:solidFill>
                              <a:latin typeface="Cambria Math" panose="02040503050406030204" pitchFamily="18" charset="0"/>
                              <a:ea typeface="Cambria Math" panose="02040503050406030204" pitchFamily="18" charset="0"/>
                              <a:cs typeface="+mn-cs"/>
                            </a:rPr>
                            <a:t>G</a:t>
                          </a:r>
                          <a:r>
                            <a:rPr lang="cs-CZ" sz="800" i="0" kern="1200" noProof="0" dirty="0">
                              <a:solidFill>
                                <a:schemeClr val="dk1"/>
                              </a:solidFill>
                              <a:latin typeface="Cambria Math" panose="02040503050406030204" pitchFamily="18" charset="0"/>
                              <a:ea typeface="Cambria Math" panose="02040503050406030204" pitchFamily="18" charset="0"/>
                              <a:cs typeface="+mn-cs"/>
                            </a:rPr>
                            <a:t>O SHORT</a:t>
                          </a:r>
                          <a:endParaRPr lang="en-GB" sz="800" i="0" kern="1200" noProof="0" dirty="0">
                            <a:solidFill>
                              <a:schemeClr val="dk1"/>
                            </a:solidFill>
                            <a:latin typeface="Cambria Math" panose="02040503050406030204" pitchFamily="18" charset="0"/>
                            <a:ea typeface="Cambria Math" panose="02040503050406030204" pitchFamily="18" charset="0"/>
                            <a:cs typeface="+mn-cs"/>
                          </a:endParaRPr>
                        </a:p>
                        <a:p>
                          <a:r>
                            <a:rPr lang="en-GB" sz="800" noProof="0" dirty="0">
                              <a:latin typeface="Cambria Math" panose="02040503050406030204" pitchFamily="18" charset="0"/>
                              <a:ea typeface="Cambria Math" panose="02040503050406030204" pitchFamily="18" charset="0"/>
                            </a:rPr>
                            <a:t>Sell put (+2.3), sell share short (+31)</a:t>
                          </a:r>
                          <a:endParaRPr lang="en-GB" sz="800" kern="1200" noProof="0" dirty="0">
                            <a:solidFill>
                              <a:schemeClr val="dk1"/>
                            </a:solidFill>
                            <a:latin typeface="Cambria Math" panose="02040503050406030204" pitchFamily="18" charset="0"/>
                            <a:ea typeface="Cambria Math" panose="02040503050406030204" pitchFamily="18" charset="0"/>
                            <a:cs typeface="+mn-cs"/>
                          </a:endParaRP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Worthless put, buy share for </a:t>
                          </a:r>
                          <a14:m>
                            <m:oMath xmlns:m="http://schemas.openxmlformats.org/officeDocument/2006/math">
                              <m:sSub>
                                <m:sSubPr>
                                  <m:ctrlPr>
                                    <a:rPr lang="en-GB" sz="800" i="1" kern="1200" noProof="0" smtClean="0">
                                      <a:solidFill>
                                        <a:schemeClr val="dk1"/>
                                      </a:solidFill>
                                      <a:latin typeface="Cambria Math" panose="02040503050406030204" pitchFamily="18" charset="0"/>
                                      <a:ea typeface="Cambria Math" panose="02040503050406030204" pitchFamily="18" charset="0"/>
                                      <a:cs typeface="+mn-cs"/>
                                    </a:rPr>
                                  </m:ctrlPr>
                                </m:sSubPr>
                                <m:e>
                                  <m:r>
                                    <a:rPr lang="en-GB" sz="800" b="0" i="1" kern="1200" noProof="0" smtClean="0">
                                      <a:solidFill>
                                        <a:schemeClr val="dk1"/>
                                      </a:solidFill>
                                      <a:latin typeface="Cambria Math" panose="02040503050406030204" pitchFamily="18" charset="0"/>
                                      <a:ea typeface="Cambria Math" panose="02040503050406030204" pitchFamily="18" charset="0"/>
                                      <a:cs typeface="+mn-cs"/>
                                    </a:rPr>
                                    <m:t>𝑆</m:t>
                                  </m:r>
                                </m:e>
                                <m:sub>
                                  <m:r>
                                    <a:rPr lang="en-GB" sz="800" b="0" i="1" kern="1200" noProof="0" smtClean="0">
                                      <a:solidFill>
                                        <a:schemeClr val="dk1"/>
                                      </a:solidFill>
                                      <a:latin typeface="Cambria Math" panose="02040503050406030204" pitchFamily="18" charset="0"/>
                                      <a:ea typeface="Cambria Math" panose="02040503050406030204" pitchFamily="18" charset="0"/>
                                      <a:cs typeface="+mn-cs"/>
                                    </a:rPr>
                                    <m:t>𝑇</m:t>
                                  </m:r>
                                </m:sub>
                              </m:sSub>
                            </m:oMath>
                          </a14:m>
                          <a:r>
                            <a:rPr lang="en-GB" sz="800" kern="1200" noProof="0" dirty="0">
                              <a:solidFill>
                                <a:schemeClr val="dk1"/>
                              </a:solidFill>
                              <a:latin typeface="Cambria Math" panose="02040503050406030204" pitchFamily="18" charset="0"/>
                              <a:ea typeface="Cambria Math" panose="02040503050406030204" pitchFamily="18" charset="0"/>
                              <a:cs typeface="+mn-cs"/>
                            </a:rPr>
                            <a:t> and return it</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Counterparty exercises put</a:t>
                          </a:r>
                          <a:r>
                            <a:rPr lang="cs-CZ" sz="800" kern="1200" noProof="0" dirty="0">
                              <a:solidFill>
                                <a:schemeClr val="dk1"/>
                              </a:solidFill>
                              <a:latin typeface="Cambria Math" panose="02040503050406030204" pitchFamily="18" charset="0"/>
                              <a:ea typeface="Cambria Math" panose="02040503050406030204" pitchFamily="18" charset="0"/>
                              <a:cs typeface="+mn-cs"/>
                            </a:rPr>
                            <a:t>, </a:t>
                          </a:r>
                          <a:r>
                            <a:rPr lang="en-GB" sz="800" kern="1200" noProof="0" dirty="0">
                              <a:solidFill>
                                <a:schemeClr val="dk1"/>
                              </a:solidFill>
                              <a:latin typeface="Cambria Math" panose="02040503050406030204" pitchFamily="18" charset="0"/>
                              <a:ea typeface="Cambria Math" panose="02040503050406030204" pitchFamily="18" charset="0"/>
                              <a:cs typeface="+mn-cs"/>
                            </a:rPr>
                            <a:t>buy share for 30, return share</a:t>
                          </a:r>
                        </a:p>
                      </a:txBody>
                      <a:tcPr marT="0" marB="0" anchor="ctr"/>
                    </a:tc>
                    <a:extLst>
                      <a:ext uri="{0D108BD9-81ED-4DB2-BD59-A6C34878D82A}">
                        <a16:rowId xmlns:a16="http://schemas.microsoft.com/office/drawing/2014/main" val="895696121"/>
                      </a:ext>
                    </a:extLst>
                  </a:tr>
                  <a:tr h="252000">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Cash</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Invest initial revenue (</a:t>
                          </a:r>
                          <a:r>
                            <a:rPr lang="cs-CZ" sz="800" kern="1200" noProof="0" dirty="0">
                              <a:solidFill>
                                <a:schemeClr val="dk1"/>
                              </a:solidFill>
                              <a:latin typeface="Cambria Math" panose="02040503050406030204" pitchFamily="18" charset="0"/>
                              <a:ea typeface="Cambria Math" panose="02040503050406030204" pitchFamily="18" charset="0"/>
                              <a:cs typeface="+mn-cs"/>
                            </a:rPr>
                            <a:t>‒3+2.3+31 =</a:t>
                          </a:r>
                          <a:r>
                            <a:rPr lang="en-GB" sz="800" kern="1200" noProof="0" dirty="0">
                              <a:solidFill>
                                <a:schemeClr val="dk1"/>
                              </a:solidFill>
                              <a:latin typeface="Cambria Math" panose="02040503050406030204" pitchFamily="18" charset="0"/>
                              <a:ea typeface="Cambria Math" panose="02040503050406030204" pitchFamily="18" charset="0"/>
                              <a:cs typeface="+mn-cs"/>
                            </a:rPr>
                            <a:t>30.3) at risk-free interest rate</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Terminate deposit (+31.07)</a:t>
                          </a:r>
                        </a:p>
                      </a:txBody>
                      <a:tcPr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kern="1200" noProof="0" dirty="0">
                              <a:solidFill>
                                <a:schemeClr val="dk1"/>
                              </a:solidFill>
                              <a:latin typeface="Cambria Math" panose="02040503050406030204" pitchFamily="18" charset="0"/>
                              <a:ea typeface="Cambria Math" panose="02040503050406030204" pitchFamily="18" charset="0"/>
                              <a:cs typeface="+mn-cs"/>
                            </a:rPr>
                            <a:t>Terminate deposit (+31.07)</a:t>
                          </a:r>
                          <a:endParaRPr lang="en-GB" noProof="0" dirty="0"/>
                        </a:p>
                      </a:txBody>
                      <a:tcPr marT="0" marB="0" anchor="ctr"/>
                    </a:tc>
                    <a:extLst>
                      <a:ext uri="{0D108BD9-81ED-4DB2-BD59-A6C34878D82A}">
                        <a16:rowId xmlns:a16="http://schemas.microsoft.com/office/drawing/2014/main" val="2580401688"/>
                      </a:ext>
                    </a:extLst>
                  </a:tr>
                  <a:tr h="252000">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Net balance</a:t>
                          </a:r>
                        </a:p>
                      </a:txBody>
                      <a:tcPr marT="0" marB="0" anchor="ctr"/>
                    </a:tc>
                    <a:tc>
                      <a:txBody>
                        <a:bodyPr/>
                        <a:lstStyle/>
                        <a:p>
                          <a:r>
                            <a:rPr lang="cs-CZ" sz="800" kern="1200" noProof="0" dirty="0">
                              <a:solidFill>
                                <a:schemeClr val="dk1"/>
                              </a:solidFill>
                              <a:latin typeface="Cambria Math" panose="02040503050406030204" pitchFamily="18" charset="0"/>
                              <a:ea typeface="Cambria Math" panose="02040503050406030204" pitchFamily="18" charset="0"/>
                              <a:cs typeface="+mn-cs"/>
                            </a:rPr>
                            <a:t>+30.3 ‒ 30.3 = 0</a:t>
                          </a:r>
                          <a:endParaRPr lang="en-GB" sz="800" kern="1200" noProof="0" dirty="0">
                            <a:solidFill>
                              <a:schemeClr val="dk1"/>
                            </a:solidFill>
                            <a:latin typeface="Cambria Math" panose="02040503050406030204" pitchFamily="18" charset="0"/>
                            <a:ea typeface="Cambria Math" panose="02040503050406030204" pitchFamily="18" charset="0"/>
                            <a:cs typeface="+mn-cs"/>
                          </a:endParaRP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‒30 + 31.07 = +1.07</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‒30 + 31.07 = +1.07</a:t>
                          </a:r>
                        </a:p>
                      </a:txBody>
                      <a:tcPr marT="0" marB="0" anchor="ctr"/>
                    </a:tc>
                    <a:extLst>
                      <a:ext uri="{0D108BD9-81ED-4DB2-BD59-A6C34878D82A}">
                        <a16:rowId xmlns:a16="http://schemas.microsoft.com/office/drawing/2014/main" val="421386793"/>
                      </a:ext>
                    </a:extLst>
                  </a:tr>
                </a:tbl>
              </a:graphicData>
            </a:graphic>
          </p:graphicFrame>
        </mc:Choice>
        <mc:Fallback xmlns="">
          <p:graphicFrame>
            <p:nvGraphicFramePr>
              <p:cNvPr id="6" name="Tabulka 5">
                <a:extLst>
                  <a:ext uri="{FF2B5EF4-FFF2-40B4-BE49-F238E27FC236}">
                    <a16:creationId xmlns:a16="http://schemas.microsoft.com/office/drawing/2014/main" id="{981165FB-1EA0-6241-424F-25B0CAA4D126}"/>
                  </a:ext>
                </a:extLst>
              </p:cNvPr>
              <p:cNvGraphicFramePr>
                <a:graphicFrameLocks noGrp="1"/>
              </p:cNvGraphicFramePr>
              <p:nvPr>
                <p:extLst>
                  <p:ext uri="{D42A27DB-BD31-4B8C-83A1-F6EECF244321}">
                    <p14:modId xmlns:p14="http://schemas.microsoft.com/office/powerpoint/2010/main" val="1492563191"/>
                  </p:ext>
                </p:extLst>
              </p:nvPr>
            </p:nvGraphicFramePr>
            <p:xfrm>
              <a:off x="1296000" y="1220312"/>
              <a:ext cx="6983527" cy="1548000"/>
            </p:xfrm>
            <a:graphic>
              <a:graphicData uri="http://schemas.openxmlformats.org/drawingml/2006/table">
                <a:tbl>
                  <a:tblPr firstRow="1" bandRow="1">
                    <a:tableStyleId>{5C22544A-7EE6-4342-B048-85BDC9FD1C3A}</a:tableStyleId>
                  </a:tblPr>
                  <a:tblGrid>
                    <a:gridCol w="1539957">
                      <a:extLst>
                        <a:ext uri="{9D8B030D-6E8A-4147-A177-3AD203B41FA5}">
                          <a16:colId xmlns:a16="http://schemas.microsoft.com/office/drawing/2014/main" val="3036616937"/>
                        </a:ext>
                      </a:extLst>
                    </a:gridCol>
                    <a:gridCol w="2220404">
                      <a:extLst>
                        <a:ext uri="{9D8B030D-6E8A-4147-A177-3AD203B41FA5}">
                          <a16:colId xmlns:a16="http://schemas.microsoft.com/office/drawing/2014/main" val="2208154657"/>
                        </a:ext>
                      </a:extLst>
                    </a:gridCol>
                    <a:gridCol w="1611583">
                      <a:extLst>
                        <a:ext uri="{9D8B030D-6E8A-4147-A177-3AD203B41FA5}">
                          <a16:colId xmlns:a16="http://schemas.microsoft.com/office/drawing/2014/main" val="3026091146"/>
                        </a:ext>
                      </a:extLst>
                    </a:gridCol>
                    <a:gridCol w="1611583">
                      <a:extLst>
                        <a:ext uri="{9D8B030D-6E8A-4147-A177-3AD203B41FA5}">
                          <a16:colId xmlns:a16="http://schemas.microsoft.com/office/drawing/2014/main" val="1590493125"/>
                        </a:ext>
                      </a:extLst>
                    </a:gridCol>
                  </a:tblGrid>
                  <a:tr h="288000">
                    <a:tc gridSpan="4">
                      <a:txBody>
                        <a:bodyPr/>
                        <a:lstStyle/>
                        <a:p>
                          <a:endParaRPr lang="en-US"/>
                        </a:p>
                      </a:txBody>
                      <a:tcPr anchor="ctr">
                        <a:blipFill>
                          <a:blip r:embed="rId15"/>
                          <a:stretch>
                            <a:fillRect l="-87" t="-2128" r="-349" b="-446809"/>
                          </a:stretch>
                        </a:blipFill>
                      </a:tcPr>
                    </a:tc>
                    <a:tc hMerge="1">
                      <a:txBody>
                        <a:bodyPr/>
                        <a:lstStyle/>
                        <a:p>
                          <a:endParaRPr lang="en-GB" dirty="0"/>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3916840126"/>
                      </a:ext>
                    </a:extLst>
                  </a:tr>
                  <a:tr h="252000">
                    <a:tc>
                      <a:txBody>
                        <a:bodyPr/>
                        <a:lstStyle/>
                        <a:p>
                          <a:pPr algn="ctr"/>
                          <a:r>
                            <a:rPr lang="en-GB" sz="800" b="1" kern="1200" noProof="0" dirty="0">
                              <a:solidFill>
                                <a:schemeClr val="dk1"/>
                              </a:solidFill>
                              <a:latin typeface="Cambria Math" panose="02040503050406030204" pitchFamily="18" charset="0"/>
                              <a:ea typeface="Cambria Math" panose="02040503050406030204" pitchFamily="18" charset="0"/>
                              <a:cs typeface="+mn-cs"/>
                            </a:rPr>
                            <a:t>Current portfolio value</a:t>
                          </a:r>
                        </a:p>
                      </a:txBody>
                      <a:tcPr marT="0" marB="0" anchor="ctr"/>
                    </a:tc>
                    <a:tc>
                      <a:txBody>
                        <a:bodyPr/>
                        <a:lstStyle/>
                        <a:p>
                          <a:pPr algn="ctr"/>
                          <a:r>
                            <a:rPr lang="en-GB" sz="800" b="1" noProof="0" dirty="0">
                              <a:latin typeface="Cambria Math" panose="02040503050406030204" pitchFamily="18" charset="0"/>
                              <a:ea typeface="Cambria Math" panose="02040503050406030204" pitchFamily="18" charset="0"/>
                            </a:rPr>
                            <a:t>Arbitrage strategy</a:t>
                          </a:r>
                        </a:p>
                      </a:txBody>
                      <a:tcPr anchor="ctr"/>
                    </a:tc>
                    <a:tc>
                      <a:txBody>
                        <a:bodyPr/>
                        <a:lstStyle/>
                        <a:p>
                          <a:endParaRPr lang="en-US"/>
                        </a:p>
                      </a:txBody>
                      <a:tcPr>
                        <a:blipFill>
                          <a:blip r:embed="rId15"/>
                          <a:stretch>
                            <a:fillRect l="-234470" t="-114286" r="-101894" b="-400000"/>
                          </a:stretch>
                        </a:blipFill>
                      </a:tcPr>
                    </a:tc>
                    <a:tc>
                      <a:txBody>
                        <a:bodyPr/>
                        <a:lstStyle/>
                        <a:p>
                          <a:endParaRPr lang="en-US"/>
                        </a:p>
                      </a:txBody>
                      <a:tcPr>
                        <a:blipFill>
                          <a:blip r:embed="rId15"/>
                          <a:stretch>
                            <a:fillRect l="-333208" t="-114286" r="-1509" b="-400000"/>
                          </a:stretch>
                        </a:blipFill>
                      </a:tcPr>
                    </a:tc>
                    <a:extLst>
                      <a:ext uri="{0D108BD9-81ED-4DB2-BD59-A6C34878D82A}">
                        <a16:rowId xmlns:a16="http://schemas.microsoft.com/office/drawing/2014/main" val="262899253"/>
                      </a:ext>
                    </a:extLst>
                  </a:tr>
                  <a:tr h="252000">
                    <a:tc>
                      <a:txBody>
                        <a:bodyPr/>
                        <a:lstStyle/>
                        <a:p>
                          <a:endParaRPr lang="en-US"/>
                        </a:p>
                      </a:txBody>
                      <a:tcPr marT="0" marB="0" anchor="ctr">
                        <a:blipFill>
                          <a:blip r:embed="rId15"/>
                          <a:stretch>
                            <a:fillRect l="-395" t="-219512" r="-354941" b="-309756"/>
                          </a:stretch>
                        </a:blipFill>
                      </a:tcPr>
                    </a:tc>
                    <a:tc>
                      <a:txBody>
                        <a:bodyPr/>
                        <a:lstStyle/>
                        <a:p>
                          <a:pPr algn="ctr"/>
                          <a:r>
                            <a:rPr lang="en-GB" sz="800" i="0" noProof="0" dirty="0">
                              <a:latin typeface="Cambria Math" panose="02040503050406030204" pitchFamily="18" charset="0"/>
                              <a:ea typeface="Cambria Math" panose="02040503050406030204" pitchFamily="18" charset="0"/>
                            </a:rPr>
                            <a:t>G</a:t>
                          </a:r>
                          <a:r>
                            <a:rPr lang="cs-CZ" sz="800" i="0" noProof="0" dirty="0">
                              <a:latin typeface="Cambria Math" panose="02040503050406030204" pitchFamily="18" charset="0"/>
                              <a:ea typeface="Cambria Math" panose="02040503050406030204" pitchFamily="18" charset="0"/>
                            </a:rPr>
                            <a:t>O LONG</a:t>
                          </a:r>
                          <a:endParaRPr lang="en-GB" sz="800" i="0" noProof="0" dirty="0">
                            <a:latin typeface="Cambria Math" panose="02040503050406030204" pitchFamily="18" charset="0"/>
                            <a:ea typeface="Cambria Math" panose="02040503050406030204" pitchFamily="18" charset="0"/>
                          </a:endParaRPr>
                        </a:p>
                        <a:p>
                          <a:pPr algn="l"/>
                          <a:r>
                            <a:rPr lang="en-GB" sz="800" noProof="0" dirty="0">
                              <a:latin typeface="Cambria Math" panose="02040503050406030204" pitchFamily="18" charset="0"/>
                              <a:ea typeface="Cambria Math" panose="02040503050406030204" pitchFamily="18" charset="0"/>
                            </a:rPr>
                            <a:t>Buy call (‒3)</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Exercise call</a:t>
                          </a:r>
                          <a:r>
                            <a:rPr lang="cs-CZ" sz="800" kern="1200" noProof="0" dirty="0">
                              <a:solidFill>
                                <a:schemeClr val="dk1"/>
                              </a:solidFill>
                              <a:latin typeface="Cambria Math" panose="02040503050406030204" pitchFamily="18" charset="0"/>
                              <a:ea typeface="Cambria Math" panose="02040503050406030204" pitchFamily="18" charset="0"/>
                              <a:cs typeface="+mn-cs"/>
                            </a:rPr>
                            <a:t>, </a:t>
                          </a:r>
                          <a:r>
                            <a:rPr lang="en-GB" sz="800" kern="1200" noProof="0" dirty="0">
                              <a:solidFill>
                                <a:schemeClr val="dk1"/>
                              </a:solidFill>
                              <a:latin typeface="Cambria Math" panose="02040503050406030204" pitchFamily="18" charset="0"/>
                              <a:ea typeface="Cambria Math" panose="02040503050406030204" pitchFamily="18" charset="0"/>
                              <a:cs typeface="+mn-cs"/>
                            </a:rPr>
                            <a:t>buy share for 30 </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 Worthless call</a:t>
                          </a:r>
                        </a:p>
                      </a:txBody>
                      <a:tcPr anchor="ctr"/>
                    </a:tc>
                    <a:extLst>
                      <a:ext uri="{0D108BD9-81ED-4DB2-BD59-A6C34878D82A}">
                        <a16:rowId xmlns:a16="http://schemas.microsoft.com/office/drawing/2014/main" val="387667018"/>
                      </a:ext>
                    </a:extLst>
                  </a:tr>
                  <a:tr h="252000">
                    <a:tc>
                      <a:txBody>
                        <a:bodyPr/>
                        <a:lstStyle/>
                        <a:p>
                          <a:endParaRPr lang="en-US"/>
                        </a:p>
                      </a:txBody>
                      <a:tcPr marT="0" marB="0" anchor="ctr">
                        <a:blipFill>
                          <a:blip r:embed="rId15"/>
                          <a:stretch>
                            <a:fillRect l="-395" t="-311905" r="-354941" b="-202381"/>
                          </a:stretch>
                        </a:blipFill>
                      </a:tcPr>
                    </a:tc>
                    <a:tc>
                      <a:txBody>
                        <a:bodyPr/>
                        <a:lstStyle/>
                        <a:p>
                          <a:pPr algn="ctr"/>
                          <a:r>
                            <a:rPr lang="en-GB" sz="800" i="0" kern="1200" noProof="0" dirty="0">
                              <a:solidFill>
                                <a:schemeClr val="dk1"/>
                              </a:solidFill>
                              <a:latin typeface="Cambria Math" panose="02040503050406030204" pitchFamily="18" charset="0"/>
                              <a:ea typeface="Cambria Math" panose="02040503050406030204" pitchFamily="18" charset="0"/>
                              <a:cs typeface="+mn-cs"/>
                            </a:rPr>
                            <a:t>G</a:t>
                          </a:r>
                          <a:r>
                            <a:rPr lang="cs-CZ" sz="800" i="0" kern="1200" noProof="0" dirty="0">
                              <a:solidFill>
                                <a:schemeClr val="dk1"/>
                              </a:solidFill>
                              <a:latin typeface="Cambria Math" panose="02040503050406030204" pitchFamily="18" charset="0"/>
                              <a:ea typeface="Cambria Math" panose="02040503050406030204" pitchFamily="18" charset="0"/>
                              <a:cs typeface="+mn-cs"/>
                            </a:rPr>
                            <a:t>O SHORT</a:t>
                          </a:r>
                          <a:endParaRPr lang="en-GB" sz="800" i="0" kern="1200" noProof="0" dirty="0">
                            <a:solidFill>
                              <a:schemeClr val="dk1"/>
                            </a:solidFill>
                            <a:latin typeface="Cambria Math" panose="02040503050406030204" pitchFamily="18" charset="0"/>
                            <a:ea typeface="Cambria Math" panose="02040503050406030204" pitchFamily="18" charset="0"/>
                            <a:cs typeface="+mn-cs"/>
                          </a:endParaRPr>
                        </a:p>
                        <a:p>
                          <a:r>
                            <a:rPr lang="en-GB" sz="800" noProof="0" dirty="0">
                              <a:latin typeface="Cambria Math" panose="02040503050406030204" pitchFamily="18" charset="0"/>
                              <a:ea typeface="Cambria Math" panose="02040503050406030204" pitchFamily="18" charset="0"/>
                            </a:rPr>
                            <a:t>Sell put (+2.3), sell share short (+31)</a:t>
                          </a:r>
                          <a:endParaRPr lang="en-GB" sz="800" kern="1200" noProof="0" dirty="0">
                            <a:solidFill>
                              <a:schemeClr val="dk1"/>
                            </a:solidFill>
                            <a:latin typeface="Cambria Math" panose="02040503050406030204" pitchFamily="18" charset="0"/>
                            <a:ea typeface="Cambria Math" panose="02040503050406030204" pitchFamily="18" charset="0"/>
                            <a:cs typeface="+mn-cs"/>
                          </a:endParaRPr>
                        </a:p>
                      </a:txBody>
                      <a:tcPr marT="0" marB="0" anchor="ctr"/>
                    </a:tc>
                    <a:tc>
                      <a:txBody>
                        <a:bodyPr/>
                        <a:lstStyle/>
                        <a:p>
                          <a:endParaRPr lang="en-US"/>
                        </a:p>
                      </a:txBody>
                      <a:tcPr marT="0" marB="0" anchor="ctr">
                        <a:blipFill>
                          <a:blip r:embed="rId15"/>
                          <a:stretch>
                            <a:fillRect l="-234470" t="-311905" r="-101894" b="-202381"/>
                          </a:stretch>
                        </a:blipFill>
                      </a:tcP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Counterparty exercises put</a:t>
                          </a:r>
                          <a:r>
                            <a:rPr lang="cs-CZ" sz="800" kern="1200" noProof="0" dirty="0">
                              <a:solidFill>
                                <a:schemeClr val="dk1"/>
                              </a:solidFill>
                              <a:latin typeface="Cambria Math" panose="02040503050406030204" pitchFamily="18" charset="0"/>
                              <a:ea typeface="Cambria Math" panose="02040503050406030204" pitchFamily="18" charset="0"/>
                              <a:cs typeface="+mn-cs"/>
                            </a:rPr>
                            <a:t>, </a:t>
                          </a:r>
                          <a:r>
                            <a:rPr lang="en-GB" sz="800" kern="1200" noProof="0" dirty="0">
                              <a:solidFill>
                                <a:schemeClr val="dk1"/>
                              </a:solidFill>
                              <a:latin typeface="Cambria Math" panose="02040503050406030204" pitchFamily="18" charset="0"/>
                              <a:ea typeface="Cambria Math" panose="02040503050406030204" pitchFamily="18" charset="0"/>
                              <a:cs typeface="+mn-cs"/>
                            </a:rPr>
                            <a:t>buy share for 30, return share</a:t>
                          </a:r>
                        </a:p>
                      </a:txBody>
                      <a:tcPr marT="0" marB="0" anchor="ctr"/>
                    </a:tc>
                    <a:extLst>
                      <a:ext uri="{0D108BD9-81ED-4DB2-BD59-A6C34878D82A}">
                        <a16:rowId xmlns:a16="http://schemas.microsoft.com/office/drawing/2014/main" val="895696121"/>
                      </a:ext>
                    </a:extLst>
                  </a:tr>
                  <a:tr h="252000">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Cash</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Invest initial revenue (</a:t>
                          </a:r>
                          <a:r>
                            <a:rPr lang="cs-CZ" sz="800" kern="1200" noProof="0" dirty="0">
                              <a:solidFill>
                                <a:schemeClr val="dk1"/>
                              </a:solidFill>
                              <a:latin typeface="Cambria Math" panose="02040503050406030204" pitchFamily="18" charset="0"/>
                              <a:ea typeface="Cambria Math" panose="02040503050406030204" pitchFamily="18" charset="0"/>
                              <a:cs typeface="+mn-cs"/>
                            </a:rPr>
                            <a:t>‒3+2.3+31 =</a:t>
                          </a:r>
                          <a:r>
                            <a:rPr lang="en-GB" sz="800" kern="1200" noProof="0" dirty="0">
                              <a:solidFill>
                                <a:schemeClr val="dk1"/>
                              </a:solidFill>
                              <a:latin typeface="Cambria Math" panose="02040503050406030204" pitchFamily="18" charset="0"/>
                              <a:ea typeface="Cambria Math" panose="02040503050406030204" pitchFamily="18" charset="0"/>
                              <a:cs typeface="+mn-cs"/>
                            </a:rPr>
                            <a:t>30.3) at risk-free interest rate</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Terminate deposit (+31.07)</a:t>
                          </a:r>
                        </a:p>
                      </a:txBody>
                      <a:tcPr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kern="1200" noProof="0" dirty="0">
                              <a:solidFill>
                                <a:schemeClr val="dk1"/>
                              </a:solidFill>
                              <a:latin typeface="Cambria Math" panose="02040503050406030204" pitchFamily="18" charset="0"/>
                              <a:ea typeface="Cambria Math" panose="02040503050406030204" pitchFamily="18" charset="0"/>
                              <a:cs typeface="+mn-cs"/>
                            </a:rPr>
                            <a:t>Terminate deposit (+31.07)</a:t>
                          </a:r>
                          <a:endParaRPr lang="en-GB" noProof="0" dirty="0"/>
                        </a:p>
                      </a:txBody>
                      <a:tcPr marT="0" marB="0" anchor="ctr"/>
                    </a:tc>
                    <a:extLst>
                      <a:ext uri="{0D108BD9-81ED-4DB2-BD59-A6C34878D82A}">
                        <a16:rowId xmlns:a16="http://schemas.microsoft.com/office/drawing/2014/main" val="2580401688"/>
                      </a:ext>
                    </a:extLst>
                  </a:tr>
                  <a:tr h="252000">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Net balance</a:t>
                          </a:r>
                        </a:p>
                      </a:txBody>
                      <a:tcPr marT="0" marB="0" anchor="ctr"/>
                    </a:tc>
                    <a:tc>
                      <a:txBody>
                        <a:bodyPr/>
                        <a:lstStyle/>
                        <a:p>
                          <a:r>
                            <a:rPr lang="cs-CZ" sz="800" kern="1200" noProof="0" dirty="0">
                              <a:solidFill>
                                <a:schemeClr val="dk1"/>
                              </a:solidFill>
                              <a:latin typeface="Cambria Math" panose="02040503050406030204" pitchFamily="18" charset="0"/>
                              <a:ea typeface="Cambria Math" panose="02040503050406030204" pitchFamily="18" charset="0"/>
                              <a:cs typeface="+mn-cs"/>
                            </a:rPr>
                            <a:t>+30.3 ‒ 30.3 = 0</a:t>
                          </a:r>
                          <a:endParaRPr lang="en-GB" sz="800" kern="1200" noProof="0" dirty="0">
                            <a:solidFill>
                              <a:schemeClr val="dk1"/>
                            </a:solidFill>
                            <a:latin typeface="Cambria Math" panose="02040503050406030204" pitchFamily="18" charset="0"/>
                            <a:ea typeface="Cambria Math" panose="02040503050406030204" pitchFamily="18" charset="0"/>
                            <a:cs typeface="+mn-cs"/>
                          </a:endParaRP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‒30 + 31.07 = +1.07</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‒30 + 31.07 = +1.07</a:t>
                          </a:r>
                        </a:p>
                      </a:txBody>
                      <a:tcPr marT="0" marB="0" anchor="ctr"/>
                    </a:tc>
                    <a:extLst>
                      <a:ext uri="{0D108BD9-81ED-4DB2-BD59-A6C34878D82A}">
                        <a16:rowId xmlns:a16="http://schemas.microsoft.com/office/drawing/2014/main" val="421386793"/>
                      </a:ext>
                    </a:extLst>
                  </a:tr>
                </a:tbl>
              </a:graphicData>
            </a:graphic>
          </p:graphicFrame>
        </mc:Fallback>
      </mc:AlternateContent>
      <p:sp>
        <p:nvSpPr>
          <p:cNvPr id="9" name="TextovéPole 8">
            <a:extLst>
              <a:ext uri="{FF2B5EF4-FFF2-40B4-BE49-F238E27FC236}">
                <a16:creationId xmlns:a16="http://schemas.microsoft.com/office/drawing/2014/main" id="{C291A523-5B8A-3BA6-7D6A-CBD39EB14E8A}"/>
              </a:ext>
            </a:extLst>
          </p:cNvPr>
          <p:cNvSpPr txBox="1"/>
          <p:nvPr/>
        </p:nvSpPr>
        <p:spPr>
          <a:xfrm>
            <a:off x="864000" y="2772000"/>
            <a:ext cx="2555872"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Initial borrowing</a:t>
            </a:r>
          </a:p>
        </p:txBody>
      </p:sp>
      <mc:AlternateContent xmlns:mc="http://schemas.openxmlformats.org/markup-compatibility/2006" xmlns:a14="http://schemas.microsoft.com/office/drawing/2010/main">
        <mc:Choice Requires="a14">
          <p:graphicFrame>
            <p:nvGraphicFramePr>
              <p:cNvPr id="10" name="Tabulka 9">
                <a:extLst>
                  <a:ext uri="{FF2B5EF4-FFF2-40B4-BE49-F238E27FC236}">
                    <a16:creationId xmlns:a16="http://schemas.microsoft.com/office/drawing/2014/main" id="{DB328FCE-7686-2458-5B7A-702B44F9B3F5}"/>
                  </a:ext>
                </a:extLst>
              </p:cNvPr>
              <p:cNvGraphicFramePr>
                <a:graphicFrameLocks noGrp="1"/>
              </p:cNvGraphicFramePr>
              <p:nvPr>
                <p:extLst>
                  <p:ext uri="{D42A27DB-BD31-4B8C-83A1-F6EECF244321}">
                    <p14:modId xmlns:p14="http://schemas.microsoft.com/office/powerpoint/2010/main" val="2953319635"/>
                  </p:ext>
                </p:extLst>
              </p:nvPr>
            </p:nvGraphicFramePr>
            <p:xfrm>
              <a:off x="1296000" y="3103968"/>
              <a:ext cx="6983527" cy="1548000"/>
            </p:xfrm>
            <a:graphic>
              <a:graphicData uri="http://schemas.openxmlformats.org/drawingml/2006/table">
                <a:tbl>
                  <a:tblPr firstRow="1" bandRow="1">
                    <a:tableStyleId>{5C22544A-7EE6-4342-B048-85BDC9FD1C3A}</a:tableStyleId>
                  </a:tblPr>
                  <a:tblGrid>
                    <a:gridCol w="1539957">
                      <a:extLst>
                        <a:ext uri="{9D8B030D-6E8A-4147-A177-3AD203B41FA5}">
                          <a16:colId xmlns:a16="http://schemas.microsoft.com/office/drawing/2014/main" val="3036616937"/>
                        </a:ext>
                      </a:extLst>
                    </a:gridCol>
                    <a:gridCol w="2220404">
                      <a:extLst>
                        <a:ext uri="{9D8B030D-6E8A-4147-A177-3AD203B41FA5}">
                          <a16:colId xmlns:a16="http://schemas.microsoft.com/office/drawing/2014/main" val="2208154657"/>
                        </a:ext>
                      </a:extLst>
                    </a:gridCol>
                    <a:gridCol w="1611583">
                      <a:extLst>
                        <a:ext uri="{9D8B030D-6E8A-4147-A177-3AD203B41FA5}">
                          <a16:colId xmlns:a16="http://schemas.microsoft.com/office/drawing/2014/main" val="3026091146"/>
                        </a:ext>
                      </a:extLst>
                    </a:gridCol>
                    <a:gridCol w="1611583">
                      <a:extLst>
                        <a:ext uri="{9D8B030D-6E8A-4147-A177-3AD203B41FA5}">
                          <a16:colId xmlns:a16="http://schemas.microsoft.com/office/drawing/2014/main" val="1590493125"/>
                        </a:ext>
                      </a:extLst>
                    </a:gridCol>
                  </a:tblGrid>
                  <a:tr h="288000">
                    <a:tc gridSpan="4">
                      <a:txBody>
                        <a:bodyPr/>
                        <a:lstStyle/>
                        <a:p>
                          <a:pPr/>
                          <a14:m>
                            <m:oMathPara xmlns:m="http://schemas.openxmlformats.org/officeDocument/2006/math">
                              <m:oMathParaPr>
                                <m:jc m:val="centerGroup"/>
                              </m:oMathParaPr>
                              <m:oMath xmlns:m="http://schemas.openxmlformats.org/officeDocument/2006/math">
                                <m:r>
                                  <a:rPr lang="en-GB" sz="1000" b="1" i="1" noProof="0" smtClean="0">
                                    <a:latin typeface="Cambria Math" panose="02040503050406030204" pitchFamily="18" charset="0"/>
                                  </a:rPr>
                                  <m:t>𝑺</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𝟑𝟏</m:t>
                                </m:r>
                                <m:r>
                                  <a:rPr lang="en-GB" sz="1000" b="1" i="1" noProof="0" smtClean="0">
                                    <a:latin typeface="Cambria Math" panose="02040503050406030204" pitchFamily="18" charset="0"/>
                                  </a:rPr>
                                  <m:t>, </m:t>
                                </m:r>
                                <m:r>
                                  <a:rPr lang="en-GB" sz="1000" b="1" i="1" noProof="0" smtClean="0">
                                    <a:latin typeface="Cambria Math" panose="02040503050406030204" pitchFamily="18" charset="0"/>
                                  </a:rPr>
                                  <m:t>𝑿</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𝟑𝟎</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𝑪</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𝟑</m:t>
                                </m:r>
                                <m:r>
                                  <a:rPr lang="en-GB" sz="1000" b="1" i="1" noProof="0" smtClean="0">
                                    <a:latin typeface="Cambria Math" panose="02040503050406030204" pitchFamily="18" charset="0"/>
                                  </a:rPr>
                                  <m:t>, </m:t>
                                </m:r>
                                <m:r>
                                  <a:rPr lang="en-GB" sz="1000" b="1" i="1" noProof="0" smtClean="0">
                                    <a:latin typeface="Cambria Math" panose="02040503050406030204" pitchFamily="18" charset="0"/>
                                  </a:rPr>
                                  <m:t>𝑷</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𝟏</m:t>
                                </m:r>
                                <m:r>
                                  <a:rPr lang="en-GB" sz="1000" b="1" i="1" noProof="0" smtClean="0">
                                    <a:latin typeface="Cambria Math" panose="02040503050406030204" pitchFamily="18" charset="0"/>
                                  </a:rPr>
                                  <m:t>, </m:t>
                                </m:r>
                                <m:r>
                                  <a:rPr lang="en-GB" sz="1000" b="1" i="1" noProof="0" smtClean="0">
                                    <a:latin typeface="Cambria Math" panose="02040503050406030204" pitchFamily="18" charset="0"/>
                                  </a:rPr>
                                  <m:t>𝑻</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𝟑</m:t>
                                </m:r>
                                <m:r>
                                  <a:rPr lang="en-GB" sz="1000" b="1" i="1" noProof="0" smtClean="0">
                                    <a:latin typeface="Cambria Math" panose="02040503050406030204" pitchFamily="18" charset="0"/>
                                  </a:rPr>
                                  <m:t>, </m:t>
                                </m:r>
                                <m:r>
                                  <a:rPr lang="en-GB" sz="1000" b="1" i="1" noProof="0" smtClean="0">
                                    <a:latin typeface="Cambria Math" panose="02040503050406030204" pitchFamily="18" charset="0"/>
                                  </a:rPr>
                                  <m:t>𝒓</m:t>
                                </m:r>
                                <m:r>
                                  <a:rPr lang="en-GB" sz="1000" b="1" i="1" noProof="0" smtClean="0">
                                    <a:latin typeface="Cambria Math" panose="02040503050406030204" pitchFamily="18" charset="0"/>
                                  </a:rPr>
                                  <m:t>=</m:t>
                                </m:r>
                                <m:r>
                                  <a:rPr lang="en-GB" sz="1000" b="1" i="1" noProof="0" smtClean="0">
                                    <a:latin typeface="Cambria Math" panose="02040503050406030204" pitchFamily="18" charset="0"/>
                                  </a:rPr>
                                  <m:t>𝟏𝟎</m:t>
                                </m:r>
                                <m:r>
                                  <a:rPr lang="en-GB" sz="1000" b="1" i="1" noProof="0" smtClean="0">
                                    <a:latin typeface="Cambria Math" panose="02040503050406030204" pitchFamily="18" charset="0"/>
                                  </a:rPr>
                                  <m:t>%</m:t>
                                </m:r>
                              </m:oMath>
                            </m:oMathPara>
                          </a14:m>
                          <a:endParaRPr lang="en-GB" sz="1000" noProof="0" dirty="0"/>
                        </a:p>
                      </a:txBody>
                      <a:tcPr anchor="ctr"/>
                    </a:tc>
                    <a:tc hMerge="1">
                      <a:txBody>
                        <a:bodyPr/>
                        <a:lstStyle/>
                        <a:p>
                          <a:endParaRPr lang="en-GB" dirty="0"/>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3916840126"/>
                      </a:ext>
                    </a:extLst>
                  </a:tr>
                  <a:tr h="252000">
                    <a:tc>
                      <a:txBody>
                        <a:bodyPr/>
                        <a:lstStyle/>
                        <a:p>
                          <a:pPr algn="ctr"/>
                          <a:r>
                            <a:rPr lang="en-GB" sz="800" b="1" kern="1200" noProof="0" dirty="0">
                              <a:solidFill>
                                <a:schemeClr val="dk1"/>
                              </a:solidFill>
                              <a:latin typeface="Cambria Math" panose="02040503050406030204" pitchFamily="18" charset="0"/>
                              <a:ea typeface="Cambria Math" panose="02040503050406030204" pitchFamily="18" charset="0"/>
                              <a:cs typeface="+mn-cs"/>
                            </a:rPr>
                            <a:t>Current portfolio value</a:t>
                          </a:r>
                        </a:p>
                      </a:txBody>
                      <a:tcPr marT="0" marB="0" anchor="ctr"/>
                    </a:tc>
                    <a:tc>
                      <a:txBody>
                        <a:bodyPr/>
                        <a:lstStyle/>
                        <a:p>
                          <a:pPr algn="ctr"/>
                          <a:r>
                            <a:rPr lang="en-GB" sz="800" b="1" noProof="0" dirty="0">
                              <a:latin typeface="Cambria Math" panose="02040503050406030204" pitchFamily="18" charset="0"/>
                              <a:ea typeface="Cambria Math" panose="02040503050406030204" pitchFamily="18" charset="0"/>
                            </a:rPr>
                            <a:t>Arbitrage strategy</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n-GB" sz="800" b="1" i="1" noProof="0" smtClean="0">
                                        <a:latin typeface="Cambria Math" panose="02040503050406030204" pitchFamily="18" charset="0"/>
                                      </a:rPr>
                                    </m:ctrlPr>
                                  </m:sSubPr>
                                  <m:e>
                                    <m:r>
                                      <a:rPr lang="en-GB" sz="800" b="1" i="1" noProof="0" smtClean="0">
                                        <a:latin typeface="Cambria Math" panose="02040503050406030204" pitchFamily="18" charset="0"/>
                                      </a:rPr>
                                      <m:t>𝑺</m:t>
                                    </m:r>
                                  </m:e>
                                  <m:sub>
                                    <m:r>
                                      <a:rPr lang="en-GB" sz="800" b="1" i="1" noProof="0" smtClean="0">
                                        <a:latin typeface="Cambria Math" panose="02040503050406030204" pitchFamily="18" charset="0"/>
                                      </a:rPr>
                                      <m:t>𝑻</m:t>
                                    </m:r>
                                  </m:sub>
                                </m:sSub>
                                <m:r>
                                  <a:rPr lang="en-GB" sz="800" b="1" i="1" noProof="0" smtClean="0">
                                    <a:latin typeface="Cambria Math" panose="02040503050406030204" pitchFamily="18" charset="0"/>
                                  </a:rPr>
                                  <m:t>&gt;</m:t>
                                </m:r>
                                <m:r>
                                  <a:rPr lang="en-GB" sz="800" b="1" i="1" noProof="0" smtClean="0">
                                    <a:latin typeface="Cambria Math" panose="02040503050406030204" pitchFamily="18" charset="0"/>
                                  </a:rPr>
                                  <m:t>𝑿</m:t>
                                </m:r>
                              </m:oMath>
                            </m:oMathPara>
                          </a14:m>
                          <a:endParaRPr lang="en-GB" sz="800" b="1" noProof="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GB" sz="800" b="1" i="1" noProof="0" smtClean="0">
                                        <a:latin typeface="Cambria Math" panose="02040503050406030204" pitchFamily="18" charset="0"/>
                                      </a:rPr>
                                    </m:ctrlPr>
                                  </m:sSubPr>
                                  <m:e>
                                    <m:r>
                                      <a:rPr lang="en-GB" sz="800" b="1" i="1" noProof="0" smtClean="0">
                                        <a:latin typeface="Cambria Math" panose="02040503050406030204" pitchFamily="18" charset="0"/>
                                      </a:rPr>
                                      <m:t>𝑺</m:t>
                                    </m:r>
                                  </m:e>
                                  <m:sub>
                                    <m:r>
                                      <a:rPr lang="en-GB" sz="800" b="1" i="1" noProof="0" smtClean="0">
                                        <a:latin typeface="Cambria Math" panose="02040503050406030204" pitchFamily="18" charset="0"/>
                                      </a:rPr>
                                      <m:t>𝑻</m:t>
                                    </m:r>
                                  </m:sub>
                                </m:sSub>
                                <m:r>
                                  <a:rPr lang="en-GB" sz="800" b="1" i="1" noProof="0" smtClean="0">
                                    <a:latin typeface="Cambria Math" panose="02040503050406030204" pitchFamily="18" charset="0"/>
                                  </a:rPr>
                                  <m:t>&lt;</m:t>
                                </m:r>
                                <m:r>
                                  <a:rPr lang="en-GB" sz="800" b="1" i="1" noProof="0" smtClean="0">
                                    <a:latin typeface="Cambria Math" panose="02040503050406030204" pitchFamily="18" charset="0"/>
                                  </a:rPr>
                                  <m:t>𝑿</m:t>
                                </m:r>
                              </m:oMath>
                            </m:oMathPara>
                          </a14:m>
                          <a:endParaRPr lang="en-GB" sz="800" b="1" noProof="0" dirty="0"/>
                        </a:p>
                      </a:txBody>
                      <a:tcPr/>
                    </a:tc>
                    <a:extLst>
                      <a:ext uri="{0D108BD9-81ED-4DB2-BD59-A6C34878D82A}">
                        <a16:rowId xmlns:a16="http://schemas.microsoft.com/office/drawing/2014/main" val="262899253"/>
                      </a:ext>
                    </a:extLst>
                  </a:tr>
                  <a:tr h="252000">
                    <a:tc>
                      <a:txBody>
                        <a:bodyPr/>
                        <a:lstStyle/>
                        <a:p>
                          <a:pPr/>
                          <a14:m>
                            <m:oMathPara xmlns:m="http://schemas.openxmlformats.org/officeDocument/2006/math">
                              <m:oMathParaPr>
                                <m:jc m:val="left"/>
                              </m:oMathParaPr>
                              <m:oMath xmlns:m="http://schemas.openxmlformats.org/officeDocument/2006/math">
                                <m:sSub>
                                  <m:sSubPr>
                                    <m:ctrlPr>
                                      <a:rPr lang="en-GB" sz="800" b="0" i="1" noProof="0" smtClean="0">
                                        <a:latin typeface="Cambria Math" panose="02040503050406030204" pitchFamily="18" charset="0"/>
                                      </a:rPr>
                                    </m:ctrlPr>
                                  </m:sSubPr>
                                  <m:e>
                                    <m:r>
                                      <a:rPr lang="en-GB" sz="800" b="0" i="1" noProof="0" smtClean="0">
                                        <a:latin typeface="Cambria Math" panose="02040503050406030204" pitchFamily="18" charset="0"/>
                                      </a:rPr>
                                      <m:t>𝑉</m:t>
                                    </m:r>
                                  </m:e>
                                  <m:sub>
                                    <m:r>
                                      <a:rPr lang="en-GB" sz="800" b="0" i="1" noProof="0" smtClean="0">
                                        <a:latin typeface="Cambria Math" panose="02040503050406030204" pitchFamily="18" charset="0"/>
                                      </a:rPr>
                                      <m:t>𝐴</m:t>
                                    </m:r>
                                  </m:sub>
                                </m:sSub>
                                <m:r>
                                  <a:rPr lang="en-GB" sz="800" b="0" i="1" noProof="0" smtClean="0">
                                    <a:latin typeface="Cambria Math" panose="02040503050406030204" pitchFamily="18" charset="0"/>
                                  </a:rPr>
                                  <m:t>=</m:t>
                                </m:r>
                                <m:r>
                                  <a:rPr lang="en-GB" sz="800" b="0" i="0" noProof="0" smtClean="0">
                                    <a:latin typeface="Cambria Math" panose="02040503050406030204" pitchFamily="18" charset="0"/>
                                  </a:rPr>
                                  <m:t>3+30</m:t>
                                </m:r>
                                <m:sSup>
                                  <m:sSupPr>
                                    <m:ctrlPr>
                                      <a:rPr lang="en-GB" sz="800" b="0" i="1" noProof="0" smtClean="0">
                                        <a:latin typeface="Cambria Math" panose="02040503050406030204" pitchFamily="18" charset="0"/>
                                      </a:rPr>
                                    </m:ctrlPr>
                                  </m:sSupPr>
                                  <m:e>
                                    <m:r>
                                      <a:rPr lang="en-GB" sz="800" b="0" i="1" noProof="0" smtClean="0">
                                        <a:latin typeface="Cambria Math" panose="02040503050406030204" pitchFamily="18" charset="0"/>
                                      </a:rPr>
                                      <m:t>𝑒</m:t>
                                    </m:r>
                                  </m:e>
                                  <m:sup>
                                    <m:r>
                                      <a:rPr lang="en-GB" sz="800" b="0" i="1" noProof="0" smtClean="0">
                                        <a:latin typeface="Cambria Math" panose="02040503050406030204" pitchFamily="18" charset="0"/>
                                      </a:rPr>
                                      <m:t>−0.1</m:t>
                                    </m:r>
                                    <m:r>
                                      <a:rPr lang="en-GB" sz="800" b="0" i="1" noProof="0" smtClean="0">
                                        <a:latin typeface="Cambria Math" panose="02040503050406030204" pitchFamily="18" charset="0"/>
                                        <a:ea typeface="Cambria Math" panose="02040503050406030204" pitchFamily="18" charset="0"/>
                                      </a:rPr>
                                      <m:t>×0.25</m:t>
                                    </m:r>
                                  </m:sup>
                                </m:sSup>
                                <m:r>
                                  <a:rPr lang="en-GB" sz="800" b="0" i="1" noProof="0" smtClean="0">
                                    <a:latin typeface="Cambria Math" panose="02040503050406030204" pitchFamily="18" charset="0"/>
                                  </a:rPr>
                                  <m:t>=32.26</m:t>
                                </m:r>
                              </m:oMath>
                            </m:oMathPara>
                          </a14:m>
                          <a:endParaRPr lang="en-GB" sz="800" noProof="0" dirty="0"/>
                        </a:p>
                      </a:txBody>
                      <a:tcPr marT="0" marB="0" anchor="ctr"/>
                    </a:tc>
                    <a:tc>
                      <a:txBody>
                        <a:bodyPr/>
                        <a:lstStyle/>
                        <a:p>
                          <a:pPr algn="ctr"/>
                          <a:r>
                            <a:rPr lang="en-GB" sz="800" i="0" noProof="0" dirty="0">
                              <a:latin typeface="Cambria Math" panose="02040503050406030204" pitchFamily="18" charset="0"/>
                              <a:ea typeface="Cambria Math" panose="02040503050406030204" pitchFamily="18" charset="0"/>
                            </a:rPr>
                            <a:t>G</a:t>
                          </a:r>
                          <a:r>
                            <a:rPr lang="cs-CZ" sz="800" i="0" noProof="0" dirty="0">
                              <a:latin typeface="Cambria Math" panose="02040503050406030204" pitchFamily="18" charset="0"/>
                              <a:ea typeface="Cambria Math" panose="02040503050406030204" pitchFamily="18" charset="0"/>
                            </a:rPr>
                            <a:t>O SHORT</a:t>
                          </a:r>
                          <a:endParaRPr lang="en-GB" sz="800" i="0" noProof="0" dirty="0">
                            <a:latin typeface="Cambria Math" panose="02040503050406030204" pitchFamily="18" charset="0"/>
                            <a:ea typeface="Cambria Math" panose="02040503050406030204" pitchFamily="18" charset="0"/>
                          </a:endParaRPr>
                        </a:p>
                        <a:p>
                          <a:pPr algn="l"/>
                          <a:r>
                            <a:rPr lang="en-GB" sz="800" noProof="0" dirty="0">
                              <a:latin typeface="Cambria Math" panose="02040503050406030204" pitchFamily="18" charset="0"/>
                              <a:ea typeface="Cambria Math" panose="02040503050406030204" pitchFamily="18" charset="0"/>
                            </a:rPr>
                            <a:t>Sell call (+3)</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Counterparty exercises call</a:t>
                          </a:r>
                          <a:r>
                            <a:rPr lang="cs-CZ" sz="800" kern="1200" noProof="0" dirty="0">
                              <a:solidFill>
                                <a:schemeClr val="dk1"/>
                              </a:solidFill>
                              <a:latin typeface="Cambria Math" panose="02040503050406030204" pitchFamily="18" charset="0"/>
                              <a:ea typeface="Cambria Math" panose="02040503050406030204" pitchFamily="18" charset="0"/>
                              <a:cs typeface="+mn-cs"/>
                            </a:rPr>
                            <a:t>, </a:t>
                          </a:r>
                          <a:r>
                            <a:rPr lang="en-GB" sz="800" kern="1200" noProof="0" dirty="0">
                              <a:solidFill>
                                <a:schemeClr val="dk1"/>
                              </a:solidFill>
                              <a:latin typeface="Cambria Math" panose="02040503050406030204" pitchFamily="18" charset="0"/>
                              <a:ea typeface="Cambria Math" panose="02040503050406030204" pitchFamily="18" charset="0"/>
                              <a:cs typeface="+mn-cs"/>
                            </a:rPr>
                            <a:t>sell share for 30 </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 Worthless call</a:t>
                          </a:r>
                        </a:p>
                      </a:txBody>
                      <a:tcPr anchor="ctr"/>
                    </a:tc>
                    <a:extLst>
                      <a:ext uri="{0D108BD9-81ED-4DB2-BD59-A6C34878D82A}">
                        <a16:rowId xmlns:a16="http://schemas.microsoft.com/office/drawing/2014/main" val="387667018"/>
                      </a:ext>
                    </a:extLst>
                  </a:tr>
                  <a:tr h="252000">
                    <a:tc>
                      <a:txBody>
                        <a:bodyPr/>
                        <a:lstStyle/>
                        <a:p>
                          <a:pPr/>
                          <a14:m>
                            <m:oMathPara xmlns:m="http://schemas.openxmlformats.org/officeDocument/2006/math">
                              <m:oMathParaPr>
                                <m:jc m:val="left"/>
                              </m:oMathParaPr>
                              <m:oMath xmlns:m="http://schemas.openxmlformats.org/officeDocument/2006/math">
                                <m:sSub>
                                  <m:sSubPr>
                                    <m:ctrlPr>
                                      <a:rPr lang="en-GB" sz="800" b="0" i="1" noProof="0" smtClean="0">
                                        <a:latin typeface="Cambria Math" panose="02040503050406030204" pitchFamily="18" charset="0"/>
                                      </a:rPr>
                                    </m:ctrlPr>
                                  </m:sSubPr>
                                  <m:e>
                                    <m:r>
                                      <a:rPr lang="en-GB" sz="800" b="0" i="1" noProof="0" smtClean="0">
                                        <a:latin typeface="Cambria Math" panose="02040503050406030204" pitchFamily="18" charset="0"/>
                                      </a:rPr>
                                      <m:t>𝑉</m:t>
                                    </m:r>
                                  </m:e>
                                  <m:sub>
                                    <m:r>
                                      <a:rPr lang="en-GB" sz="800" b="0" i="1" noProof="0" smtClean="0">
                                        <a:latin typeface="Cambria Math" panose="02040503050406030204" pitchFamily="18" charset="0"/>
                                      </a:rPr>
                                      <m:t>𝐵</m:t>
                                    </m:r>
                                  </m:sub>
                                </m:sSub>
                                <m:r>
                                  <a:rPr lang="en-GB" sz="800" b="0" i="1" noProof="0" smtClean="0">
                                    <a:latin typeface="Cambria Math" panose="02040503050406030204" pitchFamily="18" charset="0"/>
                                  </a:rPr>
                                  <m:t>=1+31=32</m:t>
                                </m:r>
                              </m:oMath>
                            </m:oMathPara>
                          </a14:m>
                          <a:endParaRPr lang="en-GB" sz="800" noProof="0" dirty="0"/>
                        </a:p>
                      </a:txBody>
                      <a:tcPr marT="0" marB="0" anchor="ctr"/>
                    </a:tc>
                    <a:tc>
                      <a:txBody>
                        <a:bodyPr/>
                        <a:lstStyle/>
                        <a:p>
                          <a:pPr algn="ctr"/>
                          <a:r>
                            <a:rPr lang="en-GB" sz="800" i="0" kern="1200" noProof="0" dirty="0">
                              <a:solidFill>
                                <a:schemeClr val="dk1"/>
                              </a:solidFill>
                              <a:latin typeface="Cambria Math" panose="02040503050406030204" pitchFamily="18" charset="0"/>
                              <a:ea typeface="Cambria Math" panose="02040503050406030204" pitchFamily="18" charset="0"/>
                              <a:cs typeface="+mn-cs"/>
                            </a:rPr>
                            <a:t>G</a:t>
                          </a:r>
                          <a:r>
                            <a:rPr lang="cs-CZ" sz="800" i="0" kern="1200" noProof="0" dirty="0">
                              <a:solidFill>
                                <a:schemeClr val="dk1"/>
                              </a:solidFill>
                              <a:latin typeface="Cambria Math" panose="02040503050406030204" pitchFamily="18" charset="0"/>
                              <a:ea typeface="Cambria Math" panose="02040503050406030204" pitchFamily="18" charset="0"/>
                              <a:cs typeface="+mn-cs"/>
                            </a:rPr>
                            <a:t>O LONG</a:t>
                          </a:r>
                          <a:endParaRPr lang="en-GB" sz="800" i="0" kern="1200" noProof="0" dirty="0">
                            <a:solidFill>
                              <a:schemeClr val="dk1"/>
                            </a:solidFill>
                            <a:latin typeface="Cambria Math" panose="02040503050406030204" pitchFamily="18" charset="0"/>
                            <a:ea typeface="Cambria Math" panose="02040503050406030204" pitchFamily="18" charset="0"/>
                            <a:cs typeface="+mn-cs"/>
                          </a:endParaRPr>
                        </a:p>
                        <a:p>
                          <a:r>
                            <a:rPr lang="en-GB" sz="800" noProof="0" dirty="0">
                              <a:latin typeface="Cambria Math" panose="02040503050406030204" pitchFamily="18" charset="0"/>
                              <a:ea typeface="Cambria Math" panose="02040503050406030204" pitchFamily="18" charset="0"/>
                            </a:rPr>
                            <a:t>Buy put (‒1), buy share (‒31)</a:t>
                          </a:r>
                          <a:endParaRPr lang="en-GB" sz="800" kern="1200" noProof="0" dirty="0">
                            <a:solidFill>
                              <a:schemeClr val="dk1"/>
                            </a:solidFill>
                            <a:latin typeface="Cambria Math" panose="02040503050406030204" pitchFamily="18" charset="0"/>
                            <a:ea typeface="Cambria Math" panose="02040503050406030204" pitchFamily="18" charset="0"/>
                            <a:cs typeface="+mn-cs"/>
                          </a:endParaRP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Worthless put</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Exercise put</a:t>
                          </a:r>
                          <a:r>
                            <a:rPr lang="cs-CZ" sz="800" kern="1200" noProof="0" dirty="0">
                              <a:solidFill>
                                <a:schemeClr val="dk1"/>
                              </a:solidFill>
                              <a:latin typeface="Cambria Math" panose="02040503050406030204" pitchFamily="18" charset="0"/>
                              <a:ea typeface="Cambria Math" panose="02040503050406030204" pitchFamily="18" charset="0"/>
                              <a:cs typeface="+mn-cs"/>
                            </a:rPr>
                            <a:t>, </a:t>
                          </a:r>
                          <a:r>
                            <a:rPr lang="en-GB" sz="800" kern="1200" noProof="0" dirty="0">
                              <a:solidFill>
                                <a:schemeClr val="dk1"/>
                              </a:solidFill>
                              <a:latin typeface="Cambria Math" panose="02040503050406030204" pitchFamily="18" charset="0"/>
                              <a:ea typeface="Cambria Math" panose="02040503050406030204" pitchFamily="18" charset="0"/>
                              <a:cs typeface="+mn-cs"/>
                            </a:rPr>
                            <a:t>sell share for 30</a:t>
                          </a:r>
                        </a:p>
                      </a:txBody>
                      <a:tcPr marT="0" marB="0" anchor="ctr"/>
                    </a:tc>
                    <a:extLst>
                      <a:ext uri="{0D108BD9-81ED-4DB2-BD59-A6C34878D82A}">
                        <a16:rowId xmlns:a16="http://schemas.microsoft.com/office/drawing/2014/main" val="895696121"/>
                      </a:ext>
                    </a:extLst>
                  </a:tr>
                  <a:tr h="252000">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Cash</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Borrow missing amount (</a:t>
                          </a:r>
                          <a:r>
                            <a:rPr lang="cs-CZ" sz="800" kern="1200" noProof="0" dirty="0">
                              <a:solidFill>
                                <a:schemeClr val="dk1"/>
                              </a:solidFill>
                              <a:latin typeface="Cambria Math" panose="02040503050406030204" pitchFamily="18" charset="0"/>
                              <a:ea typeface="Cambria Math" panose="02040503050406030204" pitchFamily="18" charset="0"/>
                              <a:cs typeface="+mn-cs"/>
                            </a:rPr>
                            <a:t>3‒1‒31=‒</a:t>
                          </a:r>
                          <a:r>
                            <a:rPr lang="en-GB" sz="800" kern="1200" noProof="0" dirty="0">
                              <a:solidFill>
                                <a:schemeClr val="dk1"/>
                              </a:solidFill>
                              <a:latin typeface="Cambria Math" panose="02040503050406030204" pitchFamily="18" charset="0"/>
                              <a:ea typeface="Cambria Math" panose="02040503050406030204" pitchFamily="18" charset="0"/>
                              <a:cs typeface="+mn-cs"/>
                            </a:rPr>
                            <a:t>29) at risk-free interest rate</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Repay debt (</a:t>
                          </a:r>
                          <a:r>
                            <a:rPr lang="en-GB" sz="800" noProof="0" dirty="0">
                              <a:latin typeface="Cambria Math" panose="02040503050406030204" pitchFamily="18" charset="0"/>
                              <a:ea typeface="Cambria Math" panose="02040503050406030204" pitchFamily="18" charset="0"/>
                            </a:rPr>
                            <a:t>‒29.73</a:t>
                          </a:r>
                          <a:r>
                            <a:rPr lang="en-GB" sz="800" kern="1200" noProof="0" dirty="0">
                              <a:solidFill>
                                <a:schemeClr val="dk1"/>
                              </a:solidFill>
                              <a:latin typeface="Cambria Math" panose="02040503050406030204" pitchFamily="18" charset="0"/>
                              <a:ea typeface="Cambria Math" panose="02040503050406030204" pitchFamily="18" charset="0"/>
                              <a:cs typeface="+mn-cs"/>
                            </a:rPr>
                            <a:t>)</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Repay debt (</a:t>
                          </a:r>
                          <a:r>
                            <a:rPr lang="en-GB" sz="800" noProof="0" dirty="0">
                              <a:latin typeface="Cambria Math" panose="02040503050406030204" pitchFamily="18" charset="0"/>
                              <a:ea typeface="Cambria Math" panose="02040503050406030204" pitchFamily="18" charset="0"/>
                            </a:rPr>
                            <a:t>‒29.73</a:t>
                          </a:r>
                          <a:r>
                            <a:rPr lang="en-GB" sz="800" kern="1200" noProof="0" dirty="0">
                              <a:solidFill>
                                <a:schemeClr val="dk1"/>
                              </a:solidFill>
                              <a:latin typeface="Cambria Math" panose="02040503050406030204" pitchFamily="18" charset="0"/>
                              <a:ea typeface="Cambria Math" panose="02040503050406030204" pitchFamily="18" charset="0"/>
                              <a:cs typeface="+mn-cs"/>
                            </a:rPr>
                            <a:t>)</a:t>
                          </a:r>
                        </a:p>
                      </a:txBody>
                      <a:tcPr marT="0" marB="0" anchor="ctr"/>
                    </a:tc>
                    <a:extLst>
                      <a:ext uri="{0D108BD9-81ED-4DB2-BD59-A6C34878D82A}">
                        <a16:rowId xmlns:a16="http://schemas.microsoft.com/office/drawing/2014/main" val="2580401688"/>
                      </a:ext>
                    </a:extLst>
                  </a:tr>
                  <a:tr h="252000">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Net balance</a:t>
                          </a:r>
                        </a:p>
                      </a:txBody>
                      <a:tcPr marT="0" marB="0" anchor="ctr"/>
                    </a:tc>
                    <a:tc>
                      <a:txBody>
                        <a:bodyPr/>
                        <a:lstStyle/>
                        <a:p>
                          <a:r>
                            <a:rPr lang="cs-CZ" sz="800" kern="1200" noProof="0" dirty="0">
                              <a:solidFill>
                                <a:schemeClr val="dk1"/>
                              </a:solidFill>
                              <a:latin typeface="Cambria Math" panose="02040503050406030204" pitchFamily="18" charset="0"/>
                              <a:ea typeface="Cambria Math" panose="02040503050406030204" pitchFamily="18" charset="0"/>
                              <a:cs typeface="+mn-cs"/>
                            </a:rPr>
                            <a:t>‒29 + 29 = </a:t>
                          </a:r>
                          <a:r>
                            <a:rPr lang="en-GB" sz="800" kern="1200" noProof="0" dirty="0">
                              <a:solidFill>
                                <a:schemeClr val="dk1"/>
                              </a:solidFill>
                              <a:latin typeface="Cambria Math" panose="02040503050406030204" pitchFamily="18" charset="0"/>
                              <a:ea typeface="Cambria Math" panose="02040503050406030204" pitchFamily="18" charset="0"/>
                              <a:cs typeface="+mn-cs"/>
                            </a:rPr>
                            <a:t>0</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+30 </a:t>
                          </a:r>
                          <a:r>
                            <a:rPr lang="en-GB" sz="800" noProof="0" dirty="0">
                              <a:latin typeface="Cambria Math" panose="02040503050406030204" pitchFamily="18" charset="0"/>
                              <a:ea typeface="Cambria Math" panose="02040503050406030204" pitchFamily="18" charset="0"/>
                            </a:rPr>
                            <a:t>‒ 29.73</a:t>
                          </a:r>
                          <a:r>
                            <a:rPr lang="en-GB" sz="800" kern="1200" noProof="0" dirty="0">
                              <a:solidFill>
                                <a:schemeClr val="dk1"/>
                              </a:solidFill>
                              <a:latin typeface="Cambria Math" panose="02040503050406030204" pitchFamily="18" charset="0"/>
                              <a:ea typeface="Cambria Math" panose="02040503050406030204" pitchFamily="18" charset="0"/>
                              <a:cs typeface="+mn-cs"/>
                            </a:rPr>
                            <a:t> = +0.27</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+30 </a:t>
                          </a:r>
                          <a:r>
                            <a:rPr lang="en-GB" sz="800" noProof="0" dirty="0">
                              <a:latin typeface="Cambria Math" panose="02040503050406030204" pitchFamily="18" charset="0"/>
                              <a:ea typeface="Cambria Math" panose="02040503050406030204" pitchFamily="18" charset="0"/>
                            </a:rPr>
                            <a:t>‒ 29.73</a:t>
                          </a:r>
                          <a:r>
                            <a:rPr lang="en-GB" sz="800" kern="1200" noProof="0" dirty="0">
                              <a:solidFill>
                                <a:schemeClr val="dk1"/>
                              </a:solidFill>
                              <a:latin typeface="Cambria Math" panose="02040503050406030204" pitchFamily="18" charset="0"/>
                              <a:ea typeface="Cambria Math" panose="02040503050406030204" pitchFamily="18" charset="0"/>
                              <a:cs typeface="+mn-cs"/>
                            </a:rPr>
                            <a:t> = +0.27</a:t>
                          </a:r>
                        </a:p>
                      </a:txBody>
                      <a:tcPr marT="0" marB="0" anchor="ctr"/>
                    </a:tc>
                    <a:extLst>
                      <a:ext uri="{0D108BD9-81ED-4DB2-BD59-A6C34878D82A}">
                        <a16:rowId xmlns:a16="http://schemas.microsoft.com/office/drawing/2014/main" val="421386793"/>
                      </a:ext>
                    </a:extLst>
                  </a:tr>
                </a:tbl>
              </a:graphicData>
            </a:graphic>
          </p:graphicFrame>
        </mc:Choice>
        <mc:Fallback xmlns="">
          <p:graphicFrame>
            <p:nvGraphicFramePr>
              <p:cNvPr id="10" name="Tabulka 9">
                <a:extLst>
                  <a:ext uri="{FF2B5EF4-FFF2-40B4-BE49-F238E27FC236}">
                    <a16:creationId xmlns:a16="http://schemas.microsoft.com/office/drawing/2014/main" id="{DB328FCE-7686-2458-5B7A-702B44F9B3F5}"/>
                  </a:ext>
                </a:extLst>
              </p:cNvPr>
              <p:cNvGraphicFramePr>
                <a:graphicFrameLocks noGrp="1"/>
              </p:cNvGraphicFramePr>
              <p:nvPr>
                <p:extLst>
                  <p:ext uri="{D42A27DB-BD31-4B8C-83A1-F6EECF244321}">
                    <p14:modId xmlns:p14="http://schemas.microsoft.com/office/powerpoint/2010/main" val="2953319635"/>
                  </p:ext>
                </p:extLst>
              </p:nvPr>
            </p:nvGraphicFramePr>
            <p:xfrm>
              <a:off x="1296000" y="3103968"/>
              <a:ext cx="6983527" cy="1548000"/>
            </p:xfrm>
            <a:graphic>
              <a:graphicData uri="http://schemas.openxmlformats.org/drawingml/2006/table">
                <a:tbl>
                  <a:tblPr firstRow="1" bandRow="1">
                    <a:tableStyleId>{5C22544A-7EE6-4342-B048-85BDC9FD1C3A}</a:tableStyleId>
                  </a:tblPr>
                  <a:tblGrid>
                    <a:gridCol w="1539957">
                      <a:extLst>
                        <a:ext uri="{9D8B030D-6E8A-4147-A177-3AD203B41FA5}">
                          <a16:colId xmlns:a16="http://schemas.microsoft.com/office/drawing/2014/main" val="3036616937"/>
                        </a:ext>
                      </a:extLst>
                    </a:gridCol>
                    <a:gridCol w="2220404">
                      <a:extLst>
                        <a:ext uri="{9D8B030D-6E8A-4147-A177-3AD203B41FA5}">
                          <a16:colId xmlns:a16="http://schemas.microsoft.com/office/drawing/2014/main" val="2208154657"/>
                        </a:ext>
                      </a:extLst>
                    </a:gridCol>
                    <a:gridCol w="1611583">
                      <a:extLst>
                        <a:ext uri="{9D8B030D-6E8A-4147-A177-3AD203B41FA5}">
                          <a16:colId xmlns:a16="http://schemas.microsoft.com/office/drawing/2014/main" val="3026091146"/>
                        </a:ext>
                      </a:extLst>
                    </a:gridCol>
                    <a:gridCol w="1611583">
                      <a:extLst>
                        <a:ext uri="{9D8B030D-6E8A-4147-A177-3AD203B41FA5}">
                          <a16:colId xmlns:a16="http://schemas.microsoft.com/office/drawing/2014/main" val="1590493125"/>
                        </a:ext>
                      </a:extLst>
                    </a:gridCol>
                  </a:tblGrid>
                  <a:tr h="288000">
                    <a:tc gridSpan="4">
                      <a:txBody>
                        <a:bodyPr/>
                        <a:lstStyle/>
                        <a:p>
                          <a:endParaRPr lang="en-US"/>
                        </a:p>
                      </a:txBody>
                      <a:tcPr anchor="ctr">
                        <a:blipFill>
                          <a:blip r:embed="rId16"/>
                          <a:stretch>
                            <a:fillRect l="-87" t="-2128" r="-349" b="-446809"/>
                          </a:stretch>
                        </a:blipFill>
                      </a:tcPr>
                    </a:tc>
                    <a:tc hMerge="1">
                      <a:txBody>
                        <a:bodyPr/>
                        <a:lstStyle/>
                        <a:p>
                          <a:endParaRPr lang="en-GB" dirty="0"/>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3916840126"/>
                      </a:ext>
                    </a:extLst>
                  </a:tr>
                  <a:tr h="252000">
                    <a:tc>
                      <a:txBody>
                        <a:bodyPr/>
                        <a:lstStyle/>
                        <a:p>
                          <a:pPr algn="ctr"/>
                          <a:r>
                            <a:rPr lang="en-GB" sz="800" b="1" kern="1200" noProof="0" dirty="0">
                              <a:solidFill>
                                <a:schemeClr val="dk1"/>
                              </a:solidFill>
                              <a:latin typeface="Cambria Math" panose="02040503050406030204" pitchFamily="18" charset="0"/>
                              <a:ea typeface="Cambria Math" panose="02040503050406030204" pitchFamily="18" charset="0"/>
                              <a:cs typeface="+mn-cs"/>
                            </a:rPr>
                            <a:t>Current portfolio value</a:t>
                          </a:r>
                        </a:p>
                      </a:txBody>
                      <a:tcPr marT="0" marB="0" anchor="ctr"/>
                    </a:tc>
                    <a:tc>
                      <a:txBody>
                        <a:bodyPr/>
                        <a:lstStyle/>
                        <a:p>
                          <a:pPr algn="ctr"/>
                          <a:r>
                            <a:rPr lang="en-GB" sz="800" b="1" noProof="0" dirty="0">
                              <a:latin typeface="Cambria Math" panose="02040503050406030204" pitchFamily="18" charset="0"/>
                              <a:ea typeface="Cambria Math" panose="02040503050406030204" pitchFamily="18" charset="0"/>
                            </a:rPr>
                            <a:t>Arbitrage strategy</a:t>
                          </a:r>
                        </a:p>
                      </a:txBody>
                      <a:tcPr anchor="ctr"/>
                    </a:tc>
                    <a:tc>
                      <a:txBody>
                        <a:bodyPr/>
                        <a:lstStyle/>
                        <a:p>
                          <a:endParaRPr lang="en-US"/>
                        </a:p>
                      </a:txBody>
                      <a:tcPr>
                        <a:blipFill>
                          <a:blip r:embed="rId16"/>
                          <a:stretch>
                            <a:fillRect l="-234470" t="-114286" r="-101894" b="-400000"/>
                          </a:stretch>
                        </a:blipFill>
                      </a:tcPr>
                    </a:tc>
                    <a:tc>
                      <a:txBody>
                        <a:bodyPr/>
                        <a:lstStyle/>
                        <a:p>
                          <a:endParaRPr lang="en-US"/>
                        </a:p>
                      </a:txBody>
                      <a:tcPr>
                        <a:blipFill>
                          <a:blip r:embed="rId16"/>
                          <a:stretch>
                            <a:fillRect l="-333208" t="-114286" r="-1509" b="-400000"/>
                          </a:stretch>
                        </a:blipFill>
                      </a:tcPr>
                    </a:tc>
                    <a:extLst>
                      <a:ext uri="{0D108BD9-81ED-4DB2-BD59-A6C34878D82A}">
                        <a16:rowId xmlns:a16="http://schemas.microsoft.com/office/drawing/2014/main" val="262899253"/>
                      </a:ext>
                    </a:extLst>
                  </a:tr>
                  <a:tr h="252000">
                    <a:tc>
                      <a:txBody>
                        <a:bodyPr/>
                        <a:lstStyle/>
                        <a:p>
                          <a:endParaRPr lang="en-US"/>
                        </a:p>
                      </a:txBody>
                      <a:tcPr marT="0" marB="0" anchor="ctr">
                        <a:blipFill>
                          <a:blip r:embed="rId16"/>
                          <a:stretch>
                            <a:fillRect l="-395" t="-219512" r="-354941" b="-309756"/>
                          </a:stretch>
                        </a:blipFill>
                      </a:tcPr>
                    </a:tc>
                    <a:tc>
                      <a:txBody>
                        <a:bodyPr/>
                        <a:lstStyle/>
                        <a:p>
                          <a:pPr algn="ctr"/>
                          <a:r>
                            <a:rPr lang="en-GB" sz="800" i="0" noProof="0" dirty="0">
                              <a:latin typeface="Cambria Math" panose="02040503050406030204" pitchFamily="18" charset="0"/>
                              <a:ea typeface="Cambria Math" panose="02040503050406030204" pitchFamily="18" charset="0"/>
                            </a:rPr>
                            <a:t>G</a:t>
                          </a:r>
                          <a:r>
                            <a:rPr lang="cs-CZ" sz="800" i="0" noProof="0" dirty="0">
                              <a:latin typeface="Cambria Math" panose="02040503050406030204" pitchFamily="18" charset="0"/>
                              <a:ea typeface="Cambria Math" panose="02040503050406030204" pitchFamily="18" charset="0"/>
                            </a:rPr>
                            <a:t>O SHORT</a:t>
                          </a:r>
                          <a:endParaRPr lang="en-GB" sz="800" i="0" noProof="0" dirty="0">
                            <a:latin typeface="Cambria Math" panose="02040503050406030204" pitchFamily="18" charset="0"/>
                            <a:ea typeface="Cambria Math" panose="02040503050406030204" pitchFamily="18" charset="0"/>
                          </a:endParaRPr>
                        </a:p>
                        <a:p>
                          <a:pPr algn="l"/>
                          <a:r>
                            <a:rPr lang="en-GB" sz="800" noProof="0" dirty="0">
                              <a:latin typeface="Cambria Math" panose="02040503050406030204" pitchFamily="18" charset="0"/>
                              <a:ea typeface="Cambria Math" panose="02040503050406030204" pitchFamily="18" charset="0"/>
                            </a:rPr>
                            <a:t>Sell call (+3)</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Counterparty exercises call</a:t>
                          </a:r>
                          <a:r>
                            <a:rPr lang="cs-CZ" sz="800" kern="1200" noProof="0" dirty="0">
                              <a:solidFill>
                                <a:schemeClr val="dk1"/>
                              </a:solidFill>
                              <a:latin typeface="Cambria Math" panose="02040503050406030204" pitchFamily="18" charset="0"/>
                              <a:ea typeface="Cambria Math" panose="02040503050406030204" pitchFamily="18" charset="0"/>
                              <a:cs typeface="+mn-cs"/>
                            </a:rPr>
                            <a:t>, </a:t>
                          </a:r>
                          <a:r>
                            <a:rPr lang="en-GB" sz="800" kern="1200" noProof="0" dirty="0">
                              <a:solidFill>
                                <a:schemeClr val="dk1"/>
                              </a:solidFill>
                              <a:latin typeface="Cambria Math" panose="02040503050406030204" pitchFamily="18" charset="0"/>
                              <a:ea typeface="Cambria Math" panose="02040503050406030204" pitchFamily="18" charset="0"/>
                              <a:cs typeface="+mn-cs"/>
                            </a:rPr>
                            <a:t>sell share for 30 </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 Worthless call</a:t>
                          </a:r>
                        </a:p>
                      </a:txBody>
                      <a:tcPr anchor="ctr"/>
                    </a:tc>
                    <a:extLst>
                      <a:ext uri="{0D108BD9-81ED-4DB2-BD59-A6C34878D82A}">
                        <a16:rowId xmlns:a16="http://schemas.microsoft.com/office/drawing/2014/main" val="387667018"/>
                      </a:ext>
                    </a:extLst>
                  </a:tr>
                  <a:tr h="252000">
                    <a:tc>
                      <a:txBody>
                        <a:bodyPr/>
                        <a:lstStyle/>
                        <a:p>
                          <a:endParaRPr lang="en-US"/>
                        </a:p>
                      </a:txBody>
                      <a:tcPr marT="0" marB="0" anchor="ctr">
                        <a:blipFill>
                          <a:blip r:embed="rId16"/>
                          <a:stretch>
                            <a:fillRect l="-395" t="-311905" r="-354941" b="-202381"/>
                          </a:stretch>
                        </a:blipFill>
                      </a:tcPr>
                    </a:tc>
                    <a:tc>
                      <a:txBody>
                        <a:bodyPr/>
                        <a:lstStyle/>
                        <a:p>
                          <a:pPr algn="ctr"/>
                          <a:r>
                            <a:rPr lang="en-GB" sz="800" i="0" kern="1200" noProof="0" dirty="0">
                              <a:solidFill>
                                <a:schemeClr val="dk1"/>
                              </a:solidFill>
                              <a:latin typeface="Cambria Math" panose="02040503050406030204" pitchFamily="18" charset="0"/>
                              <a:ea typeface="Cambria Math" panose="02040503050406030204" pitchFamily="18" charset="0"/>
                              <a:cs typeface="+mn-cs"/>
                            </a:rPr>
                            <a:t>G</a:t>
                          </a:r>
                          <a:r>
                            <a:rPr lang="cs-CZ" sz="800" i="0" kern="1200" noProof="0" dirty="0">
                              <a:solidFill>
                                <a:schemeClr val="dk1"/>
                              </a:solidFill>
                              <a:latin typeface="Cambria Math" panose="02040503050406030204" pitchFamily="18" charset="0"/>
                              <a:ea typeface="Cambria Math" panose="02040503050406030204" pitchFamily="18" charset="0"/>
                              <a:cs typeface="+mn-cs"/>
                            </a:rPr>
                            <a:t>O LONG</a:t>
                          </a:r>
                          <a:endParaRPr lang="en-GB" sz="800" i="0" kern="1200" noProof="0" dirty="0">
                            <a:solidFill>
                              <a:schemeClr val="dk1"/>
                            </a:solidFill>
                            <a:latin typeface="Cambria Math" panose="02040503050406030204" pitchFamily="18" charset="0"/>
                            <a:ea typeface="Cambria Math" panose="02040503050406030204" pitchFamily="18" charset="0"/>
                            <a:cs typeface="+mn-cs"/>
                          </a:endParaRPr>
                        </a:p>
                        <a:p>
                          <a:r>
                            <a:rPr lang="en-GB" sz="800" noProof="0" dirty="0">
                              <a:latin typeface="Cambria Math" panose="02040503050406030204" pitchFamily="18" charset="0"/>
                              <a:ea typeface="Cambria Math" panose="02040503050406030204" pitchFamily="18" charset="0"/>
                            </a:rPr>
                            <a:t>Buy put (‒1), buy share (‒31)</a:t>
                          </a:r>
                          <a:endParaRPr lang="en-GB" sz="800" kern="1200" noProof="0" dirty="0">
                            <a:solidFill>
                              <a:schemeClr val="dk1"/>
                            </a:solidFill>
                            <a:latin typeface="Cambria Math" panose="02040503050406030204" pitchFamily="18" charset="0"/>
                            <a:ea typeface="Cambria Math" panose="02040503050406030204" pitchFamily="18" charset="0"/>
                            <a:cs typeface="+mn-cs"/>
                          </a:endParaRP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Worthless put</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Exercise put</a:t>
                          </a:r>
                          <a:r>
                            <a:rPr lang="cs-CZ" sz="800" kern="1200" noProof="0" dirty="0">
                              <a:solidFill>
                                <a:schemeClr val="dk1"/>
                              </a:solidFill>
                              <a:latin typeface="Cambria Math" panose="02040503050406030204" pitchFamily="18" charset="0"/>
                              <a:ea typeface="Cambria Math" panose="02040503050406030204" pitchFamily="18" charset="0"/>
                              <a:cs typeface="+mn-cs"/>
                            </a:rPr>
                            <a:t>, </a:t>
                          </a:r>
                          <a:r>
                            <a:rPr lang="en-GB" sz="800" kern="1200" noProof="0" dirty="0">
                              <a:solidFill>
                                <a:schemeClr val="dk1"/>
                              </a:solidFill>
                              <a:latin typeface="Cambria Math" panose="02040503050406030204" pitchFamily="18" charset="0"/>
                              <a:ea typeface="Cambria Math" panose="02040503050406030204" pitchFamily="18" charset="0"/>
                              <a:cs typeface="+mn-cs"/>
                            </a:rPr>
                            <a:t>sell share for 30</a:t>
                          </a:r>
                        </a:p>
                      </a:txBody>
                      <a:tcPr marT="0" marB="0" anchor="ctr"/>
                    </a:tc>
                    <a:extLst>
                      <a:ext uri="{0D108BD9-81ED-4DB2-BD59-A6C34878D82A}">
                        <a16:rowId xmlns:a16="http://schemas.microsoft.com/office/drawing/2014/main" val="895696121"/>
                      </a:ext>
                    </a:extLst>
                  </a:tr>
                  <a:tr h="252000">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Cash</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Borrow missing amount (</a:t>
                          </a:r>
                          <a:r>
                            <a:rPr lang="cs-CZ" sz="800" kern="1200" noProof="0" dirty="0">
                              <a:solidFill>
                                <a:schemeClr val="dk1"/>
                              </a:solidFill>
                              <a:latin typeface="Cambria Math" panose="02040503050406030204" pitchFamily="18" charset="0"/>
                              <a:ea typeface="Cambria Math" panose="02040503050406030204" pitchFamily="18" charset="0"/>
                              <a:cs typeface="+mn-cs"/>
                            </a:rPr>
                            <a:t>3‒1‒31=‒</a:t>
                          </a:r>
                          <a:r>
                            <a:rPr lang="en-GB" sz="800" kern="1200" noProof="0" dirty="0">
                              <a:solidFill>
                                <a:schemeClr val="dk1"/>
                              </a:solidFill>
                              <a:latin typeface="Cambria Math" panose="02040503050406030204" pitchFamily="18" charset="0"/>
                              <a:ea typeface="Cambria Math" panose="02040503050406030204" pitchFamily="18" charset="0"/>
                              <a:cs typeface="+mn-cs"/>
                            </a:rPr>
                            <a:t>29) at risk-free interest rate</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Repay debt (</a:t>
                          </a:r>
                          <a:r>
                            <a:rPr lang="en-GB" sz="800" noProof="0" dirty="0">
                              <a:latin typeface="Cambria Math" panose="02040503050406030204" pitchFamily="18" charset="0"/>
                              <a:ea typeface="Cambria Math" panose="02040503050406030204" pitchFamily="18" charset="0"/>
                            </a:rPr>
                            <a:t>‒29.73</a:t>
                          </a:r>
                          <a:r>
                            <a:rPr lang="en-GB" sz="800" kern="1200" noProof="0" dirty="0">
                              <a:solidFill>
                                <a:schemeClr val="dk1"/>
                              </a:solidFill>
                              <a:latin typeface="Cambria Math" panose="02040503050406030204" pitchFamily="18" charset="0"/>
                              <a:ea typeface="Cambria Math" panose="02040503050406030204" pitchFamily="18" charset="0"/>
                              <a:cs typeface="+mn-cs"/>
                            </a:rPr>
                            <a:t>)</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Repay debt (</a:t>
                          </a:r>
                          <a:r>
                            <a:rPr lang="en-GB" sz="800" noProof="0" dirty="0">
                              <a:latin typeface="Cambria Math" panose="02040503050406030204" pitchFamily="18" charset="0"/>
                              <a:ea typeface="Cambria Math" panose="02040503050406030204" pitchFamily="18" charset="0"/>
                            </a:rPr>
                            <a:t>‒29.73</a:t>
                          </a:r>
                          <a:r>
                            <a:rPr lang="en-GB" sz="800" kern="1200" noProof="0" dirty="0">
                              <a:solidFill>
                                <a:schemeClr val="dk1"/>
                              </a:solidFill>
                              <a:latin typeface="Cambria Math" panose="02040503050406030204" pitchFamily="18" charset="0"/>
                              <a:ea typeface="Cambria Math" panose="02040503050406030204" pitchFamily="18" charset="0"/>
                              <a:cs typeface="+mn-cs"/>
                            </a:rPr>
                            <a:t>)</a:t>
                          </a:r>
                        </a:p>
                      </a:txBody>
                      <a:tcPr marT="0" marB="0" anchor="ctr"/>
                    </a:tc>
                    <a:extLst>
                      <a:ext uri="{0D108BD9-81ED-4DB2-BD59-A6C34878D82A}">
                        <a16:rowId xmlns:a16="http://schemas.microsoft.com/office/drawing/2014/main" val="2580401688"/>
                      </a:ext>
                    </a:extLst>
                  </a:tr>
                  <a:tr h="252000">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Net balance</a:t>
                          </a:r>
                        </a:p>
                      </a:txBody>
                      <a:tcPr marT="0" marB="0" anchor="ctr"/>
                    </a:tc>
                    <a:tc>
                      <a:txBody>
                        <a:bodyPr/>
                        <a:lstStyle/>
                        <a:p>
                          <a:r>
                            <a:rPr lang="cs-CZ" sz="800" kern="1200" noProof="0" dirty="0">
                              <a:solidFill>
                                <a:schemeClr val="dk1"/>
                              </a:solidFill>
                              <a:latin typeface="Cambria Math" panose="02040503050406030204" pitchFamily="18" charset="0"/>
                              <a:ea typeface="Cambria Math" panose="02040503050406030204" pitchFamily="18" charset="0"/>
                              <a:cs typeface="+mn-cs"/>
                            </a:rPr>
                            <a:t>‒29 + 29 = </a:t>
                          </a:r>
                          <a:r>
                            <a:rPr lang="en-GB" sz="800" kern="1200" noProof="0" dirty="0">
                              <a:solidFill>
                                <a:schemeClr val="dk1"/>
                              </a:solidFill>
                              <a:latin typeface="Cambria Math" panose="02040503050406030204" pitchFamily="18" charset="0"/>
                              <a:ea typeface="Cambria Math" panose="02040503050406030204" pitchFamily="18" charset="0"/>
                              <a:cs typeface="+mn-cs"/>
                            </a:rPr>
                            <a:t>0</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+30 </a:t>
                          </a:r>
                          <a:r>
                            <a:rPr lang="en-GB" sz="800" noProof="0" dirty="0">
                              <a:latin typeface="Cambria Math" panose="02040503050406030204" pitchFamily="18" charset="0"/>
                              <a:ea typeface="Cambria Math" panose="02040503050406030204" pitchFamily="18" charset="0"/>
                            </a:rPr>
                            <a:t>‒ 29.73</a:t>
                          </a:r>
                          <a:r>
                            <a:rPr lang="en-GB" sz="800" kern="1200" noProof="0" dirty="0">
                              <a:solidFill>
                                <a:schemeClr val="dk1"/>
                              </a:solidFill>
                              <a:latin typeface="Cambria Math" panose="02040503050406030204" pitchFamily="18" charset="0"/>
                              <a:ea typeface="Cambria Math" panose="02040503050406030204" pitchFamily="18" charset="0"/>
                              <a:cs typeface="+mn-cs"/>
                            </a:rPr>
                            <a:t> = +0.27</a:t>
                          </a:r>
                        </a:p>
                      </a:txBody>
                      <a:tcPr marT="0" marB="0" anchor="ctr"/>
                    </a:tc>
                    <a:tc>
                      <a:txBody>
                        <a:bodyPr/>
                        <a:lstStyle/>
                        <a:p>
                          <a:r>
                            <a:rPr lang="en-GB" sz="800" kern="1200" noProof="0" dirty="0">
                              <a:solidFill>
                                <a:schemeClr val="dk1"/>
                              </a:solidFill>
                              <a:latin typeface="Cambria Math" panose="02040503050406030204" pitchFamily="18" charset="0"/>
                              <a:ea typeface="Cambria Math" panose="02040503050406030204" pitchFamily="18" charset="0"/>
                              <a:cs typeface="+mn-cs"/>
                            </a:rPr>
                            <a:t>+30 </a:t>
                          </a:r>
                          <a:r>
                            <a:rPr lang="en-GB" sz="800" noProof="0" dirty="0">
                              <a:latin typeface="Cambria Math" panose="02040503050406030204" pitchFamily="18" charset="0"/>
                              <a:ea typeface="Cambria Math" panose="02040503050406030204" pitchFamily="18" charset="0"/>
                            </a:rPr>
                            <a:t>‒ 29.73</a:t>
                          </a:r>
                          <a:r>
                            <a:rPr lang="en-GB" sz="800" kern="1200" noProof="0" dirty="0">
                              <a:solidFill>
                                <a:schemeClr val="dk1"/>
                              </a:solidFill>
                              <a:latin typeface="Cambria Math" panose="02040503050406030204" pitchFamily="18" charset="0"/>
                              <a:ea typeface="Cambria Math" panose="02040503050406030204" pitchFamily="18" charset="0"/>
                              <a:cs typeface="+mn-cs"/>
                            </a:rPr>
                            <a:t> = +0.27</a:t>
                          </a:r>
                        </a:p>
                      </a:txBody>
                      <a:tcPr marT="0" marB="0" anchor="ctr"/>
                    </a:tc>
                    <a:extLst>
                      <a:ext uri="{0D108BD9-81ED-4DB2-BD59-A6C34878D82A}">
                        <a16:rowId xmlns:a16="http://schemas.microsoft.com/office/drawing/2014/main" val="421386793"/>
                      </a:ext>
                    </a:extLst>
                  </a:tr>
                </a:tbl>
              </a:graphicData>
            </a:graphic>
          </p:graphicFrame>
        </mc:Fallback>
      </mc:AlternateContent>
      <p:sp>
        <p:nvSpPr>
          <p:cNvPr id="12" name="TextovéPole 11">
            <a:extLst>
              <a:ext uri="{FF2B5EF4-FFF2-40B4-BE49-F238E27FC236}">
                <a16:creationId xmlns:a16="http://schemas.microsoft.com/office/drawing/2014/main" id="{1E020ED3-0576-D8F9-8643-853D5B75B078}"/>
              </a:ext>
            </a:extLst>
          </p:cNvPr>
          <p:cNvSpPr txBox="1"/>
          <p:nvPr/>
        </p:nvSpPr>
        <p:spPr>
          <a:xfrm>
            <a:off x="863999" y="4644000"/>
            <a:ext cx="6364145" cy="430887"/>
          </a:xfrm>
          <a:prstGeom prst="rect">
            <a:avLst/>
          </a:prstGeom>
          <a:noFill/>
          <a:ln>
            <a:noFill/>
          </a:ln>
        </p:spPr>
        <p:txBody>
          <a:bodyPr wrap="square" rtlCol="0">
            <a:spAutoFit/>
          </a:bodyPr>
          <a:lstStyle/>
          <a:p>
            <a:pPr marL="324000" indent="-324000">
              <a:buClr>
                <a:srgbClr val="7030A0"/>
              </a:buClr>
              <a:buFont typeface="Wingdings" panose="05000000000000000000" pitchFamily="2" charset="2"/>
              <a:buChar char="Ø"/>
            </a:pPr>
            <a:r>
              <a:rPr lang="en-GB" sz="2200" dirty="0">
                <a:latin typeface="Cambria Math" panose="02040503050406030204" pitchFamily="18" charset="0"/>
                <a:ea typeface="Cambria Math" panose="02040503050406030204" pitchFamily="18" charset="0"/>
              </a:rPr>
              <a:t>Graphical demonstration of put-call parity</a:t>
            </a:r>
          </a:p>
        </p:txBody>
      </p:sp>
      <p:grpSp>
        <p:nvGrpSpPr>
          <p:cNvPr id="31" name="Skupina 30">
            <a:extLst>
              <a:ext uri="{FF2B5EF4-FFF2-40B4-BE49-F238E27FC236}">
                <a16:creationId xmlns:a16="http://schemas.microsoft.com/office/drawing/2014/main" id="{ABAD66EF-B6B1-75CF-589E-11E3E26E0A59}"/>
              </a:ext>
            </a:extLst>
          </p:cNvPr>
          <p:cNvGrpSpPr>
            <a:grpSpLocks noChangeAspect="1"/>
          </p:cNvGrpSpPr>
          <p:nvPr/>
        </p:nvGrpSpPr>
        <p:grpSpPr>
          <a:xfrm>
            <a:off x="871420" y="5110387"/>
            <a:ext cx="1666983" cy="1047289"/>
            <a:chOff x="1627135" y="1597330"/>
            <a:chExt cx="2198715" cy="1381351"/>
          </a:xfrm>
        </p:grpSpPr>
        <p:cxnSp>
          <p:nvCxnSpPr>
            <p:cNvPr id="32" name="Přímá spojnice 31">
              <a:extLst>
                <a:ext uri="{FF2B5EF4-FFF2-40B4-BE49-F238E27FC236}">
                  <a16:creationId xmlns:a16="http://schemas.microsoft.com/office/drawing/2014/main" id="{69FBB82F-3CC8-A797-C83E-AEF8D41A9B2F}"/>
                </a:ext>
              </a:extLst>
            </p:cNvPr>
            <p:cNvCxnSpPr>
              <a:cxnSpLocks/>
            </p:cNvCxnSpPr>
            <p:nvPr/>
          </p:nvCxnSpPr>
          <p:spPr>
            <a:xfrm>
              <a:off x="1778505" y="2083287"/>
              <a:ext cx="1938125" cy="0"/>
            </a:xfrm>
            <a:prstGeom prst="line">
              <a:avLst/>
            </a:prstGeom>
            <a:ln w="25400">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ovéPole 32">
                  <a:extLst>
                    <a:ext uri="{FF2B5EF4-FFF2-40B4-BE49-F238E27FC236}">
                      <a16:creationId xmlns:a16="http://schemas.microsoft.com/office/drawing/2014/main" id="{E87192AE-67DA-B739-9A06-7990BE8C7184}"/>
                    </a:ext>
                  </a:extLst>
                </p:cNvPr>
                <p:cNvSpPr txBox="1"/>
                <p:nvPr/>
              </p:nvSpPr>
              <p:spPr>
                <a:xfrm>
                  <a:off x="1949224" y="1597330"/>
                  <a:ext cx="759816" cy="284166"/>
                </a:xfrm>
                <a:prstGeom prst="rect">
                  <a:avLst/>
                </a:prstGeom>
                <a:noFill/>
                <a:ln>
                  <a:noFill/>
                </a:ln>
              </p:spPr>
              <p:txBody>
                <a:bodyPr wrap="square" rtlCol="0">
                  <a:spAutoFit/>
                </a:bodyPr>
                <a:lstStyle/>
                <a:p>
                  <a:pPr marL="0" lvl="2" algn="ctr">
                    <a:lnSpc>
                      <a:spcPct val="80000"/>
                    </a:lnSpc>
                    <a:buClr>
                      <a:srgbClr val="7030A0"/>
                    </a:buClr>
                    <a:buSzPct val="80000"/>
                  </a:pPr>
                  <a14:m>
                    <m:oMathPara xmlns:m="http://schemas.openxmlformats.org/officeDocument/2006/math">
                      <m:oMathParaPr>
                        <m:jc m:val="centerGroup"/>
                      </m:oMathParaPr>
                      <m:oMath xmlns:m="http://schemas.openxmlformats.org/officeDocument/2006/math">
                        <m:r>
                          <a:rPr lang="cs-CZ" sz="1000" b="1" i="1" smtClean="0">
                            <a:latin typeface="Cambria Math" panose="02040503050406030204" pitchFamily="18" charset="0"/>
                            <a:ea typeface="Cambria Math" panose="02040503050406030204" pitchFamily="18" charset="0"/>
                            <a:sym typeface="Wingdings 2" panose="05020102010507070707" pitchFamily="18" charset="2"/>
                          </a:rPr>
                          <m:t>𝑪</m:t>
                        </m:r>
                        <m:r>
                          <a:rPr lang="cs-CZ" sz="1000" b="1" i="1" smtClean="0">
                            <a:latin typeface="Cambria Math" panose="02040503050406030204" pitchFamily="18" charset="0"/>
                            <a:ea typeface="Cambria Math" panose="02040503050406030204" pitchFamily="18" charset="0"/>
                            <a:sym typeface="Wingdings 2" panose="05020102010507070707" pitchFamily="18" charset="2"/>
                          </a:rPr>
                          <m:t>+</m:t>
                        </m:r>
                        <m:r>
                          <a:rPr lang="cs-CZ" sz="1000" b="1" i="1" smtClean="0">
                            <a:latin typeface="Cambria Math" panose="02040503050406030204" pitchFamily="18" charset="0"/>
                            <a:ea typeface="Cambria Math" panose="02040503050406030204" pitchFamily="18" charset="0"/>
                            <a:sym typeface="Wingdings 2" panose="05020102010507070707" pitchFamily="18" charset="2"/>
                          </a:rPr>
                          <m:t>𝑩</m:t>
                        </m:r>
                      </m:oMath>
                    </m:oMathPara>
                  </a14:m>
                  <a:endParaRPr lang="en-GB" sz="1000" b="1" dirty="0">
                    <a:latin typeface="Cambria Math" panose="02040503050406030204" pitchFamily="18" charset="0"/>
                    <a:ea typeface="Cambria Math" panose="02040503050406030204" pitchFamily="18" charset="0"/>
                  </a:endParaRPr>
                </a:p>
              </p:txBody>
            </p:sp>
          </mc:Choice>
          <mc:Fallback xmlns="">
            <p:sp>
              <p:nvSpPr>
                <p:cNvPr id="33" name="TextovéPole 32">
                  <a:extLst>
                    <a:ext uri="{FF2B5EF4-FFF2-40B4-BE49-F238E27FC236}">
                      <a16:creationId xmlns:a16="http://schemas.microsoft.com/office/drawing/2014/main" id="{E87192AE-67DA-B739-9A06-7990BE8C7184}"/>
                    </a:ext>
                  </a:extLst>
                </p:cNvPr>
                <p:cNvSpPr txBox="1">
                  <a:spLocks noRot="1" noChangeAspect="1" noMove="1" noResize="1" noEditPoints="1" noAdjustHandles="1" noChangeArrowheads="1" noChangeShapeType="1" noTextEdit="1"/>
                </p:cNvSpPr>
                <p:nvPr/>
              </p:nvSpPr>
              <p:spPr>
                <a:xfrm>
                  <a:off x="1949224" y="1597330"/>
                  <a:ext cx="759816" cy="284166"/>
                </a:xfrm>
                <a:prstGeom prst="rect">
                  <a:avLst/>
                </a:prstGeom>
                <a:blipFill>
                  <a:blip r:embed="rId17"/>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ovéPole 33">
                  <a:extLst>
                    <a:ext uri="{FF2B5EF4-FFF2-40B4-BE49-F238E27FC236}">
                      <a16:creationId xmlns:a16="http://schemas.microsoft.com/office/drawing/2014/main" id="{A512A1EE-5EFF-BEDE-207B-FFABAB204244}"/>
                    </a:ext>
                  </a:extLst>
                </p:cNvPr>
                <p:cNvSpPr txBox="1"/>
                <p:nvPr/>
              </p:nvSpPr>
              <p:spPr>
                <a:xfrm>
                  <a:off x="3336722" y="2681006"/>
                  <a:ext cx="188096" cy="280444"/>
                </a:xfrm>
                <a:prstGeom prst="rect">
                  <a:avLst/>
                </a:prstGeom>
                <a:noFill/>
              </p:spPr>
              <p:txBody>
                <a:bodyPr wrap="square" lIns="0" rIns="0" rtlCol="0">
                  <a:spAutoFit/>
                </a:bodyPr>
                <a:lstStyle/>
                <a:p>
                  <a:pPr algn="ctr"/>
                  <a14:m>
                    <m:oMathPara xmlns:m="http://schemas.openxmlformats.org/officeDocument/2006/math">
                      <m:oMathParaPr>
                        <m:jc m:val="centerGroup"/>
                      </m:oMathParaPr>
                      <m:oMath xmlns:m="http://schemas.openxmlformats.org/officeDocument/2006/math">
                        <m:sSub>
                          <m:sSubPr>
                            <m:ctrlPr>
                              <a:rPr lang="cs-CZ" sz="800" b="0" i="1" smtClean="0">
                                <a:latin typeface="Cambria Math" panose="02040503050406030204" pitchFamily="18" charset="0"/>
                              </a:rPr>
                            </m:ctrlPr>
                          </m:sSubPr>
                          <m:e>
                            <m:r>
                              <a:rPr lang="cs-CZ" sz="800" b="0" i="1" smtClean="0">
                                <a:latin typeface="Cambria Math" panose="02040503050406030204" pitchFamily="18" charset="0"/>
                              </a:rPr>
                              <m:t>𝑆</m:t>
                            </m:r>
                          </m:e>
                          <m:sub>
                            <m:r>
                              <a:rPr lang="cs-CZ" sz="800" b="0" i="1" smtClean="0">
                                <a:latin typeface="Cambria Math" panose="02040503050406030204" pitchFamily="18" charset="0"/>
                              </a:rPr>
                              <m:t>𝑇</m:t>
                            </m:r>
                          </m:sub>
                        </m:sSub>
                      </m:oMath>
                    </m:oMathPara>
                  </a14:m>
                  <a:endParaRPr lang="cs-CZ" sz="800" i="1" baseline="-25000" dirty="0"/>
                </a:p>
              </p:txBody>
            </p:sp>
          </mc:Choice>
          <mc:Fallback xmlns="">
            <p:sp>
              <p:nvSpPr>
                <p:cNvPr id="34" name="TextovéPole 33">
                  <a:extLst>
                    <a:ext uri="{FF2B5EF4-FFF2-40B4-BE49-F238E27FC236}">
                      <a16:creationId xmlns:a16="http://schemas.microsoft.com/office/drawing/2014/main" id="{A512A1EE-5EFF-BEDE-207B-FFABAB204244}"/>
                    </a:ext>
                  </a:extLst>
                </p:cNvPr>
                <p:cNvSpPr txBox="1">
                  <a:spLocks noRot="1" noChangeAspect="1" noMove="1" noResize="1" noEditPoints="1" noAdjustHandles="1" noChangeArrowheads="1" noChangeShapeType="1" noTextEdit="1"/>
                </p:cNvSpPr>
                <p:nvPr/>
              </p:nvSpPr>
              <p:spPr>
                <a:xfrm>
                  <a:off x="3336722" y="2681006"/>
                  <a:ext cx="188096" cy="280444"/>
                </a:xfrm>
                <a:prstGeom prst="rect">
                  <a:avLst/>
                </a:prstGeom>
                <a:blipFill>
                  <a:blip r:embed="rId18"/>
                  <a:stretch>
                    <a:fillRect l="-16667"/>
                  </a:stretch>
                </a:blipFill>
              </p:spPr>
              <p:txBody>
                <a:bodyPr/>
                <a:lstStyle/>
                <a:p>
                  <a:r>
                    <a:rPr lang="en-GB">
                      <a:noFill/>
                    </a:rPr>
                    <a:t> </a:t>
                  </a:r>
                </a:p>
              </p:txBody>
            </p:sp>
          </mc:Fallback>
        </mc:AlternateContent>
        <p:cxnSp>
          <p:nvCxnSpPr>
            <p:cNvPr id="46" name="Přímá spojnice 45">
              <a:extLst>
                <a:ext uri="{FF2B5EF4-FFF2-40B4-BE49-F238E27FC236}">
                  <a16:creationId xmlns:a16="http://schemas.microsoft.com/office/drawing/2014/main" id="{E3A5958B-B2FB-C2DE-895A-F48C90B9479F}"/>
                </a:ext>
              </a:extLst>
            </p:cNvPr>
            <p:cNvCxnSpPr/>
            <p:nvPr/>
          </p:nvCxnSpPr>
          <p:spPr>
            <a:xfrm>
              <a:off x="1774298" y="1709774"/>
              <a:ext cx="0" cy="1051622"/>
            </a:xfrm>
            <a:prstGeom prst="line">
              <a:avLst/>
            </a:prstGeom>
            <a:ln w="6350">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Přímá spojnice 56">
              <a:extLst>
                <a:ext uri="{FF2B5EF4-FFF2-40B4-BE49-F238E27FC236}">
                  <a16:creationId xmlns:a16="http://schemas.microsoft.com/office/drawing/2014/main" id="{5A9F51A3-E871-CEB0-DFDC-2D2B5CD0635B}"/>
                </a:ext>
              </a:extLst>
            </p:cNvPr>
            <p:cNvCxnSpPr/>
            <p:nvPr/>
          </p:nvCxnSpPr>
          <p:spPr>
            <a:xfrm>
              <a:off x="2663789" y="2087085"/>
              <a:ext cx="0" cy="664764"/>
            </a:xfrm>
            <a:prstGeom prst="line">
              <a:avLst/>
            </a:prstGeom>
            <a:ln w="12700">
              <a:solidFill>
                <a:schemeClr val="tx1"/>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Přímá spojnice 58">
              <a:extLst>
                <a:ext uri="{FF2B5EF4-FFF2-40B4-BE49-F238E27FC236}">
                  <a16:creationId xmlns:a16="http://schemas.microsoft.com/office/drawing/2014/main" id="{209675A0-719A-A26B-5AFB-8F0C2835D3C8}"/>
                </a:ext>
              </a:extLst>
            </p:cNvPr>
            <p:cNvCxnSpPr/>
            <p:nvPr/>
          </p:nvCxnSpPr>
          <p:spPr>
            <a:xfrm>
              <a:off x="1778505" y="2747150"/>
              <a:ext cx="1785383"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Přímá spojnice 59">
              <a:extLst>
                <a:ext uri="{FF2B5EF4-FFF2-40B4-BE49-F238E27FC236}">
                  <a16:creationId xmlns:a16="http://schemas.microsoft.com/office/drawing/2014/main" id="{CA1EC017-D0F2-6000-124D-B086287527BE}"/>
                </a:ext>
              </a:extLst>
            </p:cNvPr>
            <p:cNvCxnSpPr/>
            <p:nvPr/>
          </p:nvCxnSpPr>
          <p:spPr>
            <a:xfrm>
              <a:off x="1796480" y="2744206"/>
              <a:ext cx="828993" cy="0"/>
            </a:xfrm>
            <a:prstGeom prst="line">
              <a:avLst/>
            </a:prstGeom>
            <a:ln w="25400">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Přímá spojnice 60">
              <a:extLst>
                <a:ext uri="{FF2B5EF4-FFF2-40B4-BE49-F238E27FC236}">
                  <a16:creationId xmlns:a16="http://schemas.microsoft.com/office/drawing/2014/main" id="{A7F452F8-C83D-8E8A-EE5B-DD18011E7542}"/>
                </a:ext>
              </a:extLst>
            </p:cNvPr>
            <p:cNvCxnSpPr>
              <a:cxnSpLocks/>
            </p:cNvCxnSpPr>
            <p:nvPr/>
          </p:nvCxnSpPr>
          <p:spPr>
            <a:xfrm rot="480000" flipH="1">
              <a:off x="2742028" y="1737306"/>
              <a:ext cx="1083822" cy="1083824"/>
            </a:xfrm>
            <a:prstGeom prst="line">
              <a:avLst/>
            </a:prstGeom>
            <a:ln w="25400">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2" name="TextovéPole 61">
              <a:extLst>
                <a:ext uri="{FF2B5EF4-FFF2-40B4-BE49-F238E27FC236}">
                  <a16:creationId xmlns:a16="http://schemas.microsoft.com/office/drawing/2014/main" id="{51903490-6132-FFDF-B37F-63AEAF441A70}"/>
                </a:ext>
              </a:extLst>
            </p:cNvPr>
            <p:cNvSpPr txBox="1"/>
            <p:nvPr/>
          </p:nvSpPr>
          <p:spPr>
            <a:xfrm>
              <a:off x="1902815" y="2533070"/>
              <a:ext cx="785378" cy="251689"/>
            </a:xfrm>
            <a:prstGeom prst="rect">
              <a:avLst/>
            </a:prstGeom>
            <a:noFill/>
            <a:ln>
              <a:noFill/>
            </a:ln>
          </p:spPr>
          <p:txBody>
            <a:bodyPr wrap="square" rtlCol="0">
              <a:spAutoFit/>
            </a:bodyPr>
            <a:lstStyle/>
            <a:p>
              <a:pPr marL="0" lvl="2">
                <a:lnSpc>
                  <a:spcPct val="80000"/>
                </a:lnSpc>
                <a:buClr>
                  <a:srgbClr val="7030A0"/>
                </a:buClr>
                <a:buSzPct val="80000"/>
              </a:pPr>
              <a:r>
                <a:rPr lang="en-GB" sz="800" dirty="0">
                  <a:latin typeface="Cambria Math" panose="02040503050406030204" pitchFamily="18" charset="0"/>
                  <a:ea typeface="Cambria Math" panose="02040503050406030204" pitchFamily="18" charset="0"/>
                  <a:sym typeface="Wingdings 2" panose="05020102010507070707" pitchFamily="18" charset="2"/>
                </a:rPr>
                <a:t>long </a:t>
              </a:r>
              <a:r>
                <a:rPr lang="cs-CZ" sz="800" dirty="0">
                  <a:latin typeface="Cambria Math" panose="02040503050406030204" pitchFamily="18" charset="0"/>
                  <a:ea typeface="Cambria Math" panose="02040503050406030204" pitchFamily="18" charset="0"/>
                  <a:sym typeface="Wingdings 2" panose="05020102010507070707" pitchFamily="18" charset="2"/>
                </a:rPr>
                <a:t>call</a:t>
              </a:r>
              <a:endParaRPr lang="en-GB" sz="8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63" name="TextovéPole 62">
                  <a:extLst>
                    <a:ext uri="{FF2B5EF4-FFF2-40B4-BE49-F238E27FC236}">
                      <a16:creationId xmlns:a16="http://schemas.microsoft.com/office/drawing/2014/main" id="{B0CA07A8-13CE-7A9C-F2EF-4C6BFD4320DB}"/>
                    </a:ext>
                  </a:extLst>
                </p:cNvPr>
                <p:cNvSpPr txBox="1"/>
                <p:nvPr/>
              </p:nvSpPr>
              <p:spPr>
                <a:xfrm>
                  <a:off x="2592645" y="2698237"/>
                  <a:ext cx="187089" cy="280444"/>
                </a:xfrm>
                <a:prstGeom prst="rect">
                  <a:avLst/>
                </a:prstGeom>
                <a:noFill/>
              </p:spPr>
              <p:txBody>
                <a:bodyPr wrap="square" lIns="0" rIns="0" rtlCol="0">
                  <a:spAutoFit/>
                </a:bodyPr>
                <a:lstStyle/>
                <a:p>
                  <a:pPr algn="ctr"/>
                  <a14:m>
                    <m:oMathPara xmlns:m="http://schemas.openxmlformats.org/officeDocument/2006/math">
                      <m:oMathParaPr>
                        <m:jc m:val="centerGroup"/>
                      </m:oMathParaPr>
                      <m:oMath xmlns:m="http://schemas.openxmlformats.org/officeDocument/2006/math">
                        <m:sSub>
                          <m:sSubPr>
                            <m:ctrlPr>
                              <a:rPr lang="cs-CZ" sz="800" b="0" i="1" smtClean="0">
                                <a:latin typeface="Cambria Math" panose="02040503050406030204" pitchFamily="18" charset="0"/>
                              </a:rPr>
                            </m:ctrlPr>
                          </m:sSubPr>
                          <m:e>
                            <m:r>
                              <a:rPr lang="cs-CZ" sz="800" b="0" i="1" smtClean="0">
                                <a:latin typeface="Cambria Math" panose="02040503050406030204" pitchFamily="18" charset="0"/>
                              </a:rPr>
                              <m:t>𝑋</m:t>
                            </m:r>
                          </m:e>
                          <m:sub>
                            <m:r>
                              <a:rPr lang="cs-CZ" sz="800" b="0" i="1" smtClean="0">
                                <a:latin typeface="Cambria Math" panose="02040503050406030204" pitchFamily="18" charset="0"/>
                              </a:rPr>
                              <m:t> </m:t>
                            </m:r>
                          </m:sub>
                        </m:sSub>
                      </m:oMath>
                    </m:oMathPara>
                  </a14:m>
                  <a:endParaRPr lang="cs-CZ" sz="800" i="1" baseline="-25000" dirty="0"/>
                </a:p>
              </p:txBody>
            </p:sp>
          </mc:Choice>
          <mc:Fallback xmlns="">
            <p:sp>
              <p:nvSpPr>
                <p:cNvPr id="63" name="TextovéPole 62">
                  <a:extLst>
                    <a:ext uri="{FF2B5EF4-FFF2-40B4-BE49-F238E27FC236}">
                      <a16:creationId xmlns:a16="http://schemas.microsoft.com/office/drawing/2014/main" id="{B0CA07A8-13CE-7A9C-F2EF-4C6BFD4320DB}"/>
                    </a:ext>
                  </a:extLst>
                </p:cNvPr>
                <p:cNvSpPr txBox="1">
                  <a:spLocks noRot="1" noChangeAspect="1" noMove="1" noResize="1" noEditPoints="1" noAdjustHandles="1" noChangeArrowheads="1" noChangeShapeType="1" noTextEdit="1"/>
                </p:cNvSpPr>
                <p:nvPr/>
              </p:nvSpPr>
              <p:spPr>
                <a:xfrm>
                  <a:off x="2592645" y="2698237"/>
                  <a:ext cx="187089" cy="280444"/>
                </a:xfrm>
                <a:prstGeom prst="rect">
                  <a:avLst/>
                </a:prstGeom>
                <a:blipFill>
                  <a:blip r:embed="rId19"/>
                  <a:stretch>
                    <a:fillRect l="-13043"/>
                  </a:stretch>
                </a:blipFill>
              </p:spPr>
              <p:txBody>
                <a:bodyPr/>
                <a:lstStyle/>
                <a:p>
                  <a:r>
                    <a:rPr lang="en-GB">
                      <a:noFill/>
                    </a:rPr>
                    <a:t> </a:t>
                  </a:r>
                </a:p>
              </p:txBody>
            </p:sp>
          </mc:Fallback>
        </mc:AlternateContent>
        <p:cxnSp>
          <p:nvCxnSpPr>
            <p:cNvPr id="64" name="Přímá spojnice 63">
              <a:extLst>
                <a:ext uri="{FF2B5EF4-FFF2-40B4-BE49-F238E27FC236}">
                  <a16:creationId xmlns:a16="http://schemas.microsoft.com/office/drawing/2014/main" id="{28253271-53E9-82FF-9A09-07429E1F2301}"/>
                </a:ext>
              </a:extLst>
            </p:cNvPr>
            <p:cNvCxnSpPr>
              <a:cxnSpLocks/>
            </p:cNvCxnSpPr>
            <p:nvPr/>
          </p:nvCxnSpPr>
          <p:spPr>
            <a:xfrm>
              <a:off x="1788300" y="2086657"/>
              <a:ext cx="860078" cy="0"/>
            </a:xfrm>
            <a:prstGeom prst="line">
              <a:avLst/>
            </a:prstGeom>
            <a:ln w="38100" cap="rnd">
              <a:solidFill>
                <a:srgbClr val="C00000"/>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5" name="Přímá spojnice 64">
              <a:extLst>
                <a:ext uri="{FF2B5EF4-FFF2-40B4-BE49-F238E27FC236}">
                  <a16:creationId xmlns:a16="http://schemas.microsoft.com/office/drawing/2014/main" id="{56EBA603-8B9D-9E6F-C546-3103123D959A}"/>
                </a:ext>
              </a:extLst>
            </p:cNvPr>
            <p:cNvCxnSpPr>
              <a:cxnSpLocks/>
            </p:cNvCxnSpPr>
            <p:nvPr/>
          </p:nvCxnSpPr>
          <p:spPr>
            <a:xfrm rot="120000" flipH="1">
              <a:off x="2677778" y="1620339"/>
              <a:ext cx="569862" cy="471431"/>
            </a:xfrm>
            <a:prstGeom prst="line">
              <a:avLst/>
            </a:prstGeom>
            <a:ln w="31750" cap="rnd">
              <a:solidFill>
                <a:srgbClr val="C00000"/>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ovéPole 66">
                  <a:extLst>
                    <a:ext uri="{FF2B5EF4-FFF2-40B4-BE49-F238E27FC236}">
                      <a16:creationId xmlns:a16="http://schemas.microsoft.com/office/drawing/2014/main" id="{C8001031-E09D-D177-1352-15A51649E371}"/>
                    </a:ext>
                  </a:extLst>
                </p:cNvPr>
                <p:cNvSpPr txBox="1"/>
                <p:nvPr/>
              </p:nvSpPr>
              <p:spPr>
                <a:xfrm>
                  <a:off x="1627135" y="1646941"/>
                  <a:ext cx="158833" cy="299305"/>
                </a:xfrm>
                <a:prstGeom prst="rect">
                  <a:avLst/>
                </a:prstGeom>
                <a:noFill/>
              </p:spPr>
              <p:txBody>
                <a:bodyPr wrap="square" lIns="0" rIns="0" rtlCol="0">
                  <a:spAutoFit/>
                </a:bodyPr>
                <a:lstStyle/>
                <a:p>
                  <a:pPr algn="ctr"/>
                  <a14:m>
                    <m:oMathPara xmlns:m="http://schemas.openxmlformats.org/officeDocument/2006/math">
                      <m:oMathParaPr>
                        <m:jc m:val="centerGroup"/>
                      </m:oMathParaPr>
                      <m:oMath xmlns:m="http://schemas.openxmlformats.org/officeDocument/2006/math">
                        <m:sSub>
                          <m:sSubPr>
                            <m:ctrlPr>
                              <a:rPr lang="cs-CZ" sz="800" b="0" i="1" smtClean="0">
                                <a:latin typeface="Cambria Math" panose="02040503050406030204" pitchFamily="18" charset="0"/>
                              </a:rPr>
                            </m:ctrlPr>
                          </m:sSubPr>
                          <m:e>
                            <m:sSub>
                              <m:sSubPr>
                                <m:ctrlPr>
                                  <a:rPr lang="cs-CZ" sz="800" b="0" i="1" smtClean="0">
                                    <a:latin typeface="Cambria Math" panose="02040503050406030204" pitchFamily="18" charset="0"/>
                                  </a:rPr>
                                </m:ctrlPr>
                              </m:sSubPr>
                              <m:e>
                                <m:r>
                                  <a:rPr lang="cs-CZ" sz="800" b="0" i="1" smtClean="0">
                                    <a:latin typeface="Cambria Math" panose="02040503050406030204" pitchFamily="18" charset="0"/>
                                  </a:rPr>
                                  <m:t>𝑉</m:t>
                                </m:r>
                              </m:e>
                              <m:sub>
                                <m:r>
                                  <a:rPr lang="cs-CZ" sz="800" b="0" i="1" smtClean="0">
                                    <a:latin typeface="Cambria Math" panose="02040503050406030204" pitchFamily="18" charset="0"/>
                                  </a:rPr>
                                  <m:t>𝐴</m:t>
                                </m:r>
                              </m:sub>
                            </m:sSub>
                          </m:e>
                          <m:sub>
                            <m:r>
                              <a:rPr lang="cs-CZ" sz="800" b="0" i="1" smtClean="0">
                                <a:latin typeface="Cambria Math" panose="02040503050406030204" pitchFamily="18" charset="0"/>
                              </a:rPr>
                              <m:t> </m:t>
                            </m:r>
                          </m:sub>
                        </m:sSub>
                      </m:oMath>
                    </m:oMathPara>
                  </a14:m>
                  <a:endParaRPr lang="cs-CZ" sz="800" i="1" baseline="-25000" dirty="0"/>
                </a:p>
              </p:txBody>
            </p:sp>
          </mc:Choice>
          <mc:Fallback xmlns="">
            <p:sp>
              <p:nvSpPr>
                <p:cNvPr id="67" name="TextovéPole 66">
                  <a:extLst>
                    <a:ext uri="{FF2B5EF4-FFF2-40B4-BE49-F238E27FC236}">
                      <a16:creationId xmlns:a16="http://schemas.microsoft.com/office/drawing/2014/main" id="{C8001031-E09D-D177-1352-15A51649E371}"/>
                    </a:ext>
                  </a:extLst>
                </p:cNvPr>
                <p:cNvSpPr txBox="1">
                  <a:spLocks noRot="1" noChangeAspect="1" noMove="1" noResize="1" noEditPoints="1" noAdjustHandles="1" noChangeArrowheads="1" noChangeShapeType="1" noTextEdit="1"/>
                </p:cNvSpPr>
                <p:nvPr/>
              </p:nvSpPr>
              <p:spPr>
                <a:xfrm>
                  <a:off x="1627135" y="1646941"/>
                  <a:ext cx="158833" cy="299305"/>
                </a:xfrm>
                <a:prstGeom prst="rect">
                  <a:avLst/>
                </a:prstGeom>
                <a:blipFill>
                  <a:blip r:embed="rId20"/>
                  <a:stretch>
                    <a:fillRect l="-40000"/>
                  </a:stretch>
                </a:blipFill>
              </p:spPr>
              <p:txBody>
                <a:bodyPr/>
                <a:lstStyle/>
                <a:p>
                  <a:r>
                    <a:rPr lang="en-GB">
                      <a:noFill/>
                    </a:rPr>
                    <a:t> </a:t>
                  </a:r>
                </a:p>
              </p:txBody>
            </p:sp>
          </mc:Fallback>
        </mc:AlternateContent>
        <p:sp>
          <p:nvSpPr>
            <p:cNvPr id="77" name="TextovéPole 76">
              <a:extLst>
                <a:ext uri="{FF2B5EF4-FFF2-40B4-BE49-F238E27FC236}">
                  <a16:creationId xmlns:a16="http://schemas.microsoft.com/office/drawing/2014/main" id="{D73213D8-F884-A7B0-50D2-D1086350CC0C}"/>
                </a:ext>
              </a:extLst>
            </p:cNvPr>
            <p:cNvSpPr txBox="1"/>
            <p:nvPr/>
          </p:nvSpPr>
          <p:spPr>
            <a:xfrm>
              <a:off x="2830706" y="1880803"/>
              <a:ext cx="856166" cy="251689"/>
            </a:xfrm>
            <a:prstGeom prst="rect">
              <a:avLst/>
            </a:prstGeom>
            <a:noFill/>
            <a:ln>
              <a:noFill/>
            </a:ln>
          </p:spPr>
          <p:txBody>
            <a:bodyPr wrap="square" rtlCol="0">
              <a:spAutoFit/>
            </a:bodyPr>
            <a:lstStyle/>
            <a:p>
              <a:pPr marL="0" lvl="2">
                <a:lnSpc>
                  <a:spcPct val="80000"/>
                </a:lnSpc>
                <a:buClr>
                  <a:srgbClr val="7030A0"/>
                </a:buClr>
                <a:buSzPct val="80000"/>
              </a:pPr>
              <a:r>
                <a:rPr lang="en-GB" sz="800" dirty="0">
                  <a:latin typeface="Cambria Math" panose="02040503050406030204" pitchFamily="18" charset="0"/>
                  <a:ea typeface="Cambria Math" panose="02040503050406030204" pitchFamily="18" charset="0"/>
                  <a:sym typeface="Wingdings 2" panose="05020102010507070707" pitchFamily="18" charset="2"/>
                </a:rPr>
                <a:t>long </a:t>
              </a:r>
              <a:r>
                <a:rPr lang="cs-CZ" sz="800" dirty="0">
                  <a:latin typeface="Cambria Math" panose="02040503050406030204" pitchFamily="18" charset="0"/>
                  <a:ea typeface="Cambria Math" panose="02040503050406030204" pitchFamily="18" charset="0"/>
                  <a:sym typeface="Wingdings 2" panose="05020102010507070707" pitchFamily="18" charset="2"/>
                </a:rPr>
                <a:t>bond</a:t>
              </a:r>
              <a:endParaRPr lang="en-GB" sz="800" dirty="0">
                <a:latin typeface="Cambria Math" panose="02040503050406030204" pitchFamily="18" charset="0"/>
                <a:ea typeface="Cambria Math" panose="02040503050406030204" pitchFamily="18" charset="0"/>
              </a:endParaRPr>
            </a:p>
          </p:txBody>
        </p:sp>
      </p:grpSp>
      <p:grpSp>
        <p:nvGrpSpPr>
          <p:cNvPr id="13" name="Skupina 12">
            <a:extLst>
              <a:ext uri="{FF2B5EF4-FFF2-40B4-BE49-F238E27FC236}">
                <a16:creationId xmlns:a16="http://schemas.microsoft.com/office/drawing/2014/main" id="{9DB9FAA4-838B-1B82-64E6-5EF2FB773EBD}"/>
              </a:ext>
            </a:extLst>
          </p:cNvPr>
          <p:cNvGrpSpPr/>
          <p:nvPr/>
        </p:nvGrpSpPr>
        <p:grpSpPr>
          <a:xfrm>
            <a:off x="2751720" y="5099370"/>
            <a:ext cx="1729861" cy="1054905"/>
            <a:chOff x="4498323" y="1605143"/>
            <a:chExt cx="1729861" cy="1379773"/>
          </a:xfrm>
        </p:grpSpPr>
        <mc:AlternateContent xmlns:mc="http://schemas.openxmlformats.org/markup-compatibility/2006" xmlns:a14="http://schemas.microsoft.com/office/drawing/2010/main">
          <mc:Choice Requires="a14">
            <p:sp>
              <p:nvSpPr>
                <p:cNvPr id="14" name="TextovéPole 13">
                  <a:extLst>
                    <a:ext uri="{FF2B5EF4-FFF2-40B4-BE49-F238E27FC236}">
                      <a16:creationId xmlns:a16="http://schemas.microsoft.com/office/drawing/2014/main" id="{77EE8DC6-09B4-8286-883D-BA038DF7C042}"/>
                    </a:ext>
                  </a:extLst>
                </p:cNvPr>
                <p:cNvSpPr txBox="1"/>
                <p:nvPr/>
              </p:nvSpPr>
              <p:spPr>
                <a:xfrm>
                  <a:off x="4775750" y="1621663"/>
                  <a:ext cx="504056" cy="281792"/>
                </a:xfrm>
                <a:prstGeom prst="rect">
                  <a:avLst/>
                </a:prstGeom>
                <a:noFill/>
                <a:ln>
                  <a:noFill/>
                </a:ln>
              </p:spPr>
              <p:txBody>
                <a:bodyPr wrap="square" rtlCol="0">
                  <a:spAutoFit/>
                </a:bodyPr>
                <a:lstStyle/>
                <a:p>
                  <a:pPr marL="0" lvl="2" algn="ctr">
                    <a:lnSpc>
                      <a:spcPct val="80000"/>
                    </a:lnSpc>
                    <a:buClr>
                      <a:srgbClr val="7030A0"/>
                    </a:buClr>
                    <a:buSzPct val="80000"/>
                  </a:pPr>
                  <a14:m>
                    <m:oMathPara xmlns:m="http://schemas.openxmlformats.org/officeDocument/2006/math">
                      <m:oMathParaPr>
                        <m:jc m:val="center"/>
                      </m:oMathParaPr>
                      <m:oMath xmlns:m="http://schemas.openxmlformats.org/officeDocument/2006/math">
                        <m:r>
                          <a:rPr lang="cs-CZ" sz="1000" b="1" i="1" smtClean="0">
                            <a:latin typeface="Cambria Math" panose="02040503050406030204" pitchFamily="18" charset="0"/>
                            <a:ea typeface="Cambria Math" panose="02040503050406030204" pitchFamily="18" charset="0"/>
                            <a:sym typeface="Wingdings 2" panose="05020102010507070707" pitchFamily="18" charset="2"/>
                          </a:rPr>
                          <m:t>𝑷</m:t>
                        </m:r>
                        <m:r>
                          <a:rPr lang="cs-CZ" sz="1000" b="1" i="1" smtClean="0">
                            <a:latin typeface="Cambria Math" panose="02040503050406030204" pitchFamily="18" charset="0"/>
                            <a:ea typeface="Cambria Math" panose="02040503050406030204" pitchFamily="18" charset="0"/>
                            <a:sym typeface="Wingdings 2" panose="05020102010507070707" pitchFamily="18" charset="2"/>
                          </a:rPr>
                          <m:t>+</m:t>
                        </m:r>
                        <m:r>
                          <a:rPr lang="cs-CZ" sz="1000" b="1" i="1" smtClean="0">
                            <a:latin typeface="Cambria Math" panose="02040503050406030204" pitchFamily="18" charset="0"/>
                            <a:ea typeface="Cambria Math" panose="02040503050406030204" pitchFamily="18" charset="0"/>
                            <a:sym typeface="Wingdings 2" panose="05020102010507070707" pitchFamily="18" charset="2"/>
                          </a:rPr>
                          <m:t>𝑺</m:t>
                        </m:r>
                      </m:oMath>
                    </m:oMathPara>
                  </a14:m>
                  <a:endParaRPr lang="en-GB" sz="1000" b="1" dirty="0">
                    <a:latin typeface="Cambria Math" panose="02040503050406030204" pitchFamily="18" charset="0"/>
                    <a:ea typeface="Cambria Math" panose="02040503050406030204" pitchFamily="18" charset="0"/>
                  </a:endParaRPr>
                </a:p>
              </p:txBody>
            </p:sp>
          </mc:Choice>
          <mc:Fallback xmlns="">
            <p:sp>
              <p:nvSpPr>
                <p:cNvPr id="14" name="TextovéPole 13">
                  <a:extLst>
                    <a:ext uri="{FF2B5EF4-FFF2-40B4-BE49-F238E27FC236}">
                      <a16:creationId xmlns:a16="http://schemas.microsoft.com/office/drawing/2014/main" id="{77EE8DC6-09B4-8286-883D-BA038DF7C042}"/>
                    </a:ext>
                  </a:extLst>
                </p:cNvPr>
                <p:cNvSpPr txBox="1">
                  <a:spLocks noRot="1" noChangeAspect="1" noMove="1" noResize="1" noEditPoints="1" noAdjustHandles="1" noChangeArrowheads="1" noChangeShapeType="1" noTextEdit="1"/>
                </p:cNvSpPr>
                <p:nvPr/>
              </p:nvSpPr>
              <p:spPr>
                <a:xfrm>
                  <a:off x="4775750" y="1621663"/>
                  <a:ext cx="504056" cy="281792"/>
                </a:xfrm>
                <a:prstGeom prst="rect">
                  <a:avLst/>
                </a:prstGeom>
                <a:blipFill>
                  <a:blip r:embed="rId21"/>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ovéPole 14">
                  <a:extLst>
                    <a:ext uri="{FF2B5EF4-FFF2-40B4-BE49-F238E27FC236}">
                      <a16:creationId xmlns:a16="http://schemas.microsoft.com/office/drawing/2014/main" id="{AABEA6DE-90E5-EB6B-E486-B120C24E6B56}"/>
                    </a:ext>
                  </a:extLst>
                </p:cNvPr>
                <p:cNvSpPr txBox="1"/>
                <p:nvPr/>
              </p:nvSpPr>
              <p:spPr>
                <a:xfrm>
                  <a:off x="6040089" y="2687149"/>
                  <a:ext cx="188095" cy="278101"/>
                </a:xfrm>
                <a:prstGeom prst="rect">
                  <a:avLst/>
                </a:prstGeom>
                <a:noFill/>
              </p:spPr>
              <p:txBody>
                <a:bodyPr wrap="square" lIns="0" rIns="0" rtlCol="0">
                  <a:spAutoFit/>
                </a:bodyPr>
                <a:lstStyle/>
                <a:p>
                  <a:pPr algn="ctr"/>
                  <a14:m>
                    <m:oMathPara xmlns:m="http://schemas.openxmlformats.org/officeDocument/2006/math">
                      <m:oMathParaPr>
                        <m:jc m:val="centerGroup"/>
                      </m:oMathParaPr>
                      <m:oMath xmlns:m="http://schemas.openxmlformats.org/officeDocument/2006/math">
                        <m:sSub>
                          <m:sSubPr>
                            <m:ctrlPr>
                              <a:rPr lang="cs-CZ" sz="800" b="0" i="1" smtClean="0">
                                <a:latin typeface="Cambria Math" panose="02040503050406030204" pitchFamily="18" charset="0"/>
                              </a:rPr>
                            </m:ctrlPr>
                          </m:sSubPr>
                          <m:e>
                            <m:r>
                              <a:rPr lang="cs-CZ" sz="800" b="0" i="1" smtClean="0">
                                <a:latin typeface="Cambria Math" panose="02040503050406030204" pitchFamily="18" charset="0"/>
                              </a:rPr>
                              <m:t>𝑆</m:t>
                            </m:r>
                          </m:e>
                          <m:sub>
                            <m:r>
                              <a:rPr lang="cs-CZ" sz="800" b="0" i="1" smtClean="0">
                                <a:latin typeface="Cambria Math" panose="02040503050406030204" pitchFamily="18" charset="0"/>
                              </a:rPr>
                              <m:t>𝑇</m:t>
                            </m:r>
                          </m:sub>
                        </m:sSub>
                      </m:oMath>
                    </m:oMathPara>
                  </a14:m>
                  <a:endParaRPr lang="cs-CZ" sz="800" i="1" baseline="-25000" dirty="0"/>
                </a:p>
              </p:txBody>
            </p:sp>
          </mc:Choice>
          <mc:Fallback xmlns="">
            <p:sp>
              <p:nvSpPr>
                <p:cNvPr id="15" name="TextovéPole 14">
                  <a:extLst>
                    <a:ext uri="{FF2B5EF4-FFF2-40B4-BE49-F238E27FC236}">
                      <a16:creationId xmlns:a16="http://schemas.microsoft.com/office/drawing/2014/main" id="{AABEA6DE-90E5-EB6B-E486-B120C24E6B56}"/>
                    </a:ext>
                  </a:extLst>
                </p:cNvPr>
                <p:cNvSpPr txBox="1">
                  <a:spLocks noRot="1" noChangeAspect="1" noMove="1" noResize="1" noEditPoints="1" noAdjustHandles="1" noChangeArrowheads="1" noChangeShapeType="1" noTextEdit="1"/>
                </p:cNvSpPr>
                <p:nvPr/>
              </p:nvSpPr>
              <p:spPr>
                <a:xfrm>
                  <a:off x="6040089" y="2687149"/>
                  <a:ext cx="188095" cy="278101"/>
                </a:xfrm>
                <a:prstGeom prst="rect">
                  <a:avLst/>
                </a:prstGeom>
                <a:blipFill>
                  <a:blip r:embed="rId22"/>
                  <a:stretch>
                    <a:fillRect/>
                  </a:stretch>
                </a:blipFill>
              </p:spPr>
              <p:txBody>
                <a:bodyPr/>
                <a:lstStyle/>
                <a:p>
                  <a:r>
                    <a:rPr lang="en-GB">
                      <a:noFill/>
                    </a:rPr>
                    <a:t> </a:t>
                  </a:r>
                </a:p>
              </p:txBody>
            </p:sp>
          </mc:Fallback>
        </mc:AlternateContent>
        <p:cxnSp>
          <p:nvCxnSpPr>
            <p:cNvPr id="17" name="Přímá spojnice 16">
              <a:extLst>
                <a:ext uri="{FF2B5EF4-FFF2-40B4-BE49-F238E27FC236}">
                  <a16:creationId xmlns:a16="http://schemas.microsoft.com/office/drawing/2014/main" id="{3C36EB77-43E1-AA85-5B00-45867429E066}"/>
                </a:ext>
              </a:extLst>
            </p:cNvPr>
            <p:cNvCxnSpPr/>
            <p:nvPr/>
          </p:nvCxnSpPr>
          <p:spPr>
            <a:xfrm>
              <a:off x="4654618" y="1715916"/>
              <a:ext cx="0" cy="1051622"/>
            </a:xfrm>
            <a:prstGeom prst="line">
              <a:avLst/>
            </a:prstGeom>
            <a:ln w="6350">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Přímá spojnice 17">
              <a:extLst>
                <a:ext uri="{FF2B5EF4-FFF2-40B4-BE49-F238E27FC236}">
                  <a16:creationId xmlns:a16="http://schemas.microsoft.com/office/drawing/2014/main" id="{D3ADBBFE-907C-4F4F-F9CF-3D2094EB1B33}"/>
                </a:ext>
              </a:extLst>
            </p:cNvPr>
            <p:cNvCxnSpPr/>
            <p:nvPr/>
          </p:nvCxnSpPr>
          <p:spPr>
            <a:xfrm>
              <a:off x="5341179" y="2060848"/>
              <a:ext cx="0" cy="681406"/>
            </a:xfrm>
            <a:prstGeom prst="line">
              <a:avLst/>
            </a:prstGeom>
            <a:ln w="12700">
              <a:solidFill>
                <a:schemeClr val="tx1"/>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Přímá spojnice 18">
              <a:extLst>
                <a:ext uri="{FF2B5EF4-FFF2-40B4-BE49-F238E27FC236}">
                  <a16:creationId xmlns:a16="http://schemas.microsoft.com/office/drawing/2014/main" id="{EAE51F08-F60C-D2B5-8A56-F76F0BB92C61}"/>
                </a:ext>
              </a:extLst>
            </p:cNvPr>
            <p:cNvCxnSpPr>
              <a:cxnSpLocks/>
            </p:cNvCxnSpPr>
            <p:nvPr/>
          </p:nvCxnSpPr>
          <p:spPr>
            <a:xfrm>
              <a:off x="4658825" y="2753292"/>
              <a:ext cx="1569359"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Přímá spojnice 19">
              <a:extLst>
                <a:ext uri="{FF2B5EF4-FFF2-40B4-BE49-F238E27FC236}">
                  <a16:creationId xmlns:a16="http://schemas.microsoft.com/office/drawing/2014/main" id="{3F060AFC-B847-5D65-EB32-0BE590423A19}"/>
                </a:ext>
              </a:extLst>
            </p:cNvPr>
            <p:cNvCxnSpPr>
              <a:cxnSpLocks/>
            </p:cNvCxnSpPr>
            <p:nvPr/>
          </p:nvCxnSpPr>
          <p:spPr>
            <a:xfrm>
              <a:off x="5343976" y="2742254"/>
              <a:ext cx="740192" cy="0"/>
            </a:xfrm>
            <a:prstGeom prst="line">
              <a:avLst/>
            </a:prstGeom>
            <a:ln w="25400">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Přímá spojnice 20">
              <a:extLst>
                <a:ext uri="{FF2B5EF4-FFF2-40B4-BE49-F238E27FC236}">
                  <a16:creationId xmlns:a16="http://schemas.microsoft.com/office/drawing/2014/main" id="{879A9AF6-1D68-880D-62E1-0B126A7459B4}"/>
                </a:ext>
              </a:extLst>
            </p:cNvPr>
            <p:cNvCxnSpPr/>
            <p:nvPr/>
          </p:nvCxnSpPr>
          <p:spPr>
            <a:xfrm flipH="1">
              <a:off x="4657081" y="1670639"/>
              <a:ext cx="1083822" cy="1083824"/>
            </a:xfrm>
            <a:prstGeom prst="line">
              <a:avLst/>
            </a:prstGeom>
            <a:ln w="25400">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 name="TextovéPole 21">
              <a:extLst>
                <a:ext uri="{FF2B5EF4-FFF2-40B4-BE49-F238E27FC236}">
                  <a16:creationId xmlns:a16="http://schemas.microsoft.com/office/drawing/2014/main" id="{F5F06EFF-D6CA-E812-3252-6EAD05F7054F}"/>
                </a:ext>
              </a:extLst>
            </p:cNvPr>
            <p:cNvSpPr txBox="1"/>
            <p:nvPr/>
          </p:nvSpPr>
          <p:spPr>
            <a:xfrm>
              <a:off x="5497530" y="2539574"/>
              <a:ext cx="547095" cy="249586"/>
            </a:xfrm>
            <a:prstGeom prst="rect">
              <a:avLst/>
            </a:prstGeom>
            <a:noFill/>
            <a:ln>
              <a:noFill/>
            </a:ln>
          </p:spPr>
          <p:txBody>
            <a:bodyPr wrap="square" rtlCol="0">
              <a:spAutoFit/>
            </a:bodyPr>
            <a:lstStyle/>
            <a:p>
              <a:pPr marL="0" lvl="2">
                <a:lnSpc>
                  <a:spcPct val="80000"/>
                </a:lnSpc>
                <a:buClr>
                  <a:srgbClr val="7030A0"/>
                </a:buClr>
                <a:buSzPct val="80000"/>
              </a:pPr>
              <a:r>
                <a:rPr lang="en-GB" sz="800" dirty="0">
                  <a:latin typeface="Cambria Math" panose="02040503050406030204" pitchFamily="18" charset="0"/>
                  <a:ea typeface="Cambria Math" panose="02040503050406030204" pitchFamily="18" charset="0"/>
                  <a:sym typeface="Wingdings 2" panose="05020102010507070707" pitchFamily="18" charset="2"/>
                </a:rPr>
                <a:t>long put</a:t>
              </a:r>
              <a:endParaRPr lang="en-GB" sz="8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23" name="TextovéPole 22">
                  <a:extLst>
                    <a:ext uri="{FF2B5EF4-FFF2-40B4-BE49-F238E27FC236}">
                      <a16:creationId xmlns:a16="http://schemas.microsoft.com/office/drawing/2014/main" id="{AD2C464D-4399-56BC-015D-65F97AD362B8}"/>
                    </a:ext>
                  </a:extLst>
                </p:cNvPr>
                <p:cNvSpPr txBox="1"/>
                <p:nvPr/>
              </p:nvSpPr>
              <p:spPr>
                <a:xfrm>
                  <a:off x="5249007" y="2706815"/>
                  <a:ext cx="187089" cy="278101"/>
                </a:xfrm>
                <a:prstGeom prst="rect">
                  <a:avLst/>
                </a:prstGeom>
                <a:noFill/>
              </p:spPr>
              <p:txBody>
                <a:bodyPr wrap="square" lIns="0" rIns="0" rtlCol="0">
                  <a:spAutoFit/>
                </a:bodyPr>
                <a:lstStyle/>
                <a:p>
                  <a:pPr algn="ctr"/>
                  <a14:m>
                    <m:oMathPara xmlns:m="http://schemas.openxmlformats.org/officeDocument/2006/math">
                      <m:oMathParaPr>
                        <m:jc m:val="centerGroup"/>
                      </m:oMathParaPr>
                      <m:oMath xmlns:m="http://schemas.openxmlformats.org/officeDocument/2006/math">
                        <m:sSub>
                          <m:sSubPr>
                            <m:ctrlPr>
                              <a:rPr lang="cs-CZ" sz="800" b="0" i="1" smtClean="0">
                                <a:latin typeface="Cambria Math" panose="02040503050406030204" pitchFamily="18" charset="0"/>
                              </a:rPr>
                            </m:ctrlPr>
                          </m:sSubPr>
                          <m:e>
                            <m:r>
                              <a:rPr lang="cs-CZ" sz="800" b="0" i="1" smtClean="0">
                                <a:latin typeface="Cambria Math" panose="02040503050406030204" pitchFamily="18" charset="0"/>
                              </a:rPr>
                              <m:t>𝑋</m:t>
                            </m:r>
                          </m:e>
                          <m:sub>
                            <m:r>
                              <a:rPr lang="cs-CZ" sz="800" b="0" i="1" smtClean="0">
                                <a:latin typeface="Cambria Math" panose="02040503050406030204" pitchFamily="18" charset="0"/>
                              </a:rPr>
                              <m:t> </m:t>
                            </m:r>
                          </m:sub>
                        </m:sSub>
                      </m:oMath>
                    </m:oMathPara>
                  </a14:m>
                  <a:endParaRPr lang="cs-CZ" sz="800" i="1" baseline="-25000" dirty="0"/>
                </a:p>
              </p:txBody>
            </p:sp>
          </mc:Choice>
          <mc:Fallback xmlns="">
            <p:sp>
              <p:nvSpPr>
                <p:cNvPr id="23" name="TextovéPole 22">
                  <a:extLst>
                    <a:ext uri="{FF2B5EF4-FFF2-40B4-BE49-F238E27FC236}">
                      <a16:creationId xmlns:a16="http://schemas.microsoft.com/office/drawing/2014/main" id="{AD2C464D-4399-56BC-015D-65F97AD362B8}"/>
                    </a:ext>
                  </a:extLst>
                </p:cNvPr>
                <p:cNvSpPr txBox="1">
                  <a:spLocks noRot="1" noChangeAspect="1" noMove="1" noResize="1" noEditPoints="1" noAdjustHandles="1" noChangeArrowheads="1" noChangeShapeType="1" noTextEdit="1"/>
                </p:cNvSpPr>
                <p:nvPr/>
              </p:nvSpPr>
              <p:spPr>
                <a:xfrm>
                  <a:off x="5249007" y="2706815"/>
                  <a:ext cx="187089" cy="278101"/>
                </a:xfrm>
                <a:prstGeom prst="rect">
                  <a:avLst/>
                </a:prstGeom>
                <a:blipFill>
                  <a:blip r:embed="rId23"/>
                  <a:stretch>
                    <a:fillRect/>
                  </a:stretch>
                </a:blipFill>
              </p:spPr>
              <p:txBody>
                <a:bodyPr/>
                <a:lstStyle/>
                <a:p>
                  <a:r>
                    <a:rPr lang="en-GB">
                      <a:noFill/>
                    </a:rPr>
                    <a:t> </a:t>
                  </a:r>
                </a:p>
              </p:txBody>
            </p:sp>
          </mc:Fallback>
        </mc:AlternateContent>
        <p:cxnSp>
          <p:nvCxnSpPr>
            <p:cNvPr id="24" name="Přímá spojnice 23">
              <a:extLst>
                <a:ext uri="{FF2B5EF4-FFF2-40B4-BE49-F238E27FC236}">
                  <a16:creationId xmlns:a16="http://schemas.microsoft.com/office/drawing/2014/main" id="{18E6FEFA-4A20-AED8-252F-A0B62768420F}"/>
                </a:ext>
              </a:extLst>
            </p:cNvPr>
            <p:cNvCxnSpPr/>
            <p:nvPr/>
          </p:nvCxnSpPr>
          <p:spPr>
            <a:xfrm>
              <a:off x="4669851" y="2060848"/>
              <a:ext cx="661800" cy="0"/>
            </a:xfrm>
            <a:prstGeom prst="line">
              <a:avLst/>
            </a:prstGeom>
            <a:ln w="38100" cap="rnd">
              <a:solidFill>
                <a:srgbClr val="C00000"/>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Přímá spojnice 24">
              <a:extLst>
                <a:ext uri="{FF2B5EF4-FFF2-40B4-BE49-F238E27FC236}">
                  <a16:creationId xmlns:a16="http://schemas.microsoft.com/office/drawing/2014/main" id="{F46DB21B-198F-5A9E-8666-45FE61AF345B}"/>
                </a:ext>
              </a:extLst>
            </p:cNvPr>
            <p:cNvCxnSpPr/>
            <p:nvPr/>
          </p:nvCxnSpPr>
          <p:spPr>
            <a:xfrm flipH="1">
              <a:off x="5335609" y="1605143"/>
              <a:ext cx="458708" cy="458709"/>
            </a:xfrm>
            <a:prstGeom prst="line">
              <a:avLst/>
            </a:prstGeom>
            <a:ln w="31750" cap="rnd">
              <a:solidFill>
                <a:srgbClr val="C00000"/>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ovéPole 25">
                  <a:extLst>
                    <a:ext uri="{FF2B5EF4-FFF2-40B4-BE49-F238E27FC236}">
                      <a16:creationId xmlns:a16="http://schemas.microsoft.com/office/drawing/2014/main" id="{60293956-2FAD-5082-0BE7-8AFE634F413B}"/>
                    </a:ext>
                  </a:extLst>
                </p:cNvPr>
                <p:cNvSpPr txBox="1"/>
                <p:nvPr/>
              </p:nvSpPr>
              <p:spPr>
                <a:xfrm>
                  <a:off x="4498323" y="1668749"/>
                  <a:ext cx="211556" cy="278101"/>
                </a:xfrm>
                <a:prstGeom prst="rect">
                  <a:avLst/>
                </a:prstGeom>
                <a:noFill/>
              </p:spPr>
              <p:txBody>
                <a:bodyPr wrap="square" lIns="0" rIns="0" rtlCol="0">
                  <a:spAutoFit/>
                </a:bodyPr>
                <a:lstStyle/>
                <a:p>
                  <a:pPr algn="ctr"/>
                  <a14:m>
                    <m:oMathPara xmlns:m="http://schemas.openxmlformats.org/officeDocument/2006/math">
                      <m:oMathParaPr>
                        <m:jc m:val="centerGroup"/>
                      </m:oMathParaPr>
                      <m:oMath xmlns:m="http://schemas.openxmlformats.org/officeDocument/2006/math">
                        <m:sSub>
                          <m:sSubPr>
                            <m:ctrlPr>
                              <a:rPr lang="cs-CZ" sz="800" b="0" i="1" smtClean="0">
                                <a:latin typeface="Cambria Math" panose="02040503050406030204" pitchFamily="18" charset="0"/>
                              </a:rPr>
                            </m:ctrlPr>
                          </m:sSubPr>
                          <m:e>
                            <m:r>
                              <a:rPr lang="cs-CZ" sz="800" b="0" i="1" smtClean="0">
                                <a:latin typeface="Cambria Math" panose="02040503050406030204" pitchFamily="18" charset="0"/>
                              </a:rPr>
                              <m:t>𝑉</m:t>
                            </m:r>
                          </m:e>
                          <m:sub>
                            <m:r>
                              <a:rPr lang="cs-CZ" sz="800" b="0" i="1" smtClean="0">
                                <a:latin typeface="Cambria Math" panose="02040503050406030204" pitchFamily="18" charset="0"/>
                              </a:rPr>
                              <m:t>𝐵</m:t>
                            </m:r>
                          </m:sub>
                        </m:sSub>
                      </m:oMath>
                    </m:oMathPara>
                  </a14:m>
                  <a:endParaRPr lang="cs-CZ" sz="800" i="1" baseline="-25000" dirty="0"/>
                </a:p>
              </p:txBody>
            </p:sp>
          </mc:Choice>
          <mc:Fallback xmlns="">
            <p:sp>
              <p:nvSpPr>
                <p:cNvPr id="26" name="TextovéPole 25">
                  <a:extLst>
                    <a:ext uri="{FF2B5EF4-FFF2-40B4-BE49-F238E27FC236}">
                      <a16:creationId xmlns:a16="http://schemas.microsoft.com/office/drawing/2014/main" id="{60293956-2FAD-5082-0BE7-8AFE634F413B}"/>
                    </a:ext>
                  </a:extLst>
                </p:cNvPr>
                <p:cNvSpPr txBox="1">
                  <a:spLocks noRot="1" noChangeAspect="1" noMove="1" noResize="1" noEditPoints="1" noAdjustHandles="1" noChangeArrowheads="1" noChangeShapeType="1" noTextEdit="1"/>
                </p:cNvSpPr>
                <p:nvPr/>
              </p:nvSpPr>
              <p:spPr>
                <a:xfrm>
                  <a:off x="4498323" y="1668749"/>
                  <a:ext cx="211556" cy="278101"/>
                </a:xfrm>
                <a:prstGeom prst="rect">
                  <a:avLst/>
                </a:prstGeom>
                <a:blipFill>
                  <a:blip r:embed="rId24"/>
                  <a:stretch>
                    <a:fillRect/>
                  </a:stretch>
                </a:blipFill>
              </p:spPr>
              <p:txBody>
                <a:bodyPr/>
                <a:lstStyle/>
                <a:p>
                  <a:r>
                    <a:rPr lang="en-GB">
                      <a:noFill/>
                    </a:rPr>
                    <a:t> </a:t>
                  </a:r>
                </a:p>
              </p:txBody>
            </p:sp>
          </mc:Fallback>
        </mc:AlternateContent>
        <p:cxnSp>
          <p:nvCxnSpPr>
            <p:cNvPr id="27" name="Přímá spojnice 26">
              <a:extLst>
                <a:ext uri="{FF2B5EF4-FFF2-40B4-BE49-F238E27FC236}">
                  <a16:creationId xmlns:a16="http://schemas.microsoft.com/office/drawing/2014/main" id="{D056F661-50D7-135B-FA1C-AF1A088972AC}"/>
                </a:ext>
              </a:extLst>
            </p:cNvPr>
            <p:cNvCxnSpPr/>
            <p:nvPr/>
          </p:nvCxnSpPr>
          <p:spPr>
            <a:xfrm flipH="1" flipV="1">
              <a:off x="4662659" y="2060848"/>
              <a:ext cx="693614" cy="693615"/>
            </a:xfrm>
            <a:prstGeom prst="line">
              <a:avLst/>
            </a:prstGeom>
            <a:ln w="25400">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8" name="TextovéPole 27">
              <a:extLst>
                <a:ext uri="{FF2B5EF4-FFF2-40B4-BE49-F238E27FC236}">
                  <a16:creationId xmlns:a16="http://schemas.microsoft.com/office/drawing/2014/main" id="{5EFAAE73-36F9-8AD3-DD70-0B3A68FC6B03}"/>
                </a:ext>
              </a:extLst>
            </p:cNvPr>
            <p:cNvSpPr txBox="1"/>
            <p:nvPr/>
          </p:nvSpPr>
          <p:spPr>
            <a:xfrm>
              <a:off x="5059281" y="2188371"/>
              <a:ext cx="639708" cy="249586"/>
            </a:xfrm>
            <a:prstGeom prst="rect">
              <a:avLst/>
            </a:prstGeom>
            <a:noFill/>
            <a:ln>
              <a:noFill/>
            </a:ln>
          </p:spPr>
          <p:txBody>
            <a:bodyPr wrap="square" rtlCol="0">
              <a:spAutoFit/>
            </a:bodyPr>
            <a:lstStyle/>
            <a:p>
              <a:pPr marL="0" lvl="2">
                <a:lnSpc>
                  <a:spcPct val="80000"/>
                </a:lnSpc>
                <a:buClr>
                  <a:srgbClr val="7030A0"/>
                </a:buClr>
                <a:buSzPct val="80000"/>
              </a:pPr>
              <a:r>
                <a:rPr lang="en-GB" sz="800" dirty="0">
                  <a:latin typeface="Cambria Math" panose="02040503050406030204" pitchFamily="18" charset="0"/>
                  <a:ea typeface="Cambria Math" panose="02040503050406030204" pitchFamily="18" charset="0"/>
                  <a:sym typeface="Wingdings 2" panose="05020102010507070707" pitchFamily="18" charset="2"/>
                </a:rPr>
                <a:t>long stock</a:t>
              </a:r>
              <a:endParaRPr lang="en-GB" sz="800" dirty="0">
                <a:latin typeface="Cambria Math" panose="02040503050406030204" pitchFamily="18" charset="0"/>
                <a:ea typeface="Cambria Math" panose="02040503050406030204" pitchFamily="18" charset="0"/>
              </a:endParaRPr>
            </a:p>
          </p:txBody>
        </p:sp>
      </p:grpSp>
      <mc:AlternateContent xmlns:mc="http://schemas.openxmlformats.org/markup-compatibility/2006" xmlns:a14="http://schemas.microsoft.com/office/drawing/2010/main">
        <mc:Choice Requires="a14">
          <p:sp>
            <p:nvSpPr>
              <p:cNvPr id="66" name="TextovéPole 65">
                <a:extLst>
                  <a:ext uri="{FF2B5EF4-FFF2-40B4-BE49-F238E27FC236}">
                    <a16:creationId xmlns:a16="http://schemas.microsoft.com/office/drawing/2014/main" id="{4D180F0F-0263-C20C-80F0-6987856DB671}"/>
                  </a:ext>
                </a:extLst>
              </p:cNvPr>
              <p:cNvSpPr txBox="1"/>
              <p:nvPr/>
            </p:nvSpPr>
            <p:spPr>
              <a:xfrm>
                <a:off x="4356000" y="5108096"/>
                <a:ext cx="4453852" cy="523220"/>
              </a:xfrm>
              <a:prstGeom prst="rect">
                <a:avLst/>
              </a:prstGeom>
              <a:noFill/>
              <a:ln>
                <a:noFill/>
              </a:ln>
            </p:spPr>
            <p:txBody>
              <a:bodyPr wrap="square" rtlCol="0">
                <a:spAutoFit/>
              </a:bodyPr>
              <a:lstStyle/>
              <a:p>
                <a:pPr marL="252000" indent="-252000">
                  <a:buClr>
                    <a:srgbClr val="7030A0"/>
                  </a:buClr>
                  <a:buSzPct val="80000"/>
                  <a:buFont typeface="Wingdings" panose="05000000000000000000" pitchFamily="2" charset="2"/>
                  <a:buChar char="q"/>
                </a:pPr>
                <a:r>
                  <a:rPr lang="cs-CZ" sz="1400" dirty="0">
                    <a:latin typeface="Cambria Math" panose="02040503050406030204" pitchFamily="18" charset="0"/>
                    <a:ea typeface="Cambria Math" panose="02040503050406030204" pitchFamily="18" charset="0"/>
                  </a:rPr>
                  <a:t>C</a:t>
                </a:r>
                <a:r>
                  <a:rPr lang="en-GB" sz="1400" dirty="0">
                    <a:latin typeface="Cambria Math" panose="02040503050406030204" pitchFamily="18" charset="0"/>
                    <a:ea typeface="Cambria Math" panose="02040503050406030204" pitchFamily="18" charset="0"/>
                  </a:rPr>
                  <a:t>ash amount </a:t>
                </a:r>
                <a14:m>
                  <m:oMath xmlns:m="http://schemas.openxmlformats.org/officeDocument/2006/math">
                    <m:r>
                      <a:rPr lang="en-GB" sz="1400">
                        <a:latin typeface="Cambria Math" panose="02040503050406030204" pitchFamily="18" charset="0"/>
                        <a:ea typeface="Cambria Math" panose="02040503050406030204" pitchFamily="18" charset="0"/>
                      </a:rPr>
                      <m:t>𝑋</m:t>
                    </m:r>
                  </m:oMath>
                </a14:m>
                <a:r>
                  <a:rPr lang="en-GB" sz="1400" dirty="0">
                    <a:latin typeface="Cambria Math" panose="02040503050406030204" pitchFamily="18" charset="0"/>
                    <a:ea typeface="Cambria Math" panose="02040503050406030204" pitchFamily="18" charset="0"/>
                  </a:rPr>
                  <a:t> can be interpreted as a payoff from</a:t>
                </a:r>
                <a:r>
                  <a:rPr lang="cs-CZ" sz="1400" dirty="0">
                    <a:latin typeface="Cambria Math" panose="02040503050406030204" pitchFamily="18" charset="0"/>
                    <a:ea typeface="Cambria Math" panose="02040503050406030204" pitchFamily="18" charset="0"/>
                  </a:rPr>
                  <a:t> </a:t>
                </a:r>
                <a:r>
                  <a:rPr lang="en-GB" sz="1400" dirty="0">
                    <a:latin typeface="Cambria Math" panose="02040503050406030204" pitchFamily="18" charset="0"/>
                    <a:ea typeface="Cambria Math" panose="02040503050406030204" pitchFamily="18" charset="0"/>
                  </a:rPr>
                  <a:t>zero-coupon bond </a:t>
                </a:r>
                <a14:m>
                  <m:oMath xmlns:m="http://schemas.openxmlformats.org/officeDocument/2006/math">
                    <m:r>
                      <a:rPr lang="en-GB" sz="1400" b="0" i="1">
                        <a:latin typeface="Cambria Math" panose="02040503050406030204" pitchFamily="18" charset="0"/>
                        <a:ea typeface="Cambria Math" panose="02040503050406030204" pitchFamily="18" charset="0"/>
                      </a:rPr>
                      <m:t>𝐵</m:t>
                    </m:r>
                  </m:oMath>
                </a14:m>
                <a:endParaRPr lang="en-GB" sz="1400" dirty="0">
                  <a:latin typeface="Cambria Math" panose="02040503050406030204" pitchFamily="18" charset="0"/>
                  <a:ea typeface="Cambria Math" panose="02040503050406030204" pitchFamily="18" charset="0"/>
                </a:endParaRPr>
              </a:p>
            </p:txBody>
          </p:sp>
        </mc:Choice>
        <mc:Fallback xmlns="">
          <p:sp>
            <p:nvSpPr>
              <p:cNvPr id="66" name="TextovéPole 65">
                <a:extLst>
                  <a:ext uri="{FF2B5EF4-FFF2-40B4-BE49-F238E27FC236}">
                    <a16:creationId xmlns:a16="http://schemas.microsoft.com/office/drawing/2014/main" id="{4D180F0F-0263-C20C-80F0-6987856DB671}"/>
                  </a:ext>
                </a:extLst>
              </p:cNvPr>
              <p:cNvSpPr txBox="1">
                <a:spLocks noRot="1" noChangeAspect="1" noMove="1" noResize="1" noEditPoints="1" noAdjustHandles="1" noChangeArrowheads="1" noChangeShapeType="1" noTextEdit="1"/>
              </p:cNvSpPr>
              <p:nvPr/>
            </p:nvSpPr>
            <p:spPr>
              <a:xfrm>
                <a:off x="4356000" y="5108096"/>
                <a:ext cx="4453852" cy="523220"/>
              </a:xfrm>
              <a:prstGeom prst="rect">
                <a:avLst/>
              </a:prstGeom>
              <a:blipFill>
                <a:blip r:embed="rId25"/>
                <a:stretch>
                  <a:fillRect t="-3488" b="-9302"/>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TextovéPole 68">
                <a:extLst>
                  <a:ext uri="{FF2B5EF4-FFF2-40B4-BE49-F238E27FC236}">
                    <a16:creationId xmlns:a16="http://schemas.microsoft.com/office/drawing/2014/main" id="{2EDEFDEF-F4D4-484C-4B2F-873CD56FA05E}"/>
                  </a:ext>
                </a:extLst>
              </p:cNvPr>
              <p:cNvSpPr txBox="1"/>
              <p:nvPr/>
            </p:nvSpPr>
            <p:spPr>
              <a:xfrm>
                <a:off x="4608000" y="5551177"/>
                <a:ext cx="4499992" cy="276999"/>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14:m>
                  <m:oMath xmlns:m="http://schemas.openxmlformats.org/officeDocument/2006/math">
                    <m:r>
                      <a:rPr lang="en-GB" sz="1200" b="0" i="1" smtClean="0">
                        <a:latin typeface="Cambria Math" panose="02040503050406030204" pitchFamily="18" charset="0"/>
                        <a:ea typeface="Cambria Math" panose="02040503050406030204" pitchFamily="18" charset="0"/>
                      </a:rPr>
                      <m:t>𝐶</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𝑃</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𝑆</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𝐵</m:t>
                    </m:r>
                  </m:oMath>
                </a14:m>
                <a:r>
                  <a:rPr lang="en-GB" sz="1200" dirty="0">
                    <a:latin typeface="Cambria Math" panose="02040503050406030204" pitchFamily="18" charset="0"/>
                    <a:ea typeface="Cambria Math" panose="02040503050406030204" pitchFamily="18" charset="0"/>
                  </a:rPr>
                  <a:t> (</a:t>
                </a:r>
                <a:r>
                  <a:rPr lang="cs-CZ" sz="1200" dirty="0">
                    <a:latin typeface="Cambria Math" panose="02040503050406030204" pitchFamily="18" charset="0"/>
                    <a:ea typeface="Cambria Math" panose="02040503050406030204" pitchFamily="18" charset="0"/>
                  </a:rPr>
                  <a:t>long call = </a:t>
                </a:r>
                <a:r>
                  <a:rPr lang="en-GB" sz="1200" dirty="0">
                    <a:latin typeface="Cambria Math" panose="02040503050406030204" pitchFamily="18" charset="0"/>
                    <a:ea typeface="Cambria Math" panose="02040503050406030204" pitchFamily="18" charset="0"/>
                  </a:rPr>
                  <a:t>long put</a:t>
                </a:r>
                <a:r>
                  <a:rPr lang="cs-CZ" sz="1200" dirty="0">
                    <a:latin typeface="Cambria Math" panose="02040503050406030204" pitchFamily="18" charset="0"/>
                    <a:ea typeface="Cambria Math" panose="02040503050406030204" pitchFamily="18" charset="0"/>
                  </a:rPr>
                  <a:t> </a:t>
                </a:r>
                <a:r>
                  <a:rPr lang="en-GB" sz="1200" dirty="0">
                    <a:latin typeface="Cambria Math" panose="02040503050406030204" pitchFamily="18" charset="0"/>
                    <a:ea typeface="Cambria Math" panose="02040503050406030204" pitchFamily="18" charset="0"/>
                  </a:rPr>
                  <a:t>&amp; long stock &amp; short bond)</a:t>
                </a:r>
                <a:endParaRPr lang="en-GB" sz="1200" b="1" dirty="0">
                  <a:latin typeface="Cambria Math" panose="02040503050406030204" pitchFamily="18" charset="0"/>
                  <a:ea typeface="Cambria Math" panose="02040503050406030204" pitchFamily="18" charset="0"/>
                </a:endParaRPr>
              </a:p>
            </p:txBody>
          </p:sp>
        </mc:Choice>
        <mc:Fallback xmlns="">
          <p:sp>
            <p:nvSpPr>
              <p:cNvPr id="69" name="TextovéPole 68">
                <a:extLst>
                  <a:ext uri="{FF2B5EF4-FFF2-40B4-BE49-F238E27FC236}">
                    <a16:creationId xmlns:a16="http://schemas.microsoft.com/office/drawing/2014/main" id="{2EDEFDEF-F4D4-484C-4B2F-873CD56FA05E}"/>
                  </a:ext>
                </a:extLst>
              </p:cNvPr>
              <p:cNvSpPr txBox="1">
                <a:spLocks noRot="1" noChangeAspect="1" noMove="1" noResize="1" noEditPoints="1" noAdjustHandles="1" noChangeArrowheads="1" noChangeShapeType="1" noTextEdit="1"/>
              </p:cNvSpPr>
              <p:nvPr/>
            </p:nvSpPr>
            <p:spPr>
              <a:xfrm>
                <a:off x="4608000" y="5551177"/>
                <a:ext cx="4499992" cy="276999"/>
              </a:xfrm>
              <a:prstGeom prst="rect">
                <a:avLst/>
              </a:prstGeom>
              <a:blipFill>
                <a:blip r:embed="rId26"/>
                <a:stretch>
                  <a:fillRect t="-2222" b="-17778"/>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0" name="TextovéPole 69">
                <a:extLst>
                  <a:ext uri="{FF2B5EF4-FFF2-40B4-BE49-F238E27FC236}">
                    <a16:creationId xmlns:a16="http://schemas.microsoft.com/office/drawing/2014/main" id="{14E5D279-44A7-D6E2-0D95-6C216E935304}"/>
                  </a:ext>
                </a:extLst>
              </p:cNvPr>
              <p:cNvSpPr txBox="1"/>
              <p:nvPr/>
            </p:nvSpPr>
            <p:spPr>
              <a:xfrm>
                <a:off x="4608000" y="5786448"/>
                <a:ext cx="4453852" cy="276999"/>
              </a:xfrm>
              <a:prstGeom prst="rect">
                <a:avLst/>
              </a:prstGeom>
              <a:noFill/>
              <a:ln>
                <a:noFill/>
              </a:ln>
            </p:spPr>
            <p:txBody>
              <a:bodyPr wrap="square" rtlCol="0">
                <a:spAutoFit/>
              </a:bodyPr>
              <a:lstStyle/>
              <a:p>
                <a:pPr marL="180000" indent="-180000">
                  <a:buClr>
                    <a:srgbClr val="7030A0"/>
                  </a:buClr>
                  <a:buSzPct val="100000"/>
                  <a:buFont typeface="Wingdings" panose="05000000000000000000" pitchFamily="2" charset="2"/>
                  <a:buChar char="§"/>
                </a:pPr>
                <a14:m>
                  <m:oMath xmlns:m="http://schemas.openxmlformats.org/officeDocument/2006/math">
                    <m:r>
                      <a:rPr lang="en-GB" sz="1200" b="0" i="1" smtClean="0">
                        <a:latin typeface="Cambria Math" panose="02040503050406030204" pitchFamily="18" charset="0"/>
                        <a:ea typeface="Cambria Math" panose="02040503050406030204" pitchFamily="18" charset="0"/>
                      </a:rPr>
                      <m:t>𝑃</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𝐶</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𝐵</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𝑆</m:t>
                    </m:r>
                  </m:oMath>
                </a14:m>
                <a:r>
                  <a:rPr lang="en-GB" sz="1200" dirty="0">
                    <a:latin typeface="Cambria Math" panose="02040503050406030204" pitchFamily="18" charset="0"/>
                    <a:ea typeface="Cambria Math" panose="02040503050406030204" pitchFamily="18" charset="0"/>
                  </a:rPr>
                  <a:t> (long put = long call &amp; long bond &amp; short stock)</a:t>
                </a:r>
                <a:endParaRPr lang="en-GB" sz="1200" b="1" dirty="0">
                  <a:latin typeface="Cambria Math" panose="02040503050406030204" pitchFamily="18" charset="0"/>
                  <a:ea typeface="Cambria Math" panose="02040503050406030204" pitchFamily="18" charset="0"/>
                </a:endParaRPr>
              </a:p>
            </p:txBody>
          </p:sp>
        </mc:Choice>
        <mc:Fallback xmlns="">
          <p:sp>
            <p:nvSpPr>
              <p:cNvPr id="70" name="TextovéPole 69">
                <a:extLst>
                  <a:ext uri="{FF2B5EF4-FFF2-40B4-BE49-F238E27FC236}">
                    <a16:creationId xmlns:a16="http://schemas.microsoft.com/office/drawing/2014/main" id="{14E5D279-44A7-D6E2-0D95-6C216E935304}"/>
                  </a:ext>
                </a:extLst>
              </p:cNvPr>
              <p:cNvSpPr txBox="1">
                <a:spLocks noRot="1" noChangeAspect="1" noMove="1" noResize="1" noEditPoints="1" noAdjustHandles="1" noChangeArrowheads="1" noChangeShapeType="1" noTextEdit="1"/>
              </p:cNvSpPr>
              <p:nvPr/>
            </p:nvSpPr>
            <p:spPr>
              <a:xfrm>
                <a:off x="4608000" y="5786448"/>
                <a:ext cx="4453852" cy="276999"/>
              </a:xfrm>
              <a:prstGeom prst="rect">
                <a:avLst/>
              </a:prstGeom>
              <a:blipFill>
                <a:blip r:embed="rId27"/>
                <a:stretch>
                  <a:fillRect b="-15217"/>
                </a:stretch>
              </a:blipFill>
              <a:ln>
                <a:noFill/>
              </a:ln>
            </p:spPr>
            <p:txBody>
              <a:bodyPr/>
              <a:lstStyle/>
              <a:p>
                <a:r>
                  <a:rPr lang="en-GB">
                    <a:noFill/>
                  </a:rPr>
                  <a:t> </a:t>
                </a:r>
              </a:p>
            </p:txBody>
          </p:sp>
        </mc:Fallback>
      </mc:AlternateContent>
      <p:sp>
        <p:nvSpPr>
          <p:cNvPr id="89" name="TextovéPole 88">
            <a:extLst>
              <a:ext uri="{FF2B5EF4-FFF2-40B4-BE49-F238E27FC236}">
                <a16:creationId xmlns:a16="http://schemas.microsoft.com/office/drawing/2014/main" id="{C5319379-F70E-C094-3228-458B8785DE20}"/>
              </a:ext>
            </a:extLst>
          </p:cNvPr>
          <p:cNvSpPr txBox="1"/>
          <p:nvPr/>
        </p:nvSpPr>
        <p:spPr>
          <a:xfrm>
            <a:off x="3641926" y="1768800"/>
            <a:ext cx="611600" cy="123111"/>
          </a:xfrm>
          <a:prstGeom prst="rect">
            <a:avLst/>
          </a:prstGeom>
          <a:noFill/>
        </p:spPr>
        <p:txBody>
          <a:bodyPr wrap="square" tIns="0" bIns="0" rtlCol="0">
            <a:spAutoFit/>
          </a:bodyPr>
          <a:lstStyle/>
          <a:p>
            <a:pPr algn="ctr"/>
            <a:r>
              <a:rPr lang="en-GB" sz="800" i="0" noProof="0" dirty="0">
                <a:latin typeface="Cambria Math" panose="02040503050406030204" pitchFamily="18" charset="0"/>
                <a:ea typeface="Cambria Math" panose="02040503050406030204" pitchFamily="18" charset="0"/>
              </a:rPr>
              <a:t>G</a:t>
            </a:r>
            <a:r>
              <a:rPr lang="cs-CZ" sz="800" i="0" noProof="0" dirty="0">
                <a:latin typeface="Cambria Math" panose="02040503050406030204" pitchFamily="18" charset="0"/>
                <a:ea typeface="Cambria Math" panose="02040503050406030204" pitchFamily="18" charset="0"/>
              </a:rPr>
              <a:t>O LONG</a:t>
            </a:r>
            <a:endParaRPr lang="en-GB" sz="800" i="1" dirty="0">
              <a:latin typeface="Cambria Math"/>
              <a:ea typeface="Cambria Math" panose="02040503050406030204" pitchFamily="18" charset="0"/>
            </a:endParaRPr>
          </a:p>
        </p:txBody>
      </p:sp>
      <p:sp>
        <p:nvSpPr>
          <p:cNvPr id="90" name="TextovéPole 89">
            <a:extLst>
              <a:ext uri="{FF2B5EF4-FFF2-40B4-BE49-F238E27FC236}">
                <a16:creationId xmlns:a16="http://schemas.microsoft.com/office/drawing/2014/main" id="{CC031D1B-0A0D-4D03-3FEE-CFA45611A663}"/>
              </a:ext>
            </a:extLst>
          </p:cNvPr>
          <p:cNvSpPr txBox="1"/>
          <p:nvPr/>
        </p:nvSpPr>
        <p:spPr>
          <a:xfrm>
            <a:off x="3592356" y="2019857"/>
            <a:ext cx="705666" cy="123111"/>
          </a:xfrm>
          <a:prstGeom prst="rect">
            <a:avLst/>
          </a:prstGeom>
          <a:noFill/>
        </p:spPr>
        <p:txBody>
          <a:bodyPr wrap="square" tIns="0" bIns="0" rtlCol="0">
            <a:spAutoFit/>
          </a:bodyPr>
          <a:lstStyle/>
          <a:p>
            <a:pPr algn="ctr"/>
            <a:r>
              <a:rPr lang="en-GB" sz="800" i="0" noProof="0" dirty="0">
                <a:latin typeface="Cambria Math" panose="02040503050406030204" pitchFamily="18" charset="0"/>
                <a:ea typeface="Cambria Math" panose="02040503050406030204" pitchFamily="18" charset="0"/>
              </a:rPr>
              <a:t>G</a:t>
            </a:r>
            <a:r>
              <a:rPr lang="cs-CZ" sz="800" i="0" noProof="0" dirty="0">
                <a:latin typeface="Cambria Math" panose="02040503050406030204" pitchFamily="18" charset="0"/>
                <a:ea typeface="Cambria Math" panose="02040503050406030204" pitchFamily="18" charset="0"/>
              </a:rPr>
              <a:t>O SHORT</a:t>
            </a:r>
            <a:endParaRPr lang="en-GB" sz="800" i="1" dirty="0">
              <a:latin typeface="Cambria Math"/>
              <a:ea typeface="Cambria Math" panose="02040503050406030204" pitchFamily="18" charset="0"/>
            </a:endParaRPr>
          </a:p>
        </p:txBody>
      </p:sp>
      <p:sp>
        <p:nvSpPr>
          <p:cNvPr id="110" name="TextovéPole 109">
            <a:extLst>
              <a:ext uri="{FF2B5EF4-FFF2-40B4-BE49-F238E27FC236}">
                <a16:creationId xmlns:a16="http://schemas.microsoft.com/office/drawing/2014/main" id="{6785E234-7DD0-1E53-C939-BF9ABA0898AE}"/>
              </a:ext>
            </a:extLst>
          </p:cNvPr>
          <p:cNvSpPr txBox="1"/>
          <p:nvPr/>
        </p:nvSpPr>
        <p:spPr>
          <a:xfrm>
            <a:off x="3642033" y="3902371"/>
            <a:ext cx="611600" cy="123111"/>
          </a:xfrm>
          <a:prstGeom prst="rect">
            <a:avLst/>
          </a:prstGeom>
          <a:noFill/>
        </p:spPr>
        <p:txBody>
          <a:bodyPr wrap="square" tIns="0" bIns="0" rtlCol="0">
            <a:spAutoFit/>
          </a:bodyPr>
          <a:lstStyle/>
          <a:p>
            <a:pPr algn="ctr"/>
            <a:r>
              <a:rPr lang="en-GB" sz="800" i="0" noProof="0" dirty="0">
                <a:latin typeface="Cambria Math" panose="02040503050406030204" pitchFamily="18" charset="0"/>
                <a:ea typeface="Cambria Math" panose="02040503050406030204" pitchFamily="18" charset="0"/>
              </a:rPr>
              <a:t>G</a:t>
            </a:r>
            <a:r>
              <a:rPr lang="cs-CZ" sz="800" i="0" noProof="0" dirty="0">
                <a:latin typeface="Cambria Math" panose="02040503050406030204" pitchFamily="18" charset="0"/>
                <a:ea typeface="Cambria Math" panose="02040503050406030204" pitchFamily="18" charset="0"/>
              </a:rPr>
              <a:t>O LONG</a:t>
            </a:r>
            <a:endParaRPr lang="en-GB" sz="800" i="1" dirty="0">
              <a:latin typeface="Cambria Math"/>
              <a:ea typeface="Cambria Math" panose="02040503050406030204" pitchFamily="18" charset="0"/>
            </a:endParaRPr>
          </a:p>
        </p:txBody>
      </p:sp>
      <p:sp>
        <p:nvSpPr>
          <p:cNvPr id="111" name="TextovéPole 110">
            <a:extLst>
              <a:ext uri="{FF2B5EF4-FFF2-40B4-BE49-F238E27FC236}">
                <a16:creationId xmlns:a16="http://schemas.microsoft.com/office/drawing/2014/main" id="{C1E7DAB4-FE7F-10EA-02A4-F8CFD7EE7A1C}"/>
              </a:ext>
            </a:extLst>
          </p:cNvPr>
          <p:cNvSpPr txBox="1"/>
          <p:nvPr/>
        </p:nvSpPr>
        <p:spPr>
          <a:xfrm>
            <a:off x="3592937" y="3643017"/>
            <a:ext cx="705666" cy="123111"/>
          </a:xfrm>
          <a:prstGeom prst="rect">
            <a:avLst/>
          </a:prstGeom>
          <a:noFill/>
        </p:spPr>
        <p:txBody>
          <a:bodyPr wrap="square" tIns="0" bIns="0" rtlCol="0">
            <a:spAutoFit/>
          </a:bodyPr>
          <a:lstStyle/>
          <a:p>
            <a:pPr algn="ctr"/>
            <a:r>
              <a:rPr lang="en-GB" sz="800" i="0" noProof="0" dirty="0">
                <a:latin typeface="Cambria Math" panose="02040503050406030204" pitchFamily="18" charset="0"/>
                <a:ea typeface="Cambria Math" panose="02040503050406030204" pitchFamily="18" charset="0"/>
              </a:rPr>
              <a:t>G</a:t>
            </a:r>
            <a:r>
              <a:rPr lang="cs-CZ" sz="800" i="0" noProof="0" dirty="0">
                <a:latin typeface="Cambria Math" panose="02040503050406030204" pitchFamily="18" charset="0"/>
                <a:ea typeface="Cambria Math" panose="02040503050406030204" pitchFamily="18" charset="0"/>
              </a:rPr>
              <a:t>O SHORT</a:t>
            </a:r>
            <a:endParaRPr lang="en-GB" sz="800" i="1" dirty="0">
              <a:latin typeface="Cambria Math"/>
              <a:ea typeface="Cambria Math" panose="02040503050406030204" pitchFamily="18" charset="0"/>
            </a:endParaRPr>
          </a:p>
        </p:txBody>
      </p:sp>
    </p:spTree>
    <p:extLst>
      <p:ext uri="{BB962C8B-B14F-4D97-AF65-F5344CB8AC3E}">
        <p14:creationId xmlns:p14="http://schemas.microsoft.com/office/powerpoint/2010/main" val="2425748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2052000" y="2160000"/>
            <a:ext cx="5976000" cy="1800000"/>
          </a:xfrm>
        </p:spPr>
        <p:txBody>
          <a:bodyPr/>
          <a:lstStyle/>
          <a:p>
            <a:pPr marL="182880" indent="0" algn="l">
              <a:buNone/>
            </a:pPr>
            <a:r>
              <a:rPr lang="en-GB" dirty="0">
                <a:solidFill>
                  <a:srgbClr val="7030A0"/>
                </a:solidFill>
              </a:rPr>
              <a:t>See you </a:t>
            </a:r>
            <a:br>
              <a:rPr lang="en-GB" dirty="0">
                <a:solidFill>
                  <a:srgbClr val="7030A0"/>
                </a:solidFill>
              </a:rPr>
            </a:br>
            <a:r>
              <a:rPr lang="en-GB" dirty="0">
                <a:solidFill>
                  <a:srgbClr val="7030A0"/>
                </a:solidFill>
              </a:rPr>
              <a:t>in the next lecture</a:t>
            </a:r>
          </a:p>
        </p:txBody>
      </p:sp>
      <p:sp>
        <p:nvSpPr>
          <p:cNvPr id="9" name="Zástupný symbol pro číslo snímku 2"/>
          <p:cNvSpPr>
            <a:spLocks noGrp="1"/>
          </p:cNvSpPr>
          <p:nvPr>
            <p:ph type="sldNum" sz="quarter" idx="12"/>
          </p:nvPr>
        </p:nvSpPr>
        <p:spPr>
          <a:xfrm>
            <a:off x="7164000" y="6336000"/>
            <a:ext cx="1800000" cy="360000"/>
          </a:xfrm>
        </p:spPr>
        <p:txBody>
          <a:bodyPr/>
          <a:lstStyle/>
          <a:p>
            <a:pPr algn="r"/>
            <a:r>
              <a:rPr lang="cs-CZ" dirty="0"/>
              <a:t>15</a:t>
            </a:r>
          </a:p>
        </p:txBody>
      </p:sp>
      <p:sp>
        <p:nvSpPr>
          <p:cNvPr id="10" name="Zástupný symbol pro zápatí 1"/>
          <p:cNvSpPr>
            <a:spLocks noGrp="1"/>
          </p:cNvSpPr>
          <p:nvPr>
            <p:ph type="ftr" sz="quarter" idx="11"/>
          </p:nvPr>
        </p:nvSpPr>
        <p:spPr>
          <a:xfrm>
            <a:off x="180000" y="6336000"/>
            <a:ext cx="3312000" cy="360000"/>
          </a:xfrm>
        </p:spPr>
        <p:txBody>
          <a:bodyPr/>
          <a:lstStyle/>
          <a:p>
            <a:r>
              <a:rPr lang="en-GB" dirty="0"/>
              <a:t>Pricing of option contracts</a:t>
            </a:r>
          </a:p>
        </p:txBody>
      </p:sp>
      <p:sp>
        <p:nvSpPr>
          <p:cNvPr id="22" name="Podnadpis 2">
            <a:extLst>
              <a:ext uri="{FF2B5EF4-FFF2-40B4-BE49-F238E27FC236}">
                <a16:creationId xmlns:a16="http://schemas.microsoft.com/office/drawing/2014/main" id="{B6037AF5-4E0C-5175-D00A-4FA9101001D3}"/>
              </a:ext>
            </a:extLst>
          </p:cNvPr>
          <p:cNvSpPr txBox="1">
            <a:spLocks/>
          </p:cNvSpPr>
          <p:nvPr/>
        </p:nvSpPr>
        <p:spPr>
          <a:xfrm>
            <a:off x="180000" y="288000"/>
            <a:ext cx="2700000" cy="504000"/>
          </a:xfrm>
          <a:prstGeom prst="rect">
            <a:avLst/>
          </a:prstGeom>
        </p:spPr>
        <p:txBody>
          <a:bodyPr vert="horz" wrap="square" lIns="91440" tIns="45720" rIns="91440" bIns="45720" rtlCol="0" anchor="t">
            <a:spAutoFit/>
          </a:bodyPr>
          <a:lstStyle>
            <a:lvl1pPr marL="0" indent="0" algn="r" defTabSz="914400" rtl="0" eaLnBrk="1" latinLnBrk="0" hangingPunct="1">
              <a:spcBef>
                <a:spcPct val="20000"/>
              </a:spcBef>
              <a:spcAft>
                <a:spcPts val="300"/>
              </a:spcAft>
              <a:buClr>
                <a:schemeClr val="accent6">
                  <a:lumMod val="75000"/>
                </a:schemeClr>
              </a:buClr>
              <a:buSzPct val="130000"/>
              <a:buFont typeface="Georgia" pitchFamily="18" charset="0"/>
              <a:buNone/>
              <a:defRPr sz="2000" kern="1200">
                <a:solidFill>
                  <a:schemeClr val="tx2"/>
                </a:solidFill>
                <a:latin typeface="+mn-lt"/>
                <a:ea typeface="+mn-ea"/>
                <a:cs typeface="+mn-cs"/>
              </a:defRPr>
            </a:lvl1pPr>
            <a:lvl2pPr marL="4572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spcAft>
                <a:spcPts val="300"/>
              </a:spcAft>
              <a:buClr>
                <a:schemeClr val="accent6">
                  <a:lumMod val="75000"/>
                </a:schemeClr>
              </a:buClr>
              <a:buSzPct val="130000"/>
              <a:buFont typeface="Georgia" pitchFamily="18" charset="0"/>
              <a:buNone/>
              <a:defRPr sz="1400" kern="1200">
                <a:solidFill>
                  <a:schemeClr val="tx1">
                    <a:tint val="75000"/>
                  </a:schemeClr>
                </a:solidFill>
                <a:latin typeface="+mn-lt"/>
                <a:ea typeface="+mn-ea"/>
                <a:cs typeface="+mn-cs"/>
              </a:defRPr>
            </a:lvl9pPr>
          </a:lstStyle>
          <a:p>
            <a:pPr marL="361950" indent="-361950" algn="l">
              <a:spcBef>
                <a:spcPts val="0"/>
              </a:spcBef>
              <a:spcAft>
                <a:spcPts val="0"/>
              </a:spcAft>
            </a:pPr>
            <a:r>
              <a:rPr lang="en-GB" sz="1600" cap="small" dirty="0">
                <a:latin typeface="Algerian" panose="04020705040A02060702" pitchFamily="82" charset="0"/>
                <a:ea typeface="Tahoma" panose="020B0604030504040204" pitchFamily="34" charset="0"/>
                <a:cs typeface="Tahoma" panose="020B0604030504040204" pitchFamily="34" charset="0"/>
              </a:rPr>
              <a:t>©</a:t>
            </a:r>
            <a:r>
              <a:rPr lang="en-GB" sz="1800" cap="small" dirty="0">
                <a:latin typeface="Algerian" panose="04020705040A02060702" pitchFamily="82" charset="0"/>
                <a:ea typeface="Tahoma" panose="020B0604030504040204" pitchFamily="34" charset="0"/>
                <a:cs typeface="Tahoma" panose="020B0604030504040204" pitchFamily="34" charset="0"/>
              </a:rPr>
              <a:t> O.D. Lecturing Legacy</a:t>
            </a:r>
            <a:endParaRPr lang="cs-CZ" sz="1800" cap="small" dirty="0">
              <a:latin typeface="Algerian" panose="04020705040A02060702" pitchFamily="82" charset="0"/>
              <a:ea typeface="Tahoma" panose="020B0604030504040204" pitchFamily="34" charset="0"/>
              <a:cs typeface="Tahoma" panose="020B0604030504040204" pitchFamily="34" charset="0"/>
            </a:endParaRPr>
          </a:p>
          <a:p>
            <a:pPr marL="180975" algn="l">
              <a:spcBef>
                <a:spcPts val="0"/>
              </a:spcBef>
              <a:spcAft>
                <a:spcPts val="0"/>
              </a:spcAft>
            </a:pPr>
            <a:r>
              <a:rPr lang="cs-CZ" sz="1000" dirty="0">
                <a:latin typeface="Arial" panose="020B0604020202020204" pitchFamily="34" charset="0"/>
                <a:ea typeface="Tahoma" panose="020B0604030504040204" pitchFamily="34" charset="0"/>
                <a:cs typeface="Arial" panose="020B0604020202020204" pitchFamily="34" charset="0"/>
              </a:rPr>
              <a:t> dedekold@gmail.com</a:t>
            </a:r>
            <a:endParaRPr lang="en-GB" sz="1000" cap="small" dirty="0">
              <a:ea typeface="Tahoma" panose="020B0604030504040204" pitchFamily="34" charset="0"/>
              <a:cs typeface="Tahoma" panose="020B0604030504040204" pitchFamily="34" charset="0"/>
            </a:endParaRPr>
          </a:p>
        </p:txBody>
      </p:sp>
      <p:pic>
        <p:nvPicPr>
          <p:cNvPr id="6" name="Obrázek 5">
            <a:extLst>
              <a:ext uri="{FF2B5EF4-FFF2-40B4-BE49-F238E27FC236}">
                <a16:creationId xmlns:a16="http://schemas.microsoft.com/office/drawing/2014/main" id="{37E5E11A-E286-1CFD-0B19-ABBE659DC1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000" y="5184000"/>
            <a:ext cx="864000" cy="864000"/>
          </a:xfrm>
          <a:prstGeom prst="rect">
            <a:avLst/>
          </a:prstGeom>
        </p:spPr>
      </p:pic>
      <p:sp>
        <p:nvSpPr>
          <p:cNvPr id="4" name="Obdélník 3">
            <a:extLst>
              <a:ext uri="{FF2B5EF4-FFF2-40B4-BE49-F238E27FC236}">
                <a16:creationId xmlns:a16="http://schemas.microsoft.com/office/drawing/2014/main" id="{809055F8-7E18-4705-F02B-3CD1BCBD325F}"/>
              </a:ext>
            </a:extLst>
          </p:cNvPr>
          <p:cNvSpPr/>
          <p:nvPr/>
        </p:nvSpPr>
        <p:spPr>
          <a:xfrm>
            <a:off x="1224000" y="5400000"/>
            <a:ext cx="5076192" cy="400110"/>
          </a:xfrm>
          <a:prstGeom prst="rect">
            <a:avLst/>
          </a:prstGeom>
          <a:ln/>
        </p:spPr>
        <p:style>
          <a:lnRef idx="0">
            <a:schemeClr val="accent2"/>
          </a:lnRef>
          <a:fillRef idx="3">
            <a:schemeClr val="accent2"/>
          </a:fillRef>
          <a:effectRef idx="3">
            <a:schemeClr val="accent2"/>
          </a:effectRef>
          <a:fontRef idx="minor">
            <a:schemeClr val="lt1"/>
          </a:fontRef>
        </p:style>
        <p:txBody>
          <a:bodyPr wrap="square" lIns="91440" tIns="45720" rIns="91440" bIns="45720">
            <a:spAutoFit/>
          </a:bodyPr>
          <a:lstStyle/>
          <a:p>
            <a:r>
              <a:rPr lang="en-GB" sz="1000" noProof="0" dirty="0">
                <a:ln w="0"/>
                <a:solidFill>
                  <a:schemeClr val="bg1"/>
                </a:solidFill>
                <a:effectLst>
                  <a:outerShdw blurRad="38100" dist="25400" dir="5400000" algn="ctr" rotWithShape="0">
                    <a:srgbClr val="6E747A">
                      <a:alpha val="43000"/>
                    </a:srgbClr>
                  </a:outerShdw>
                </a:effectLst>
              </a:rPr>
              <a:t>Visit</a:t>
            </a:r>
            <a:r>
              <a:rPr lang="en-GB" sz="1000" noProof="0" dirty="0">
                <a:ln w="0"/>
                <a:solidFill>
                  <a:schemeClr val="accent1"/>
                </a:solidFill>
                <a:effectLst>
                  <a:outerShdw blurRad="38100" dist="25400" dir="5400000" algn="ctr" rotWithShape="0">
                    <a:srgbClr val="6E747A">
                      <a:alpha val="43000"/>
                    </a:srgbClr>
                  </a:outerShdw>
                </a:effectLst>
              </a:rPr>
              <a:t> </a:t>
            </a:r>
            <a:r>
              <a:rPr lang="en-GB" sz="1000" noProof="0" dirty="0">
                <a:ln w="0"/>
                <a:solidFill>
                  <a:srgbClr val="C00000"/>
                </a:solidFill>
                <a:effectLst>
                  <a:outerShdw blurRad="38100" dist="25400" dir="5400000" algn="ctr" rotWithShape="0">
                    <a:srgbClr val="6E747A">
                      <a:alpha val="43000"/>
                    </a:srgbClr>
                  </a:outerShdw>
                </a:effectLst>
                <a:hlinkClick r:id="rId4">
                  <a:extLst>
                    <a:ext uri="{A12FA001-AC4F-418D-AE19-62706E023703}">
                      <ahyp:hlinkClr xmlns:ahyp="http://schemas.microsoft.com/office/drawing/2018/hyperlinkcolor" val="tx"/>
                    </a:ext>
                  </a:extLst>
                </a:hlinkClick>
              </a:rPr>
              <a:t>dedeklegacy.cz </a:t>
            </a:r>
            <a:r>
              <a:rPr lang="en-GB" sz="1000" noProof="0" dirty="0">
                <a:ln w="0"/>
                <a:solidFill>
                  <a:schemeClr val="bg1"/>
                </a:solidFill>
                <a:effectLst>
                  <a:outerShdw blurRad="38100" dist="25400" dir="5400000" algn="ctr" rotWithShape="0">
                    <a:srgbClr val="6E747A">
                      <a:alpha val="43000"/>
                    </a:srgbClr>
                  </a:outerShdw>
                </a:effectLst>
              </a:rPr>
              <a:t>or </a:t>
            </a:r>
            <a:r>
              <a:rPr lang="en-GB" sz="1000" noProof="0" dirty="0">
                <a:ln w="0"/>
                <a:solidFill>
                  <a:srgbClr val="C00000"/>
                </a:solidFill>
                <a:effectLst>
                  <a:outerShdw blurRad="38100" dist="25400" dir="5400000" algn="ctr" rotWithShape="0">
                    <a:srgbClr val="6E747A">
                      <a:alpha val="43000"/>
                    </a:srgbClr>
                  </a:outerShdw>
                </a:effectLst>
                <a:hlinkClick r:id="rId5">
                  <a:extLst>
                    <a:ext uri="{A12FA001-AC4F-418D-AE19-62706E023703}">
                      <ahyp:hlinkClr xmlns:ahyp="http://schemas.microsoft.com/office/drawing/2018/hyperlinkcolor" val="tx"/>
                    </a:ext>
                  </a:extLst>
                </a:hlinkClick>
              </a:rPr>
              <a:t>TALKING SLIDES </a:t>
            </a:r>
            <a:r>
              <a:rPr lang="en-GB" sz="1000" noProof="0" dirty="0">
                <a:ln w="0"/>
                <a:solidFill>
                  <a:schemeClr val="bg1"/>
                </a:solidFill>
                <a:effectLst>
                  <a:outerShdw blurRad="38100" dist="25400" dir="5400000" algn="ctr" rotWithShape="0">
                    <a:srgbClr val="6E747A">
                      <a:alpha val="43000"/>
                    </a:srgbClr>
                  </a:outerShdw>
                </a:effectLst>
              </a:rPr>
              <a:t>for the animated version of this presentation</a:t>
            </a:r>
          </a:p>
          <a:p>
            <a:r>
              <a:rPr lang="en-GB" sz="1000" noProof="0" dirty="0">
                <a:ln w="0"/>
                <a:solidFill>
                  <a:schemeClr val="bg1"/>
                </a:solidFill>
                <a:effectLst>
                  <a:outerShdw blurRad="38100" dist="25400" dir="5400000" algn="ctr" rotWithShape="0">
                    <a:srgbClr val="6E747A">
                      <a:alpha val="43000"/>
                    </a:srgbClr>
                  </a:outerShdw>
                </a:effectLst>
              </a:rPr>
              <a:t>(with English narrations and English/Czech subtitles)</a:t>
            </a:r>
          </a:p>
        </p:txBody>
      </p:sp>
    </p:spTree>
    <p:extLst>
      <p:ext uri="{BB962C8B-B14F-4D97-AF65-F5344CB8AC3E}">
        <p14:creationId xmlns:p14="http://schemas.microsoft.com/office/powerpoint/2010/main" val="1058235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E746B-D7BB-46D1-B74F-FE0C9C8F85E1}"/>
            </a:ext>
          </a:extLst>
        </p:cNvPr>
        <p:cNvGrpSpPr/>
        <p:nvPr/>
      </p:nvGrpSpPr>
      <p:grpSpPr>
        <a:xfrm>
          <a:off x="0" y="0"/>
          <a:ext cx="0" cy="0"/>
          <a:chOff x="0" y="0"/>
          <a:chExt cx="0" cy="0"/>
        </a:xfrm>
      </p:grpSpPr>
      <p:sp>
        <p:nvSpPr>
          <p:cNvPr id="2" name="Zástupný symbol pro zápatí 1">
            <a:extLst>
              <a:ext uri="{FF2B5EF4-FFF2-40B4-BE49-F238E27FC236}">
                <a16:creationId xmlns:a16="http://schemas.microsoft.com/office/drawing/2014/main" id="{496BE18E-9E81-FD7E-B11E-B3B1D1978375}"/>
              </a:ext>
            </a:extLst>
          </p:cNvPr>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a:extLst>
              <a:ext uri="{FF2B5EF4-FFF2-40B4-BE49-F238E27FC236}">
                <a16:creationId xmlns:a16="http://schemas.microsoft.com/office/drawing/2014/main" id="{32AE3530-E6E9-583C-9BD5-22785437B72A}"/>
              </a:ext>
            </a:extLst>
          </p:cNvPr>
          <p:cNvSpPr>
            <a:spLocks noGrp="1"/>
          </p:cNvSpPr>
          <p:nvPr>
            <p:ph type="sldNum" sz="quarter" idx="12"/>
          </p:nvPr>
        </p:nvSpPr>
        <p:spPr>
          <a:xfrm>
            <a:off x="7164000" y="6336000"/>
            <a:ext cx="1800000" cy="360000"/>
          </a:xfrm>
        </p:spPr>
        <p:txBody>
          <a:bodyPr/>
          <a:lstStyle/>
          <a:p>
            <a:pPr algn="r"/>
            <a:r>
              <a:rPr lang="cs-CZ" dirty="0"/>
              <a:t>16</a:t>
            </a:r>
          </a:p>
        </p:txBody>
      </p:sp>
      <p:sp>
        <p:nvSpPr>
          <p:cNvPr id="4" name="Nadpis 3">
            <a:extLst>
              <a:ext uri="{FF2B5EF4-FFF2-40B4-BE49-F238E27FC236}">
                <a16:creationId xmlns:a16="http://schemas.microsoft.com/office/drawing/2014/main" id="{60356259-2B8F-86EA-ECA4-4F300AB28540}"/>
              </a:ext>
            </a:extLst>
          </p:cNvPr>
          <p:cNvSpPr>
            <a:spLocks noGrp="1"/>
          </p:cNvSpPr>
          <p:nvPr>
            <p:ph type="title"/>
          </p:nvPr>
        </p:nvSpPr>
        <p:spPr>
          <a:xfrm>
            <a:off x="144000" y="180000"/>
            <a:ext cx="4500008" cy="338554"/>
          </a:xfrm>
        </p:spPr>
        <p:txBody>
          <a:bodyPr wrap="square">
            <a:spAutoFit/>
          </a:bodyPr>
          <a:lstStyle/>
          <a:p>
            <a:r>
              <a:rPr lang="en-GB" sz="1600" noProof="0" dirty="0"/>
              <a:t>Math note </a:t>
            </a:r>
            <a:r>
              <a:rPr lang="en-GB" sz="1600" noProof="0" dirty="0">
                <a:latin typeface="Cambria Math" panose="02040503050406030204" pitchFamily="18" charset="0"/>
                <a:ea typeface="Cambria Math" panose="02040503050406030204" pitchFamily="18" charset="0"/>
              </a:rPr>
              <a:t>–</a:t>
            </a:r>
            <a:r>
              <a:rPr lang="en-GB" sz="1600" noProof="0" dirty="0"/>
              <a:t> risk-neutral probability formula</a:t>
            </a:r>
          </a:p>
        </p:txBody>
      </p:sp>
      <mc:AlternateContent xmlns:mc="http://schemas.openxmlformats.org/markup-compatibility/2006">
        <mc:Choice xmlns:a14="http://schemas.microsoft.com/office/drawing/2010/main" Requires="a14">
          <p:sp>
            <p:nvSpPr>
              <p:cNvPr id="8" name="TextovéPole 7">
                <a:extLst>
                  <a:ext uri="{FF2B5EF4-FFF2-40B4-BE49-F238E27FC236}">
                    <a16:creationId xmlns:a16="http://schemas.microsoft.com/office/drawing/2014/main" id="{A5CB268B-B9B5-F787-AA62-D56B95E4AD39}"/>
                  </a:ext>
                </a:extLst>
              </p:cNvPr>
              <p:cNvSpPr txBox="1"/>
              <p:nvPr/>
            </p:nvSpPr>
            <p:spPr>
              <a:xfrm>
                <a:off x="251520" y="540000"/>
                <a:ext cx="8640479" cy="4881914"/>
              </a:xfrm>
              <a:prstGeom prst="rect">
                <a:avLst/>
              </a:prstGeom>
              <a:noFill/>
            </p:spPr>
            <p:txBody>
              <a:bodyPr wrap="square">
                <a:spAutoFit/>
              </a:bodyPr>
              <a:lstStyle/>
              <a:p>
                <a:pPr>
                  <a:lnSpc>
                    <a:spcPts val="2200"/>
                  </a:lnSpc>
                  <a:spcAft>
                    <a:spcPts val="300"/>
                  </a:spcAft>
                </a:pPr>
                <a:r>
                  <a:rPr lang="en-GB" sz="1200" noProof="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Mathematical prerequisite: Binomial theorem,</a:t>
                </a:r>
              </a:p>
              <a:p>
                <a:pPr marL="180975">
                  <a:lnSpc>
                    <a:spcPts val="2200"/>
                  </a:lnSpc>
                  <a:spcAft>
                    <a:spcPts val="600"/>
                  </a:spcAft>
                </a:pPr>
                <a14:m>
                  <m:oMathPara xmlns:m="http://schemas.openxmlformats.org/officeDocument/2006/math">
                    <m:oMathParaPr>
                      <m:jc m:val="left"/>
                    </m:oMathParaPr>
                    <m:oMath xmlns:m="http://schemas.openxmlformats.org/officeDocument/2006/math">
                      <m:sSup>
                        <m:sSupPr>
                          <m:ctrlPr>
                            <a:rPr lang="en-GB" sz="1100" i="1" noProof="0" smtClean="0">
                              <a:solidFill>
                                <a:srgbClr val="0070C0"/>
                              </a:solidFill>
                              <a:latin typeface="Cambria Math" panose="02040503050406030204" pitchFamily="18" charset="0"/>
                              <a:cs typeface="Times New Roman" panose="02020603050405020304" pitchFamily="18" charset="0"/>
                            </a:rPr>
                          </m:ctrlPr>
                        </m:sSupPr>
                        <m:e>
                          <m:d>
                            <m:dPr>
                              <m:ctrlPr>
                                <a:rPr lang="en-GB" sz="1100" i="1" noProof="0" smtClean="0">
                                  <a:solidFill>
                                    <a:srgbClr val="0070C0"/>
                                  </a:solidFill>
                                  <a:latin typeface="Cambria Math" panose="02040503050406030204" pitchFamily="18" charset="0"/>
                                  <a:cs typeface="Times New Roman" panose="02020603050405020304" pitchFamily="18" charset="0"/>
                                </a:rPr>
                              </m:ctrlPr>
                            </m:dPr>
                            <m:e>
                              <m:r>
                                <a:rPr lang="en-GB" sz="1100" b="0" i="1" noProof="0" smtClean="0">
                                  <a:solidFill>
                                    <a:srgbClr val="0070C0"/>
                                  </a:solidFill>
                                  <a:latin typeface="Cambria Math" panose="02040503050406030204" pitchFamily="18" charset="0"/>
                                  <a:cs typeface="Times New Roman" panose="02020603050405020304" pitchFamily="18" charset="0"/>
                                </a:rPr>
                                <m:t>𝑎</m:t>
                              </m:r>
                              <m:r>
                                <a:rPr lang="en-GB" sz="1100" b="0" i="1" noProof="0" smtClean="0">
                                  <a:solidFill>
                                    <a:srgbClr val="0070C0"/>
                                  </a:solidFill>
                                  <a:latin typeface="Cambria Math" panose="02040503050406030204" pitchFamily="18" charset="0"/>
                                  <a:cs typeface="Times New Roman" panose="02020603050405020304" pitchFamily="18" charset="0"/>
                                </a:rPr>
                                <m:t>+</m:t>
                              </m:r>
                              <m:r>
                                <a:rPr lang="en-GB" sz="1100" b="0" i="1" noProof="0" smtClean="0">
                                  <a:solidFill>
                                    <a:srgbClr val="0070C0"/>
                                  </a:solidFill>
                                  <a:latin typeface="Cambria Math" panose="02040503050406030204" pitchFamily="18" charset="0"/>
                                  <a:cs typeface="Times New Roman" panose="02020603050405020304" pitchFamily="18" charset="0"/>
                                </a:rPr>
                                <m:t>𝑏</m:t>
                              </m:r>
                            </m:e>
                          </m:d>
                        </m:e>
                        <m:sup>
                          <m:r>
                            <a:rPr lang="en-GB" sz="1100" b="0" i="1" noProof="0" smtClean="0">
                              <a:solidFill>
                                <a:srgbClr val="0070C0"/>
                              </a:solidFill>
                              <a:latin typeface="Cambria Math" panose="02040503050406030204" pitchFamily="18" charset="0"/>
                              <a:cs typeface="Times New Roman" panose="02020603050405020304" pitchFamily="18" charset="0"/>
                            </a:rPr>
                            <m:t>𝑛</m:t>
                          </m:r>
                        </m:sup>
                      </m:sSup>
                      <m:r>
                        <a:rPr lang="en-GB" sz="1100" b="0" i="1" noProof="0" smtClean="0">
                          <a:solidFill>
                            <a:srgbClr val="0070C0"/>
                          </a:solidFill>
                          <a:latin typeface="Cambria Math" panose="02040503050406030204" pitchFamily="18" charset="0"/>
                          <a:cs typeface="Times New Roman" panose="02020603050405020304" pitchFamily="18" charset="0"/>
                        </a:rPr>
                        <m:t>=</m:t>
                      </m:r>
                      <m:d>
                        <m:dPr>
                          <m:ctrlPr>
                            <a:rPr lang="en-GB" sz="1100" b="0" i="1" noProof="0" smtClean="0">
                              <a:solidFill>
                                <a:srgbClr val="0070C0"/>
                              </a:solidFill>
                              <a:latin typeface="Cambria Math" panose="02040503050406030204" pitchFamily="18" charset="0"/>
                              <a:cs typeface="Times New Roman" panose="02020603050405020304" pitchFamily="18" charset="0"/>
                            </a:rPr>
                          </m:ctrlPr>
                        </m:dPr>
                        <m:e>
                          <m:m>
                            <m:mPr>
                              <m:mcs>
                                <m:mc>
                                  <m:mcPr>
                                    <m:count m:val="1"/>
                                    <m:mcJc m:val="center"/>
                                  </m:mcPr>
                                </m:mc>
                              </m:mcs>
                              <m:ctrlPr>
                                <a:rPr lang="en-GB" sz="1100" b="0" i="1" noProof="0" smtClean="0">
                                  <a:solidFill>
                                    <a:srgbClr val="0070C0"/>
                                  </a:solidFill>
                                  <a:latin typeface="Cambria Math" panose="02040503050406030204" pitchFamily="18" charset="0"/>
                                  <a:cs typeface="Times New Roman" panose="02020603050405020304" pitchFamily="18" charset="0"/>
                                </a:rPr>
                              </m:ctrlPr>
                            </m:mPr>
                            <m:mr>
                              <m:e>
                                <m:r>
                                  <m:rPr>
                                    <m:brk m:alnAt="7"/>
                                  </m:rPr>
                                  <a:rPr lang="en-GB" sz="1100" b="0" i="1" noProof="0" smtClean="0">
                                    <a:solidFill>
                                      <a:srgbClr val="0070C0"/>
                                    </a:solidFill>
                                    <a:latin typeface="Cambria Math" panose="02040503050406030204" pitchFamily="18" charset="0"/>
                                    <a:cs typeface="Times New Roman" panose="02020603050405020304" pitchFamily="18" charset="0"/>
                                  </a:rPr>
                                  <m:t>𝑛</m:t>
                                </m:r>
                              </m:e>
                            </m:mr>
                            <m:mr>
                              <m:e>
                                <m:r>
                                  <a:rPr lang="en-GB" sz="1100" b="0" i="1" noProof="0" smtClean="0">
                                    <a:solidFill>
                                      <a:srgbClr val="0070C0"/>
                                    </a:solidFill>
                                    <a:latin typeface="Cambria Math" panose="02040503050406030204" pitchFamily="18" charset="0"/>
                                    <a:cs typeface="Times New Roman" panose="02020603050405020304" pitchFamily="18" charset="0"/>
                                  </a:rPr>
                                  <m:t>0</m:t>
                                </m:r>
                              </m:e>
                            </m:mr>
                          </m:m>
                        </m:e>
                      </m:d>
                      <m:sSup>
                        <m:sSupPr>
                          <m:ctrlPr>
                            <a:rPr lang="en-GB" sz="1100" b="0" i="1" noProof="0" smtClean="0">
                              <a:solidFill>
                                <a:srgbClr val="0070C0"/>
                              </a:solidFill>
                              <a:latin typeface="Cambria Math" panose="02040503050406030204" pitchFamily="18" charset="0"/>
                              <a:cs typeface="Times New Roman" panose="02020603050405020304" pitchFamily="18" charset="0"/>
                            </a:rPr>
                          </m:ctrlPr>
                        </m:sSupPr>
                        <m:e>
                          <m:r>
                            <a:rPr lang="en-GB" sz="1100" b="0" i="1" noProof="0" smtClean="0">
                              <a:solidFill>
                                <a:srgbClr val="0070C0"/>
                              </a:solidFill>
                              <a:latin typeface="Cambria Math" panose="02040503050406030204" pitchFamily="18" charset="0"/>
                              <a:cs typeface="Times New Roman" panose="02020603050405020304" pitchFamily="18" charset="0"/>
                            </a:rPr>
                            <m:t>𝑎</m:t>
                          </m:r>
                        </m:e>
                        <m:sup>
                          <m:r>
                            <a:rPr lang="en-GB" sz="1100" b="0" i="1" noProof="0" smtClean="0">
                              <a:solidFill>
                                <a:srgbClr val="0070C0"/>
                              </a:solidFill>
                              <a:latin typeface="Cambria Math" panose="02040503050406030204" pitchFamily="18" charset="0"/>
                              <a:cs typeface="Times New Roman" panose="02020603050405020304" pitchFamily="18" charset="0"/>
                            </a:rPr>
                            <m:t>𝑛</m:t>
                          </m:r>
                        </m:sup>
                      </m:sSup>
                      <m:sSup>
                        <m:sSupPr>
                          <m:ctrlPr>
                            <a:rPr lang="en-GB" sz="1100" b="0" i="1" noProof="0" smtClean="0">
                              <a:solidFill>
                                <a:srgbClr val="0070C0"/>
                              </a:solidFill>
                              <a:latin typeface="Cambria Math" panose="02040503050406030204" pitchFamily="18" charset="0"/>
                              <a:cs typeface="Times New Roman" panose="02020603050405020304" pitchFamily="18" charset="0"/>
                            </a:rPr>
                          </m:ctrlPr>
                        </m:sSupPr>
                        <m:e>
                          <m:r>
                            <a:rPr lang="en-GB" sz="1100" b="0" i="1" noProof="0" smtClean="0">
                              <a:solidFill>
                                <a:srgbClr val="0070C0"/>
                              </a:solidFill>
                              <a:latin typeface="Cambria Math" panose="02040503050406030204" pitchFamily="18" charset="0"/>
                              <a:cs typeface="Times New Roman" panose="02020603050405020304" pitchFamily="18" charset="0"/>
                            </a:rPr>
                            <m:t>𝑏</m:t>
                          </m:r>
                        </m:e>
                        <m:sup>
                          <m:r>
                            <a:rPr lang="en-GB" sz="1100" b="0" i="1" noProof="0" smtClean="0">
                              <a:solidFill>
                                <a:srgbClr val="0070C0"/>
                              </a:solidFill>
                              <a:latin typeface="Cambria Math" panose="02040503050406030204" pitchFamily="18" charset="0"/>
                              <a:cs typeface="Times New Roman" panose="02020603050405020304" pitchFamily="18" charset="0"/>
                            </a:rPr>
                            <m:t>0</m:t>
                          </m:r>
                        </m:sup>
                      </m:sSup>
                      <m:r>
                        <a:rPr lang="en-GB" sz="1100" b="0" i="1" noProof="0" smtClean="0">
                          <a:solidFill>
                            <a:srgbClr val="0070C0"/>
                          </a:solidFill>
                          <a:latin typeface="Cambria Math" panose="02040503050406030204" pitchFamily="18" charset="0"/>
                          <a:cs typeface="Times New Roman" panose="02020603050405020304" pitchFamily="18" charset="0"/>
                        </a:rPr>
                        <m:t>+</m:t>
                      </m:r>
                      <m:d>
                        <m:dPr>
                          <m:ctrlPr>
                            <a:rPr lang="en-GB" sz="1100" i="1">
                              <a:solidFill>
                                <a:srgbClr val="0070C0"/>
                              </a:solidFill>
                              <a:latin typeface="Cambria Math" panose="02040503050406030204" pitchFamily="18" charset="0"/>
                              <a:cs typeface="Times New Roman" panose="02020603050405020304" pitchFamily="18" charset="0"/>
                            </a:rPr>
                          </m:ctrlPr>
                        </m:dPr>
                        <m:e>
                          <m:m>
                            <m:mPr>
                              <m:mcs>
                                <m:mc>
                                  <m:mcPr>
                                    <m:count m:val="1"/>
                                    <m:mcJc m:val="center"/>
                                  </m:mcPr>
                                </m:mc>
                              </m:mcs>
                              <m:ctrlPr>
                                <a:rPr lang="en-GB" sz="1100" i="1">
                                  <a:solidFill>
                                    <a:srgbClr val="0070C0"/>
                                  </a:solidFill>
                                  <a:latin typeface="Cambria Math" panose="02040503050406030204" pitchFamily="18" charset="0"/>
                                  <a:cs typeface="Times New Roman" panose="02020603050405020304" pitchFamily="18" charset="0"/>
                                </a:rPr>
                              </m:ctrlPr>
                            </m:mPr>
                            <m:mr>
                              <m:e>
                                <m:r>
                                  <m:rPr>
                                    <m:brk m:alnAt="7"/>
                                  </m:rPr>
                                  <a:rPr lang="en-GB" sz="1100" i="1" smtClean="0">
                                    <a:solidFill>
                                      <a:srgbClr val="0070C0"/>
                                    </a:solidFill>
                                    <a:latin typeface="Cambria Math" panose="02040503050406030204" pitchFamily="18" charset="0"/>
                                    <a:cs typeface="Times New Roman" panose="02020603050405020304" pitchFamily="18" charset="0"/>
                                  </a:rPr>
                                  <m:t>𝑛</m:t>
                                </m:r>
                              </m:e>
                            </m:mr>
                            <m:mr>
                              <m:e>
                                <m:r>
                                  <a:rPr lang="en-GB" sz="1100" b="0" i="1" smtClean="0">
                                    <a:solidFill>
                                      <a:srgbClr val="0070C0"/>
                                    </a:solidFill>
                                    <a:latin typeface="Cambria Math" panose="02040503050406030204" pitchFamily="18" charset="0"/>
                                    <a:cs typeface="Times New Roman" panose="02020603050405020304" pitchFamily="18" charset="0"/>
                                  </a:rPr>
                                  <m:t>1</m:t>
                                </m:r>
                              </m:e>
                            </m:mr>
                          </m:m>
                        </m:e>
                      </m:d>
                      <m:sSup>
                        <m:sSupPr>
                          <m:ctrlPr>
                            <a:rPr lang="en-GB" sz="1100" i="1">
                              <a:solidFill>
                                <a:srgbClr val="0070C0"/>
                              </a:solidFill>
                              <a:latin typeface="Cambria Math" panose="02040503050406030204" pitchFamily="18" charset="0"/>
                              <a:cs typeface="Times New Roman" panose="02020603050405020304" pitchFamily="18" charset="0"/>
                            </a:rPr>
                          </m:ctrlPr>
                        </m:sSupPr>
                        <m:e>
                          <m:r>
                            <a:rPr lang="en-GB" sz="1100" i="1" smtClean="0">
                              <a:solidFill>
                                <a:srgbClr val="0070C0"/>
                              </a:solidFill>
                              <a:latin typeface="Cambria Math" panose="02040503050406030204" pitchFamily="18" charset="0"/>
                              <a:cs typeface="Times New Roman" panose="02020603050405020304" pitchFamily="18" charset="0"/>
                            </a:rPr>
                            <m:t>𝑎</m:t>
                          </m:r>
                        </m:e>
                        <m:sup>
                          <m:r>
                            <a:rPr lang="en-GB" sz="1100" b="0" i="1" smtClean="0">
                              <a:solidFill>
                                <a:srgbClr val="0070C0"/>
                              </a:solidFill>
                              <a:latin typeface="Cambria Math" panose="02040503050406030204" pitchFamily="18" charset="0"/>
                              <a:cs typeface="Times New Roman" panose="02020603050405020304" pitchFamily="18" charset="0"/>
                            </a:rPr>
                            <m:t>𝑛</m:t>
                          </m:r>
                          <m:r>
                            <a:rPr lang="en-GB" sz="1100" b="0" i="1" smtClean="0">
                              <a:solidFill>
                                <a:srgbClr val="0070C0"/>
                              </a:solidFill>
                              <a:latin typeface="Cambria Math" panose="02040503050406030204" pitchFamily="18" charset="0"/>
                              <a:cs typeface="Times New Roman" panose="02020603050405020304" pitchFamily="18" charset="0"/>
                            </a:rPr>
                            <m:t>−1</m:t>
                          </m:r>
                        </m:sup>
                      </m:sSup>
                      <m:sSup>
                        <m:sSupPr>
                          <m:ctrlPr>
                            <a:rPr lang="en-GB" sz="1100" i="1">
                              <a:solidFill>
                                <a:srgbClr val="0070C0"/>
                              </a:solidFill>
                              <a:latin typeface="Cambria Math" panose="02040503050406030204" pitchFamily="18" charset="0"/>
                              <a:cs typeface="Times New Roman" panose="02020603050405020304" pitchFamily="18" charset="0"/>
                            </a:rPr>
                          </m:ctrlPr>
                        </m:sSupPr>
                        <m:e>
                          <m:r>
                            <a:rPr lang="en-GB" sz="1100" i="1" smtClean="0">
                              <a:solidFill>
                                <a:srgbClr val="0070C0"/>
                              </a:solidFill>
                              <a:latin typeface="Cambria Math" panose="02040503050406030204" pitchFamily="18" charset="0"/>
                              <a:cs typeface="Times New Roman" panose="02020603050405020304" pitchFamily="18" charset="0"/>
                            </a:rPr>
                            <m:t>𝑏</m:t>
                          </m:r>
                        </m:e>
                        <m:sup>
                          <m:r>
                            <a:rPr lang="en-GB" sz="1100" b="0" i="1" smtClean="0">
                              <a:solidFill>
                                <a:srgbClr val="0070C0"/>
                              </a:solidFill>
                              <a:latin typeface="Cambria Math" panose="02040503050406030204" pitchFamily="18" charset="0"/>
                              <a:cs typeface="Times New Roman" panose="02020603050405020304" pitchFamily="18" charset="0"/>
                            </a:rPr>
                            <m:t>1</m:t>
                          </m:r>
                        </m:sup>
                      </m:sSup>
                      <m:r>
                        <a:rPr lang="en-GB" sz="1100" b="0" i="1" noProof="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d>
                        <m:dPr>
                          <m:ctrlPr>
                            <a:rPr lang="en-GB" sz="1100" i="1">
                              <a:solidFill>
                                <a:srgbClr val="0070C0"/>
                              </a:solidFill>
                              <a:latin typeface="Cambria Math" panose="02040503050406030204" pitchFamily="18" charset="0"/>
                              <a:cs typeface="Times New Roman" panose="02020603050405020304" pitchFamily="18" charset="0"/>
                            </a:rPr>
                          </m:ctrlPr>
                        </m:dPr>
                        <m:e>
                          <m:m>
                            <m:mPr>
                              <m:mcs>
                                <m:mc>
                                  <m:mcPr>
                                    <m:count m:val="1"/>
                                    <m:mcJc m:val="center"/>
                                  </m:mcPr>
                                </m:mc>
                              </m:mcs>
                              <m:ctrlPr>
                                <a:rPr lang="en-GB" sz="1100" i="1">
                                  <a:solidFill>
                                    <a:srgbClr val="0070C0"/>
                                  </a:solidFill>
                                  <a:latin typeface="Cambria Math" panose="02040503050406030204" pitchFamily="18" charset="0"/>
                                  <a:cs typeface="Times New Roman" panose="02020603050405020304" pitchFamily="18" charset="0"/>
                                </a:rPr>
                              </m:ctrlPr>
                            </m:mPr>
                            <m:mr>
                              <m:e>
                                <m:r>
                                  <m:rPr>
                                    <m:brk m:alnAt="7"/>
                                  </m:rPr>
                                  <a:rPr lang="en-GB" sz="1100" i="1" smtClean="0">
                                    <a:solidFill>
                                      <a:srgbClr val="0070C0"/>
                                    </a:solidFill>
                                    <a:latin typeface="Cambria Math" panose="02040503050406030204" pitchFamily="18" charset="0"/>
                                    <a:cs typeface="Times New Roman" panose="02020603050405020304" pitchFamily="18" charset="0"/>
                                  </a:rPr>
                                  <m:t>𝑛</m:t>
                                </m:r>
                              </m:e>
                            </m:mr>
                            <m:mr>
                              <m:e>
                                <m:r>
                                  <a:rPr lang="en-GB" sz="1100" b="0" i="1" smtClean="0">
                                    <a:solidFill>
                                      <a:srgbClr val="0070C0"/>
                                    </a:solidFill>
                                    <a:latin typeface="Cambria Math" panose="02040503050406030204" pitchFamily="18" charset="0"/>
                                    <a:cs typeface="Times New Roman" panose="02020603050405020304" pitchFamily="18" charset="0"/>
                                  </a:rPr>
                                  <m:t>𝑘</m:t>
                                </m:r>
                              </m:e>
                            </m:mr>
                          </m:m>
                        </m:e>
                      </m:d>
                      <m:sSup>
                        <m:sSupPr>
                          <m:ctrlPr>
                            <a:rPr lang="en-GB" sz="1100" i="1">
                              <a:solidFill>
                                <a:srgbClr val="0070C0"/>
                              </a:solidFill>
                              <a:latin typeface="Cambria Math" panose="02040503050406030204" pitchFamily="18" charset="0"/>
                              <a:cs typeface="Times New Roman" panose="02020603050405020304" pitchFamily="18" charset="0"/>
                            </a:rPr>
                          </m:ctrlPr>
                        </m:sSupPr>
                        <m:e>
                          <m:r>
                            <a:rPr lang="en-GB" sz="1100" i="1" smtClean="0">
                              <a:solidFill>
                                <a:srgbClr val="0070C0"/>
                              </a:solidFill>
                              <a:latin typeface="Cambria Math" panose="02040503050406030204" pitchFamily="18" charset="0"/>
                              <a:cs typeface="Times New Roman" panose="02020603050405020304" pitchFamily="18" charset="0"/>
                            </a:rPr>
                            <m:t>𝑎</m:t>
                          </m:r>
                        </m:e>
                        <m:sup>
                          <m:r>
                            <a:rPr lang="en-GB" sz="1100" b="0" i="1" smtClean="0">
                              <a:solidFill>
                                <a:srgbClr val="0070C0"/>
                              </a:solidFill>
                              <a:latin typeface="Cambria Math" panose="02040503050406030204" pitchFamily="18" charset="0"/>
                              <a:cs typeface="Times New Roman" panose="02020603050405020304" pitchFamily="18" charset="0"/>
                            </a:rPr>
                            <m:t>𝑛</m:t>
                          </m:r>
                          <m:r>
                            <a:rPr lang="en-GB" sz="1100" b="0" i="1" smtClean="0">
                              <a:solidFill>
                                <a:srgbClr val="0070C0"/>
                              </a:solidFill>
                              <a:latin typeface="Cambria Math" panose="02040503050406030204" pitchFamily="18" charset="0"/>
                              <a:cs typeface="Times New Roman" panose="02020603050405020304" pitchFamily="18" charset="0"/>
                            </a:rPr>
                            <m:t>−</m:t>
                          </m:r>
                          <m:r>
                            <a:rPr lang="en-GB" sz="1100" b="0" i="1" smtClean="0">
                              <a:solidFill>
                                <a:srgbClr val="0070C0"/>
                              </a:solidFill>
                              <a:latin typeface="Cambria Math" panose="02040503050406030204" pitchFamily="18" charset="0"/>
                              <a:cs typeface="Times New Roman" panose="02020603050405020304" pitchFamily="18" charset="0"/>
                            </a:rPr>
                            <m:t>𝑘</m:t>
                          </m:r>
                        </m:sup>
                      </m:sSup>
                      <m:sSup>
                        <m:sSupPr>
                          <m:ctrlPr>
                            <a:rPr lang="en-GB" sz="1100" i="1">
                              <a:solidFill>
                                <a:srgbClr val="0070C0"/>
                              </a:solidFill>
                              <a:latin typeface="Cambria Math" panose="02040503050406030204" pitchFamily="18" charset="0"/>
                              <a:cs typeface="Times New Roman" panose="02020603050405020304" pitchFamily="18" charset="0"/>
                            </a:rPr>
                          </m:ctrlPr>
                        </m:sSupPr>
                        <m:e>
                          <m:r>
                            <a:rPr lang="en-GB" sz="1100" i="1" smtClean="0">
                              <a:solidFill>
                                <a:srgbClr val="0070C0"/>
                              </a:solidFill>
                              <a:latin typeface="Cambria Math" panose="02040503050406030204" pitchFamily="18" charset="0"/>
                              <a:cs typeface="Times New Roman" panose="02020603050405020304" pitchFamily="18" charset="0"/>
                            </a:rPr>
                            <m:t>𝑏</m:t>
                          </m:r>
                        </m:e>
                        <m:sup>
                          <m:r>
                            <a:rPr lang="en-GB" sz="1100" b="0" i="1" smtClean="0">
                              <a:solidFill>
                                <a:srgbClr val="0070C0"/>
                              </a:solidFill>
                              <a:latin typeface="Cambria Math" panose="02040503050406030204" pitchFamily="18" charset="0"/>
                              <a:cs typeface="Times New Roman" panose="02020603050405020304" pitchFamily="18" charset="0"/>
                            </a:rPr>
                            <m:t>𝑘</m:t>
                          </m:r>
                        </m:sup>
                      </m:sSup>
                      <m:r>
                        <a:rPr lang="en-GB" sz="1100" b="0" i="1" noProof="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m:t>
                      </m:r>
                      <m:d>
                        <m:dPr>
                          <m:ctrlPr>
                            <a:rPr lang="en-GB" sz="1100" i="1">
                              <a:solidFill>
                                <a:srgbClr val="0070C0"/>
                              </a:solidFill>
                              <a:latin typeface="Cambria Math" panose="02040503050406030204" pitchFamily="18" charset="0"/>
                              <a:cs typeface="Times New Roman" panose="02020603050405020304" pitchFamily="18" charset="0"/>
                            </a:rPr>
                          </m:ctrlPr>
                        </m:dPr>
                        <m:e>
                          <m:m>
                            <m:mPr>
                              <m:mcs>
                                <m:mc>
                                  <m:mcPr>
                                    <m:count m:val="1"/>
                                    <m:mcJc m:val="center"/>
                                  </m:mcPr>
                                </m:mc>
                              </m:mcs>
                              <m:ctrlPr>
                                <a:rPr lang="en-GB" sz="1100" i="1">
                                  <a:solidFill>
                                    <a:srgbClr val="0070C0"/>
                                  </a:solidFill>
                                  <a:latin typeface="Cambria Math" panose="02040503050406030204" pitchFamily="18" charset="0"/>
                                  <a:cs typeface="Times New Roman" panose="02020603050405020304" pitchFamily="18" charset="0"/>
                                </a:rPr>
                              </m:ctrlPr>
                            </m:mPr>
                            <m:mr>
                              <m:e>
                                <m:r>
                                  <m:rPr>
                                    <m:brk m:alnAt="7"/>
                                  </m:rPr>
                                  <a:rPr lang="en-GB" sz="1100" i="1" smtClean="0">
                                    <a:solidFill>
                                      <a:srgbClr val="0070C0"/>
                                    </a:solidFill>
                                    <a:latin typeface="Cambria Math" panose="02040503050406030204" pitchFamily="18" charset="0"/>
                                    <a:cs typeface="Times New Roman" panose="02020603050405020304" pitchFamily="18" charset="0"/>
                                  </a:rPr>
                                  <m:t>𝑛</m:t>
                                </m:r>
                              </m:e>
                            </m:mr>
                            <m:mr>
                              <m:e>
                                <m:r>
                                  <a:rPr lang="en-GB" sz="1100" b="0" i="1" smtClean="0">
                                    <a:solidFill>
                                      <a:srgbClr val="0070C0"/>
                                    </a:solidFill>
                                    <a:latin typeface="Cambria Math" panose="02040503050406030204" pitchFamily="18" charset="0"/>
                                    <a:cs typeface="Times New Roman" panose="02020603050405020304" pitchFamily="18" charset="0"/>
                                  </a:rPr>
                                  <m:t>𝑛</m:t>
                                </m:r>
                              </m:e>
                            </m:mr>
                          </m:m>
                        </m:e>
                      </m:d>
                      <m:sSup>
                        <m:sSupPr>
                          <m:ctrlPr>
                            <a:rPr lang="en-GB" sz="1100" i="1">
                              <a:solidFill>
                                <a:srgbClr val="0070C0"/>
                              </a:solidFill>
                              <a:latin typeface="Cambria Math" panose="02040503050406030204" pitchFamily="18" charset="0"/>
                              <a:cs typeface="Times New Roman" panose="02020603050405020304" pitchFamily="18" charset="0"/>
                            </a:rPr>
                          </m:ctrlPr>
                        </m:sSupPr>
                        <m:e>
                          <m:r>
                            <a:rPr lang="en-GB" sz="1100" i="1" smtClean="0">
                              <a:solidFill>
                                <a:srgbClr val="0070C0"/>
                              </a:solidFill>
                              <a:latin typeface="Cambria Math" panose="02040503050406030204" pitchFamily="18" charset="0"/>
                              <a:cs typeface="Times New Roman" panose="02020603050405020304" pitchFamily="18" charset="0"/>
                            </a:rPr>
                            <m:t>𝑎</m:t>
                          </m:r>
                        </m:e>
                        <m:sup>
                          <m:r>
                            <a:rPr lang="en-GB" sz="1100" b="0" i="1" smtClean="0">
                              <a:solidFill>
                                <a:srgbClr val="0070C0"/>
                              </a:solidFill>
                              <a:latin typeface="Cambria Math" panose="02040503050406030204" pitchFamily="18" charset="0"/>
                              <a:cs typeface="Times New Roman" panose="02020603050405020304" pitchFamily="18" charset="0"/>
                            </a:rPr>
                            <m:t>0</m:t>
                          </m:r>
                        </m:sup>
                      </m:sSup>
                      <m:sSup>
                        <m:sSupPr>
                          <m:ctrlPr>
                            <a:rPr lang="en-GB" sz="1100" i="1">
                              <a:solidFill>
                                <a:srgbClr val="0070C0"/>
                              </a:solidFill>
                              <a:latin typeface="Cambria Math" panose="02040503050406030204" pitchFamily="18" charset="0"/>
                              <a:cs typeface="Times New Roman" panose="02020603050405020304" pitchFamily="18" charset="0"/>
                            </a:rPr>
                          </m:ctrlPr>
                        </m:sSupPr>
                        <m:e>
                          <m:r>
                            <a:rPr lang="en-GB" sz="1100" i="1" smtClean="0">
                              <a:solidFill>
                                <a:srgbClr val="0070C0"/>
                              </a:solidFill>
                              <a:latin typeface="Cambria Math" panose="02040503050406030204" pitchFamily="18" charset="0"/>
                              <a:cs typeface="Times New Roman" panose="02020603050405020304" pitchFamily="18" charset="0"/>
                            </a:rPr>
                            <m:t>𝑏</m:t>
                          </m:r>
                        </m:e>
                        <m:sup>
                          <m:r>
                            <a:rPr lang="en-GB" sz="1100" i="1" smtClean="0">
                              <a:solidFill>
                                <a:srgbClr val="0070C0"/>
                              </a:solidFill>
                              <a:latin typeface="Cambria Math" panose="02040503050406030204" pitchFamily="18" charset="0"/>
                              <a:cs typeface="Times New Roman" panose="02020603050405020304" pitchFamily="18" charset="0"/>
                            </a:rPr>
                            <m:t>𝑛</m:t>
                          </m:r>
                        </m:sup>
                      </m:sSup>
                      <m:r>
                        <a:rPr lang="en-GB" sz="1100" b="0" i="1" noProof="0"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  </m:t>
                      </m:r>
                      <m:r>
                        <m:rPr>
                          <m:nor/>
                        </m:rPr>
                        <a:rPr lang="en-GB" sz="1100" b="0" i="0" noProof="0"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where</m:t>
                      </m:r>
                      <m:r>
                        <a:rPr lang="en-GB" sz="1100" b="0" i="1" noProof="0"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 </m:t>
                      </m:r>
                      <m:d>
                        <m:dPr>
                          <m:ctrlPr>
                            <a:rPr lang="en-GB" sz="1100" i="1">
                              <a:solidFill>
                                <a:srgbClr val="0070C0"/>
                              </a:solidFill>
                              <a:latin typeface="Cambria Math" panose="02040503050406030204" pitchFamily="18" charset="0"/>
                              <a:cs typeface="Times New Roman" panose="02020603050405020304" pitchFamily="18" charset="0"/>
                            </a:rPr>
                          </m:ctrlPr>
                        </m:dPr>
                        <m:e>
                          <m:m>
                            <m:mPr>
                              <m:mcs>
                                <m:mc>
                                  <m:mcPr>
                                    <m:count m:val="1"/>
                                    <m:mcJc m:val="center"/>
                                  </m:mcPr>
                                </m:mc>
                              </m:mcs>
                              <m:ctrlPr>
                                <a:rPr lang="en-GB" sz="1100" i="1">
                                  <a:solidFill>
                                    <a:srgbClr val="0070C0"/>
                                  </a:solidFill>
                                  <a:latin typeface="Cambria Math" panose="02040503050406030204" pitchFamily="18" charset="0"/>
                                  <a:cs typeface="Times New Roman" panose="02020603050405020304" pitchFamily="18" charset="0"/>
                                </a:rPr>
                              </m:ctrlPr>
                            </m:mPr>
                            <m:mr>
                              <m:e>
                                <m:r>
                                  <m:rPr>
                                    <m:brk m:alnAt="7"/>
                                  </m:rPr>
                                  <a:rPr lang="en-GB" sz="1100" i="1" smtClean="0">
                                    <a:solidFill>
                                      <a:srgbClr val="0070C0"/>
                                    </a:solidFill>
                                    <a:latin typeface="Cambria Math" panose="02040503050406030204" pitchFamily="18" charset="0"/>
                                    <a:cs typeface="Times New Roman" panose="02020603050405020304" pitchFamily="18" charset="0"/>
                                  </a:rPr>
                                  <m:t>𝑛</m:t>
                                </m:r>
                              </m:e>
                            </m:mr>
                            <m:mr>
                              <m:e>
                                <m:r>
                                  <a:rPr lang="en-GB" sz="1100" i="1" smtClean="0">
                                    <a:solidFill>
                                      <a:srgbClr val="0070C0"/>
                                    </a:solidFill>
                                    <a:latin typeface="Cambria Math" panose="02040503050406030204" pitchFamily="18" charset="0"/>
                                    <a:cs typeface="Times New Roman" panose="02020603050405020304" pitchFamily="18" charset="0"/>
                                  </a:rPr>
                                  <m:t>𝑘</m:t>
                                </m:r>
                              </m:e>
                            </m:mr>
                          </m:m>
                        </m:e>
                      </m:d>
                      <m:r>
                        <a:rPr lang="en-GB" sz="1100" b="0" i="1" smtClean="0">
                          <a:solidFill>
                            <a:srgbClr val="0070C0"/>
                          </a:solidFill>
                          <a:latin typeface="Cambria Math" panose="02040503050406030204" pitchFamily="18" charset="0"/>
                          <a:cs typeface="Times New Roman" panose="02020603050405020304" pitchFamily="18" charset="0"/>
                        </a:rPr>
                        <m:t>=</m:t>
                      </m:r>
                      <m:f>
                        <m:fPr>
                          <m:ctrlPr>
                            <a:rPr lang="en-GB" sz="1100" b="0" i="1" smtClean="0">
                              <a:solidFill>
                                <a:srgbClr val="0070C0"/>
                              </a:solidFill>
                              <a:latin typeface="Cambria Math" panose="02040503050406030204" pitchFamily="18" charset="0"/>
                              <a:cs typeface="Times New Roman" panose="02020603050405020304" pitchFamily="18" charset="0"/>
                            </a:rPr>
                          </m:ctrlPr>
                        </m:fPr>
                        <m:num>
                          <m:r>
                            <a:rPr lang="en-GB" sz="1100" b="0" i="1" smtClean="0">
                              <a:solidFill>
                                <a:srgbClr val="0070C0"/>
                              </a:solidFill>
                              <a:latin typeface="Cambria Math" panose="02040503050406030204" pitchFamily="18" charset="0"/>
                              <a:cs typeface="Times New Roman" panose="02020603050405020304" pitchFamily="18" charset="0"/>
                            </a:rPr>
                            <m:t>𝑛</m:t>
                          </m:r>
                          <m:r>
                            <a:rPr lang="en-GB" sz="1100" b="0" i="1" smtClean="0">
                              <a:solidFill>
                                <a:srgbClr val="0070C0"/>
                              </a:solidFill>
                              <a:latin typeface="Cambria Math" panose="02040503050406030204" pitchFamily="18" charset="0"/>
                              <a:cs typeface="Times New Roman" panose="02020603050405020304" pitchFamily="18" charset="0"/>
                            </a:rPr>
                            <m:t>!</m:t>
                          </m:r>
                        </m:num>
                        <m:den>
                          <m:r>
                            <a:rPr lang="en-GB" sz="1100" b="0" i="1" smtClean="0">
                              <a:solidFill>
                                <a:srgbClr val="0070C0"/>
                              </a:solidFill>
                              <a:latin typeface="Cambria Math" panose="02040503050406030204" pitchFamily="18" charset="0"/>
                              <a:cs typeface="Times New Roman" panose="02020603050405020304" pitchFamily="18" charset="0"/>
                            </a:rPr>
                            <m:t>𝑘</m:t>
                          </m:r>
                          <m:r>
                            <a:rPr lang="en-GB" sz="1100" b="0" i="1" smtClean="0">
                              <a:solidFill>
                                <a:srgbClr val="0070C0"/>
                              </a:solidFill>
                              <a:latin typeface="Cambria Math" panose="02040503050406030204" pitchFamily="18" charset="0"/>
                              <a:cs typeface="Times New Roman" panose="02020603050405020304" pitchFamily="18" charset="0"/>
                            </a:rPr>
                            <m:t>!</m:t>
                          </m:r>
                          <m:d>
                            <m:dPr>
                              <m:ctrlPr>
                                <a:rPr lang="en-GB" sz="1100" b="0" i="1" smtClean="0">
                                  <a:solidFill>
                                    <a:srgbClr val="0070C0"/>
                                  </a:solidFill>
                                  <a:latin typeface="Cambria Math" panose="02040503050406030204" pitchFamily="18" charset="0"/>
                                  <a:cs typeface="Times New Roman" panose="02020603050405020304" pitchFamily="18" charset="0"/>
                                </a:rPr>
                              </m:ctrlPr>
                            </m:dPr>
                            <m:e>
                              <m:r>
                                <a:rPr lang="en-GB" sz="1100" b="0" i="1" smtClean="0">
                                  <a:solidFill>
                                    <a:srgbClr val="0070C0"/>
                                  </a:solidFill>
                                  <a:latin typeface="Cambria Math" panose="02040503050406030204" pitchFamily="18" charset="0"/>
                                  <a:cs typeface="Times New Roman" panose="02020603050405020304" pitchFamily="18" charset="0"/>
                                </a:rPr>
                                <m:t>𝑛</m:t>
                              </m:r>
                              <m:r>
                                <a:rPr lang="en-GB" sz="1100" b="0" i="1" smtClean="0">
                                  <a:solidFill>
                                    <a:srgbClr val="0070C0"/>
                                  </a:solidFill>
                                  <a:latin typeface="Cambria Math" panose="02040503050406030204" pitchFamily="18" charset="0"/>
                                  <a:cs typeface="Times New Roman" panose="02020603050405020304" pitchFamily="18" charset="0"/>
                                </a:rPr>
                                <m:t>−</m:t>
                              </m:r>
                              <m:r>
                                <a:rPr lang="en-GB" sz="1100" b="0" i="1" smtClean="0">
                                  <a:solidFill>
                                    <a:srgbClr val="0070C0"/>
                                  </a:solidFill>
                                  <a:latin typeface="Cambria Math" panose="02040503050406030204" pitchFamily="18" charset="0"/>
                                  <a:cs typeface="Times New Roman" panose="02020603050405020304" pitchFamily="18" charset="0"/>
                                </a:rPr>
                                <m:t>𝑘</m:t>
                              </m:r>
                            </m:e>
                          </m:d>
                          <m:r>
                            <a:rPr lang="en-GB" sz="1100" b="0" i="1" smtClean="0">
                              <a:solidFill>
                                <a:srgbClr val="0070C0"/>
                              </a:solidFill>
                              <a:latin typeface="Cambria Math" panose="02040503050406030204" pitchFamily="18" charset="0"/>
                              <a:cs typeface="Times New Roman" panose="02020603050405020304" pitchFamily="18" charset="0"/>
                            </a:rPr>
                            <m:t>!</m:t>
                          </m:r>
                        </m:den>
                      </m:f>
                      <m:r>
                        <a:rPr lang="en-GB" sz="1100" b="0" i="1" smtClean="0">
                          <a:solidFill>
                            <a:srgbClr val="0070C0"/>
                          </a:solidFill>
                          <a:latin typeface="Cambria Math" panose="02040503050406030204" pitchFamily="18" charset="0"/>
                          <a:cs typeface="Times New Roman" panose="02020603050405020304" pitchFamily="18" charset="0"/>
                        </a:rPr>
                        <m:t>.</m:t>
                      </m:r>
                    </m:oMath>
                  </m:oMathPara>
                </a14:m>
                <a:endParaRPr lang="en-GB" sz="1100" i="1" noProof="0" dirty="0">
                  <a:solidFill>
                    <a:srgbClr val="0070C0"/>
                  </a:solidFill>
                  <a:latin typeface="Cambria Math" panose="02040503050406030204" pitchFamily="18" charset="0"/>
                  <a:ea typeface="Times New Roman" panose="02020603050405020304" pitchFamily="18" charset="0"/>
                  <a:cs typeface="Times New Roman" panose="02020603050405020304" pitchFamily="18" charset="0"/>
                </a:endParaRPr>
              </a:p>
              <a:p>
                <a:pPr>
                  <a:spcAft>
                    <a:spcPts val="600"/>
                  </a:spcAft>
                </a:pPr>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Let’s begin with the general notation for the stock pricing formula based on expected value:</a:t>
                </a:r>
              </a:p>
              <a:p>
                <a:pPr marL="180975">
                  <a:lnSpc>
                    <a:spcPts val="2200"/>
                  </a:lnSpc>
                  <a:spcAft>
                    <a:spcPts val="300"/>
                  </a:spcAft>
                </a:pPr>
                <a14:m>
                  <m:oMathPara xmlns:m="http://schemas.openxmlformats.org/officeDocument/2006/math">
                    <m:oMathParaPr>
                      <m:jc m:val="left"/>
                    </m:oMathParaPr>
                    <m:oMath xmlns:m="http://schemas.openxmlformats.org/officeDocument/2006/math">
                      <m:r>
                        <a:rPr lang="en-GB" sz="1100" b="0" i="1" noProof="0" smtClean="0">
                          <a:latin typeface="Cambria Math" panose="02040503050406030204" pitchFamily="18" charset="0"/>
                          <a:cs typeface="Times New Roman" panose="02020603050405020304" pitchFamily="18" charset="0"/>
                        </a:rPr>
                        <m:t>𝑆</m:t>
                      </m:r>
                      <m:r>
                        <a:rPr lang="en-GB" sz="1100" b="0" i="1" noProof="0" smtClean="0">
                          <a:latin typeface="Cambria Math" panose="02040503050406030204" pitchFamily="18" charset="0"/>
                          <a:cs typeface="Times New Roman" panose="02020603050405020304" pitchFamily="18" charset="0"/>
                        </a:rPr>
                        <m:t>=</m:t>
                      </m:r>
                      <m:f>
                        <m:fPr>
                          <m:ctrlPr>
                            <a:rPr lang="en-GB" sz="1100" b="0" i="1" noProof="0" smtClean="0">
                              <a:latin typeface="Cambria Math" panose="02040503050406030204" pitchFamily="18" charset="0"/>
                              <a:cs typeface="Times New Roman" panose="02020603050405020304" pitchFamily="18" charset="0"/>
                            </a:rPr>
                          </m:ctrlPr>
                        </m:fPr>
                        <m:num>
                          <m:r>
                            <a:rPr lang="en-GB" sz="1100" b="0" i="1" noProof="0" smtClean="0">
                              <a:latin typeface="Cambria Math" panose="02040503050406030204" pitchFamily="18" charset="0"/>
                              <a:cs typeface="Times New Roman" panose="02020603050405020304" pitchFamily="18" charset="0"/>
                            </a:rPr>
                            <m:t>𝐸𝑉</m:t>
                          </m:r>
                          <m:r>
                            <a:rPr lang="en-GB" sz="1100" b="0" i="1" noProof="0" smtClean="0">
                              <a:latin typeface="Cambria Math" panose="02040503050406030204" pitchFamily="18" charset="0"/>
                              <a:cs typeface="Times New Roman" panose="02020603050405020304" pitchFamily="18" charset="0"/>
                            </a:rPr>
                            <m:t>(</m:t>
                          </m:r>
                          <m:r>
                            <a:rPr lang="en-GB" sz="1100" b="0" i="1" noProof="0" smtClean="0">
                              <a:latin typeface="Cambria Math" panose="02040503050406030204" pitchFamily="18" charset="0"/>
                              <a:cs typeface="Times New Roman" panose="02020603050405020304" pitchFamily="18" charset="0"/>
                            </a:rPr>
                            <m:t>𝑆</m:t>
                          </m:r>
                          <m:r>
                            <a:rPr lang="en-GB" sz="1100" b="0" i="1" noProof="0" smtClean="0">
                              <a:latin typeface="Cambria Math" panose="02040503050406030204" pitchFamily="18" charset="0"/>
                              <a:cs typeface="Times New Roman" panose="02020603050405020304" pitchFamily="18" charset="0"/>
                            </a:rPr>
                            <m:t>)</m:t>
                          </m:r>
                        </m:num>
                        <m:den>
                          <m:sSup>
                            <m:sSupPr>
                              <m:ctrlPr>
                                <a:rPr lang="en-GB" sz="1100" b="0" i="1" noProof="0" smtClean="0">
                                  <a:latin typeface="Cambria Math" panose="02040503050406030204" pitchFamily="18" charset="0"/>
                                  <a:cs typeface="Times New Roman" panose="02020603050405020304" pitchFamily="18" charset="0"/>
                                </a:rPr>
                              </m:ctrlPr>
                            </m:sSupPr>
                            <m:e>
                              <m:r>
                                <a:rPr lang="en-GB" sz="1100" b="0" i="1" noProof="0" smtClean="0">
                                  <a:latin typeface="Cambria Math" panose="02040503050406030204" pitchFamily="18" charset="0"/>
                                  <a:cs typeface="Times New Roman" panose="02020603050405020304" pitchFamily="18" charset="0"/>
                                </a:rPr>
                                <m:t>𝑒</m:t>
                              </m:r>
                            </m:e>
                            <m:sup>
                              <m:r>
                                <a:rPr lang="en-GB" sz="1100" b="0" i="1" noProof="0" smtClean="0">
                                  <a:latin typeface="Cambria Math" panose="02040503050406030204" pitchFamily="18" charset="0"/>
                                  <a:cs typeface="Times New Roman" panose="02020603050405020304" pitchFamily="18" charset="0"/>
                                </a:rPr>
                                <m:t>𝑟𝑇</m:t>
                              </m:r>
                            </m:sup>
                          </m:sSup>
                        </m:den>
                      </m:f>
                      <m:r>
                        <a:rPr lang="en-GB" sz="1100" b="0" i="1" noProof="0" smtClean="0">
                          <a:latin typeface="Cambria Math" panose="02040503050406030204" pitchFamily="18" charset="0"/>
                          <a:cs typeface="Times New Roman" panose="02020603050405020304" pitchFamily="18" charset="0"/>
                        </a:rPr>
                        <m:t>.</m:t>
                      </m:r>
                    </m:oMath>
                  </m:oMathPara>
                </a14:m>
                <a:endParaRPr lang="en-GB" sz="1100" noProof="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300"/>
                  </a:spcAft>
                </a:pPr>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Here, the letter </a:t>
                </a:r>
                <a14:m>
                  <m:oMath xmlns:m="http://schemas.openxmlformats.org/officeDocument/2006/math">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𝑟</m:t>
                    </m:r>
                  </m:oMath>
                </a14:m>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 represents the risk-free discount rate and </a:t>
                </a:r>
                <a14:m>
                  <m:oMath xmlns:m="http://schemas.openxmlformats.org/officeDocument/2006/math">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𝑇</m:t>
                    </m:r>
                  </m:oMath>
                </a14:m>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 is the length of the discount period measured in years. </a:t>
                </a:r>
                <a:r>
                  <a:rPr lang="en-GB" sz="1200" dirty="0">
                    <a:latin typeface="Times New Roman" panose="02020603050405020304" pitchFamily="18" charset="0"/>
                    <a:ea typeface="Times New Roman" panose="02020603050405020304" pitchFamily="18" charset="0"/>
                    <a:cs typeface="Times New Roman" panose="02020603050405020304" pitchFamily="18" charset="0"/>
                  </a:rPr>
                  <a:t>Using the binomial theorem, we can write the expected value of the stock after </a:t>
                </a:r>
                <a14:m>
                  <m:oMath xmlns:m="http://schemas.openxmlformats.org/officeDocument/2006/math">
                    <m:r>
                      <a:rPr lang="en-GB" sz="1200" i="1">
                        <a:latin typeface="Cambria Math" panose="02040503050406030204" pitchFamily="18" charset="0"/>
                        <a:ea typeface="Times New Roman" panose="02020603050405020304" pitchFamily="18" charset="0"/>
                        <a:cs typeface="Times New Roman" panose="02020603050405020304" pitchFamily="18" charset="0"/>
                      </a:rPr>
                      <m:t>𝑛</m:t>
                    </m:r>
                  </m:oMath>
                </a14:m>
                <a:r>
                  <a:rPr lang="en-GB" sz="1200" dirty="0">
                    <a:latin typeface="Times New Roman" panose="02020603050405020304" pitchFamily="18" charset="0"/>
                    <a:ea typeface="Times New Roman" panose="02020603050405020304" pitchFamily="18" charset="0"/>
                    <a:cs typeface="Times New Roman" panose="02020603050405020304" pitchFamily="18" charset="0"/>
                  </a:rPr>
                  <a:t> daily price jumps as</a:t>
                </a:r>
                <a:endParaRPr lang="en-GB" sz="1200" noProof="0" dirty="0">
                  <a:latin typeface="Times New Roman" panose="02020603050405020304" pitchFamily="18" charset="0"/>
                  <a:ea typeface="Times New Roman" panose="02020603050405020304" pitchFamily="18" charset="0"/>
                  <a:cs typeface="Times New Roman" panose="02020603050405020304" pitchFamily="18" charset="0"/>
                </a:endParaRPr>
              </a:p>
              <a:p>
                <a:pPr marL="180975">
                  <a:spcAft>
                    <a:spcPts val="300"/>
                  </a:spcAft>
                </a:pPr>
                <a14:m>
                  <m:oMathPara xmlns:m="http://schemas.openxmlformats.org/officeDocument/2006/math">
                    <m:oMathParaPr>
                      <m:jc m:val="left"/>
                    </m:oMathParaPr>
                    <m:oMath xmlns:m="http://schemas.openxmlformats.org/officeDocument/2006/math">
                      <m:r>
                        <a:rPr lang="en-GB" sz="1200" b="0" i="1" smtClean="0">
                          <a:solidFill>
                            <a:schemeClr val="tx1"/>
                          </a:solidFill>
                          <a:latin typeface="Cambria Math" panose="02040503050406030204" pitchFamily="18" charset="0"/>
                          <a:cs typeface="Times New Roman" panose="02020603050405020304" pitchFamily="18" charset="0"/>
                        </a:rPr>
                        <m:t>𝐸𝑉</m:t>
                      </m:r>
                      <m:d>
                        <m:dPr>
                          <m:ctrlPr>
                            <a:rPr lang="en-GB" sz="1200" b="0" i="1" smtClean="0">
                              <a:solidFill>
                                <a:schemeClr val="tx1"/>
                              </a:solidFill>
                              <a:latin typeface="Cambria Math" panose="02040503050406030204" pitchFamily="18" charset="0"/>
                              <a:cs typeface="Times New Roman" panose="02020603050405020304" pitchFamily="18" charset="0"/>
                            </a:rPr>
                          </m:ctrlPr>
                        </m:dPr>
                        <m:e>
                          <m:r>
                            <a:rPr lang="en-GB" sz="1200" b="0" i="1" smtClean="0">
                              <a:solidFill>
                                <a:schemeClr val="tx1"/>
                              </a:solidFill>
                              <a:latin typeface="Cambria Math" panose="02040503050406030204" pitchFamily="18" charset="0"/>
                              <a:cs typeface="Times New Roman" panose="02020603050405020304" pitchFamily="18" charset="0"/>
                            </a:rPr>
                            <m:t>𝑆</m:t>
                          </m:r>
                        </m:e>
                      </m:d>
                      <m:r>
                        <a:rPr lang="en-GB" sz="1200" i="1">
                          <a:solidFill>
                            <a:schemeClr val="tx1"/>
                          </a:solidFill>
                          <a:latin typeface="Cambria Math" panose="02040503050406030204" pitchFamily="18" charset="0"/>
                          <a:cs typeface="Times New Roman" panose="02020603050405020304" pitchFamily="18" charset="0"/>
                        </a:rPr>
                        <m:t>=</m:t>
                      </m:r>
                      <m:r>
                        <a:rPr lang="en-GB" sz="1200" b="0" i="1" smtClean="0">
                          <a:solidFill>
                            <a:schemeClr val="tx1"/>
                          </a:solidFill>
                          <a:latin typeface="Cambria Math" panose="02040503050406030204" pitchFamily="18" charset="0"/>
                          <a:cs typeface="Times New Roman" panose="02020603050405020304" pitchFamily="18" charset="0"/>
                        </a:rPr>
                        <m:t>𝑆</m:t>
                      </m:r>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nary>
                        <m:naryPr>
                          <m:chr m:val="∑"/>
                          <m:ctrlP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naryPr>
                        <m:sub>
                          <m:r>
                            <m:rPr>
                              <m:brk m:alnAt="23"/>
                            </m:rP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𝑘</m:t>
                          </m:r>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m:t>
                          </m:r>
                        </m:sub>
                        <m:sup>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𝑛</m:t>
                          </m:r>
                        </m:sup>
                        <m:e>
                          <m:d>
                            <m:dPr>
                              <m:begChr m:val="["/>
                              <m:endChr m:val="]"/>
                              <m:ctrlP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d>
                                <m:dPr>
                                  <m:ctrlPr>
                                    <a:rPr lang="en-GB" sz="1200" i="1">
                                      <a:solidFill>
                                        <a:schemeClr val="tx1"/>
                                      </a:solidFill>
                                      <a:latin typeface="Cambria Math" panose="02040503050406030204" pitchFamily="18" charset="0"/>
                                      <a:cs typeface="Times New Roman" panose="02020603050405020304" pitchFamily="18" charset="0"/>
                                    </a:rPr>
                                  </m:ctrlPr>
                                </m:dPr>
                                <m:e>
                                  <m:m>
                                    <m:mPr>
                                      <m:mcs>
                                        <m:mc>
                                          <m:mcPr>
                                            <m:count m:val="1"/>
                                            <m:mcJc m:val="center"/>
                                          </m:mcPr>
                                        </m:mc>
                                      </m:mcs>
                                      <m:ctrlPr>
                                        <a:rPr lang="en-GB" sz="1200" i="1">
                                          <a:solidFill>
                                            <a:schemeClr val="tx1"/>
                                          </a:solidFill>
                                          <a:latin typeface="Cambria Math" panose="02040503050406030204" pitchFamily="18" charset="0"/>
                                          <a:cs typeface="Times New Roman" panose="02020603050405020304" pitchFamily="18" charset="0"/>
                                        </a:rPr>
                                      </m:ctrlPr>
                                    </m:mPr>
                                    <m:mr>
                                      <m:e>
                                        <m:r>
                                          <m:rPr>
                                            <m:brk m:alnAt="7"/>
                                          </m:rPr>
                                          <a:rPr lang="en-GB" sz="1200" i="1">
                                            <a:solidFill>
                                              <a:schemeClr val="tx1"/>
                                            </a:solidFill>
                                            <a:latin typeface="Cambria Math" panose="02040503050406030204" pitchFamily="18" charset="0"/>
                                            <a:cs typeface="Times New Roman" panose="02020603050405020304" pitchFamily="18" charset="0"/>
                                          </a:rPr>
                                          <m:t>𝑛</m:t>
                                        </m:r>
                                      </m:e>
                                    </m:mr>
                                    <m:mr>
                                      <m:e>
                                        <m:r>
                                          <a:rPr lang="en-GB" sz="1200" b="0" i="1" smtClean="0">
                                            <a:solidFill>
                                              <a:schemeClr val="tx1"/>
                                            </a:solidFill>
                                            <a:latin typeface="Cambria Math" panose="02040503050406030204" pitchFamily="18" charset="0"/>
                                            <a:cs typeface="Times New Roman" panose="02020603050405020304" pitchFamily="18" charset="0"/>
                                          </a:rPr>
                                          <m:t>𝑘</m:t>
                                        </m:r>
                                      </m:e>
                                    </m:mr>
                                  </m:m>
                                </m:e>
                              </m:d>
                              <m:sSup>
                                <m:sSupPr>
                                  <m:ctrlPr>
                                    <a:rPr lang="en-GB" sz="1200" i="1" smtClean="0">
                                      <a:solidFill>
                                        <a:schemeClr val="tx1"/>
                                      </a:solidFill>
                                      <a:latin typeface="Cambria Math" panose="02040503050406030204" pitchFamily="18" charset="0"/>
                                      <a:cs typeface="Times New Roman" panose="02020603050405020304" pitchFamily="18" charset="0"/>
                                    </a:rPr>
                                  </m:ctrlPr>
                                </m:sSupPr>
                                <m:e>
                                  <m:r>
                                    <a:rPr lang="en-GB" sz="1200" b="0" i="1" smtClean="0">
                                      <a:solidFill>
                                        <a:schemeClr val="tx1"/>
                                      </a:solidFill>
                                      <a:latin typeface="Cambria Math" panose="02040503050406030204" pitchFamily="18" charset="0"/>
                                      <a:cs typeface="Times New Roman" panose="02020603050405020304" pitchFamily="18" charset="0"/>
                                    </a:rPr>
                                    <m:t>𝑝</m:t>
                                  </m:r>
                                </m:e>
                                <m:sup>
                                  <m:r>
                                    <a:rPr lang="en-GB" sz="1200" b="0" i="1" smtClean="0">
                                      <a:solidFill>
                                        <a:schemeClr val="tx1"/>
                                      </a:solidFill>
                                      <a:latin typeface="Cambria Math" panose="02040503050406030204" pitchFamily="18" charset="0"/>
                                      <a:cs typeface="Times New Roman" panose="02020603050405020304" pitchFamily="18" charset="0"/>
                                    </a:rPr>
                                    <m:t>𝑘</m:t>
                                  </m:r>
                                </m:sup>
                              </m:sSup>
                              <m:sSup>
                                <m:sSupPr>
                                  <m:ctrlPr>
                                    <a:rPr lang="en-GB" sz="1200" i="1" smtClean="0">
                                      <a:solidFill>
                                        <a:schemeClr val="tx1"/>
                                      </a:solidFill>
                                      <a:latin typeface="Cambria Math" panose="02040503050406030204" pitchFamily="18" charset="0"/>
                                      <a:cs typeface="Times New Roman" panose="02020603050405020304" pitchFamily="18" charset="0"/>
                                    </a:rPr>
                                  </m:ctrlPr>
                                </m:sSupPr>
                                <m:e>
                                  <m:d>
                                    <m:dPr>
                                      <m:ctrlPr>
                                        <a:rPr lang="en-GB" sz="1200" i="1" smtClean="0">
                                          <a:solidFill>
                                            <a:schemeClr val="tx1"/>
                                          </a:solidFill>
                                          <a:latin typeface="Cambria Math" panose="02040503050406030204" pitchFamily="18" charset="0"/>
                                          <a:cs typeface="Times New Roman" panose="02020603050405020304" pitchFamily="18" charset="0"/>
                                        </a:rPr>
                                      </m:ctrlPr>
                                    </m:dPr>
                                    <m:e>
                                      <m:r>
                                        <a:rPr lang="en-GB" sz="1200" b="0" i="1" smtClean="0">
                                          <a:solidFill>
                                            <a:schemeClr val="tx1"/>
                                          </a:solidFill>
                                          <a:latin typeface="Cambria Math" panose="02040503050406030204" pitchFamily="18" charset="0"/>
                                          <a:cs typeface="Times New Roman" panose="02020603050405020304" pitchFamily="18" charset="0"/>
                                        </a:rPr>
                                        <m:t>1+</m:t>
                                      </m:r>
                                      <m:r>
                                        <a:rPr lang="en-GB" sz="1200" b="0" i="1" smtClean="0">
                                          <a:solidFill>
                                            <a:schemeClr val="tx1"/>
                                          </a:solidFill>
                                          <a:latin typeface="Cambria Math" panose="02040503050406030204" pitchFamily="18" charset="0"/>
                                          <a:cs typeface="Times New Roman" panose="02020603050405020304" pitchFamily="18" charset="0"/>
                                        </a:rPr>
                                        <m:t>𝑢</m:t>
                                      </m:r>
                                    </m:e>
                                  </m:d>
                                </m:e>
                                <m:sup>
                                  <m:r>
                                    <a:rPr lang="en-GB" sz="1200" b="0" i="1" smtClean="0">
                                      <a:solidFill>
                                        <a:schemeClr val="tx1"/>
                                      </a:solidFill>
                                      <a:latin typeface="Cambria Math" panose="02040503050406030204" pitchFamily="18" charset="0"/>
                                      <a:cs typeface="Times New Roman" panose="02020603050405020304" pitchFamily="18" charset="0"/>
                                    </a:rPr>
                                    <m:t>𝑘</m:t>
                                  </m:r>
                                </m:sup>
                              </m:sSup>
                              <m:sSup>
                                <m:sSupPr>
                                  <m:ctrlPr>
                                    <a:rPr lang="en-GB" sz="1200" i="1" smtClean="0">
                                      <a:solidFill>
                                        <a:schemeClr val="tx1"/>
                                      </a:solidFill>
                                      <a:latin typeface="Cambria Math" panose="02040503050406030204" pitchFamily="18" charset="0"/>
                                      <a:cs typeface="Times New Roman" panose="02020603050405020304" pitchFamily="18" charset="0"/>
                                    </a:rPr>
                                  </m:ctrlPr>
                                </m:sSupPr>
                                <m:e>
                                  <m:r>
                                    <a:rPr lang="en-GB" sz="12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d>
                                    <m:dPr>
                                      <m:ctrlPr>
                                        <a:rPr lang="en-GB" sz="1200" i="1" smtClean="0">
                                          <a:solidFill>
                                            <a:schemeClr val="tx1"/>
                                          </a:solidFill>
                                          <a:latin typeface="Cambria Math" panose="02040503050406030204" pitchFamily="18" charset="0"/>
                                          <a:cs typeface="Times New Roman" panose="02020603050405020304" pitchFamily="18" charset="0"/>
                                        </a:rPr>
                                      </m:ctrlPr>
                                    </m:dPr>
                                    <m:e>
                                      <m:r>
                                        <a:rPr lang="en-GB" sz="1200" b="0" i="1" smtClean="0">
                                          <a:solidFill>
                                            <a:schemeClr val="tx1"/>
                                          </a:solidFill>
                                          <a:latin typeface="Cambria Math" panose="02040503050406030204" pitchFamily="18" charset="0"/>
                                          <a:cs typeface="Times New Roman" panose="02020603050405020304" pitchFamily="18" charset="0"/>
                                        </a:rPr>
                                        <m:t>1−</m:t>
                                      </m:r>
                                      <m:r>
                                        <a:rPr lang="en-GB" sz="1200" b="0" i="1" smtClean="0">
                                          <a:solidFill>
                                            <a:schemeClr val="tx1"/>
                                          </a:solidFill>
                                          <a:latin typeface="Cambria Math" panose="02040503050406030204" pitchFamily="18" charset="0"/>
                                          <a:cs typeface="Times New Roman" panose="02020603050405020304" pitchFamily="18" charset="0"/>
                                        </a:rPr>
                                        <m:t>𝑝</m:t>
                                      </m:r>
                                    </m:e>
                                  </m:d>
                                </m:e>
                                <m:sup>
                                  <m:r>
                                    <a:rPr lang="en-GB" sz="1200" b="0" i="1" smtClean="0">
                                      <a:solidFill>
                                        <a:schemeClr val="tx1"/>
                                      </a:solidFill>
                                      <a:latin typeface="Cambria Math" panose="02040503050406030204" pitchFamily="18" charset="0"/>
                                      <a:cs typeface="Times New Roman" panose="02020603050405020304" pitchFamily="18" charset="0"/>
                                    </a:rPr>
                                    <m:t>𝑛</m:t>
                                  </m:r>
                                  <m:r>
                                    <a:rPr lang="en-GB" sz="1200" b="0" i="1" smtClean="0">
                                      <a:solidFill>
                                        <a:schemeClr val="tx1"/>
                                      </a:solidFill>
                                      <a:latin typeface="Cambria Math" panose="02040503050406030204" pitchFamily="18" charset="0"/>
                                      <a:cs typeface="Times New Roman" panose="02020603050405020304" pitchFamily="18" charset="0"/>
                                    </a:rPr>
                                    <m:t>−</m:t>
                                  </m:r>
                                  <m:r>
                                    <a:rPr lang="en-GB" sz="1200" b="0" i="1" smtClean="0">
                                      <a:solidFill>
                                        <a:schemeClr val="tx1"/>
                                      </a:solidFill>
                                      <a:latin typeface="Cambria Math" panose="02040503050406030204" pitchFamily="18" charset="0"/>
                                      <a:cs typeface="Times New Roman" panose="02020603050405020304" pitchFamily="18" charset="0"/>
                                    </a:rPr>
                                    <m:t>𝑘</m:t>
                                  </m:r>
                                </m:sup>
                              </m:sSup>
                              <m:sSup>
                                <m:sSupPr>
                                  <m:ctrlPr>
                                    <a:rPr lang="en-GB" sz="1200" i="1" smtClean="0">
                                      <a:solidFill>
                                        <a:schemeClr val="tx1"/>
                                      </a:solidFill>
                                      <a:latin typeface="Cambria Math" panose="02040503050406030204" pitchFamily="18" charset="0"/>
                                      <a:cs typeface="Times New Roman" panose="02020603050405020304" pitchFamily="18" charset="0"/>
                                    </a:rPr>
                                  </m:ctrlPr>
                                </m:sSupPr>
                                <m:e>
                                  <m:d>
                                    <m:dPr>
                                      <m:ctrlPr>
                                        <a:rPr lang="en-GB" sz="1200" i="1" smtClean="0">
                                          <a:solidFill>
                                            <a:schemeClr val="tx1"/>
                                          </a:solidFill>
                                          <a:latin typeface="Cambria Math" panose="02040503050406030204" pitchFamily="18" charset="0"/>
                                          <a:cs typeface="Times New Roman" panose="02020603050405020304" pitchFamily="18" charset="0"/>
                                        </a:rPr>
                                      </m:ctrlPr>
                                    </m:dPr>
                                    <m:e>
                                      <m:r>
                                        <a:rPr lang="en-GB" sz="1200" b="0" i="1" smtClean="0">
                                          <a:solidFill>
                                            <a:schemeClr val="tx1"/>
                                          </a:solidFill>
                                          <a:latin typeface="Cambria Math" panose="02040503050406030204" pitchFamily="18" charset="0"/>
                                          <a:cs typeface="Times New Roman" panose="02020603050405020304" pitchFamily="18" charset="0"/>
                                        </a:rPr>
                                        <m:t>1−</m:t>
                                      </m:r>
                                      <m:r>
                                        <a:rPr lang="en-GB" sz="1200" b="0" i="1" smtClean="0">
                                          <a:solidFill>
                                            <a:schemeClr val="tx1"/>
                                          </a:solidFill>
                                          <a:latin typeface="Cambria Math" panose="02040503050406030204" pitchFamily="18" charset="0"/>
                                          <a:cs typeface="Times New Roman" panose="02020603050405020304" pitchFamily="18" charset="0"/>
                                        </a:rPr>
                                        <m:t>𝑑</m:t>
                                      </m:r>
                                    </m:e>
                                  </m:d>
                                </m:e>
                                <m:sup>
                                  <m:r>
                                    <a:rPr lang="en-GB" sz="1200" b="0" i="1" smtClean="0">
                                      <a:solidFill>
                                        <a:schemeClr val="tx1"/>
                                      </a:solidFill>
                                      <a:latin typeface="Cambria Math" panose="02040503050406030204" pitchFamily="18" charset="0"/>
                                      <a:cs typeface="Times New Roman" panose="02020603050405020304" pitchFamily="18" charset="0"/>
                                    </a:rPr>
                                    <m:t>𝑛</m:t>
                                  </m:r>
                                  <m:r>
                                    <a:rPr lang="en-GB" sz="1200" b="0" i="1" smtClean="0">
                                      <a:solidFill>
                                        <a:schemeClr val="tx1"/>
                                      </a:solidFill>
                                      <a:latin typeface="Cambria Math" panose="02040503050406030204" pitchFamily="18" charset="0"/>
                                      <a:cs typeface="Times New Roman" panose="02020603050405020304" pitchFamily="18" charset="0"/>
                                    </a:rPr>
                                    <m:t>−</m:t>
                                  </m:r>
                                  <m:r>
                                    <a:rPr lang="en-GB" sz="1200" b="0" i="1" smtClean="0">
                                      <a:solidFill>
                                        <a:schemeClr val="tx1"/>
                                      </a:solidFill>
                                      <a:latin typeface="Cambria Math" panose="02040503050406030204" pitchFamily="18" charset="0"/>
                                      <a:cs typeface="Times New Roman" panose="02020603050405020304" pitchFamily="18" charset="0"/>
                                    </a:rPr>
                                    <m:t>𝑘</m:t>
                                  </m:r>
                                </m:sup>
                              </m:sSup>
                            </m:e>
                          </m:d>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𝑆</m:t>
                              </m:r>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𝑝</m:t>
                                  </m:r>
                                  <m:d>
                                    <m:dPr>
                                      <m:ctrlP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m:t>
                                      </m:r>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𝑢</m:t>
                                      </m:r>
                                    </m:e>
                                  </m:d>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d>
                                    <m:dPr>
                                      <m:ctrlP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m:t>
                                      </m:r>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𝑝</m:t>
                                      </m:r>
                                    </m:e>
                                  </m:d>
                                  <m:d>
                                    <m:dPr>
                                      <m:ctrlP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m:t>
                                      </m:r>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𝑑</m:t>
                                      </m:r>
                                    </m:e>
                                  </m:d>
                                </m:e>
                              </m:d>
                            </m:e>
                            <m:sup>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𝑛</m:t>
                              </m:r>
                            </m:sup>
                          </m:sSup>
                        </m:e>
                      </m:nary>
                      <m:r>
                        <a:rPr lang="en-GB" sz="1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2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GB"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300"/>
                  </a:spcAft>
                  <a:tabLst>
                    <a:tab pos="6365875" algn="l"/>
                    <a:tab pos="6459538" algn="l"/>
                  </a:tabLst>
                </a:pPr>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In this expression, the letter </a:t>
                </a:r>
                <a14:m>
                  <m:oMath xmlns:m="http://schemas.openxmlformats.org/officeDocument/2006/math">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𝑝</m:t>
                    </m:r>
                  </m:oMath>
                </a14:m>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 denotes the risk-neutral probability of a daily price jump up, </a:t>
                </a:r>
                <a14:m>
                  <m:oMath xmlns:m="http://schemas.openxmlformats.org/officeDocument/2006/math">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𝑘</m:t>
                    </m:r>
                  </m:oMath>
                </a14:m>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 is the number of daily price jumps up, </a:t>
                </a:r>
                <a14:m>
                  <m:oMath xmlns:m="http://schemas.openxmlformats.org/officeDocument/2006/math">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𝑢</m:t>
                    </m:r>
                  </m:oMath>
                </a14:m>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 is the </a:t>
                </a:r>
                <a:r>
                  <a:rPr lang="en-GB" sz="1200" dirty="0">
                    <a:latin typeface="Times New Roman" panose="02020603050405020304" pitchFamily="18" charset="0"/>
                    <a:ea typeface="Times New Roman" panose="02020603050405020304" pitchFamily="18" charset="0"/>
                    <a:cs typeface="Times New Roman" panose="02020603050405020304" pitchFamily="18" charset="0"/>
                  </a:rPr>
                  <a:t>percentage size </a:t>
                </a:r>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of the daily jump up and </a:t>
                </a:r>
                <a14:m>
                  <m:oMath xmlns:m="http://schemas.openxmlformats.org/officeDocument/2006/math">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𝑑</m:t>
                    </m:r>
                  </m:oMath>
                </a14:m>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 is the </a:t>
                </a:r>
                <a:r>
                  <a:rPr lang="en-GB" sz="1200" dirty="0">
                    <a:latin typeface="Times New Roman" panose="02020603050405020304" pitchFamily="18" charset="0"/>
                    <a:ea typeface="Times New Roman" panose="02020603050405020304" pitchFamily="18" charset="0"/>
                    <a:cs typeface="Times New Roman" panose="02020603050405020304" pitchFamily="18" charset="0"/>
                  </a:rPr>
                  <a:t>percentage size </a:t>
                </a:r>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of the daily jump down.</a:t>
                </a:r>
              </a:p>
              <a:p>
                <a:pPr>
                  <a:spcAft>
                    <a:spcPts val="600"/>
                  </a:spcAft>
                  <a:tabLst>
                    <a:tab pos="6365875" algn="l"/>
                    <a:tab pos="6459538" algn="l"/>
                  </a:tabLs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Given that the length of the discount period is </a:t>
                </a:r>
                <a14:m>
                  <m:oMath xmlns:m="http://schemas.openxmlformats.org/officeDocument/2006/math">
                    <m:r>
                      <a:rPr lang="en-GB" sz="1200" b="0" i="1" smtClean="0">
                        <a:latin typeface="Cambria Math" panose="02040503050406030204" pitchFamily="18" charset="0"/>
                        <a:ea typeface="Times New Roman" panose="02020603050405020304" pitchFamily="18" charset="0"/>
                        <a:cs typeface="Times New Roman" panose="02020603050405020304" pitchFamily="18" charset="0"/>
                      </a:rPr>
                      <m:t>𝑛</m:t>
                    </m:r>
                    <m:r>
                      <a:rPr lang="en-GB" sz="1200" b="0" i="1" smtClean="0">
                        <a:latin typeface="Cambria Math" panose="02040503050406030204" pitchFamily="18" charset="0"/>
                        <a:ea typeface="Times New Roman" panose="02020603050405020304" pitchFamily="18" charset="0"/>
                        <a:cs typeface="Times New Roman" panose="02020603050405020304" pitchFamily="18" charset="0"/>
                      </a:rPr>
                      <m:t>/365</m:t>
                    </m:r>
                  </m:oMath>
                </a14:m>
                <a:r>
                  <a:rPr lang="en-GB" sz="1200" dirty="0">
                    <a:latin typeface="Times New Roman" panose="02020603050405020304" pitchFamily="18" charset="0"/>
                    <a:ea typeface="Times New Roman" panose="02020603050405020304" pitchFamily="18" charset="0"/>
                    <a:cs typeface="Times New Roman" panose="02020603050405020304" pitchFamily="18" charset="0"/>
                  </a:rPr>
                  <a:t> years, substituting into the expected value pricing formula yields</a:t>
                </a:r>
              </a:p>
              <a:p>
                <a:pPr marL="180975">
                  <a:spcAft>
                    <a:spcPts val="300"/>
                  </a:spcAft>
                  <a:tabLst>
                    <a:tab pos="6365875" algn="l"/>
                    <a:tab pos="6459538" algn="l"/>
                  </a:tabLst>
                </a:pPr>
                <a14:m>
                  <m:oMathPara xmlns:m="http://schemas.openxmlformats.org/officeDocument/2006/math">
                    <m:oMathParaPr>
                      <m:jc m:val="left"/>
                    </m:oMathParaPr>
                    <m:oMath xmlns:m="http://schemas.openxmlformats.org/officeDocument/2006/math">
                      <m:r>
                        <a:rPr lang="en-GB" sz="1200" b="0" i="1" smtClean="0">
                          <a:latin typeface="Cambria Math" panose="02040503050406030204" pitchFamily="18" charset="0"/>
                          <a:cs typeface="Times New Roman" panose="02020603050405020304" pitchFamily="18" charset="0"/>
                        </a:rPr>
                        <m:t>𝑆</m:t>
                      </m:r>
                      <m:r>
                        <a:rPr lang="en-GB" sz="1200" i="1" smtClean="0">
                          <a:latin typeface="Cambria Math" panose="02040503050406030204" pitchFamily="18" charset="0"/>
                          <a:cs typeface="Times New Roman" panose="02020603050405020304" pitchFamily="18" charset="0"/>
                        </a:rPr>
                        <m:t>=</m:t>
                      </m:r>
                      <m:f>
                        <m:fPr>
                          <m:ctrlPr>
                            <a:rPr lang="en-GB" sz="1200" i="1">
                              <a:latin typeface="Cambria Math" panose="02040503050406030204" pitchFamily="18" charset="0"/>
                              <a:cs typeface="Times New Roman" panose="02020603050405020304" pitchFamily="18" charset="0"/>
                            </a:rPr>
                          </m:ctrlPr>
                        </m:fPr>
                        <m:num>
                          <m:sSup>
                            <m:sSupPr>
                              <m:ctrlPr>
                                <a:rPr lang="en-GB" sz="1200" i="1">
                                  <a:latin typeface="Cambria Math" panose="02040503050406030204" pitchFamily="18" charset="0"/>
                                  <a:ea typeface="Cambria Math" panose="02040503050406030204" pitchFamily="18" charset="0"/>
                                  <a:cs typeface="Times New Roman" panose="02020603050405020304" pitchFamily="18" charset="0"/>
                                </a:rPr>
                              </m:ctrlPr>
                            </m:sSupPr>
                            <m:e>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𝑆</m:t>
                              </m:r>
                              <m:r>
                                <a:rPr lang="en-GB" sz="12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GB" sz="1200" i="1">
                                      <a:latin typeface="Cambria Math" panose="02040503050406030204" pitchFamily="18" charset="0"/>
                                      <a:ea typeface="Cambria Math" panose="02040503050406030204" pitchFamily="18" charset="0"/>
                                      <a:cs typeface="Times New Roman" panose="02020603050405020304" pitchFamily="18" charset="0"/>
                                    </a:rPr>
                                  </m:ctrlPr>
                                </m:dPr>
                                <m:e>
                                  <m:r>
                                    <a:rPr lang="en-GB" sz="1200" i="1">
                                      <a:latin typeface="Cambria Math" panose="02040503050406030204" pitchFamily="18" charset="0"/>
                                      <a:ea typeface="Cambria Math" panose="02040503050406030204" pitchFamily="18" charset="0"/>
                                      <a:cs typeface="Times New Roman" panose="02020603050405020304" pitchFamily="18" charset="0"/>
                                    </a:rPr>
                                    <m:t>𝑝</m:t>
                                  </m:r>
                                  <m:d>
                                    <m:dPr>
                                      <m:ctrlPr>
                                        <a:rPr lang="en-GB" sz="1200" i="1">
                                          <a:latin typeface="Cambria Math" panose="02040503050406030204" pitchFamily="18" charset="0"/>
                                          <a:ea typeface="Cambria Math" panose="02040503050406030204" pitchFamily="18" charset="0"/>
                                          <a:cs typeface="Times New Roman" panose="02020603050405020304" pitchFamily="18" charset="0"/>
                                        </a:rPr>
                                      </m:ctrlPr>
                                    </m:dPr>
                                    <m:e>
                                      <m:r>
                                        <a:rPr lang="en-GB" sz="1200" i="1">
                                          <a:latin typeface="Cambria Math" panose="02040503050406030204" pitchFamily="18" charset="0"/>
                                          <a:ea typeface="Cambria Math" panose="02040503050406030204" pitchFamily="18" charset="0"/>
                                          <a:cs typeface="Times New Roman" panose="02020603050405020304" pitchFamily="18" charset="0"/>
                                        </a:rPr>
                                        <m:t>1+</m:t>
                                      </m:r>
                                      <m:r>
                                        <a:rPr lang="en-GB" sz="1200" i="1">
                                          <a:latin typeface="Cambria Math" panose="02040503050406030204" pitchFamily="18" charset="0"/>
                                          <a:ea typeface="Cambria Math" panose="02040503050406030204" pitchFamily="18" charset="0"/>
                                          <a:cs typeface="Times New Roman" panose="02020603050405020304" pitchFamily="18" charset="0"/>
                                        </a:rPr>
                                        <m:t>𝑢</m:t>
                                      </m:r>
                                    </m:e>
                                  </m:d>
                                  <m:r>
                                    <a:rPr lang="en-GB" sz="1200" i="1">
                                      <a:latin typeface="Cambria Math" panose="02040503050406030204" pitchFamily="18" charset="0"/>
                                      <a:ea typeface="Cambria Math" panose="02040503050406030204" pitchFamily="18" charset="0"/>
                                      <a:cs typeface="Times New Roman" panose="02020603050405020304" pitchFamily="18" charset="0"/>
                                    </a:rPr>
                                    <m:t>+</m:t>
                                  </m:r>
                                  <m:d>
                                    <m:dPr>
                                      <m:ctrlPr>
                                        <a:rPr lang="en-GB" sz="1200" i="1">
                                          <a:latin typeface="Cambria Math" panose="02040503050406030204" pitchFamily="18" charset="0"/>
                                          <a:ea typeface="Cambria Math" panose="02040503050406030204" pitchFamily="18" charset="0"/>
                                          <a:cs typeface="Times New Roman" panose="02020603050405020304" pitchFamily="18" charset="0"/>
                                        </a:rPr>
                                      </m:ctrlPr>
                                    </m:dPr>
                                    <m:e>
                                      <m:r>
                                        <a:rPr lang="en-GB" sz="1200" i="1">
                                          <a:latin typeface="Cambria Math" panose="02040503050406030204" pitchFamily="18" charset="0"/>
                                          <a:ea typeface="Cambria Math" panose="02040503050406030204" pitchFamily="18" charset="0"/>
                                          <a:cs typeface="Times New Roman" panose="02020603050405020304" pitchFamily="18" charset="0"/>
                                        </a:rPr>
                                        <m:t>1−</m:t>
                                      </m:r>
                                      <m:r>
                                        <a:rPr lang="en-GB" sz="1200" i="1">
                                          <a:latin typeface="Cambria Math" panose="02040503050406030204" pitchFamily="18" charset="0"/>
                                          <a:ea typeface="Cambria Math" panose="02040503050406030204" pitchFamily="18" charset="0"/>
                                          <a:cs typeface="Times New Roman" panose="02020603050405020304" pitchFamily="18" charset="0"/>
                                        </a:rPr>
                                        <m:t>𝑝</m:t>
                                      </m:r>
                                    </m:e>
                                  </m:d>
                                  <m:d>
                                    <m:dPr>
                                      <m:ctrlPr>
                                        <a:rPr lang="en-GB" sz="1200" i="1">
                                          <a:latin typeface="Cambria Math" panose="02040503050406030204" pitchFamily="18" charset="0"/>
                                          <a:ea typeface="Cambria Math" panose="02040503050406030204" pitchFamily="18" charset="0"/>
                                          <a:cs typeface="Times New Roman" panose="02020603050405020304" pitchFamily="18" charset="0"/>
                                        </a:rPr>
                                      </m:ctrlPr>
                                    </m:dPr>
                                    <m:e>
                                      <m:r>
                                        <a:rPr lang="en-GB" sz="1200" i="1">
                                          <a:latin typeface="Cambria Math" panose="02040503050406030204" pitchFamily="18" charset="0"/>
                                          <a:ea typeface="Cambria Math" panose="02040503050406030204" pitchFamily="18" charset="0"/>
                                          <a:cs typeface="Times New Roman" panose="02020603050405020304" pitchFamily="18" charset="0"/>
                                        </a:rPr>
                                        <m:t>1−</m:t>
                                      </m:r>
                                      <m:r>
                                        <a:rPr lang="en-GB" sz="1200" i="1">
                                          <a:latin typeface="Cambria Math" panose="02040503050406030204" pitchFamily="18" charset="0"/>
                                          <a:ea typeface="Cambria Math" panose="02040503050406030204" pitchFamily="18" charset="0"/>
                                          <a:cs typeface="Times New Roman" panose="02020603050405020304" pitchFamily="18" charset="0"/>
                                        </a:rPr>
                                        <m:t>𝑑</m:t>
                                      </m:r>
                                    </m:e>
                                  </m:d>
                                </m:e>
                              </m:d>
                            </m:e>
                            <m:sup>
                              <m:r>
                                <a:rPr lang="en-GB" sz="1200" i="1">
                                  <a:latin typeface="Cambria Math" panose="02040503050406030204" pitchFamily="18" charset="0"/>
                                  <a:ea typeface="Cambria Math" panose="02040503050406030204" pitchFamily="18" charset="0"/>
                                  <a:cs typeface="Times New Roman" panose="02020603050405020304" pitchFamily="18" charset="0"/>
                                </a:rPr>
                                <m:t>𝑛</m:t>
                              </m:r>
                            </m:sup>
                          </m:sSup>
                        </m:num>
                        <m:den>
                          <m:sSup>
                            <m:sSupPr>
                              <m:ctrlPr>
                                <a:rPr lang="en-GB" sz="1200" i="1">
                                  <a:latin typeface="Cambria Math" panose="02040503050406030204" pitchFamily="18" charset="0"/>
                                  <a:cs typeface="Times New Roman" panose="02020603050405020304" pitchFamily="18" charset="0"/>
                                </a:rPr>
                              </m:ctrlPr>
                            </m:sSupPr>
                            <m:e>
                              <m:r>
                                <a:rPr lang="en-GB" sz="1200" i="1">
                                  <a:latin typeface="Cambria Math" panose="02040503050406030204" pitchFamily="18" charset="0"/>
                                  <a:cs typeface="Times New Roman" panose="02020603050405020304" pitchFamily="18" charset="0"/>
                                </a:rPr>
                                <m:t>𝑒</m:t>
                              </m:r>
                            </m:e>
                            <m:sup>
                              <m:r>
                                <a:rPr lang="en-GB" sz="1200" i="1">
                                  <a:latin typeface="Cambria Math" panose="02040503050406030204" pitchFamily="18" charset="0"/>
                                  <a:cs typeface="Times New Roman" panose="02020603050405020304" pitchFamily="18" charset="0"/>
                                </a:rPr>
                                <m:t>𝑟</m:t>
                              </m:r>
                              <m:r>
                                <a:rPr lang="en-GB" sz="1200" b="0" i="1" smtClean="0">
                                  <a:latin typeface="Cambria Math" panose="02040503050406030204" pitchFamily="18" charset="0"/>
                                  <a:cs typeface="Times New Roman" panose="02020603050405020304" pitchFamily="18" charset="0"/>
                                </a:rPr>
                                <m:t>(</m:t>
                              </m:r>
                              <m:f>
                                <m:fPr>
                                  <m:type m:val="lin"/>
                                  <m:ctrlPr>
                                    <a:rPr lang="en-GB" sz="1200" b="0" i="1" smtClean="0">
                                      <a:latin typeface="Cambria Math" panose="02040503050406030204" pitchFamily="18" charset="0"/>
                                      <a:cs typeface="Times New Roman" panose="02020603050405020304" pitchFamily="18" charset="0"/>
                                    </a:rPr>
                                  </m:ctrlPr>
                                </m:fPr>
                                <m:num>
                                  <m:r>
                                    <a:rPr lang="en-GB" sz="1200" b="0" i="1" smtClean="0">
                                      <a:latin typeface="Cambria Math" panose="02040503050406030204" pitchFamily="18" charset="0"/>
                                      <a:cs typeface="Times New Roman" panose="02020603050405020304" pitchFamily="18" charset="0"/>
                                    </a:rPr>
                                    <m:t>𝑛</m:t>
                                  </m:r>
                                </m:num>
                                <m:den>
                                  <m:r>
                                    <a:rPr lang="en-GB" sz="1200" b="0" i="1" smtClean="0">
                                      <a:latin typeface="Cambria Math" panose="02040503050406030204" pitchFamily="18" charset="0"/>
                                      <a:cs typeface="Times New Roman" panose="02020603050405020304" pitchFamily="18" charset="0"/>
                                    </a:rPr>
                                    <m:t>365</m:t>
                                  </m:r>
                                </m:den>
                              </m:f>
                              <m:r>
                                <a:rPr lang="en-GB" sz="1200" b="0" i="1" smtClean="0">
                                  <a:latin typeface="Cambria Math" panose="02040503050406030204" pitchFamily="18" charset="0"/>
                                  <a:cs typeface="Times New Roman" panose="02020603050405020304" pitchFamily="18" charset="0"/>
                                </a:rPr>
                                <m:t>)</m:t>
                              </m:r>
                            </m:sup>
                          </m:sSup>
                        </m:den>
                      </m:f>
                      <m:r>
                        <a:rPr lang="en-GB" sz="1200" b="0" i="1" smtClean="0">
                          <a:latin typeface="Cambria Math" panose="02040503050406030204" pitchFamily="18" charset="0"/>
                          <a:cs typeface="Times New Roman" panose="02020603050405020304" pitchFamily="18" charset="0"/>
                        </a:rPr>
                        <m:t>.</m:t>
                      </m:r>
                    </m:oMath>
                  </m:oMathPara>
                </a14:m>
                <a:endParaRPr lang="en-GB" sz="12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300"/>
                  </a:spcAft>
                  <a:tabLst>
                    <a:tab pos="6365875" algn="l"/>
                    <a:tab pos="6459538" algn="l"/>
                  </a:tabLs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After making some simple adjustments, we get</a:t>
                </a:r>
              </a:p>
              <a:p>
                <a:pPr marL="180975">
                  <a:spcAft>
                    <a:spcPts val="300"/>
                  </a:spcAft>
                  <a:tabLst>
                    <a:tab pos="6365875" algn="l"/>
                    <a:tab pos="6459538" algn="l"/>
                  </a:tabLst>
                </a:pPr>
                <a14:m>
                  <m:oMathPara xmlns:m="http://schemas.openxmlformats.org/officeDocument/2006/math">
                    <m:oMathParaPr>
                      <m:jc m:val="left"/>
                    </m:oMathParaPr>
                    <m:oMath xmlns:m="http://schemas.openxmlformats.org/officeDocument/2006/math">
                      <m:sSup>
                        <m:sSupPr>
                          <m:ctrlPr>
                            <a:rPr lang="en-GB" sz="1200" i="1" smtClean="0">
                              <a:latin typeface="Cambria Math" panose="02040503050406030204" pitchFamily="18" charset="0"/>
                              <a:cs typeface="Times New Roman" panose="02020603050405020304" pitchFamily="18" charset="0"/>
                            </a:rPr>
                          </m:ctrlPr>
                        </m:sSupPr>
                        <m:e>
                          <m:d>
                            <m:dPr>
                              <m:ctrlPr>
                                <a:rPr lang="en-GB" sz="1200" i="1" smtClean="0">
                                  <a:latin typeface="Cambria Math" panose="02040503050406030204" pitchFamily="18" charset="0"/>
                                  <a:cs typeface="Times New Roman" panose="02020603050405020304" pitchFamily="18" charset="0"/>
                                </a:rPr>
                              </m:ctrlPr>
                            </m:dPr>
                            <m:e>
                              <m:sSup>
                                <m:sSupPr>
                                  <m:ctrlPr>
                                    <a:rPr lang="en-GB" sz="1200" i="1" smtClean="0">
                                      <a:latin typeface="Cambria Math" panose="02040503050406030204" pitchFamily="18" charset="0"/>
                                      <a:cs typeface="Times New Roman" panose="02020603050405020304" pitchFamily="18" charset="0"/>
                                    </a:rPr>
                                  </m:ctrlPr>
                                </m:sSupPr>
                                <m:e>
                                  <m:r>
                                    <a:rPr lang="en-GB" sz="1200" b="0" i="1" smtClean="0">
                                      <a:latin typeface="Cambria Math" panose="02040503050406030204" pitchFamily="18" charset="0"/>
                                      <a:cs typeface="Times New Roman" panose="02020603050405020304" pitchFamily="18" charset="0"/>
                                    </a:rPr>
                                    <m:t>𝑒</m:t>
                                  </m:r>
                                </m:e>
                                <m:sup>
                                  <m:r>
                                    <a:rPr lang="en-GB" sz="1200" b="0" i="1" smtClean="0">
                                      <a:latin typeface="Cambria Math" panose="02040503050406030204" pitchFamily="18" charset="0"/>
                                      <a:cs typeface="Times New Roman" panose="02020603050405020304" pitchFamily="18" charset="0"/>
                                    </a:rPr>
                                    <m:t>𝑟</m:t>
                                  </m:r>
                                  <m:r>
                                    <a:rPr lang="en-GB" sz="1200" b="0" i="1" smtClean="0">
                                      <a:latin typeface="Cambria Math" panose="02040503050406030204" pitchFamily="18" charset="0"/>
                                      <a:cs typeface="Times New Roman" panose="02020603050405020304" pitchFamily="18" charset="0"/>
                                    </a:rPr>
                                    <m:t>/365</m:t>
                                  </m:r>
                                </m:sup>
                              </m:sSup>
                            </m:e>
                          </m:d>
                        </m:e>
                        <m:sup>
                          <m:r>
                            <a:rPr lang="en-GB" sz="1200" b="0" i="1" smtClean="0">
                              <a:latin typeface="Cambria Math" panose="02040503050406030204" pitchFamily="18" charset="0"/>
                              <a:cs typeface="Times New Roman" panose="02020603050405020304" pitchFamily="18" charset="0"/>
                            </a:rPr>
                            <m:t>𝑛</m:t>
                          </m:r>
                        </m:sup>
                      </m:sSup>
                      <m:r>
                        <a:rPr lang="en-GB" sz="1200" i="1">
                          <a:latin typeface="Cambria Math" panose="02040503050406030204" pitchFamily="18" charset="0"/>
                          <a:cs typeface="Times New Roman" panose="02020603050405020304" pitchFamily="18" charset="0"/>
                        </a:rPr>
                        <m:t>=</m:t>
                      </m:r>
                      <m:sSup>
                        <m:sSupPr>
                          <m:ctrlPr>
                            <a:rPr lang="en-GB" sz="1200" i="1">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en-GB" sz="1200" i="1">
                                  <a:latin typeface="Cambria Math" panose="02040503050406030204" pitchFamily="18" charset="0"/>
                                  <a:ea typeface="Cambria Math" panose="02040503050406030204" pitchFamily="18" charset="0"/>
                                  <a:cs typeface="Times New Roman" panose="02020603050405020304" pitchFamily="18" charset="0"/>
                                </a:rPr>
                              </m:ctrlPr>
                            </m:dPr>
                            <m:e>
                              <m:r>
                                <a:rPr lang="en-GB" sz="1200" i="1">
                                  <a:latin typeface="Cambria Math" panose="02040503050406030204" pitchFamily="18" charset="0"/>
                                  <a:ea typeface="Cambria Math" panose="02040503050406030204" pitchFamily="18" charset="0"/>
                                  <a:cs typeface="Times New Roman" panose="02020603050405020304" pitchFamily="18" charset="0"/>
                                </a:rPr>
                                <m:t>𝑝</m:t>
                              </m:r>
                              <m:d>
                                <m:dPr>
                                  <m:ctrlPr>
                                    <a:rPr lang="en-GB" sz="1200" i="1">
                                      <a:latin typeface="Cambria Math" panose="02040503050406030204" pitchFamily="18" charset="0"/>
                                      <a:ea typeface="Cambria Math" panose="02040503050406030204" pitchFamily="18" charset="0"/>
                                      <a:cs typeface="Times New Roman" panose="02020603050405020304" pitchFamily="18" charset="0"/>
                                    </a:rPr>
                                  </m:ctrlPr>
                                </m:dPr>
                                <m:e>
                                  <m:r>
                                    <a:rPr lang="en-GB" sz="1200" i="1">
                                      <a:latin typeface="Cambria Math" panose="02040503050406030204" pitchFamily="18" charset="0"/>
                                      <a:ea typeface="Cambria Math" panose="02040503050406030204" pitchFamily="18" charset="0"/>
                                      <a:cs typeface="Times New Roman" panose="02020603050405020304" pitchFamily="18" charset="0"/>
                                    </a:rPr>
                                    <m:t>1+</m:t>
                                  </m:r>
                                  <m:r>
                                    <a:rPr lang="en-GB" sz="1200" i="1">
                                      <a:latin typeface="Cambria Math" panose="02040503050406030204" pitchFamily="18" charset="0"/>
                                      <a:ea typeface="Cambria Math" panose="02040503050406030204" pitchFamily="18" charset="0"/>
                                      <a:cs typeface="Times New Roman" panose="02020603050405020304" pitchFamily="18" charset="0"/>
                                    </a:rPr>
                                    <m:t>𝑢</m:t>
                                  </m:r>
                                </m:e>
                              </m:d>
                              <m:r>
                                <a:rPr lang="en-GB" sz="1200" i="1">
                                  <a:latin typeface="Cambria Math" panose="02040503050406030204" pitchFamily="18" charset="0"/>
                                  <a:ea typeface="Cambria Math" panose="02040503050406030204" pitchFamily="18" charset="0"/>
                                  <a:cs typeface="Times New Roman" panose="02020603050405020304" pitchFamily="18" charset="0"/>
                                </a:rPr>
                                <m:t>+</m:t>
                              </m:r>
                              <m:d>
                                <m:dPr>
                                  <m:ctrlPr>
                                    <a:rPr lang="en-GB" sz="1200" i="1">
                                      <a:latin typeface="Cambria Math" panose="02040503050406030204" pitchFamily="18" charset="0"/>
                                      <a:ea typeface="Cambria Math" panose="02040503050406030204" pitchFamily="18" charset="0"/>
                                      <a:cs typeface="Times New Roman" panose="02020603050405020304" pitchFamily="18" charset="0"/>
                                    </a:rPr>
                                  </m:ctrlPr>
                                </m:dPr>
                                <m:e>
                                  <m:r>
                                    <a:rPr lang="en-GB" sz="1200" i="1">
                                      <a:latin typeface="Cambria Math" panose="02040503050406030204" pitchFamily="18" charset="0"/>
                                      <a:ea typeface="Cambria Math" panose="02040503050406030204" pitchFamily="18" charset="0"/>
                                      <a:cs typeface="Times New Roman" panose="02020603050405020304" pitchFamily="18" charset="0"/>
                                    </a:rPr>
                                    <m:t>1−</m:t>
                                  </m:r>
                                  <m:r>
                                    <a:rPr lang="en-GB" sz="1200" i="1">
                                      <a:latin typeface="Cambria Math" panose="02040503050406030204" pitchFamily="18" charset="0"/>
                                      <a:ea typeface="Cambria Math" panose="02040503050406030204" pitchFamily="18" charset="0"/>
                                      <a:cs typeface="Times New Roman" panose="02020603050405020304" pitchFamily="18" charset="0"/>
                                    </a:rPr>
                                    <m:t>𝑝</m:t>
                                  </m:r>
                                </m:e>
                              </m:d>
                              <m:d>
                                <m:dPr>
                                  <m:ctrlPr>
                                    <a:rPr lang="en-GB" sz="1200" i="1">
                                      <a:latin typeface="Cambria Math" panose="02040503050406030204" pitchFamily="18" charset="0"/>
                                      <a:ea typeface="Cambria Math" panose="02040503050406030204" pitchFamily="18" charset="0"/>
                                      <a:cs typeface="Times New Roman" panose="02020603050405020304" pitchFamily="18" charset="0"/>
                                    </a:rPr>
                                  </m:ctrlPr>
                                </m:dPr>
                                <m:e>
                                  <m:r>
                                    <a:rPr lang="en-GB" sz="1200" i="1">
                                      <a:latin typeface="Cambria Math" panose="02040503050406030204" pitchFamily="18" charset="0"/>
                                      <a:ea typeface="Cambria Math" panose="02040503050406030204" pitchFamily="18" charset="0"/>
                                      <a:cs typeface="Times New Roman" panose="02020603050405020304" pitchFamily="18" charset="0"/>
                                    </a:rPr>
                                    <m:t>1−</m:t>
                                  </m:r>
                                  <m:r>
                                    <a:rPr lang="en-GB" sz="1200" i="1">
                                      <a:latin typeface="Cambria Math" panose="02040503050406030204" pitchFamily="18" charset="0"/>
                                      <a:ea typeface="Cambria Math" panose="02040503050406030204" pitchFamily="18" charset="0"/>
                                      <a:cs typeface="Times New Roman" panose="02020603050405020304" pitchFamily="18" charset="0"/>
                                    </a:rPr>
                                    <m:t>𝑑</m:t>
                                  </m:r>
                                </m:e>
                              </m:d>
                            </m:e>
                          </m:d>
                        </m:e>
                        <m:sup>
                          <m:r>
                            <a:rPr lang="en-GB" sz="1200" i="1">
                              <a:latin typeface="Cambria Math" panose="02040503050406030204" pitchFamily="18" charset="0"/>
                              <a:ea typeface="Cambria Math" panose="02040503050406030204" pitchFamily="18" charset="0"/>
                              <a:cs typeface="Times New Roman" panose="02020603050405020304" pitchFamily="18" charset="0"/>
                            </a:rPr>
                            <m:t>𝑛</m:t>
                          </m:r>
                        </m:sup>
                      </m:sSup>
                      <m:r>
                        <a:rPr lang="en-GB" sz="12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1200" b="0" i="1" smtClean="0">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en-GB" sz="12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𝑝</m:t>
                              </m:r>
                              <m:d>
                                <m:dPr>
                                  <m:ctrlPr>
                                    <a:rPr lang="en-GB" sz="12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𝑢</m:t>
                                  </m:r>
                                  <m:r>
                                    <a:rPr lang="en-GB" sz="12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𝑑</m:t>
                                  </m:r>
                                </m:e>
                              </m:d>
                              <m:r>
                                <a:rPr lang="en-GB" sz="1200" b="0" i="1" smtClean="0">
                                  <a:latin typeface="Cambria Math" panose="02040503050406030204" pitchFamily="18" charset="0"/>
                                  <a:ea typeface="Cambria Math" panose="02040503050406030204" pitchFamily="18" charset="0"/>
                                  <a:cs typeface="Times New Roman" panose="02020603050405020304" pitchFamily="18" charset="0"/>
                                </a:rPr>
                                <m:t>+1−</m:t>
                              </m:r>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𝑑</m:t>
                              </m:r>
                            </m:e>
                          </m:d>
                        </m:e>
                        <m:sup>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𝑛</m:t>
                          </m:r>
                        </m:sup>
                      </m:sSup>
                      <m:r>
                        <a:rPr lang="en-GB" sz="1200" b="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GB" sz="12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300"/>
                  </a:spcAft>
                  <a:tabLst>
                    <a:tab pos="6365875" algn="l"/>
                    <a:tab pos="6459538" algn="l"/>
                  </a:tabLs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Therefore, the following formula can be derived,</a:t>
                </a:r>
                <a:endParaRPr lang="en-GB" sz="1200" b="0" i="1" dirty="0">
                  <a:latin typeface="Cambria Math" panose="02040503050406030204" pitchFamily="18" charset="0"/>
                  <a:cs typeface="Times New Roman" panose="02020603050405020304" pitchFamily="18" charset="0"/>
                </a:endParaRPr>
              </a:p>
              <a:p>
                <a:pPr marL="180975">
                  <a:spcAft>
                    <a:spcPts val="300"/>
                  </a:spcAft>
                  <a:tabLst>
                    <a:tab pos="6365875" algn="l"/>
                    <a:tab pos="6459538" algn="l"/>
                  </a:tabLst>
                </a:pPr>
                <a14:m>
                  <m:oMathPara xmlns:m="http://schemas.openxmlformats.org/officeDocument/2006/math">
                    <m:oMathParaPr>
                      <m:jc m:val="left"/>
                    </m:oMathParaPr>
                    <m:oMath xmlns:m="http://schemas.openxmlformats.org/officeDocument/2006/math">
                      <m:r>
                        <a:rPr lang="en-GB" sz="1200" b="0" i="1" smtClean="0">
                          <a:latin typeface="Cambria Math" panose="02040503050406030204" pitchFamily="18" charset="0"/>
                          <a:cs typeface="Times New Roman" panose="02020603050405020304" pitchFamily="18" charset="0"/>
                        </a:rPr>
                        <m:t>𝑝</m:t>
                      </m:r>
                      <m:r>
                        <a:rPr lang="en-GB" sz="1200" i="1">
                          <a:latin typeface="Cambria Math" panose="02040503050406030204" pitchFamily="18" charset="0"/>
                          <a:cs typeface="Times New Roman" panose="02020603050405020304" pitchFamily="18" charset="0"/>
                        </a:rPr>
                        <m:t>=</m:t>
                      </m:r>
                      <m:f>
                        <m:fPr>
                          <m:ctrlPr>
                            <a:rPr lang="en-GB" sz="1200" i="1">
                              <a:latin typeface="Cambria Math" panose="02040503050406030204" pitchFamily="18" charset="0"/>
                              <a:cs typeface="Times New Roman" panose="02020603050405020304" pitchFamily="18" charset="0"/>
                            </a:rPr>
                          </m:ctrlPr>
                        </m:fPr>
                        <m:num>
                          <m:sSup>
                            <m:sSupPr>
                              <m:ctrlPr>
                                <a:rPr lang="en-GB" sz="1200" i="1" smtClean="0">
                                  <a:latin typeface="Cambria Math" panose="02040503050406030204" pitchFamily="18" charset="0"/>
                                  <a:cs typeface="Times New Roman" panose="02020603050405020304" pitchFamily="18" charset="0"/>
                                </a:rPr>
                              </m:ctrlPr>
                            </m:sSupPr>
                            <m:e>
                              <m:r>
                                <a:rPr lang="en-GB" sz="1200" b="0" i="1" smtClean="0">
                                  <a:latin typeface="Cambria Math" panose="02040503050406030204" pitchFamily="18" charset="0"/>
                                  <a:cs typeface="Times New Roman" panose="02020603050405020304" pitchFamily="18" charset="0"/>
                                </a:rPr>
                                <m:t>𝑒</m:t>
                              </m:r>
                            </m:e>
                            <m:sup>
                              <m:r>
                                <a:rPr lang="en-GB" sz="1200" b="0" i="1" smtClean="0">
                                  <a:latin typeface="Cambria Math" panose="02040503050406030204" pitchFamily="18" charset="0"/>
                                  <a:cs typeface="Times New Roman" panose="02020603050405020304" pitchFamily="18" charset="0"/>
                                </a:rPr>
                                <m:t>𝑟</m:t>
                              </m:r>
                              <m:r>
                                <a:rPr lang="en-GB" sz="1200" b="0" i="1" smtClean="0">
                                  <a:latin typeface="Cambria Math" panose="02040503050406030204" pitchFamily="18" charset="0"/>
                                  <a:cs typeface="Times New Roman" panose="02020603050405020304" pitchFamily="18" charset="0"/>
                                </a:rPr>
                                <m:t>/365</m:t>
                              </m:r>
                            </m:sup>
                          </m:sSup>
                          <m:r>
                            <a:rPr lang="en-GB" sz="1200" b="0" i="1" smtClean="0">
                              <a:latin typeface="Cambria Math" panose="02040503050406030204" pitchFamily="18" charset="0"/>
                              <a:cs typeface="Times New Roman" panose="02020603050405020304" pitchFamily="18" charset="0"/>
                            </a:rPr>
                            <m:t>+</m:t>
                          </m:r>
                          <m:r>
                            <a:rPr lang="en-GB" sz="1200" b="0" i="1" smtClean="0">
                              <a:latin typeface="Cambria Math" panose="02040503050406030204" pitchFamily="18" charset="0"/>
                              <a:cs typeface="Times New Roman" panose="02020603050405020304" pitchFamily="18" charset="0"/>
                            </a:rPr>
                            <m:t>𝑑</m:t>
                          </m:r>
                          <m:r>
                            <a:rPr lang="en-GB" sz="1200" b="0" i="1" smtClean="0">
                              <a:latin typeface="Cambria Math" panose="02040503050406030204" pitchFamily="18" charset="0"/>
                              <a:cs typeface="Times New Roman" panose="02020603050405020304" pitchFamily="18" charset="0"/>
                            </a:rPr>
                            <m:t>−1</m:t>
                          </m:r>
                        </m:num>
                        <m:den>
                          <m:r>
                            <a:rPr lang="en-GB" sz="1200" b="0" i="1" smtClean="0">
                              <a:latin typeface="Cambria Math" panose="02040503050406030204" pitchFamily="18" charset="0"/>
                              <a:cs typeface="Times New Roman" panose="02020603050405020304" pitchFamily="18" charset="0"/>
                            </a:rPr>
                            <m:t>𝑢</m:t>
                          </m:r>
                          <m:r>
                            <a:rPr lang="en-GB" sz="1200" b="0" i="1" smtClean="0">
                              <a:latin typeface="Cambria Math" panose="02040503050406030204" pitchFamily="18" charset="0"/>
                              <a:cs typeface="Times New Roman" panose="02020603050405020304" pitchFamily="18" charset="0"/>
                            </a:rPr>
                            <m:t>+</m:t>
                          </m:r>
                          <m:r>
                            <a:rPr lang="en-GB" sz="1200" b="0" i="1" smtClean="0">
                              <a:latin typeface="Cambria Math" panose="02040503050406030204" pitchFamily="18" charset="0"/>
                              <a:cs typeface="Times New Roman" panose="02020603050405020304" pitchFamily="18" charset="0"/>
                            </a:rPr>
                            <m:t>𝑑</m:t>
                          </m:r>
                        </m:den>
                      </m:f>
                      <m:r>
                        <a:rPr lang="en-GB" sz="1200" b="0" i="1" smtClean="0">
                          <a:latin typeface="Cambria Math" panose="02040503050406030204" pitchFamily="18" charset="0"/>
                          <a:cs typeface="Times New Roman" panose="02020603050405020304" pitchFamily="18" charset="0"/>
                        </a:rPr>
                        <m:t>.</m:t>
                      </m:r>
                    </m:oMath>
                  </m:oMathPara>
                </a14:m>
                <a:endParaRPr lang="en-GB" sz="1200" dirty="0">
                  <a:latin typeface="Times New Roman" panose="02020603050405020304" pitchFamily="18" charset="0"/>
                  <a:ea typeface="Times New Roman" panose="02020603050405020304" pitchFamily="18" charset="0"/>
                  <a:cs typeface="Times New Roman" panose="02020603050405020304" pitchFamily="18" charset="0"/>
                </a:endParaRPr>
              </a:p>
              <a:p>
                <a:r>
                  <a:rPr lang="en-GB" sz="1200" dirty="0">
                    <a:latin typeface="Times New Roman" panose="02020603050405020304" pitchFamily="18" charset="0"/>
                    <a:ea typeface="Times New Roman" panose="02020603050405020304" pitchFamily="18" charset="0"/>
                    <a:cs typeface="Times New Roman" panose="02020603050405020304" pitchFamily="18" charset="0"/>
                  </a:rPr>
                  <a:t>We see that the risk-neutral probability is independent of the number of price jumps.</a:t>
                </a:r>
              </a:p>
            </p:txBody>
          </p:sp>
        </mc:Choice>
        <mc:Fallback>
          <p:sp>
            <p:nvSpPr>
              <p:cNvPr id="8" name="TextovéPole 7">
                <a:extLst>
                  <a:ext uri="{FF2B5EF4-FFF2-40B4-BE49-F238E27FC236}">
                    <a16:creationId xmlns:a16="http://schemas.microsoft.com/office/drawing/2014/main" id="{A5CB268B-B9B5-F787-AA62-D56B95E4AD39}"/>
                  </a:ext>
                </a:extLst>
              </p:cNvPr>
              <p:cNvSpPr txBox="1">
                <a:spLocks noRot="1" noChangeAspect="1" noMove="1" noResize="1" noEditPoints="1" noAdjustHandles="1" noChangeArrowheads="1" noChangeShapeType="1" noTextEdit="1"/>
              </p:cNvSpPr>
              <p:nvPr/>
            </p:nvSpPr>
            <p:spPr>
              <a:xfrm>
                <a:off x="251520" y="540000"/>
                <a:ext cx="8640479" cy="4881914"/>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082903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8F67A-BB02-43C1-A120-AEDF58AA13A1}"/>
            </a:ext>
          </a:extLst>
        </p:cNvPr>
        <p:cNvGrpSpPr/>
        <p:nvPr/>
      </p:nvGrpSpPr>
      <p:grpSpPr>
        <a:xfrm>
          <a:off x="0" y="0"/>
          <a:ext cx="0" cy="0"/>
          <a:chOff x="0" y="0"/>
          <a:chExt cx="0" cy="0"/>
        </a:xfrm>
      </p:grpSpPr>
      <p:sp>
        <p:nvSpPr>
          <p:cNvPr id="2" name="Zástupný symbol pro zápatí 1">
            <a:extLst>
              <a:ext uri="{FF2B5EF4-FFF2-40B4-BE49-F238E27FC236}">
                <a16:creationId xmlns:a16="http://schemas.microsoft.com/office/drawing/2014/main" id="{7F0D36C9-30B1-82D6-B461-8BEBD4219BD4}"/>
              </a:ext>
            </a:extLst>
          </p:cNvPr>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a:extLst>
              <a:ext uri="{FF2B5EF4-FFF2-40B4-BE49-F238E27FC236}">
                <a16:creationId xmlns:a16="http://schemas.microsoft.com/office/drawing/2014/main" id="{1AA312C3-375B-2E6A-8042-143F500796C2}"/>
              </a:ext>
            </a:extLst>
          </p:cNvPr>
          <p:cNvSpPr>
            <a:spLocks noGrp="1"/>
          </p:cNvSpPr>
          <p:nvPr>
            <p:ph type="sldNum" sz="quarter" idx="12"/>
          </p:nvPr>
        </p:nvSpPr>
        <p:spPr>
          <a:xfrm>
            <a:off x="7164000" y="6336000"/>
            <a:ext cx="1800000" cy="360000"/>
          </a:xfrm>
        </p:spPr>
        <p:txBody>
          <a:bodyPr/>
          <a:lstStyle/>
          <a:p>
            <a:pPr algn="r"/>
            <a:r>
              <a:rPr lang="cs-CZ" dirty="0"/>
              <a:t>18</a:t>
            </a:r>
          </a:p>
        </p:txBody>
      </p:sp>
      <p:sp>
        <p:nvSpPr>
          <p:cNvPr id="4" name="Nadpis 3">
            <a:extLst>
              <a:ext uri="{FF2B5EF4-FFF2-40B4-BE49-F238E27FC236}">
                <a16:creationId xmlns:a16="http://schemas.microsoft.com/office/drawing/2014/main" id="{FD3D1367-C73A-9253-0C93-6DA429D7317B}"/>
              </a:ext>
            </a:extLst>
          </p:cNvPr>
          <p:cNvSpPr>
            <a:spLocks noGrp="1"/>
          </p:cNvSpPr>
          <p:nvPr>
            <p:ph type="title"/>
          </p:nvPr>
        </p:nvSpPr>
        <p:spPr>
          <a:xfrm>
            <a:off x="144000" y="180000"/>
            <a:ext cx="4932056" cy="338554"/>
          </a:xfrm>
        </p:spPr>
        <p:txBody>
          <a:bodyPr wrap="square">
            <a:spAutoFit/>
          </a:bodyPr>
          <a:lstStyle/>
          <a:p>
            <a:r>
              <a:rPr lang="en-GB" sz="1600" noProof="0" dirty="0"/>
              <a:t>Math note </a:t>
            </a:r>
            <a:r>
              <a:rPr lang="en-GB" sz="1600" noProof="0" dirty="0">
                <a:latin typeface="Cambria Math" panose="02040503050406030204" pitchFamily="18" charset="0"/>
                <a:ea typeface="Cambria Math" panose="02040503050406030204" pitchFamily="18" charset="0"/>
              </a:rPr>
              <a:t>–</a:t>
            </a:r>
            <a:r>
              <a:rPr lang="en-GB" sz="1600" noProof="0" dirty="0"/>
              <a:t> discrete </a:t>
            </a:r>
            <a:r>
              <a:rPr lang="cs-CZ" sz="1600" noProof="0" dirty="0"/>
              <a:t>versus </a:t>
            </a:r>
            <a:r>
              <a:rPr lang="en-GB" sz="1600" noProof="0" dirty="0"/>
              <a:t>continuous dividend</a:t>
            </a:r>
            <a:r>
              <a:rPr lang="cs-CZ" sz="1600" noProof="0" dirty="0"/>
              <a:t>s</a:t>
            </a:r>
            <a:endParaRPr lang="en-GB" sz="1600" noProof="0" dirty="0"/>
          </a:p>
        </p:txBody>
      </p:sp>
      <mc:AlternateContent xmlns:mc="http://schemas.openxmlformats.org/markup-compatibility/2006" xmlns:a14="http://schemas.microsoft.com/office/drawing/2010/main">
        <mc:Choice Requires="a14">
          <p:sp>
            <p:nvSpPr>
              <p:cNvPr id="8" name="TextovéPole 7">
                <a:extLst>
                  <a:ext uri="{FF2B5EF4-FFF2-40B4-BE49-F238E27FC236}">
                    <a16:creationId xmlns:a16="http://schemas.microsoft.com/office/drawing/2014/main" id="{B42D553B-5434-37F4-51F3-81C6825D349F}"/>
                  </a:ext>
                </a:extLst>
              </p:cNvPr>
              <p:cNvSpPr txBox="1"/>
              <p:nvPr/>
            </p:nvSpPr>
            <p:spPr>
              <a:xfrm>
                <a:off x="251520" y="540000"/>
                <a:ext cx="8640479" cy="5768310"/>
              </a:xfrm>
              <a:prstGeom prst="rect">
                <a:avLst/>
              </a:prstGeom>
              <a:noFill/>
            </p:spPr>
            <p:txBody>
              <a:bodyPr wrap="square">
                <a:spAutoFit/>
              </a:bodyPr>
              <a:lstStyle/>
              <a:p>
                <a:pPr>
                  <a:spcAft>
                    <a:spcPts val="600"/>
                  </a:spcAf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Numerous online calculators for call and put option premiums incorporate the annual continuous dividend yield as an input variable. This parameter reflects the model assumption that dividends accrue continuously at a constant rate over time. The Black-Scholes valuation formula for a call option is therefore modified as follows, where </a:t>
                </a:r>
                <a14:m>
                  <m:oMath xmlns:m="http://schemas.openxmlformats.org/officeDocument/2006/math">
                    <m:r>
                      <a:rPr lang="en-GB" sz="1200" i="1">
                        <a:latin typeface="Cambria Math" panose="02040503050406030204" pitchFamily="18" charset="0"/>
                        <a:cs typeface="Times New Roman" panose="02020603050405020304" pitchFamily="18" charset="0"/>
                      </a:rPr>
                      <m:t>𝑞</m:t>
                    </m:r>
                    <m:r>
                      <a:rPr lang="en-GB" sz="1200" i="1">
                        <a:latin typeface="Cambria Math" panose="02040503050406030204" pitchFamily="18" charset="0"/>
                        <a:cs typeface="Times New Roman" panose="02020603050405020304" pitchFamily="18" charset="0"/>
                      </a:rPr>
                      <m:t> </m:t>
                    </m:r>
                  </m:oMath>
                </a14:m>
                <a:r>
                  <a:rPr lang="en-GB" sz="1200" dirty="0">
                    <a:latin typeface="Times New Roman" panose="02020603050405020304" pitchFamily="18" charset="0"/>
                    <a:ea typeface="Times New Roman" panose="02020603050405020304" pitchFamily="18" charset="0"/>
                    <a:cs typeface="Times New Roman" panose="02020603050405020304" pitchFamily="18" charset="0"/>
                  </a:rPr>
                  <a:t>represents the continuous dividend yield:</a:t>
                </a:r>
                <a:endParaRPr lang="en-GB" sz="1200" b="0" i="1" dirty="0">
                  <a:solidFill>
                    <a:schemeClr val="tx1"/>
                  </a:solidFill>
                  <a:latin typeface="Cambria Math" panose="02040503050406030204" pitchFamily="18" charset="0"/>
                  <a:cs typeface="Times New Roman" panose="02020603050405020304" pitchFamily="18" charset="0"/>
                </a:endParaRPr>
              </a:p>
              <a:p>
                <a:pPr marL="180975">
                  <a:spcAft>
                    <a:spcPts val="600"/>
                  </a:spcAft>
                </a:pPr>
                <a14:m>
                  <m:oMathPara xmlns:m="http://schemas.openxmlformats.org/officeDocument/2006/math">
                    <m:oMathParaPr>
                      <m:jc m:val="left"/>
                    </m:oMathParaPr>
                    <m:oMath xmlns:m="http://schemas.openxmlformats.org/officeDocument/2006/math">
                      <m:r>
                        <a:rPr lang="en-GB" sz="1200" b="0" i="1" smtClean="0">
                          <a:solidFill>
                            <a:schemeClr val="tx1"/>
                          </a:solidFill>
                          <a:latin typeface="Cambria Math" panose="02040503050406030204" pitchFamily="18" charset="0"/>
                          <a:cs typeface="Times New Roman" panose="02020603050405020304" pitchFamily="18" charset="0"/>
                        </a:rPr>
                        <m:t>𝐶</m:t>
                      </m:r>
                      <m:r>
                        <a:rPr lang="en-GB" sz="1200" i="1">
                          <a:solidFill>
                            <a:schemeClr val="tx1"/>
                          </a:solidFill>
                          <a:latin typeface="Cambria Math" panose="02040503050406030204" pitchFamily="18" charset="0"/>
                          <a:cs typeface="Times New Roman" panose="02020603050405020304" pitchFamily="18" charset="0"/>
                        </a:rPr>
                        <m:t>=</m:t>
                      </m:r>
                      <m:r>
                        <a:rPr lang="en-GB" sz="1200" b="0" i="1" smtClean="0">
                          <a:solidFill>
                            <a:schemeClr val="tx1"/>
                          </a:solidFill>
                          <a:latin typeface="Cambria Math" panose="02040503050406030204" pitchFamily="18" charset="0"/>
                          <a:cs typeface="Times New Roman" panose="02020603050405020304" pitchFamily="18" charset="0"/>
                        </a:rPr>
                        <m:t>𝑆</m:t>
                      </m:r>
                      <m:sSup>
                        <m:sSupPr>
                          <m:ctrlPr>
                            <a:rPr lang="en-GB" sz="1200" b="0" i="1" smtClean="0">
                              <a:solidFill>
                                <a:schemeClr val="tx1"/>
                              </a:solidFill>
                              <a:latin typeface="Cambria Math" panose="02040503050406030204" pitchFamily="18" charset="0"/>
                              <a:cs typeface="Times New Roman" panose="02020603050405020304" pitchFamily="18" charset="0"/>
                            </a:rPr>
                          </m:ctrlPr>
                        </m:sSupPr>
                        <m:e>
                          <m:r>
                            <a:rPr lang="en-GB" sz="1200" b="0" i="1" smtClean="0">
                              <a:solidFill>
                                <a:schemeClr val="tx1"/>
                              </a:solidFill>
                              <a:latin typeface="Cambria Math" panose="02040503050406030204" pitchFamily="18" charset="0"/>
                              <a:cs typeface="Times New Roman" panose="02020603050405020304" pitchFamily="18" charset="0"/>
                            </a:rPr>
                            <m:t>𝑒</m:t>
                          </m:r>
                        </m:e>
                        <m:sup>
                          <m:r>
                            <a:rPr lang="en-GB" sz="1200" b="0" i="1" smtClean="0">
                              <a:solidFill>
                                <a:schemeClr val="tx1"/>
                              </a:solidFill>
                              <a:latin typeface="Cambria Math" panose="02040503050406030204" pitchFamily="18" charset="0"/>
                              <a:cs typeface="Times New Roman" panose="02020603050405020304" pitchFamily="18" charset="0"/>
                            </a:rPr>
                            <m:t>−</m:t>
                          </m:r>
                          <m:r>
                            <a:rPr lang="en-GB" sz="1200" b="0" i="1" smtClean="0">
                              <a:solidFill>
                                <a:schemeClr val="tx1"/>
                              </a:solidFill>
                              <a:latin typeface="Cambria Math" panose="02040503050406030204" pitchFamily="18" charset="0"/>
                              <a:cs typeface="Times New Roman" panose="02020603050405020304" pitchFamily="18" charset="0"/>
                            </a:rPr>
                            <m:t>𝑞𝑇</m:t>
                          </m:r>
                        </m:sup>
                      </m:sSup>
                      <m:r>
                        <a:rPr lang="en-GB" sz="1200" b="0" i="1" smtClean="0">
                          <a:solidFill>
                            <a:schemeClr val="tx1"/>
                          </a:solidFill>
                          <a:latin typeface="Cambria Math" panose="02040503050406030204" pitchFamily="18" charset="0"/>
                          <a:cs typeface="Times New Roman" panose="02020603050405020304" pitchFamily="18" charset="0"/>
                        </a:rPr>
                        <m:t>𝑁</m:t>
                      </m:r>
                      <m:d>
                        <m:dPr>
                          <m:ctrlPr>
                            <a:rPr lang="en-GB" sz="1200" b="0" i="1" smtClean="0">
                              <a:solidFill>
                                <a:schemeClr val="tx1"/>
                              </a:solidFill>
                              <a:latin typeface="Cambria Math" panose="02040503050406030204" pitchFamily="18" charset="0"/>
                              <a:cs typeface="Times New Roman" panose="02020603050405020304" pitchFamily="18" charset="0"/>
                            </a:rPr>
                          </m:ctrlPr>
                        </m:dPr>
                        <m:e>
                          <m:sSub>
                            <m:sSubPr>
                              <m:ctrlPr>
                                <a:rPr lang="en-GB" sz="1200" b="0" i="1" smtClean="0">
                                  <a:solidFill>
                                    <a:schemeClr val="tx1"/>
                                  </a:solidFill>
                                  <a:latin typeface="Cambria Math" panose="02040503050406030204" pitchFamily="18" charset="0"/>
                                  <a:cs typeface="Times New Roman" panose="02020603050405020304" pitchFamily="18" charset="0"/>
                                </a:rPr>
                              </m:ctrlPr>
                            </m:sSubPr>
                            <m:e>
                              <m:r>
                                <a:rPr lang="en-GB" sz="1200" b="0" i="1" smtClean="0">
                                  <a:solidFill>
                                    <a:schemeClr val="tx1"/>
                                  </a:solidFill>
                                  <a:latin typeface="Cambria Math" panose="02040503050406030204" pitchFamily="18" charset="0"/>
                                  <a:cs typeface="Times New Roman" panose="02020603050405020304" pitchFamily="18" charset="0"/>
                                </a:rPr>
                                <m:t>𝑑</m:t>
                              </m:r>
                            </m:e>
                            <m:sub>
                              <m:r>
                                <a:rPr lang="en-GB" sz="1200" b="0" i="1" smtClean="0">
                                  <a:solidFill>
                                    <a:schemeClr val="tx1"/>
                                  </a:solidFill>
                                  <a:latin typeface="Cambria Math" panose="02040503050406030204" pitchFamily="18" charset="0"/>
                                  <a:cs typeface="Times New Roman" panose="02020603050405020304" pitchFamily="18" charset="0"/>
                                </a:rPr>
                                <m:t>1</m:t>
                              </m:r>
                            </m:sub>
                          </m:sSub>
                        </m:e>
                      </m:d>
                      <m:r>
                        <a:rPr lang="en-GB" sz="1200" b="0" i="1" smtClean="0">
                          <a:solidFill>
                            <a:schemeClr val="tx1"/>
                          </a:solidFill>
                          <a:latin typeface="Cambria Math" panose="02040503050406030204" pitchFamily="18" charset="0"/>
                          <a:cs typeface="Times New Roman" panose="02020603050405020304" pitchFamily="18" charset="0"/>
                        </a:rPr>
                        <m:t>−</m:t>
                      </m:r>
                      <m:r>
                        <a:rPr lang="en-GB" sz="1200" b="0" i="1" smtClean="0">
                          <a:solidFill>
                            <a:schemeClr val="tx1"/>
                          </a:solidFill>
                          <a:latin typeface="Cambria Math" panose="02040503050406030204" pitchFamily="18" charset="0"/>
                          <a:cs typeface="Times New Roman" panose="02020603050405020304" pitchFamily="18" charset="0"/>
                        </a:rPr>
                        <m:t>𝑋</m:t>
                      </m:r>
                      <m:sSup>
                        <m:sSupPr>
                          <m:ctrlPr>
                            <a:rPr lang="en-GB" sz="1200" b="0" i="1" smtClean="0">
                              <a:solidFill>
                                <a:schemeClr val="tx1"/>
                              </a:solidFill>
                              <a:latin typeface="Cambria Math" panose="02040503050406030204" pitchFamily="18" charset="0"/>
                              <a:cs typeface="Times New Roman" panose="02020603050405020304" pitchFamily="18" charset="0"/>
                            </a:rPr>
                          </m:ctrlPr>
                        </m:sSupPr>
                        <m:e>
                          <m:r>
                            <a:rPr lang="en-GB" sz="1200" b="0" i="1" smtClean="0">
                              <a:solidFill>
                                <a:schemeClr val="tx1"/>
                              </a:solidFill>
                              <a:latin typeface="Cambria Math" panose="02040503050406030204" pitchFamily="18" charset="0"/>
                              <a:cs typeface="Times New Roman" panose="02020603050405020304" pitchFamily="18" charset="0"/>
                            </a:rPr>
                            <m:t>𝑒</m:t>
                          </m:r>
                        </m:e>
                        <m:sup>
                          <m:r>
                            <a:rPr lang="en-GB" sz="1200" b="0" i="1" smtClean="0">
                              <a:solidFill>
                                <a:schemeClr val="tx1"/>
                              </a:solidFill>
                              <a:latin typeface="Cambria Math" panose="02040503050406030204" pitchFamily="18" charset="0"/>
                              <a:cs typeface="Times New Roman" panose="02020603050405020304" pitchFamily="18" charset="0"/>
                            </a:rPr>
                            <m:t>−</m:t>
                          </m:r>
                          <m:r>
                            <a:rPr lang="en-GB" sz="1200" b="0" i="1" smtClean="0">
                              <a:solidFill>
                                <a:schemeClr val="tx1"/>
                              </a:solidFill>
                              <a:latin typeface="Cambria Math" panose="02040503050406030204" pitchFamily="18" charset="0"/>
                              <a:cs typeface="Times New Roman" panose="02020603050405020304" pitchFamily="18" charset="0"/>
                            </a:rPr>
                            <m:t>𝑟𝑇</m:t>
                          </m:r>
                        </m:sup>
                      </m:sSup>
                      <m:r>
                        <a:rPr lang="en-GB" sz="1200" b="0" i="1" smtClean="0">
                          <a:solidFill>
                            <a:schemeClr val="tx1"/>
                          </a:solidFill>
                          <a:latin typeface="Cambria Math" panose="02040503050406030204" pitchFamily="18" charset="0"/>
                          <a:cs typeface="Times New Roman" panose="02020603050405020304" pitchFamily="18" charset="0"/>
                        </a:rPr>
                        <m:t>𝑁</m:t>
                      </m:r>
                      <m:d>
                        <m:dPr>
                          <m:ctrlPr>
                            <a:rPr lang="en-GB" sz="1200" b="0" i="1" smtClean="0">
                              <a:solidFill>
                                <a:schemeClr val="tx1"/>
                              </a:solidFill>
                              <a:latin typeface="Cambria Math" panose="02040503050406030204" pitchFamily="18" charset="0"/>
                              <a:cs typeface="Times New Roman" panose="02020603050405020304" pitchFamily="18" charset="0"/>
                            </a:rPr>
                          </m:ctrlPr>
                        </m:dPr>
                        <m:e>
                          <m:sSub>
                            <m:sSubPr>
                              <m:ctrlPr>
                                <a:rPr lang="en-GB" sz="1200" b="0" i="1" smtClean="0">
                                  <a:solidFill>
                                    <a:schemeClr val="tx1"/>
                                  </a:solidFill>
                                  <a:latin typeface="Cambria Math" panose="02040503050406030204" pitchFamily="18" charset="0"/>
                                  <a:cs typeface="Times New Roman" panose="02020603050405020304" pitchFamily="18" charset="0"/>
                                </a:rPr>
                              </m:ctrlPr>
                            </m:sSubPr>
                            <m:e>
                              <m:r>
                                <a:rPr lang="en-GB" sz="1200" b="0" i="1" smtClean="0">
                                  <a:solidFill>
                                    <a:schemeClr val="tx1"/>
                                  </a:solidFill>
                                  <a:latin typeface="Cambria Math" panose="02040503050406030204" pitchFamily="18" charset="0"/>
                                  <a:cs typeface="Times New Roman" panose="02020603050405020304" pitchFamily="18" charset="0"/>
                                </a:rPr>
                                <m:t>𝑑</m:t>
                              </m:r>
                            </m:e>
                            <m:sub>
                              <m:r>
                                <a:rPr lang="en-GB" sz="1200" b="0" i="1" smtClean="0">
                                  <a:solidFill>
                                    <a:schemeClr val="tx1"/>
                                  </a:solidFill>
                                  <a:latin typeface="Cambria Math" panose="02040503050406030204" pitchFamily="18" charset="0"/>
                                  <a:cs typeface="Times New Roman" panose="02020603050405020304" pitchFamily="18" charset="0"/>
                                </a:rPr>
                                <m:t>2</m:t>
                              </m:r>
                            </m:sub>
                          </m:sSub>
                        </m:e>
                      </m:d>
                      <m:r>
                        <a:rPr lang="en-GB" sz="1200" b="0" i="1" smtClean="0">
                          <a:solidFill>
                            <a:schemeClr val="tx1"/>
                          </a:solidFill>
                          <a:latin typeface="Cambria Math" panose="02040503050406030204" pitchFamily="18" charset="0"/>
                          <a:cs typeface="Times New Roman" panose="02020603050405020304" pitchFamily="18" charset="0"/>
                        </a:rPr>
                        <m:t>,</m:t>
                      </m:r>
                      <m:sSub>
                        <m:sSubPr>
                          <m:ctrlPr>
                            <a:rPr lang="en-GB" sz="1200" b="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     </m:t>
                          </m:r>
                          <m:r>
                            <a:rPr lang="en-GB" sz="1200" i="1" smtClean="0">
                              <a:latin typeface="Cambria Math" panose="02040503050406030204" pitchFamily="18" charset="0"/>
                              <a:ea typeface="Cambria Math" panose="02040503050406030204" pitchFamily="18" charset="0"/>
                            </a:rPr>
                            <m:t>𝑑</m:t>
                          </m:r>
                        </m:e>
                        <m:sub>
                          <m:r>
                            <a:rPr lang="en-GB" sz="1200" i="1" smtClean="0">
                              <a:latin typeface="Cambria Math" panose="02040503050406030204" pitchFamily="18" charset="0"/>
                              <a:ea typeface="Cambria Math" panose="02040503050406030204" pitchFamily="18" charset="0"/>
                            </a:rPr>
                            <m:t>1</m:t>
                          </m:r>
                        </m:sub>
                      </m:sSub>
                      <m:r>
                        <a:rPr lang="en-GB" sz="1200" i="1" smtClean="0">
                          <a:latin typeface="Cambria Math" panose="02040503050406030204" pitchFamily="18" charset="0"/>
                          <a:ea typeface="Cambria Math" panose="02040503050406030204" pitchFamily="18" charset="0"/>
                        </a:rPr>
                        <m:t>=</m:t>
                      </m:r>
                      <m:f>
                        <m:fPr>
                          <m:ctrlPr>
                            <a:rPr lang="en-GB" sz="1200" i="1" smtClean="0">
                              <a:latin typeface="Cambria Math" panose="02040503050406030204" pitchFamily="18" charset="0"/>
                              <a:ea typeface="Cambria Math" panose="02040503050406030204" pitchFamily="18" charset="0"/>
                            </a:rPr>
                          </m:ctrlPr>
                        </m:fPr>
                        <m:num>
                          <m:func>
                            <m:funcPr>
                              <m:ctrlPr>
                                <a:rPr lang="en-GB" sz="1200" i="1" smtClean="0">
                                  <a:latin typeface="Cambria Math" panose="02040503050406030204" pitchFamily="18" charset="0"/>
                                  <a:ea typeface="Cambria Math" panose="02040503050406030204" pitchFamily="18" charset="0"/>
                                </a:rPr>
                              </m:ctrlPr>
                            </m:funcPr>
                            <m:fName>
                              <m:r>
                                <m:rPr>
                                  <m:sty m:val="p"/>
                                </m:rPr>
                                <a:rPr lang="en-GB" sz="1200" smtClean="0">
                                  <a:latin typeface="Cambria Math" panose="02040503050406030204" pitchFamily="18" charset="0"/>
                                  <a:ea typeface="Cambria Math" panose="02040503050406030204" pitchFamily="18" charset="0"/>
                                </a:rPr>
                                <m:t>ln</m:t>
                              </m:r>
                            </m:fName>
                            <m:e>
                              <m:d>
                                <m:dPr>
                                  <m:ctrlPr>
                                    <a:rPr lang="en-GB" sz="1200" i="1" smtClean="0">
                                      <a:latin typeface="Cambria Math" panose="02040503050406030204" pitchFamily="18" charset="0"/>
                                      <a:ea typeface="Cambria Math" panose="02040503050406030204" pitchFamily="18" charset="0"/>
                                    </a:rPr>
                                  </m:ctrlPr>
                                </m:dPr>
                                <m:e>
                                  <m:f>
                                    <m:fPr>
                                      <m:type m:val="lin"/>
                                      <m:ctrlPr>
                                        <a:rPr lang="en-GB" sz="1200" i="1" smtClean="0">
                                          <a:latin typeface="Cambria Math" panose="02040503050406030204" pitchFamily="18" charset="0"/>
                                          <a:ea typeface="Cambria Math" panose="02040503050406030204" pitchFamily="18" charset="0"/>
                                        </a:rPr>
                                      </m:ctrlPr>
                                    </m:fPr>
                                    <m:num>
                                      <m:r>
                                        <a:rPr lang="en-GB" sz="1200" i="1" smtClean="0">
                                          <a:latin typeface="Cambria Math" panose="02040503050406030204" pitchFamily="18" charset="0"/>
                                          <a:ea typeface="Cambria Math" panose="02040503050406030204" pitchFamily="18" charset="0"/>
                                        </a:rPr>
                                        <m:t>𝑆</m:t>
                                      </m:r>
                                    </m:num>
                                    <m:den>
                                      <m:r>
                                        <a:rPr lang="en-GB" sz="1200" i="1" smtClean="0">
                                          <a:latin typeface="Cambria Math" panose="02040503050406030204" pitchFamily="18" charset="0"/>
                                          <a:ea typeface="Cambria Math" panose="02040503050406030204" pitchFamily="18" charset="0"/>
                                        </a:rPr>
                                        <m:t>𝑋</m:t>
                                      </m:r>
                                    </m:den>
                                  </m:f>
                                </m:e>
                              </m:d>
                            </m:e>
                          </m:func>
                          <m:r>
                            <a:rPr lang="en-GB" sz="1200" i="1" smtClean="0">
                              <a:latin typeface="Cambria Math" panose="02040503050406030204" pitchFamily="18" charset="0"/>
                              <a:ea typeface="Cambria Math" panose="02040503050406030204" pitchFamily="18" charset="0"/>
                            </a:rPr>
                            <m:t>+</m:t>
                          </m:r>
                          <m:d>
                            <m:dPr>
                              <m:ctrlPr>
                                <a:rPr lang="en-GB" sz="1200" i="1" smtClean="0">
                                  <a:latin typeface="Cambria Math" panose="02040503050406030204" pitchFamily="18" charset="0"/>
                                  <a:ea typeface="Cambria Math" panose="02040503050406030204" pitchFamily="18" charset="0"/>
                                </a:rPr>
                              </m:ctrlPr>
                            </m:dPr>
                            <m:e>
                              <m:r>
                                <a:rPr lang="en-GB" sz="1200" i="1" smtClean="0">
                                  <a:latin typeface="Cambria Math" panose="02040503050406030204" pitchFamily="18" charset="0"/>
                                  <a:ea typeface="Cambria Math" panose="02040503050406030204" pitchFamily="18" charset="0"/>
                                </a:rPr>
                                <m:t>𝑟</m:t>
                              </m:r>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𝑞</m:t>
                              </m:r>
                            </m:e>
                          </m:d>
                          <m:r>
                            <a:rPr lang="en-GB" sz="1200" i="1" smtClean="0">
                              <a:latin typeface="Cambria Math" panose="02040503050406030204" pitchFamily="18" charset="0"/>
                              <a:ea typeface="Cambria Math" panose="02040503050406030204" pitchFamily="18" charset="0"/>
                            </a:rPr>
                            <m:t>𝑇</m:t>
                          </m:r>
                        </m:num>
                        <m:den>
                          <m:r>
                            <a:rPr lang="en-GB" sz="1200" i="1" smtClean="0">
                              <a:latin typeface="Cambria Math" panose="02040503050406030204" pitchFamily="18" charset="0"/>
                              <a:ea typeface="Cambria Math" panose="02040503050406030204" pitchFamily="18" charset="0"/>
                            </a:rPr>
                            <m:t>𝜎</m:t>
                          </m:r>
                          <m:rad>
                            <m:radPr>
                              <m:degHide m:val="on"/>
                              <m:ctrlPr>
                                <a:rPr lang="en-GB" sz="1200" i="1" smtClean="0">
                                  <a:latin typeface="Cambria Math" panose="02040503050406030204" pitchFamily="18" charset="0"/>
                                  <a:ea typeface="Cambria Math" panose="02040503050406030204" pitchFamily="18" charset="0"/>
                                </a:rPr>
                              </m:ctrlPr>
                            </m:radPr>
                            <m:deg/>
                            <m:e>
                              <m:r>
                                <a:rPr lang="en-GB" sz="1200" i="1" smtClean="0">
                                  <a:latin typeface="Cambria Math" panose="02040503050406030204" pitchFamily="18" charset="0"/>
                                  <a:ea typeface="Cambria Math" panose="02040503050406030204" pitchFamily="18" charset="0"/>
                                </a:rPr>
                                <m:t>𝑇</m:t>
                              </m:r>
                            </m:e>
                          </m:rad>
                        </m:den>
                      </m:f>
                      <m:r>
                        <a:rPr lang="en-GB" sz="1200" i="1" smtClean="0">
                          <a:latin typeface="Cambria Math" panose="02040503050406030204" pitchFamily="18" charset="0"/>
                          <a:ea typeface="Cambria Math" panose="02040503050406030204" pitchFamily="18" charset="0"/>
                        </a:rPr>
                        <m:t>+</m:t>
                      </m:r>
                      <m:f>
                        <m:fPr>
                          <m:ctrlPr>
                            <a:rPr lang="en-GB" sz="1200" i="1" smtClean="0">
                              <a:latin typeface="Cambria Math" panose="02040503050406030204" pitchFamily="18" charset="0"/>
                              <a:ea typeface="Cambria Math" panose="02040503050406030204" pitchFamily="18" charset="0"/>
                            </a:rPr>
                          </m:ctrlPr>
                        </m:fPr>
                        <m:num>
                          <m:r>
                            <a:rPr lang="en-GB" sz="1200" i="1" smtClean="0">
                              <a:latin typeface="Cambria Math" panose="02040503050406030204" pitchFamily="18" charset="0"/>
                              <a:ea typeface="Cambria Math" panose="02040503050406030204" pitchFamily="18" charset="0"/>
                            </a:rPr>
                            <m:t>1</m:t>
                          </m:r>
                        </m:num>
                        <m:den>
                          <m:r>
                            <a:rPr lang="en-GB" sz="1200" i="1" smtClean="0">
                              <a:latin typeface="Cambria Math" panose="02040503050406030204" pitchFamily="18" charset="0"/>
                              <a:ea typeface="Cambria Math" panose="02040503050406030204" pitchFamily="18" charset="0"/>
                            </a:rPr>
                            <m:t>2</m:t>
                          </m:r>
                        </m:den>
                      </m:f>
                      <m:r>
                        <a:rPr lang="en-GB" sz="1200" i="1" smtClean="0">
                          <a:latin typeface="Cambria Math" panose="02040503050406030204" pitchFamily="18" charset="0"/>
                          <a:ea typeface="Cambria Math" panose="02040503050406030204" pitchFamily="18" charset="0"/>
                        </a:rPr>
                        <m:t>𝜎</m:t>
                      </m:r>
                      <m:rad>
                        <m:radPr>
                          <m:degHide m:val="on"/>
                          <m:ctrlPr>
                            <a:rPr lang="en-GB" sz="1200" i="1" smtClean="0">
                              <a:latin typeface="Cambria Math" panose="02040503050406030204" pitchFamily="18" charset="0"/>
                              <a:ea typeface="Cambria Math" panose="02040503050406030204" pitchFamily="18" charset="0"/>
                            </a:rPr>
                          </m:ctrlPr>
                        </m:radPr>
                        <m:deg/>
                        <m:e>
                          <m:r>
                            <a:rPr lang="en-GB" sz="1200" i="1" smtClean="0">
                              <a:latin typeface="Cambria Math" panose="02040503050406030204" pitchFamily="18" charset="0"/>
                              <a:ea typeface="Cambria Math" panose="02040503050406030204" pitchFamily="18" charset="0"/>
                            </a:rPr>
                            <m:t>𝑇</m:t>
                          </m:r>
                        </m:e>
                      </m:rad>
                      <m:r>
                        <a:rPr lang="en-GB" sz="1200" b="0" i="1" smtClean="0">
                          <a:latin typeface="Cambria Math" panose="02040503050406030204" pitchFamily="18" charset="0"/>
                          <a:ea typeface="Cambria Math" panose="02040503050406030204" pitchFamily="18" charset="0"/>
                        </a:rPr>
                        <m:t>,</m:t>
                      </m:r>
                      <m:sSub>
                        <m:sSubPr>
                          <m:ctrlPr>
                            <a:rPr lang="en-GB" sz="1200" b="0" i="1" smtClean="0">
                              <a:latin typeface="Cambria Math" panose="02040503050406030204" pitchFamily="18" charset="0"/>
                              <a:ea typeface="Cambria Math" panose="02040503050406030204" pitchFamily="18" charset="0"/>
                            </a:rPr>
                          </m:ctrlPr>
                        </m:sSubPr>
                        <m:e>
                          <m:r>
                            <a:rPr lang="en-GB" sz="1200" b="0" i="1" smtClean="0">
                              <a:latin typeface="Cambria Math" panose="02040503050406030204" pitchFamily="18" charset="0"/>
                              <a:ea typeface="Cambria Math" panose="02040503050406030204" pitchFamily="18" charset="0"/>
                            </a:rPr>
                            <m:t>     </m:t>
                          </m:r>
                          <m:r>
                            <a:rPr lang="en-GB" sz="1200" i="1" smtClean="0">
                              <a:latin typeface="Cambria Math" panose="02040503050406030204" pitchFamily="18" charset="0"/>
                              <a:ea typeface="Cambria Math" panose="02040503050406030204" pitchFamily="18" charset="0"/>
                            </a:rPr>
                            <m:t>𝑑</m:t>
                          </m:r>
                        </m:e>
                        <m:sub>
                          <m:r>
                            <a:rPr lang="en-GB" sz="1200" i="1" smtClean="0">
                              <a:latin typeface="Cambria Math" panose="02040503050406030204" pitchFamily="18" charset="0"/>
                              <a:ea typeface="Cambria Math" panose="02040503050406030204" pitchFamily="18" charset="0"/>
                            </a:rPr>
                            <m:t>2</m:t>
                          </m:r>
                        </m:sub>
                      </m:sSub>
                      <m:r>
                        <a:rPr lang="en-GB" sz="1200" i="1" smtClean="0">
                          <a:latin typeface="Cambria Math" panose="02040503050406030204" pitchFamily="18" charset="0"/>
                          <a:ea typeface="Cambria Math" panose="02040503050406030204" pitchFamily="18" charset="0"/>
                        </a:rPr>
                        <m:t>=</m:t>
                      </m:r>
                      <m:sSub>
                        <m:sSubPr>
                          <m:ctrlPr>
                            <a:rPr lang="en-GB" sz="1200" i="1" smtClean="0">
                              <a:latin typeface="Cambria Math" panose="02040503050406030204" pitchFamily="18" charset="0"/>
                              <a:ea typeface="Cambria Math" panose="02040503050406030204" pitchFamily="18" charset="0"/>
                            </a:rPr>
                          </m:ctrlPr>
                        </m:sSubPr>
                        <m:e>
                          <m:r>
                            <a:rPr lang="en-GB" sz="1200" i="1" smtClean="0">
                              <a:latin typeface="Cambria Math" panose="02040503050406030204" pitchFamily="18" charset="0"/>
                              <a:ea typeface="Cambria Math" panose="02040503050406030204" pitchFamily="18" charset="0"/>
                            </a:rPr>
                            <m:t>𝑑</m:t>
                          </m:r>
                        </m:e>
                        <m:sub>
                          <m:r>
                            <a:rPr lang="en-GB" sz="1200" i="1" smtClean="0">
                              <a:latin typeface="Cambria Math" panose="02040503050406030204" pitchFamily="18" charset="0"/>
                              <a:ea typeface="Cambria Math" panose="02040503050406030204" pitchFamily="18" charset="0"/>
                            </a:rPr>
                            <m:t>1</m:t>
                          </m:r>
                        </m:sub>
                      </m:sSub>
                      <m:r>
                        <a:rPr lang="en-GB" sz="1200" i="1" smtClean="0">
                          <a:latin typeface="Cambria Math" panose="02040503050406030204" pitchFamily="18" charset="0"/>
                          <a:ea typeface="Cambria Math" panose="02040503050406030204" pitchFamily="18" charset="0"/>
                        </a:rPr>
                        <m:t>−</m:t>
                      </m:r>
                      <m:r>
                        <a:rPr lang="en-GB" sz="1200" i="1" smtClean="0">
                          <a:latin typeface="Cambria Math" panose="02040503050406030204" pitchFamily="18" charset="0"/>
                          <a:ea typeface="Cambria Math" panose="02040503050406030204" pitchFamily="18" charset="0"/>
                        </a:rPr>
                        <m:t>𝜎</m:t>
                      </m:r>
                      <m:rad>
                        <m:radPr>
                          <m:degHide m:val="on"/>
                          <m:ctrlPr>
                            <a:rPr lang="en-GB" sz="1200" i="1" smtClean="0">
                              <a:latin typeface="Cambria Math" panose="02040503050406030204" pitchFamily="18" charset="0"/>
                              <a:ea typeface="Cambria Math" panose="02040503050406030204" pitchFamily="18" charset="0"/>
                            </a:rPr>
                          </m:ctrlPr>
                        </m:radPr>
                        <m:deg/>
                        <m:e>
                          <m:r>
                            <a:rPr lang="en-GB" sz="1200" i="1" smtClean="0">
                              <a:latin typeface="Cambria Math" panose="02040503050406030204" pitchFamily="18" charset="0"/>
                              <a:ea typeface="Cambria Math" panose="02040503050406030204" pitchFamily="18" charset="0"/>
                            </a:rPr>
                            <m:t>𝑇</m:t>
                          </m:r>
                        </m:e>
                      </m:rad>
                      <m:r>
                        <a:rPr lang="en-GB" sz="1200" b="0" i="1" smtClean="0">
                          <a:latin typeface="Cambria Math" panose="02040503050406030204" pitchFamily="18" charset="0"/>
                          <a:ea typeface="Cambria Math" panose="02040503050406030204" pitchFamily="18" charset="0"/>
                        </a:rPr>
                        <m:t>.</m:t>
                      </m:r>
                    </m:oMath>
                  </m:oMathPara>
                </a14:m>
                <a:endParaRPr lang="en-GB"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600"/>
                  </a:spcAft>
                  <a:tabLst>
                    <a:tab pos="6365875" algn="l"/>
                    <a:tab pos="6459538" algn="l"/>
                  </a:tabLs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If the stock pays a known dividend on a specific date, the question is how to account for this fact in the Black-Scholes formula. Two approaches are employed. The first approach subtracts the present value of future dividends from the stock price and uses this adjusted value in the Black-Scholes formula for a non-dividend-paying stock. This method can be expressed as follows:</a:t>
                </a:r>
                <a:endParaRPr lang="en-GB" sz="1200" noProof="0" dirty="0">
                  <a:latin typeface="Times New Roman" panose="02020603050405020304" pitchFamily="18" charset="0"/>
                  <a:ea typeface="Times New Roman" panose="02020603050405020304" pitchFamily="18" charset="0"/>
                  <a:cs typeface="Times New Roman" panose="02020603050405020304" pitchFamily="18" charset="0"/>
                </a:endParaRPr>
              </a:p>
              <a:p>
                <a:pPr marL="180975">
                  <a:spcAft>
                    <a:spcPts val="600"/>
                  </a:spcAft>
                  <a:tabLst>
                    <a:tab pos="6365875" algn="l"/>
                    <a:tab pos="6459538" algn="l"/>
                  </a:tabLst>
                </a:pPr>
                <a14:m>
                  <m:oMathPara xmlns:m="http://schemas.openxmlformats.org/officeDocument/2006/math">
                    <m:oMathParaPr>
                      <m:jc m:val="left"/>
                    </m:oMathParaPr>
                    <m:oMath xmlns:m="http://schemas.openxmlformats.org/officeDocument/2006/math">
                      <m:r>
                        <a:rPr lang="en-GB" sz="1200" i="1">
                          <a:latin typeface="Cambria Math" panose="02040503050406030204" pitchFamily="18" charset="0"/>
                          <a:cs typeface="Times New Roman" panose="02020603050405020304" pitchFamily="18" charset="0"/>
                        </a:rPr>
                        <m:t>𝐶</m:t>
                      </m:r>
                      <m:r>
                        <a:rPr lang="en-GB" sz="1200" i="1">
                          <a:latin typeface="Cambria Math" panose="02040503050406030204" pitchFamily="18" charset="0"/>
                          <a:cs typeface="Times New Roman" panose="02020603050405020304" pitchFamily="18" charset="0"/>
                        </a:rPr>
                        <m:t>=</m:t>
                      </m:r>
                      <m:r>
                        <a:rPr lang="en-GB" sz="1200" b="0" i="1" smtClean="0">
                          <a:latin typeface="Cambria Math" panose="02040503050406030204" pitchFamily="18" charset="0"/>
                          <a:cs typeface="Times New Roman" panose="02020603050405020304" pitchFamily="18" charset="0"/>
                        </a:rPr>
                        <m:t>𝑓</m:t>
                      </m:r>
                      <m:d>
                        <m:dPr>
                          <m:ctrlPr>
                            <a:rPr lang="en-GB" sz="1200" b="0" i="1" smtClean="0">
                              <a:latin typeface="Cambria Math" panose="02040503050406030204" pitchFamily="18" charset="0"/>
                              <a:cs typeface="Times New Roman" panose="02020603050405020304" pitchFamily="18" charset="0"/>
                            </a:rPr>
                          </m:ctrlPr>
                        </m:dPr>
                        <m:e>
                          <m:sSup>
                            <m:sSupPr>
                              <m:ctrlPr>
                                <a:rPr lang="en-GB" sz="1200" b="0" i="1" smtClean="0">
                                  <a:latin typeface="Cambria Math" panose="02040503050406030204" pitchFamily="18" charset="0"/>
                                  <a:cs typeface="Times New Roman" panose="02020603050405020304" pitchFamily="18" charset="0"/>
                                </a:rPr>
                              </m:ctrlPr>
                            </m:sSupPr>
                            <m:e>
                              <m:r>
                                <a:rPr lang="en-GB" sz="1200" b="0" i="1" smtClean="0">
                                  <a:latin typeface="Cambria Math" panose="02040503050406030204" pitchFamily="18" charset="0"/>
                                  <a:cs typeface="Times New Roman" panose="02020603050405020304" pitchFamily="18" charset="0"/>
                                </a:rPr>
                                <m:t>𝑆</m:t>
                              </m:r>
                            </m:e>
                            <m:sup>
                              <m:r>
                                <a:rPr lang="en-GB" sz="1200" b="0" i="1" smtClean="0">
                                  <a:latin typeface="Cambria Math" panose="02040503050406030204" pitchFamily="18" charset="0"/>
                                  <a:cs typeface="Times New Roman" panose="02020603050405020304" pitchFamily="18" charset="0"/>
                                </a:rPr>
                                <m:t>∗</m:t>
                              </m:r>
                            </m:sup>
                          </m:sSup>
                          <m:r>
                            <a:rPr lang="en-GB" sz="1200" b="0" i="1" smtClean="0">
                              <a:latin typeface="Cambria Math" panose="02040503050406030204" pitchFamily="18" charset="0"/>
                              <a:cs typeface="Times New Roman" panose="02020603050405020304" pitchFamily="18" charset="0"/>
                            </a:rPr>
                            <m:t>,</m:t>
                          </m:r>
                          <m:r>
                            <a:rPr lang="en-GB" sz="1200" b="0" i="1" smtClean="0">
                              <a:latin typeface="Cambria Math" panose="02040503050406030204" pitchFamily="18" charset="0"/>
                              <a:cs typeface="Times New Roman" panose="02020603050405020304" pitchFamily="18" charset="0"/>
                            </a:rPr>
                            <m:t>𝑋</m:t>
                          </m:r>
                          <m:r>
                            <a:rPr lang="en-GB" sz="1200" b="0" i="1" smtClean="0">
                              <a:latin typeface="Cambria Math" panose="02040503050406030204" pitchFamily="18" charset="0"/>
                              <a:cs typeface="Times New Roman" panose="02020603050405020304" pitchFamily="18" charset="0"/>
                            </a:rPr>
                            <m:t>,</m:t>
                          </m:r>
                          <m:r>
                            <a:rPr lang="en-GB" sz="1200" b="0" i="1" smtClean="0">
                              <a:latin typeface="Cambria Math" panose="02040503050406030204" pitchFamily="18" charset="0"/>
                              <a:cs typeface="Times New Roman" panose="02020603050405020304" pitchFamily="18" charset="0"/>
                            </a:rPr>
                            <m:t>𝑇</m:t>
                          </m:r>
                          <m:r>
                            <a:rPr lang="en-GB" sz="1200" b="0" i="1" smtClean="0">
                              <a:latin typeface="Cambria Math" panose="02040503050406030204" pitchFamily="18" charset="0"/>
                              <a:cs typeface="Times New Roman" panose="02020603050405020304" pitchFamily="18" charset="0"/>
                            </a:rPr>
                            <m:t>,</m:t>
                          </m:r>
                          <m:r>
                            <a:rPr lang="en-GB" sz="1200" b="0" i="1" smtClean="0">
                              <a:latin typeface="Cambria Math" panose="02040503050406030204" pitchFamily="18" charset="0"/>
                              <a:cs typeface="Times New Roman" panose="02020603050405020304" pitchFamily="18" charset="0"/>
                            </a:rPr>
                            <m:t>𝑟</m:t>
                          </m:r>
                          <m:r>
                            <a:rPr lang="en-GB" sz="1200" b="0" i="1" smtClean="0">
                              <a:latin typeface="Cambria Math" panose="02040503050406030204" pitchFamily="18" charset="0"/>
                              <a:cs typeface="Times New Roman" panose="02020603050405020304" pitchFamily="18" charset="0"/>
                            </a:rPr>
                            <m:t>,</m:t>
                          </m:r>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𝜎</m:t>
                          </m:r>
                        </m:e>
                      </m:d>
                      <m:r>
                        <a:rPr lang="en-GB" sz="1200" b="0" i="1" smtClean="0">
                          <a:latin typeface="Cambria Math" panose="02040503050406030204" pitchFamily="18" charset="0"/>
                          <a:ea typeface="Cambria Math" panose="02040503050406030204" pitchFamily="18" charset="0"/>
                          <a:cs typeface="Times New Roman" panose="02020603050405020304" pitchFamily="18" charset="0"/>
                        </a:rPr>
                        <m:t>, </m:t>
                      </m:r>
                      <m:sSup>
                        <m:sSupPr>
                          <m:ctrlPr>
                            <a:rPr lang="en-GB" sz="12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200" b="0" i="1" smtClean="0">
                              <a:latin typeface="Cambria Math" panose="02040503050406030204" pitchFamily="18" charset="0"/>
                              <a:ea typeface="Cambria Math" panose="02040503050406030204" pitchFamily="18" charset="0"/>
                              <a:cs typeface="Times New Roman" panose="02020603050405020304" pitchFamily="18" charset="0"/>
                            </a:rPr>
                            <m:t>‎  </m:t>
                          </m:r>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𝑆</m:t>
                          </m:r>
                        </m:e>
                        <m:sup>
                          <m:r>
                            <a:rPr lang="en-GB" sz="1200" b="0" i="1" smtClean="0">
                              <a:latin typeface="Cambria Math" panose="02040503050406030204" pitchFamily="18" charset="0"/>
                              <a:ea typeface="Cambria Math" panose="02040503050406030204" pitchFamily="18" charset="0"/>
                              <a:cs typeface="Times New Roman" panose="02020603050405020304" pitchFamily="18" charset="0"/>
                            </a:rPr>
                            <m:t>∗</m:t>
                          </m:r>
                        </m:sup>
                      </m:sSup>
                      <m:r>
                        <a:rPr lang="en-GB" sz="12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𝑆</m:t>
                      </m:r>
                      <m:r>
                        <a:rPr lang="en-GB" sz="12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GB" sz="1200" b="0" i="0" smtClean="0">
                          <a:latin typeface="Cambria Math" panose="02040503050406030204" pitchFamily="18" charset="0"/>
                          <a:ea typeface="Cambria Math" panose="02040503050406030204" pitchFamily="18" charset="0"/>
                          <a:cs typeface="Times New Roman" panose="02020603050405020304" pitchFamily="18" charset="0"/>
                        </a:rPr>
                        <m:t>PV</m:t>
                      </m:r>
                      <m:d>
                        <m:dPr>
                          <m:ctrlPr>
                            <a:rPr lang="en-GB" sz="12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𝐷</m:t>
                          </m:r>
                        </m:e>
                      </m:d>
                      <m:r>
                        <a:rPr lang="en-GB" sz="1200" b="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GB" sz="1200" dirty="0">
                  <a:latin typeface="Times New Roman" panose="02020603050405020304" pitchFamily="18" charset="0"/>
                  <a:ea typeface="Times New Roman" panose="02020603050405020304" pitchFamily="18" charset="0"/>
                  <a:cs typeface="Times New Roman" panose="02020603050405020304" pitchFamily="18" charset="0"/>
                </a:endParaRPr>
              </a:p>
              <a:p>
                <a:r>
                  <a:rPr lang="en-GB" sz="1200" dirty="0">
                    <a:latin typeface="Times New Roman" panose="02020603050405020304" pitchFamily="18" charset="0"/>
                    <a:cs typeface="Times New Roman" panose="02020603050405020304" pitchFamily="18" charset="0"/>
                  </a:rPr>
                  <a:t>The second approach determines the continuous dividend yield equivalent to the discrete dividend payment and substitutes it into the Black-Scholes formula. The conversion must yield the same dividend-adjusted stock price:</a:t>
                </a:r>
              </a:p>
              <a:p>
                <a:pPr marL="179388">
                  <a:tabLst>
                    <a:tab pos="6365875" algn="l"/>
                    <a:tab pos="6459538" algn="l"/>
                  </a:tabLst>
                </a:pPr>
                <a14:m>
                  <m:oMathPara xmlns:m="http://schemas.openxmlformats.org/officeDocument/2006/math">
                    <m:oMathParaPr>
                      <m:jc m:val="left"/>
                    </m:oMathParaPr>
                    <m:oMath xmlns:m="http://schemas.openxmlformats.org/officeDocument/2006/math">
                      <m:r>
                        <a:rPr lang="en-GB" sz="1200" b="0" i="1" smtClean="0">
                          <a:latin typeface="Cambria Math" panose="02040503050406030204" pitchFamily="18" charset="0"/>
                          <a:cs typeface="Times New Roman" panose="02020603050405020304" pitchFamily="18" charset="0"/>
                        </a:rPr>
                        <m:t>𝑆</m:t>
                      </m:r>
                      <m:sSup>
                        <m:sSupPr>
                          <m:ctrlPr>
                            <a:rPr lang="en-GB" sz="1200" b="0" i="1" smtClean="0">
                              <a:latin typeface="Cambria Math" panose="02040503050406030204" pitchFamily="18" charset="0"/>
                              <a:cs typeface="Times New Roman" panose="02020603050405020304" pitchFamily="18" charset="0"/>
                            </a:rPr>
                          </m:ctrlPr>
                        </m:sSupPr>
                        <m:e>
                          <m:r>
                            <a:rPr lang="en-GB" sz="1200" b="0" i="1" smtClean="0">
                              <a:latin typeface="Cambria Math" panose="02040503050406030204" pitchFamily="18" charset="0"/>
                              <a:cs typeface="Times New Roman" panose="02020603050405020304" pitchFamily="18" charset="0"/>
                            </a:rPr>
                            <m:t>𝑒</m:t>
                          </m:r>
                        </m:e>
                        <m:sup>
                          <m:r>
                            <a:rPr lang="en-GB" sz="1200" b="0" i="1" smtClean="0">
                              <a:latin typeface="Cambria Math" panose="02040503050406030204" pitchFamily="18" charset="0"/>
                              <a:cs typeface="Times New Roman" panose="02020603050405020304" pitchFamily="18" charset="0"/>
                            </a:rPr>
                            <m:t>−</m:t>
                          </m:r>
                          <m:r>
                            <a:rPr lang="en-GB" sz="1200" b="0" i="1" smtClean="0">
                              <a:latin typeface="Cambria Math" panose="02040503050406030204" pitchFamily="18" charset="0"/>
                              <a:cs typeface="Times New Roman" panose="02020603050405020304" pitchFamily="18" charset="0"/>
                            </a:rPr>
                            <m:t>𝑞𝑇</m:t>
                          </m:r>
                        </m:sup>
                      </m:sSup>
                      <m:r>
                        <a:rPr lang="en-GB" sz="1200" i="1">
                          <a:latin typeface="Cambria Math" panose="02040503050406030204" pitchFamily="18" charset="0"/>
                          <a:cs typeface="Times New Roman" panose="02020603050405020304" pitchFamily="18" charset="0"/>
                        </a:rPr>
                        <m:t>=</m:t>
                      </m:r>
                      <m:r>
                        <a:rPr lang="en-GB" sz="1200" b="0" i="1" smtClean="0">
                          <a:latin typeface="Cambria Math" panose="02040503050406030204" pitchFamily="18" charset="0"/>
                          <a:cs typeface="Times New Roman" panose="02020603050405020304" pitchFamily="18" charset="0"/>
                        </a:rPr>
                        <m:t>𝑆</m:t>
                      </m:r>
                      <m:r>
                        <a:rPr lang="en-GB" sz="1200" b="0" i="1" smtClean="0">
                          <a:latin typeface="Cambria Math" panose="02040503050406030204" pitchFamily="18" charset="0"/>
                          <a:cs typeface="Times New Roman" panose="02020603050405020304" pitchFamily="18" charset="0"/>
                        </a:rPr>
                        <m:t>−</m:t>
                      </m:r>
                      <m:f>
                        <m:fPr>
                          <m:ctrlPr>
                            <a:rPr lang="en-GB" sz="1200" b="0" i="1" smtClean="0">
                              <a:latin typeface="Cambria Math" panose="02040503050406030204" pitchFamily="18" charset="0"/>
                              <a:cs typeface="Times New Roman" panose="02020603050405020304" pitchFamily="18" charset="0"/>
                            </a:rPr>
                          </m:ctrlPr>
                        </m:fPr>
                        <m:num>
                          <m:r>
                            <a:rPr lang="en-GB" sz="1200" b="0" i="1" smtClean="0">
                              <a:latin typeface="Cambria Math" panose="02040503050406030204" pitchFamily="18" charset="0"/>
                              <a:cs typeface="Times New Roman" panose="02020603050405020304" pitchFamily="18" charset="0"/>
                            </a:rPr>
                            <m:t>𝐷</m:t>
                          </m:r>
                        </m:num>
                        <m:den>
                          <m:r>
                            <a:rPr lang="en-GB" sz="1200" b="0" i="1" smtClean="0">
                              <a:latin typeface="Cambria Math" panose="02040503050406030204" pitchFamily="18" charset="0"/>
                              <a:cs typeface="Times New Roman" panose="02020603050405020304" pitchFamily="18" charset="0"/>
                            </a:rPr>
                            <m:t>1+</m:t>
                          </m:r>
                          <m:r>
                            <a:rPr lang="en-GB" sz="1200" b="0" i="1" smtClean="0">
                              <a:latin typeface="Cambria Math" panose="02040503050406030204" pitchFamily="18" charset="0"/>
                              <a:cs typeface="Times New Roman" panose="02020603050405020304" pitchFamily="18" charset="0"/>
                            </a:rPr>
                            <m:t>𝑟𝑡</m:t>
                          </m:r>
                        </m:den>
                      </m:f>
                      <m:r>
                        <a:rPr lang="en-GB" sz="1200" b="0" i="1" smtClean="0">
                          <a:latin typeface="Cambria Math" panose="02040503050406030204" pitchFamily="18" charset="0"/>
                          <a:cs typeface="Times New Roman" panose="02020603050405020304" pitchFamily="18" charset="0"/>
                        </a:rPr>
                        <m:t>.</m:t>
                      </m:r>
                    </m:oMath>
                  </m:oMathPara>
                </a14:m>
                <a:endParaRPr lang="en-GB" sz="1200" dirty="0">
                  <a:latin typeface="Times New Roman" panose="02020603050405020304" pitchFamily="18" charset="0"/>
                  <a:ea typeface="Times New Roman" panose="02020603050405020304" pitchFamily="18" charset="0"/>
                  <a:cs typeface="Times New Roman" panose="02020603050405020304" pitchFamily="18" charset="0"/>
                </a:endParaRPr>
              </a:p>
              <a:p>
                <a:pPr>
                  <a:tabLst>
                    <a:tab pos="6365875" algn="l"/>
                    <a:tab pos="6459538" algn="l"/>
                  </a:tabLs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This relationship leads to the following expression:</a:t>
                </a:r>
                <a:endParaRPr lang="en-GB" sz="1200" b="0" i="1" dirty="0">
                  <a:latin typeface="Cambria Math" panose="02040503050406030204" pitchFamily="18" charset="0"/>
                  <a:cs typeface="Times New Roman" panose="02020603050405020304" pitchFamily="18" charset="0"/>
                </a:endParaRPr>
              </a:p>
              <a:p>
                <a:pPr marL="180975">
                  <a:tabLst>
                    <a:tab pos="6365875" algn="l"/>
                    <a:tab pos="6459538" algn="l"/>
                  </a:tabLst>
                </a:pPr>
                <a14:m>
                  <m:oMathPara xmlns:m="http://schemas.openxmlformats.org/officeDocument/2006/math">
                    <m:oMathParaPr>
                      <m:jc m:val="left"/>
                    </m:oMathParaPr>
                    <m:oMath xmlns:m="http://schemas.openxmlformats.org/officeDocument/2006/math">
                      <m:r>
                        <a:rPr lang="en-GB" sz="1200" b="0" i="1" smtClean="0">
                          <a:latin typeface="Cambria Math" panose="02040503050406030204" pitchFamily="18" charset="0"/>
                          <a:cs typeface="Times New Roman" panose="02020603050405020304" pitchFamily="18" charset="0"/>
                        </a:rPr>
                        <m:t>𝑞</m:t>
                      </m:r>
                      <m:r>
                        <a:rPr lang="en-GB" sz="1200" b="0" i="1" smtClean="0">
                          <a:latin typeface="Cambria Math" panose="02040503050406030204" pitchFamily="18" charset="0"/>
                          <a:cs typeface="Times New Roman" panose="02020603050405020304" pitchFamily="18" charset="0"/>
                        </a:rPr>
                        <m:t>=−</m:t>
                      </m:r>
                      <m:f>
                        <m:fPr>
                          <m:ctrlPr>
                            <a:rPr lang="en-GB" sz="1200" b="0" i="1" smtClean="0">
                              <a:latin typeface="Cambria Math" panose="02040503050406030204" pitchFamily="18" charset="0"/>
                              <a:cs typeface="Times New Roman" panose="02020603050405020304" pitchFamily="18" charset="0"/>
                            </a:rPr>
                          </m:ctrlPr>
                        </m:fPr>
                        <m:num>
                          <m:r>
                            <a:rPr lang="en-GB" sz="1200" b="0" i="1" smtClean="0">
                              <a:latin typeface="Cambria Math" panose="02040503050406030204" pitchFamily="18" charset="0"/>
                              <a:cs typeface="Times New Roman" panose="02020603050405020304" pitchFamily="18" charset="0"/>
                            </a:rPr>
                            <m:t>1</m:t>
                          </m:r>
                        </m:num>
                        <m:den>
                          <m:r>
                            <a:rPr lang="en-GB" sz="1200" b="0" i="1" smtClean="0">
                              <a:latin typeface="Cambria Math" panose="02040503050406030204" pitchFamily="18" charset="0"/>
                              <a:cs typeface="Times New Roman" panose="02020603050405020304" pitchFamily="18" charset="0"/>
                            </a:rPr>
                            <m:t>𝑇</m:t>
                          </m:r>
                        </m:den>
                      </m:f>
                      <m:r>
                        <m:rPr>
                          <m:sty m:val="p"/>
                        </m:rPr>
                        <a:rPr lang="en-GB" sz="1200" b="0" i="0" smtClean="0">
                          <a:latin typeface="Cambria Math" panose="02040503050406030204" pitchFamily="18" charset="0"/>
                          <a:cs typeface="Times New Roman" panose="02020603050405020304" pitchFamily="18" charset="0"/>
                        </a:rPr>
                        <m:t>ln</m:t>
                      </m:r>
                      <m:d>
                        <m:dPr>
                          <m:ctrlPr>
                            <a:rPr lang="en-GB" sz="1200" i="1">
                              <a:latin typeface="Cambria Math" panose="02040503050406030204" pitchFamily="18" charset="0"/>
                              <a:cs typeface="Times New Roman" panose="02020603050405020304" pitchFamily="18" charset="0"/>
                            </a:rPr>
                          </m:ctrlPr>
                        </m:dPr>
                        <m:e>
                          <m:r>
                            <a:rPr lang="en-GB" sz="1200" i="1">
                              <a:latin typeface="Cambria Math" panose="02040503050406030204" pitchFamily="18" charset="0"/>
                              <a:cs typeface="Times New Roman" panose="02020603050405020304" pitchFamily="18" charset="0"/>
                            </a:rPr>
                            <m:t>1−</m:t>
                          </m:r>
                          <m:f>
                            <m:fPr>
                              <m:ctrlPr>
                                <a:rPr lang="en-GB" sz="1200" i="1">
                                  <a:latin typeface="Cambria Math" panose="02040503050406030204" pitchFamily="18" charset="0"/>
                                  <a:cs typeface="Times New Roman" panose="02020603050405020304" pitchFamily="18" charset="0"/>
                                </a:rPr>
                              </m:ctrlPr>
                            </m:fPr>
                            <m:num>
                              <m:r>
                                <a:rPr lang="en-GB" sz="1200" i="1">
                                  <a:latin typeface="Cambria Math" panose="02040503050406030204" pitchFamily="18" charset="0"/>
                                  <a:cs typeface="Times New Roman" panose="02020603050405020304" pitchFamily="18" charset="0"/>
                                </a:rPr>
                                <m:t>𝐷</m:t>
                              </m:r>
                            </m:num>
                            <m:den>
                              <m:r>
                                <a:rPr lang="en-GB" sz="1200" i="1">
                                  <a:latin typeface="Cambria Math" panose="02040503050406030204" pitchFamily="18" charset="0"/>
                                  <a:cs typeface="Times New Roman" panose="02020603050405020304" pitchFamily="18" charset="0"/>
                                </a:rPr>
                                <m:t>𝑆</m:t>
                              </m:r>
                              <m:d>
                                <m:dPr>
                                  <m:ctrlPr>
                                    <a:rPr lang="en-GB" sz="1200" i="1">
                                      <a:latin typeface="Cambria Math" panose="02040503050406030204" pitchFamily="18" charset="0"/>
                                      <a:cs typeface="Times New Roman" panose="02020603050405020304" pitchFamily="18" charset="0"/>
                                    </a:rPr>
                                  </m:ctrlPr>
                                </m:dPr>
                                <m:e>
                                  <m:r>
                                    <a:rPr lang="en-GB" sz="1200" i="1">
                                      <a:latin typeface="Cambria Math" panose="02040503050406030204" pitchFamily="18" charset="0"/>
                                      <a:cs typeface="Times New Roman" panose="02020603050405020304" pitchFamily="18" charset="0"/>
                                    </a:rPr>
                                    <m:t>1+</m:t>
                                  </m:r>
                                  <m:r>
                                    <a:rPr lang="en-GB" sz="1200" i="1">
                                      <a:latin typeface="Cambria Math" panose="02040503050406030204" pitchFamily="18" charset="0"/>
                                      <a:cs typeface="Times New Roman" panose="02020603050405020304" pitchFamily="18" charset="0"/>
                                    </a:rPr>
                                    <m:t>𝑟𝑡</m:t>
                                  </m:r>
                                </m:e>
                              </m:d>
                            </m:den>
                          </m:f>
                        </m:e>
                      </m:d>
                      <m:r>
                        <a:rPr lang="en-GB" sz="1200" b="0" i="1" smtClean="0">
                          <a:latin typeface="Cambria Math" panose="02040503050406030204" pitchFamily="18" charset="0"/>
                          <a:cs typeface="Times New Roman" panose="02020603050405020304" pitchFamily="18" charset="0"/>
                        </a:rPr>
                        <m:t>⁡.</m:t>
                      </m:r>
                    </m:oMath>
                  </m:oMathPara>
                </a14:m>
                <a:endParaRPr lang="en-GB" sz="12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600"/>
                  </a:spcAft>
                  <a:tabLst>
                    <a:tab pos="6365875" algn="l"/>
                    <a:tab pos="6459538" algn="l"/>
                  </a:tabLs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Here, </a:t>
                </a:r>
                <a14:m>
                  <m:oMath xmlns:m="http://schemas.openxmlformats.org/officeDocument/2006/math">
                    <m:r>
                      <a:rPr lang="en-GB" sz="1200" b="0" i="1" smtClean="0">
                        <a:latin typeface="Cambria Math" panose="02040503050406030204" pitchFamily="18" charset="0"/>
                        <a:ea typeface="Times New Roman" panose="02020603050405020304" pitchFamily="18" charset="0"/>
                        <a:cs typeface="Times New Roman" panose="02020603050405020304" pitchFamily="18" charset="0"/>
                      </a:rPr>
                      <m:t>𝑇</m:t>
                    </m:r>
                  </m:oMath>
                </a14:m>
                <a:r>
                  <a:rPr lang="en-GB" sz="1200" dirty="0">
                    <a:latin typeface="Times New Roman" panose="02020603050405020304" pitchFamily="18" charset="0"/>
                    <a:ea typeface="Times New Roman" panose="02020603050405020304" pitchFamily="18" charset="0"/>
                    <a:cs typeface="Times New Roman" panose="02020603050405020304" pitchFamily="18" charset="0"/>
                  </a:rPr>
                  <a:t> denotes the option’s maturity, and </a:t>
                </a:r>
                <a14:m>
                  <m:oMath xmlns:m="http://schemas.openxmlformats.org/officeDocument/2006/math">
                    <m:r>
                      <a:rPr lang="en-GB" sz="1200" b="0" i="1" smtClean="0">
                        <a:latin typeface="Cambria Math" panose="02040503050406030204" pitchFamily="18" charset="0"/>
                        <a:ea typeface="Times New Roman" panose="02020603050405020304" pitchFamily="18" charset="0"/>
                        <a:cs typeface="Times New Roman" panose="02020603050405020304" pitchFamily="18" charset="0"/>
                      </a:rPr>
                      <m:t>𝑡</m:t>
                    </m:r>
                  </m:oMath>
                </a14:m>
                <a:r>
                  <a:rPr lang="en-GB" sz="1200" dirty="0">
                    <a:latin typeface="Times New Roman" panose="02020603050405020304" pitchFamily="18" charset="0"/>
                    <a:ea typeface="Times New Roman" panose="02020603050405020304" pitchFamily="18" charset="0"/>
                    <a:cs typeface="Times New Roman" panose="02020603050405020304" pitchFamily="18" charset="0"/>
                  </a:rPr>
                  <a:t> is the time at which the dividend is received.</a:t>
                </a:r>
              </a:p>
              <a:p>
                <a:pPr>
                  <a:spcAft>
                    <a:spcPts val="600"/>
                  </a:spcAf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The assumption of an annual dividend accruing continuously at a constant rate </a:t>
                </a:r>
                <a14:m>
                  <m:oMath xmlns:m="http://schemas.openxmlformats.org/officeDocument/2006/math">
                    <m:r>
                      <a:rPr lang="en-GB" sz="1200" i="1">
                        <a:latin typeface="Cambria Math" panose="02040503050406030204" pitchFamily="18" charset="0"/>
                        <a:cs typeface="Times New Roman" panose="02020603050405020304" pitchFamily="18" charset="0"/>
                      </a:rPr>
                      <m:t>𝑞</m:t>
                    </m:r>
                    <m:r>
                      <a:rPr lang="en-GB" sz="1200" i="1">
                        <a:latin typeface="Cambria Math" panose="02040503050406030204" pitchFamily="18" charset="0"/>
                        <a:cs typeface="Times New Roman" panose="02020603050405020304" pitchFamily="18" charset="0"/>
                      </a:rPr>
                      <m:t> </m:t>
                    </m:r>
                  </m:oMath>
                </a14:m>
                <a:r>
                  <a:rPr lang="en-GB" sz="1200" dirty="0">
                    <a:latin typeface="Times New Roman" panose="02020603050405020304" pitchFamily="18" charset="0"/>
                    <a:ea typeface="Times New Roman" panose="02020603050405020304" pitchFamily="18" charset="0"/>
                    <a:cs typeface="Times New Roman" panose="02020603050405020304" pitchFamily="18" charset="0"/>
                  </a:rPr>
                  <a:t>can be approximated by a sequence of small repeated dividends (e.g. with a daily frequency). What will be the relationship between this continuous dividend </a:t>
                </a:r>
                <a14:m>
                  <m:oMath xmlns:m="http://schemas.openxmlformats.org/officeDocument/2006/math">
                    <m:r>
                      <a:rPr lang="en-GB" sz="1200" b="0" i="1" smtClean="0">
                        <a:latin typeface="Cambria Math" panose="02040503050406030204" pitchFamily="18" charset="0"/>
                        <a:ea typeface="Times New Roman" panose="02020603050405020304" pitchFamily="18" charset="0"/>
                        <a:cs typeface="Times New Roman" panose="02020603050405020304" pitchFamily="18" charset="0"/>
                      </a:rPr>
                      <m:t>𝑞</m:t>
                    </m:r>
                  </m:oMath>
                </a14:m>
                <a:r>
                  <a:rPr lang="en-GB" sz="1200" dirty="0">
                    <a:latin typeface="Times New Roman" panose="02020603050405020304" pitchFamily="18" charset="0"/>
                    <a:ea typeface="Times New Roman" panose="02020603050405020304" pitchFamily="18" charset="0"/>
                    <a:cs typeface="Times New Roman" panose="02020603050405020304" pitchFamily="18" charset="0"/>
                  </a:rPr>
                  <a:t> and its daily equivalent </a:t>
                </a:r>
                <a14:m>
                  <m:oMath xmlns:m="http://schemas.openxmlformats.org/officeDocument/2006/math">
                    <m:sSub>
                      <m:sSubPr>
                        <m:ctrlPr>
                          <a:rPr lang="en-GB" sz="1200" i="1" smtClean="0">
                            <a:latin typeface="Cambria Math" panose="02040503050406030204" pitchFamily="18" charset="0"/>
                            <a:cs typeface="Times New Roman" panose="02020603050405020304" pitchFamily="18" charset="0"/>
                          </a:rPr>
                        </m:ctrlPr>
                      </m:sSubPr>
                      <m:e>
                        <m:r>
                          <a:rPr lang="en-GB" sz="1200" b="0" i="1" smtClean="0">
                            <a:latin typeface="Cambria Math" panose="02040503050406030204" pitchFamily="18" charset="0"/>
                            <a:cs typeface="Times New Roman" panose="02020603050405020304" pitchFamily="18" charset="0"/>
                          </a:rPr>
                          <m:t>𝐷</m:t>
                        </m:r>
                      </m:e>
                      <m:sub>
                        <m:r>
                          <a:rPr lang="en-GB" sz="1200" b="0" i="1" smtClean="0">
                            <a:latin typeface="Cambria Math" panose="02040503050406030204" pitchFamily="18" charset="0"/>
                            <a:cs typeface="Times New Roman" panose="02020603050405020304" pitchFamily="18" charset="0"/>
                          </a:rPr>
                          <m:t>𝑑</m:t>
                        </m:r>
                      </m:sub>
                    </m:sSub>
                  </m:oMath>
                </a14:m>
                <a:r>
                  <a:rPr lang="en-GB" sz="1200" dirty="0">
                    <a:latin typeface="Times New Roman" panose="02020603050405020304" pitchFamily="18" charset="0"/>
                    <a:ea typeface="Times New Roman" panose="02020603050405020304" pitchFamily="18" charset="0"/>
                    <a:cs typeface="Times New Roman" panose="02020603050405020304" pitchFamily="18" charset="0"/>
                  </a:rPr>
                  <a:t>? This is the answer:</a:t>
                </a:r>
              </a:p>
              <a:p>
                <a:pPr marL="179388">
                  <a:spcAft>
                    <a:spcPts val="600"/>
                  </a:spcAft>
                </a:pPr>
                <a14:m>
                  <m:oMathPara xmlns:m="http://schemas.openxmlformats.org/officeDocument/2006/math">
                    <m:oMathParaPr>
                      <m:jc m:val="left"/>
                    </m:oMathParaPr>
                    <m:oMath xmlns:m="http://schemas.openxmlformats.org/officeDocument/2006/math">
                      <m:r>
                        <a:rPr lang="en-GB" sz="1200" b="0" i="1" smtClean="0">
                          <a:latin typeface="Cambria Math" panose="02040503050406030204" pitchFamily="18" charset="0"/>
                          <a:ea typeface="Times New Roman" panose="02020603050405020304" pitchFamily="18" charset="0"/>
                          <a:cs typeface="Times New Roman" panose="02020603050405020304" pitchFamily="18" charset="0"/>
                        </a:rPr>
                        <m:t>𝑆</m:t>
                      </m:r>
                      <m:r>
                        <a:rPr lang="en-GB" sz="12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12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𝑒</m:t>
                          </m:r>
                        </m:e>
                        <m:sup>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𝑞</m:t>
                          </m:r>
                          <m:r>
                            <a:rPr lang="en-GB" sz="1200" b="0" i="1" smtClean="0">
                              <a:latin typeface="Cambria Math" panose="02040503050406030204" pitchFamily="18" charset="0"/>
                              <a:ea typeface="Cambria Math" panose="02040503050406030204" pitchFamily="18" charset="0"/>
                              <a:cs typeface="Times New Roman" panose="02020603050405020304" pitchFamily="18" charset="0"/>
                            </a:rPr>
                            <m:t>/365</m:t>
                          </m:r>
                        </m:sup>
                      </m:sSup>
                      <m:r>
                        <a:rPr lang="en-GB" sz="12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𝑆</m:t>
                      </m:r>
                      <m:r>
                        <a:rPr lang="en-GB" sz="12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2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𝐷</m:t>
                          </m:r>
                        </m:e>
                        <m:sub>
                          <m:r>
                            <a:rPr lang="en-GB" sz="1200" b="0" i="1" smtClean="0">
                              <a:latin typeface="Cambria Math" panose="02040503050406030204" pitchFamily="18" charset="0"/>
                              <a:ea typeface="Cambria Math" panose="02040503050406030204" pitchFamily="18" charset="0"/>
                              <a:cs typeface="Times New Roman" panose="02020603050405020304" pitchFamily="18" charset="0"/>
                            </a:rPr>
                            <m:t>𝑑</m:t>
                          </m:r>
                        </m:sub>
                      </m:sSub>
                    </m:oMath>
                  </m:oMathPara>
                </a14:m>
                <a:endParaRPr lang="en-GB" sz="12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600"/>
                  </a:spcAf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On the left side we have the stock price increased by the continuous dividend accrued over one day. On the right side we have the stock price increased by the daily equivalent of the continuous dividend. So,</a:t>
                </a:r>
              </a:p>
              <a:p>
                <a:pPr marL="179388">
                  <a:spcAft>
                    <a:spcPts val="600"/>
                  </a:spcAft>
                </a:pPr>
                <a14:m>
                  <m:oMathPara xmlns:m="http://schemas.openxmlformats.org/officeDocument/2006/math">
                    <m:oMathParaPr>
                      <m:jc m:val="left"/>
                    </m:oMathParaPr>
                    <m:oMath xmlns:m="http://schemas.openxmlformats.org/officeDocument/2006/math">
                      <m:sSub>
                        <m:sSubPr>
                          <m:ctrlPr>
                            <a:rPr lang="en-GB" sz="1200" i="1" smtClean="0">
                              <a:latin typeface="Cambria Math" panose="02040503050406030204" pitchFamily="18" charset="0"/>
                              <a:cs typeface="Times New Roman" panose="02020603050405020304" pitchFamily="18" charset="0"/>
                            </a:rPr>
                          </m:ctrlPr>
                        </m:sSubPr>
                        <m:e>
                          <m:r>
                            <a:rPr lang="en-GB" sz="1200" b="0" i="1" smtClean="0">
                              <a:latin typeface="Cambria Math" panose="02040503050406030204" pitchFamily="18" charset="0"/>
                              <a:cs typeface="Times New Roman" panose="02020603050405020304" pitchFamily="18" charset="0"/>
                            </a:rPr>
                            <m:t>𝐷</m:t>
                          </m:r>
                        </m:e>
                        <m:sub>
                          <m:r>
                            <a:rPr lang="en-GB" sz="1200" b="0" i="1" smtClean="0">
                              <a:latin typeface="Cambria Math" panose="02040503050406030204" pitchFamily="18" charset="0"/>
                              <a:cs typeface="Times New Roman" panose="02020603050405020304" pitchFamily="18" charset="0"/>
                            </a:rPr>
                            <m:t>𝑑</m:t>
                          </m:r>
                        </m:sub>
                      </m:sSub>
                      <m:r>
                        <a:rPr lang="en-GB" sz="1200" b="0" i="1" smtClean="0">
                          <a:latin typeface="Cambria Math" panose="02040503050406030204" pitchFamily="18" charset="0"/>
                          <a:cs typeface="Times New Roman" panose="02020603050405020304" pitchFamily="18" charset="0"/>
                        </a:rPr>
                        <m:t>=</m:t>
                      </m:r>
                      <m:r>
                        <a:rPr lang="en-GB" sz="1200" i="1" smtClean="0">
                          <a:latin typeface="Cambria Math" panose="02040503050406030204" pitchFamily="18" charset="0"/>
                          <a:ea typeface="Times New Roman" panose="02020603050405020304" pitchFamily="18" charset="0"/>
                          <a:cs typeface="Times New Roman" panose="02020603050405020304" pitchFamily="18" charset="0"/>
                        </a:rPr>
                        <m:t>𝑆</m:t>
                      </m:r>
                      <m:r>
                        <a:rPr lang="en-GB" sz="120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12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2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200" i="1" smtClean="0">
                              <a:latin typeface="Cambria Math" panose="02040503050406030204" pitchFamily="18" charset="0"/>
                              <a:ea typeface="Cambria Math" panose="02040503050406030204" pitchFamily="18" charset="0"/>
                              <a:cs typeface="Times New Roman" panose="02020603050405020304" pitchFamily="18" charset="0"/>
                            </a:rPr>
                            <m:t>𝑒</m:t>
                          </m:r>
                        </m:e>
                        <m:sup>
                          <m:r>
                            <a:rPr lang="en-GB" sz="1200" i="1" smtClean="0">
                              <a:latin typeface="Cambria Math" panose="02040503050406030204" pitchFamily="18" charset="0"/>
                              <a:ea typeface="Cambria Math" panose="02040503050406030204" pitchFamily="18" charset="0"/>
                              <a:cs typeface="Times New Roman" panose="02020603050405020304" pitchFamily="18" charset="0"/>
                            </a:rPr>
                            <m:t>𝑞</m:t>
                          </m:r>
                          <m:r>
                            <a:rPr lang="en-GB" sz="1200" i="1" smtClean="0">
                              <a:latin typeface="Cambria Math" panose="02040503050406030204" pitchFamily="18" charset="0"/>
                              <a:ea typeface="Cambria Math" panose="02040503050406030204" pitchFamily="18" charset="0"/>
                              <a:cs typeface="Times New Roman" panose="02020603050405020304" pitchFamily="18" charset="0"/>
                            </a:rPr>
                            <m:t>/365</m:t>
                          </m:r>
                        </m:sup>
                      </m:sSup>
                      <m:r>
                        <a:rPr lang="en-GB" sz="1200" b="0" i="1" smtClean="0">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en-GB" sz="1200" b="0" dirty="0">
                  <a:latin typeface="Times New Roman" panose="02020603050405020304" pitchFamily="18" charset="0"/>
                  <a:ea typeface="Cambria Math" panose="02040503050406030204" pitchFamily="18" charset="0"/>
                  <a:cs typeface="Times New Roman" panose="02020603050405020304" pitchFamily="18" charset="0"/>
                </a:endParaRPr>
              </a:p>
              <a:p>
                <a:pPr>
                  <a:spcAft>
                    <a:spcPts val="600"/>
                  </a:spcAf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For the weekly equivalent of the continuous dividend we would analogously</a:t>
                </a:r>
                <a:r>
                  <a:rPr lang="cs-CZ" sz="1200" dirty="0">
                    <a:latin typeface="Times New Roman" panose="02020603050405020304" pitchFamily="18" charset="0"/>
                    <a:ea typeface="Times New Roman" panose="02020603050405020304" pitchFamily="18" charset="0"/>
                    <a:cs typeface="Times New Roman" panose="02020603050405020304" pitchFamily="18" charset="0"/>
                  </a:rPr>
                  <a:t> </a:t>
                </a:r>
                <a:r>
                  <a:rPr lang="en-GB" sz="1200" dirty="0">
                    <a:latin typeface="Times New Roman" panose="02020603050405020304" pitchFamily="18" charset="0"/>
                    <a:ea typeface="Times New Roman" panose="02020603050405020304" pitchFamily="18" charset="0"/>
                    <a:cs typeface="Times New Roman" panose="02020603050405020304" pitchFamily="18" charset="0"/>
                  </a:rPr>
                  <a:t>receive</a:t>
                </a:r>
              </a:p>
              <a:p>
                <a:pPr marL="179388">
                  <a:spcAft>
                    <a:spcPts val="600"/>
                  </a:spcAft>
                </a:pPr>
                <a14:m>
                  <m:oMathPara xmlns:m="http://schemas.openxmlformats.org/officeDocument/2006/math">
                    <m:oMathParaPr>
                      <m:jc m:val="left"/>
                    </m:oMathParaPr>
                    <m:oMath xmlns:m="http://schemas.openxmlformats.org/officeDocument/2006/math">
                      <m:sSub>
                        <m:sSubPr>
                          <m:ctrlPr>
                            <a:rPr lang="en-GB" sz="1200" i="1" smtClean="0">
                              <a:latin typeface="Cambria Math" panose="02040503050406030204" pitchFamily="18" charset="0"/>
                              <a:cs typeface="Times New Roman" panose="02020603050405020304" pitchFamily="18" charset="0"/>
                            </a:rPr>
                          </m:ctrlPr>
                        </m:sSubPr>
                        <m:e>
                          <m:r>
                            <a:rPr lang="en-GB" sz="1200" i="1" smtClean="0">
                              <a:latin typeface="Cambria Math" panose="02040503050406030204" pitchFamily="18" charset="0"/>
                              <a:cs typeface="Times New Roman" panose="02020603050405020304" pitchFamily="18" charset="0"/>
                            </a:rPr>
                            <m:t>𝐷</m:t>
                          </m:r>
                        </m:e>
                        <m:sub>
                          <m:r>
                            <a:rPr lang="en-GB" sz="1200" b="0" i="1" smtClean="0">
                              <a:latin typeface="Cambria Math" panose="02040503050406030204" pitchFamily="18" charset="0"/>
                              <a:cs typeface="Times New Roman" panose="02020603050405020304" pitchFamily="18" charset="0"/>
                            </a:rPr>
                            <m:t>𝑤</m:t>
                          </m:r>
                        </m:sub>
                      </m:sSub>
                      <m:r>
                        <a:rPr lang="en-GB" sz="1200" i="1" smtClean="0">
                          <a:latin typeface="Cambria Math" panose="02040503050406030204" pitchFamily="18" charset="0"/>
                          <a:cs typeface="Times New Roman" panose="02020603050405020304" pitchFamily="18" charset="0"/>
                        </a:rPr>
                        <m:t>=</m:t>
                      </m:r>
                      <m:r>
                        <a:rPr lang="en-GB" sz="1200" i="1" smtClean="0">
                          <a:latin typeface="Cambria Math" panose="02040503050406030204" pitchFamily="18" charset="0"/>
                          <a:ea typeface="Times New Roman" panose="02020603050405020304" pitchFamily="18" charset="0"/>
                          <a:cs typeface="Times New Roman" panose="02020603050405020304" pitchFamily="18" charset="0"/>
                        </a:rPr>
                        <m:t>𝑆</m:t>
                      </m:r>
                      <m:r>
                        <a:rPr lang="en-GB" sz="120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12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200" i="1" smtClean="0">
                              <a:latin typeface="Cambria Math" panose="02040503050406030204" pitchFamily="18" charset="0"/>
                              <a:ea typeface="Cambria Math" panose="02040503050406030204" pitchFamily="18" charset="0"/>
                              <a:cs typeface="Times New Roman" panose="02020603050405020304" pitchFamily="18" charset="0"/>
                            </a:rPr>
                            <m:t>(</m:t>
                          </m:r>
                          <m:r>
                            <a:rPr lang="en-GB" sz="1200" i="1" smtClean="0">
                              <a:latin typeface="Cambria Math" panose="02040503050406030204" pitchFamily="18" charset="0"/>
                              <a:ea typeface="Cambria Math" panose="02040503050406030204" pitchFamily="18" charset="0"/>
                              <a:cs typeface="Times New Roman" panose="02020603050405020304" pitchFamily="18" charset="0"/>
                            </a:rPr>
                            <m:t>𝑒</m:t>
                          </m:r>
                        </m:e>
                        <m:sup>
                          <m:r>
                            <a:rPr lang="en-GB" sz="1200" i="1" smtClean="0">
                              <a:latin typeface="Cambria Math" panose="02040503050406030204" pitchFamily="18" charset="0"/>
                              <a:ea typeface="Cambria Math" panose="02040503050406030204" pitchFamily="18" charset="0"/>
                              <a:cs typeface="Times New Roman" panose="02020603050405020304" pitchFamily="18" charset="0"/>
                            </a:rPr>
                            <m:t>𝑞</m:t>
                          </m:r>
                          <m:r>
                            <a:rPr lang="en-GB" sz="1200" b="0" i="1" smtClean="0">
                              <a:latin typeface="Cambria Math" panose="02040503050406030204" pitchFamily="18" charset="0"/>
                              <a:ea typeface="Cambria Math" panose="02040503050406030204" pitchFamily="18" charset="0"/>
                              <a:cs typeface="Times New Roman" panose="02020603050405020304" pitchFamily="18" charset="0"/>
                            </a:rPr>
                            <m:t>(7</m:t>
                          </m:r>
                          <m:r>
                            <a:rPr lang="en-GB" sz="1200" i="1" smtClean="0">
                              <a:latin typeface="Cambria Math" panose="02040503050406030204" pitchFamily="18" charset="0"/>
                              <a:ea typeface="Cambria Math" panose="02040503050406030204" pitchFamily="18" charset="0"/>
                              <a:cs typeface="Times New Roman" panose="02020603050405020304" pitchFamily="18" charset="0"/>
                            </a:rPr>
                            <m:t>/365</m:t>
                          </m:r>
                        </m:sup>
                      </m:sSup>
                      <m:r>
                        <a:rPr lang="en-GB" sz="1200" i="1" smtClean="0">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en-GB" sz="1200" dirty="0">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8" name="TextovéPole 7">
                <a:extLst>
                  <a:ext uri="{FF2B5EF4-FFF2-40B4-BE49-F238E27FC236}">
                    <a16:creationId xmlns:a16="http://schemas.microsoft.com/office/drawing/2014/main" id="{B42D553B-5434-37F4-51F3-81C6825D349F}"/>
                  </a:ext>
                </a:extLst>
              </p:cNvPr>
              <p:cNvSpPr txBox="1">
                <a:spLocks noRot="1" noChangeAspect="1" noMove="1" noResize="1" noEditPoints="1" noAdjustHandles="1" noChangeArrowheads="1" noChangeShapeType="1" noTextEdit="1"/>
              </p:cNvSpPr>
              <p:nvPr/>
            </p:nvSpPr>
            <p:spPr>
              <a:xfrm>
                <a:off x="251520" y="540000"/>
                <a:ext cx="8640479" cy="5768310"/>
              </a:xfrm>
              <a:prstGeom prst="rect">
                <a:avLst/>
              </a:prstGeom>
              <a:blipFill>
                <a:blip r:embed="rId3"/>
                <a:stretch>
                  <a:fillRect t="-106"/>
                </a:stretch>
              </a:blipFill>
            </p:spPr>
            <p:txBody>
              <a:bodyPr/>
              <a:lstStyle/>
              <a:p>
                <a:r>
                  <a:rPr lang="en-GB">
                    <a:noFill/>
                  </a:rPr>
                  <a:t> </a:t>
                </a:r>
              </a:p>
            </p:txBody>
          </p:sp>
        </mc:Fallback>
      </mc:AlternateContent>
    </p:spTree>
    <p:extLst>
      <p:ext uri="{BB962C8B-B14F-4D97-AF65-F5344CB8AC3E}">
        <p14:creationId xmlns:p14="http://schemas.microsoft.com/office/powerpoint/2010/main" val="718572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104F5-4440-EBB3-D3B5-0F5E88E98503}"/>
            </a:ext>
          </a:extLst>
        </p:cNvPr>
        <p:cNvGrpSpPr/>
        <p:nvPr/>
      </p:nvGrpSpPr>
      <p:grpSpPr>
        <a:xfrm>
          <a:off x="0" y="0"/>
          <a:ext cx="0" cy="0"/>
          <a:chOff x="0" y="0"/>
          <a:chExt cx="0" cy="0"/>
        </a:xfrm>
      </p:grpSpPr>
      <p:sp>
        <p:nvSpPr>
          <p:cNvPr id="2" name="Zástupný symbol pro zápatí 1">
            <a:extLst>
              <a:ext uri="{FF2B5EF4-FFF2-40B4-BE49-F238E27FC236}">
                <a16:creationId xmlns:a16="http://schemas.microsoft.com/office/drawing/2014/main" id="{53EF516E-69ED-C26A-FBDD-4BB82D9F826C}"/>
              </a:ext>
            </a:extLst>
          </p:cNvPr>
          <p:cNvSpPr>
            <a:spLocks noGrp="1"/>
          </p:cNvSpPr>
          <p:nvPr>
            <p:ph type="ftr" sz="quarter" idx="11"/>
          </p:nvPr>
        </p:nvSpPr>
        <p:spPr>
          <a:xfrm>
            <a:off x="180000" y="6336000"/>
            <a:ext cx="3312000" cy="360000"/>
          </a:xfrm>
        </p:spPr>
        <p:txBody>
          <a:bodyPr/>
          <a:lstStyle/>
          <a:p>
            <a:r>
              <a:rPr lang="en-GB" dirty="0"/>
              <a:t>Pricing of option contracts</a:t>
            </a:r>
          </a:p>
        </p:txBody>
      </p:sp>
      <p:sp>
        <p:nvSpPr>
          <p:cNvPr id="3" name="Zástupný symbol pro číslo snímku 2">
            <a:extLst>
              <a:ext uri="{FF2B5EF4-FFF2-40B4-BE49-F238E27FC236}">
                <a16:creationId xmlns:a16="http://schemas.microsoft.com/office/drawing/2014/main" id="{F011D5B3-6B39-C02F-861E-E5E64F032D30}"/>
              </a:ext>
            </a:extLst>
          </p:cNvPr>
          <p:cNvSpPr>
            <a:spLocks noGrp="1"/>
          </p:cNvSpPr>
          <p:nvPr>
            <p:ph type="sldNum" sz="quarter" idx="12"/>
          </p:nvPr>
        </p:nvSpPr>
        <p:spPr>
          <a:xfrm>
            <a:off x="7164000" y="6336000"/>
            <a:ext cx="1800000" cy="360000"/>
          </a:xfrm>
        </p:spPr>
        <p:txBody>
          <a:bodyPr/>
          <a:lstStyle/>
          <a:p>
            <a:pPr algn="r"/>
            <a:r>
              <a:rPr lang="cs-CZ" dirty="0"/>
              <a:t>17</a:t>
            </a:r>
          </a:p>
        </p:txBody>
      </p:sp>
      <p:sp>
        <p:nvSpPr>
          <p:cNvPr id="4" name="Nadpis 3">
            <a:extLst>
              <a:ext uri="{FF2B5EF4-FFF2-40B4-BE49-F238E27FC236}">
                <a16:creationId xmlns:a16="http://schemas.microsoft.com/office/drawing/2014/main" id="{DEEEBA01-32F6-DE74-E41C-233552AF06D1}"/>
              </a:ext>
            </a:extLst>
          </p:cNvPr>
          <p:cNvSpPr>
            <a:spLocks noGrp="1"/>
          </p:cNvSpPr>
          <p:nvPr>
            <p:ph type="title"/>
          </p:nvPr>
        </p:nvSpPr>
        <p:spPr>
          <a:xfrm>
            <a:off x="144000" y="180000"/>
            <a:ext cx="1547680" cy="338554"/>
          </a:xfrm>
        </p:spPr>
        <p:txBody>
          <a:bodyPr wrap="square">
            <a:spAutoFit/>
          </a:bodyPr>
          <a:lstStyle/>
          <a:p>
            <a:r>
              <a:rPr lang="en-GB" sz="1600" noProof="0"/>
              <a:t>Footnotes</a:t>
            </a:r>
          </a:p>
        </p:txBody>
      </p:sp>
      <p:sp>
        <p:nvSpPr>
          <p:cNvPr id="8" name="TextovéPole 7">
            <a:extLst>
              <a:ext uri="{FF2B5EF4-FFF2-40B4-BE49-F238E27FC236}">
                <a16:creationId xmlns:a16="http://schemas.microsoft.com/office/drawing/2014/main" id="{2BC914F5-17ED-E866-E54E-7ABEEE2C7F63}"/>
              </a:ext>
            </a:extLst>
          </p:cNvPr>
          <p:cNvSpPr txBox="1"/>
          <p:nvPr/>
        </p:nvSpPr>
        <p:spPr>
          <a:xfrm>
            <a:off x="252001" y="540000"/>
            <a:ext cx="8640479" cy="1985159"/>
          </a:xfrm>
          <a:prstGeom prst="rect">
            <a:avLst/>
          </a:prstGeom>
          <a:noFill/>
        </p:spPr>
        <p:txBody>
          <a:bodyPr wrap="square">
            <a:spAutoFit/>
          </a:bodyPr>
          <a:lstStyle/>
          <a:p>
            <a:pPr>
              <a:spcAft>
                <a:spcPts val="600"/>
              </a:spcAft>
            </a:pPr>
            <a:r>
              <a:rPr lang="en-GB" sz="1200" noProof="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The expected value valuation principle applied to the risky dice-tossing game</a:t>
            </a:r>
          </a:p>
          <a:p>
            <a:pPr>
              <a:spcAft>
                <a:spcPts val="300"/>
              </a:spcAft>
            </a:pPr>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A list of all outcomes, each occurring with probability 1/6, is {€1, €2, €3, €4, €5, €6}.</a:t>
            </a:r>
          </a:p>
          <a:p>
            <a:pPr>
              <a:spcAft>
                <a:spcPts val="300"/>
              </a:spcAf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The expected value is therefore (1 + 2 + 3 + 4 + 5 + 6) / 6 = €3.5.</a:t>
            </a:r>
            <a:endParaRPr lang="en-GB" sz="1200" noProof="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300"/>
              </a:spcAft>
            </a:pPr>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The law of large numbers </a:t>
            </a:r>
            <a:r>
              <a:rPr lang="en-GB" sz="1200" dirty="0">
                <a:latin typeface="Times New Roman" panose="02020603050405020304" pitchFamily="18" charset="0"/>
                <a:ea typeface="Times New Roman" panose="02020603050405020304" pitchFamily="18" charset="0"/>
                <a:cs typeface="Times New Roman" panose="02020603050405020304" pitchFamily="18" charset="0"/>
              </a:rPr>
              <a:t>ensures that the average of the outcomes from a large number of repetitions of this risky game will, with certainty,</a:t>
            </a:r>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 approach the expected value. In this sense, the expected value can be viewed as a risk-free future event, with its present value determined by discounting it at the risk-free rate.</a:t>
            </a:r>
          </a:p>
          <a:p>
            <a:pPr>
              <a:spcAft>
                <a:spcPts val="300"/>
              </a:spcAft>
            </a:pPr>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If the annual risk-free discount rate is 10%, then the fair value of the dice-tossing game with a payoff obtained in one year is 3.5 / (1 + 0.1)</a:t>
            </a:r>
            <a:r>
              <a:rPr lang="en-GB" sz="1200" dirty="0">
                <a:latin typeface="Times New Roman" panose="02020603050405020304" pitchFamily="18" charset="0"/>
                <a:ea typeface="Times New Roman" panose="02020603050405020304" pitchFamily="18" charset="0"/>
                <a:cs typeface="Times New Roman" panose="02020603050405020304" pitchFamily="18" charset="0"/>
              </a:rPr>
              <a:t> = €3.18.</a:t>
            </a:r>
          </a:p>
          <a:p>
            <a:pPr>
              <a:spcAft>
                <a:spcPts val="300"/>
              </a:spcAf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It is therefore not a contradiction that we use the risk-free rate when analysing a risky game.</a:t>
            </a:r>
          </a:p>
        </p:txBody>
      </p:sp>
      <p:sp>
        <p:nvSpPr>
          <p:cNvPr id="5" name="TextovéPole 4">
            <a:extLst>
              <a:ext uri="{FF2B5EF4-FFF2-40B4-BE49-F238E27FC236}">
                <a16:creationId xmlns:a16="http://schemas.microsoft.com/office/drawing/2014/main" id="{DFA08AA5-0F19-98D2-EB17-382B05B65798}"/>
              </a:ext>
            </a:extLst>
          </p:cNvPr>
          <p:cNvSpPr txBox="1"/>
          <p:nvPr/>
        </p:nvSpPr>
        <p:spPr>
          <a:xfrm>
            <a:off x="251520" y="3221574"/>
            <a:ext cx="8640479" cy="2316019"/>
          </a:xfrm>
          <a:prstGeom prst="rect">
            <a:avLst/>
          </a:prstGeom>
          <a:noFill/>
        </p:spPr>
        <p:txBody>
          <a:bodyPr wrap="square">
            <a:spAutoFit/>
          </a:bodyPr>
          <a:lstStyle/>
          <a:p>
            <a:pPr>
              <a:spcAft>
                <a:spcPts val="600"/>
              </a:spcAft>
            </a:pPr>
            <a:r>
              <a:rPr lang="en-GB" sz="1200" noProof="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In what units should volatility in the Black-Scholes formula be measured? In percentages or in percentage points?</a:t>
            </a:r>
          </a:p>
          <a:p>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It’s a trivial problem for many. The percentage yield of a stock price has increased from 2% to 6%. Did the yield go up by 4 per cent or by 4 percentage points? The</a:t>
            </a:r>
            <a:r>
              <a:rPr lang="en-GB" sz="1200" dirty="0">
                <a:latin typeface="Times New Roman" panose="02020603050405020304" pitchFamily="18" charset="0"/>
                <a:ea typeface="Times New Roman" panose="02020603050405020304" pitchFamily="18" charset="0"/>
                <a:cs typeface="Times New Roman" panose="02020603050405020304" pitchFamily="18" charset="0"/>
              </a:rPr>
              <a:t> correct answer is undoubtedly “by 4 percentage points,” since a 4% increase would move from 2% to </a:t>
            </a:r>
            <a:endParaRPr lang="cs-CZ" sz="12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300"/>
              </a:spcAf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2 × (1 + 0.04</a:t>
            </a:r>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 = 2.08%.</a:t>
            </a:r>
            <a:r>
              <a:rPr lang="en-GB" sz="1200" dirty="0">
                <a:latin typeface="Times New Roman" panose="02020603050405020304" pitchFamily="18" charset="0"/>
                <a:ea typeface="Times New Roman" panose="02020603050405020304" pitchFamily="18" charset="0"/>
                <a:cs typeface="Times New Roman" panose="02020603050405020304" pitchFamily="18" charset="0"/>
              </a:rPr>
              <a:t> Bottom line is that the difference between two numbers, each measured as a percentage, should be measured in percentage points.</a:t>
            </a:r>
          </a:p>
          <a:p>
            <a:pPr>
              <a:spcAft>
                <a:spcPts val="300"/>
              </a:spcAft>
            </a:pPr>
            <a:r>
              <a:rPr lang="en-GB" sz="1200" dirty="0">
                <a:latin typeface="Times New Roman" panose="02020603050405020304" pitchFamily="18" charset="0"/>
                <a:ea typeface="Times New Roman" panose="02020603050405020304" pitchFamily="18" charset="0"/>
                <a:cs typeface="Times New Roman" panose="02020603050405020304" pitchFamily="18" charset="0"/>
              </a:rPr>
              <a:t>BUT! Volatility in the Black-Scholes formula is interpreted and usually calculated as the standard deviation of a time series of percentage price changes of the underlying asset. We know that the standard deviation is the average deviation of individual percentage price changes from their mean percentage change. It is the distance between two numbers, each expressed as a percentage. The size of this distance should therefore be measured in percentage points.</a:t>
            </a:r>
            <a:endParaRPr lang="en-GB" sz="1200" noProof="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300"/>
              </a:spcAft>
            </a:pPr>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But why is Black-Scholes volatility expressed in percentages in all textbooks, including the most reputable ones? A good question for anyone who thinks </a:t>
            </a:r>
            <a:r>
              <a:rPr lang="en-GB" sz="1200" dirty="0">
                <a:latin typeface="Times New Roman" panose="02020603050405020304" pitchFamily="18" charset="0"/>
                <a:ea typeface="Times New Roman" panose="02020603050405020304" pitchFamily="18" charset="0"/>
                <a:cs typeface="Times New Roman" panose="02020603050405020304" pitchFamily="18" charset="0"/>
              </a:rPr>
              <a:t>that </a:t>
            </a:r>
            <a:r>
              <a:rPr lang="en-GB" sz="1200" noProof="0" dirty="0">
                <a:latin typeface="Times New Roman" panose="02020603050405020304" pitchFamily="18" charset="0"/>
                <a:ea typeface="Times New Roman" panose="02020603050405020304" pitchFamily="18" charset="0"/>
                <a:cs typeface="Times New Roman" panose="02020603050405020304" pitchFamily="18" charset="0"/>
              </a:rPr>
              <a:t>the difference between a percentage and a percentage point is a trivial issue.</a:t>
            </a:r>
            <a:endParaRPr lang="en-GB"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7" name="Obrázek 6" descr="Obsah obrázku klipart, kresba, kreslené, Dětské kresby&#10;&#10;Obsah generovaný pomocí AI může být nesprávný.">
            <a:extLst>
              <a:ext uri="{FF2B5EF4-FFF2-40B4-BE49-F238E27FC236}">
                <a16:creationId xmlns:a16="http://schemas.microsoft.com/office/drawing/2014/main" id="{21EDF491-0D3F-C1DB-EA97-C020B763D2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52320" y="2081022"/>
            <a:ext cx="893401" cy="1075371"/>
          </a:xfrm>
          <a:prstGeom prst="rect">
            <a:avLst/>
          </a:prstGeom>
        </p:spPr>
      </p:pic>
      <p:pic>
        <p:nvPicPr>
          <p:cNvPr id="10" name="Obrázek 9" descr="Obsah obrázku kreslené, Lidská tvář, Animace, ilustrace&#10;&#10;Obsah generovaný pomocí AI může být nesprávný.">
            <a:extLst>
              <a:ext uri="{FF2B5EF4-FFF2-40B4-BE49-F238E27FC236}">
                <a16:creationId xmlns:a16="http://schemas.microsoft.com/office/drawing/2014/main" id="{3E45CC3B-CE66-7B21-27DC-02DEBE71F23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33228" y="5480027"/>
            <a:ext cx="1630041" cy="1086694"/>
          </a:xfrm>
          <a:prstGeom prst="rect">
            <a:avLst/>
          </a:prstGeom>
        </p:spPr>
      </p:pic>
    </p:spTree>
    <p:extLst>
      <p:ext uri="{BB962C8B-B14F-4D97-AF65-F5344CB8AC3E}">
        <p14:creationId xmlns:p14="http://schemas.microsoft.com/office/powerpoint/2010/main" val="30927022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PERSISTENCEDATA" val="MMPROD_UIPERSISTENCEDATA"/>
  <p:tag name="MMPROD_UIDATA" val="&lt;database version=&quot;10.0&quot;&gt;&lt;object type=&quot;1&quot; unique_id=&quot;10001&quot;&gt;&lt;object type=&quot;2&quot; unique_id=&quot;10002&quot;&gt;&lt;object type=&quot;3&quot; unique_id=&quot;10003&quot;&gt;&lt;property id=&quot;20148&quot; value=&quot;5&quot;/&gt;&lt;property id=&quot;20300&quot; value=&quot;Slide 1 - &amp;quot;Essentials of bond pricing&amp;quot;&quot;/&gt;&lt;property id=&quot;20307&quot; value=&quot;256&quot;/&gt;&lt;/object&gt;&lt;object type=&quot;3&quot; unique_id=&quot;10004&quot;&gt;&lt;property id=&quot;20148&quot; value=&quot;5&quot;/&gt;&lt;property id=&quot;20300&quot; value=&quot;Slide 2 - &amp;quot;Straight bond&amp;quot;&quot;/&gt;&lt;property id=&quot;20307&quot; value=&quot;260&quot;/&gt;&lt;/object&gt;&lt;object type=&quot;3&quot; unique_id=&quot;10005&quot;&gt;&lt;property id=&quot;20148&quot; value=&quot;5&quot;/&gt;&lt;property id=&quot;20300&quot; value=&quot;Slide 3 - &amp;quot;Diversities in bond contracts (1)&amp;quot;&quot;/&gt;&lt;property id=&quot;20307&quot; value=&quot;262&quot;/&gt;&lt;/object&gt;&lt;object type=&quot;3&quot; unique_id=&quot;10006&quot;&gt;&lt;property id=&quot;20148&quot; value=&quot;5&quot;/&gt;&lt;property id=&quot;20300&quot; value=&quot;Slide 4 - &amp;quot;Diversities in bond contracts (2)&amp;quot;&quot;/&gt;&lt;property id=&quot;20307&quot; value=&quot;263&quot;/&gt;&lt;/object&gt;&lt;object type=&quot;3&quot; unique_id=&quot;10007&quot;&gt;&lt;property id=&quot;20148&quot; value=&quot;5&quot;/&gt;&lt;property id=&quot;20300&quot; value=&quot;Slide 5 - &amp;quot;Underlying principles of pricing&amp;quot;&quot;/&gt;&lt;property id=&quot;20307&quot; value=&quot;270&quot;/&gt;&lt;/object&gt;&lt;object type=&quot;3&quot; unique_id=&quot;10008&quot;&gt;&lt;property id=&quot;20148&quot; value=&quot;5&quot;/&gt;&lt;property id=&quot;20300&quot; value=&quot;Slide 6 - &amp;quot;Discounting conventions (1)&amp;quot;&quot;/&gt;&lt;property id=&quot;20307&quot; value=&quot;265&quot;/&gt;&lt;/object&gt;&lt;object type=&quot;3&quot; unique_id=&quot;10009&quot;&gt;&lt;property id=&quot;20148&quot; value=&quot;5&quot;/&gt;&lt;property id=&quot;20300&quot; value=&quot;Slide 7 - &amp;quot;Discounting conventions (2)&amp;quot;&quot;/&gt;&lt;property id=&quot;20307&quot; value=&quot;266&quot;/&gt;&lt;/object&gt;&lt;object type=&quot;3&quot; unique_id=&quot;10010&quot;&gt;&lt;property id=&quot;20148&quot; value=&quot;5&quot;/&gt;&lt;property id=&quot;20300&quot; value=&quot;Slide 8 - &amp;quot;Clean and full price&amp;quot;&quot;/&gt;&lt;property id=&quot;20307&quot; value=&quot;267&quot;/&gt;&lt;/object&gt;&lt;object type=&quot;3&quot; unique_id=&quot;10011&quot;&gt;&lt;property id=&quot;20148&quot; value=&quot;5&quot;/&gt;&lt;property id=&quot;20300&quot; value=&quot;Slide 9 - &amp;quot;Price-yield relationship&amp;quot;&quot;/&gt;&lt;property id=&quot;20307&quot; value=&quot;261&quot;/&gt;&lt;/object&gt;&lt;object type=&quot;3&quot; unique_id=&quot;10012&quot;&gt;&lt;property id=&quot;20148&quot; value=&quot;5&quot;/&gt;&lt;property id=&quot;20300&quot; value=&quot;Slide 10 - &amp;quot;Price–maturity relationship&amp;quot;&quot;/&gt;&lt;property id=&quot;20307&quot; value=&quot;269&quot;/&gt;&lt;/object&gt;&lt;object type=&quot;3&quot; unique_id=&quot;10013&quot;&gt;&lt;property id=&quot;20148&quot; value=&quot;5&quot;/&gt;&lt;property id=&quot;20300&quot; value=&quot;Slide 11 - &amp;quot;Yield to maturity&amp;quot;&quot;/&gt;&lt;property id=&quot;20307&quot; value=&quot;268&quot;/&gt;&lt;/object&gt;&lt;object type=&quot;3&quot; unique_id=&quot;10014&quot;&gt;&lt;property id=&quot;20148&quot; value=&quot;5&quot;/&gt;&lt;property id=&quot;20300&quot; value=&quot;Slide 12 - &amp;quot;Other yield measures&amp;quot;&quot;/&gt;&lt;property id=&quot;20307&quot; value=&quot;271&quot;/&gt;&lt;/object&gt;&lt;object type=&quot;3&quot; unique_id=&quot;10015&quot;&gt;&lt;property id=&quot;20148&quot; value=&quot;5&quot;/&gt;&lt;property id=&quot;20300&quot; value=&quot;Slide 13 - &amp;quot;See you  in the next lecture&amp;quot;&quot;/&gt;&lt;property id=&quot;20307&quot; value=&quot;272&quot;/&gt;&lt;/object&gt;&lt;/object&gt;&lt;object type=&quot;8&quot; unique_id=&quot;10032&quot;&gt;&lt;/object&gt;&lt;/object&gt;&lt;/database&gt;"/>
  <p:tag name="SECTOMILLISECCONVERTED" val="1"/>
</p:tagLst>
</file>

<file path=ppt/theme/theme1.xml><?xml version="1.0" encoding="utf-8"?>
<a:theme xmlns:a="http://schemas.openxmlformats.org/drawingml/2006/main" name="FMI">
  <a:themeElements>
    <a:clrScheme name="Aerodynamika">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Aerodynamika">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erodynamika">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lnDef>
      <a:spPr>
        <a:ln w="25400">
          <a:headEnd type="none" w="lg" len="med"/>
          <a:tailEnd type="triangl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ctr">
          <a:defRPr sz="1600" i="1" smtClean="0">
            <a:latin typeface="Cambria Math"/>
            <a:ea typeface="Cambria Math" panose="02040503050406030204" pitchFamily="18" charset="0"/>
          </a:defRPr>
        </a:defPPr>
      </a:lstStyle>
    </a:txDef>
  </a:objectDefaults>
  <a:extraClrSchemeLst/>
</a:theme>
</file>

<file path=ppt/theme/theme2.xml><?xml version="1.0" encoding="utf-8"?>
<a:theme xmlns:a="http://schemas.openxmlformats.org/drawingml/2006/main" name="Motiv systému Office">
  <a:themeElements>
    <a:clrScheme name="Kancelář">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9818</TotalTime>
  <Words>4167</Words>
  <Application>Microsoft Office PowerPoint</Application>
  <PresentationFormat>Předvádění na obrazovce (4:3)</PresentationFormat>
  <Paragraphs>579</Paragraphs>
  <Slides>18</Slides>
  <Notes>18</Notes>
  <HiddenSlides>0</HiddenSlides>
  <MMClips>0</MMClips>
  <ScaleCrop>false</ScaleCrop>
  <HeadingPairs>
    <vt:vector size="6" baseType="variant">
      <vt:variant>
        <vt:lpstr>Použitá písma</vt:lpstr>
      </vt:variant>
      <vt:variant>
        <vt:i4>9</vt:i4>
      </vt:variant>
      <vt:variant>
        <vt:lpstr>Motiv</vt:lpstr>
      </vt:variant>
      <vt:variant>
        <vt:i4>1</vt:i4>
      </vt:variant>
      <vt:variant>
        <vt:lpstr>Nadpisy snímků</vt:lpstr>
      </vt:variant>
      <vt:variant>
        <vt:i4>18</vt:i4>
      </vt:variant>
    </vt:vector>
  </HeadingPairs>
  <TitlesOfParts>
    <vt:vector size="28" baseType="lpstr">
      <vt:lpstr>Algerian</vt:lpstr>
      <vt:lpstr>Arial</vt:lpstr>
      <vt:lpstr>Calibri</vt:lpstr>
      <vt:lpstr>Cambria Math</vt:lpstr>
      <vt:lpstr>Georgia</vt:lpstr>
      <vt:lpstr>Tahoma</vt:lpstr>
      <vt:lpstr>Times New Roman</vt:lpstr>
      <vt:lpstr>Trebuchet MS</vt:lpstr>
      <vt:lpstr>Wingdings</vt:lpstr>
      <vt:lpstr>FMI</vt:lpstr>
      <vt:lpstr>Pricing of  option contracts</vt:lpstr>
      <vt:lpstr>Binomial model – introduction</vt:lpstr>
      <vt:lpstr>Binomial model – key insights</vt:lpstr>
      <vt:lpstr>Binomial model – generalization</vt:lpstr>
      <vt:lpstr>Binomial model – example </vt:lpstr>
      <vt:lpstr>Black–Scholes formula</vt:lpstr>
      <vt:lpstr>Black–Scholes formula – example</vt:lpstr>
      <vt:lpstr>Black–Scholes formula – expected value</vt:lpstr>
      <vt:lpstr>Monte Carlo simulation</vt:lpstr>
      <vt:lpstr>Extensions of B-S formula (1)</vt:lpstr>
      <vt:lpstr>Extensions of B-S formula (2)</vt:lpstr>
      <vt:lpstr>Volatility smile</vt:lpstr>
      <vt:lpstr>Put-call parity – derivation</vt:lpstr>
      <vt:lpstr>Put-call parity – examples</vt:lpstr>
      <vt:lpstr>See you  in the next lecture</vt:lpstr>
      <vt:lpstr>Math note – risk-neutral probability formula</vt:lpstr>
      <vt:lpstr>Math note – discrete versus continuous dividends</vt:lpstr>
      <vt:lpstr>Footnotes</vt:lpstr>
    </vt:vector>
  </TitlesOfParts>
  <Company>Institute of Economic Studies, Charles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Pricing of option contracts</dc:title>
  <dc:subject>FI - TALKING SLIDES</dc:subject>
  <dc:creator>Oldřich DĚDEK</dc:creator>
  <cp:keywords>pptxFI_L18</cp:keywords>
  <dc:description>Financial markets instruments</dc:description>
  <cp:lastModifiedBy>Oldrich DEDEK</cp:lastModifiedBy>
  <cp:revision>3245</cp:revision>
  <cp:lastPrinted>2020-10-16T12:18:24Z</cp:lastPrinted>
  <dcterms:created xsi:type="dcterms:W3CDTF">2014-05-11T12:40:16Z</dcterms:created>
  <dcterms:modified xsi:type="dcterms:W3CDTF">2026-09-21T17:12:38Z</dcterms:modified>
  <cp:category>O.D. Lecturing Legacy</cp:category>
  <cp:contentStatus>OD Web</cp:contentStatus>
</cp:coreProperties>
</file>