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</p:sldMasterIdLst>
  <p:notesMasterIdLst>
    <p:notesMasterId r:id="rId18"/>
  </p:notesMasterIdLst>
  <p:sldIdLst>
    <p:sldId id="256" r:id="rId2"/>
    <p:sldId id="260" r:id="rId3"/>
    <p:sldId id="270" r:id="rId4"/>
    <p:sldId id="273" r:id="rId5"/>
    <p:sldId id="279" r:id="rId6"/>
    <p:sldId id="280" r:id="rId7"/>
    <p:sldId id="281" r:id="rId8"/>
    <p:sldId id="282" r:id="rId9"/>
    <p:sldId id="283" r:id="rId10"/>
    <p:sldId id="290" r:id="rId11"/>
    <p:sldId id="291" r:id="rId12"/>
    <p:sldId id="292" r:id="rId13"/>
    <p:sldId id="293" r:id="rId14"/>
    <p:sldId id="294" r:id="rId15"/>
    <p:sldId id="296" r:id="rId16"/>
    <p:sldId id="272" r:id="rId17"/>
  </p:sldIdLst>
  <p:sldSz cx="9144000" cy="6858000" type="screen4x3"/>
  <p:notesSz cx="6858000" cy="9144000"/>
  <p:custDataLst>
    <p:tags r:id="rId19"/>
  </p:custDataLst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aio" initials="v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83" autoAdjust="0"/>
    <p:restoredTop sz="94400" autoAdjust="0"/>
  </p:normalViewPr>
  <p:slideViewPr>
    <p:cSldViewPr>
      <p:cViewPr varScale="1">
        <p:scale>
          <a:sx n="155" d="100"/>
          <a:sy n="155" d="100"/>
        </p:scale>
        <p:origin x="1746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78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68C38-A214-4E80-B1E3-D2FE07F8DD81}" type="datetimeFigureOut">
              <a:rPr lang="cs-CZ" smtClean="0"/>
              <a:t>21.09.2026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0B50C-4808-4AAD-8732-12ADE8A5B27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0138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Ztlumené efekty: 2,3,4</a:t>
            </a:r>
          </a:p>
          <a:p>
            <a:r>
              <a:rPr lang="cs-CZ" dirty="0"/>
              <a:t>Odstranit srážku kamionu: snímek 8, 1:33 – 1:45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40B50C-4808-4AAD-8732-12ADE8A5B27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8757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40B50C-4808-4AAD-8732-12ADE8A5B27F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0964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B824-5E93-4F37-9F9C-7C4FB11BB412}" type="datetime1">
              <a:rPr lang="cs-CZ" smtClean="0"/>
              <a:t>21.09.2026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Obligace - </a:t>
            </a:r>
            <a:r>
              <a:rPr lang="cs-CZ" dirty="0" err="1"/>
              <a:t>kkůlkůlkZáklady</a:t>
            </a:r>
            <a:r>
              <a:rPr lang="cs-CZ" dirty="0"/>
              <a:t> oceňování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5482F-2F05-49C5-9E15-73F945A41231}" type="slidenum">
              <a:rPr lang="cs-CZ" smtClean="0"/>
              <a:t>‹#›</a:t>
            </a:fld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Bonds – Analysis of the yield curve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08304" y="6172200"/>
            <a:ext cx="1828800" cy="365125"/>
          </a:xfrm>
        </p:spPr>
        <p:txBody>
          <a:bodyPr/>
          <a:lstStyle>
            <a:lvl1pPr>
              <a:defRPr sz="1200" b="1"/>
            </a:lvl1pPr>
          </a:lstStyle>
          <a:p>
            <a:fld id="{DFE5482F-2F05-49C5-9E15-73F945A41231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251520" y="210314"/>
            <a:ext cx="6512511" cy="648072"/>
          </a:xfrm>
        </p:spPr>
        <p:txBody>
          <a:bodyPr/>
          <a:lstStyle>
            <a:lvl1pPr marL="0" indent="0" algn="l">
              <a:buFontTx/>
              <a:buNone/>
              <a:defRPr sz="2800"/>
            </a:lvl1pPr>
          </a:lstStyle>
          <a:p>
            <a:r>
              <a:rPr lang="cs-CZ" dirty="0" err="1"/>
              <a:t>vostní</a:t>
            </a:r>
            <a:r>
              <a:rPr lang="cs-CZ" dirty="0"/>
              <a:t> tok 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2042512"/>
            <a:ext cx="6400800" cy="3474720"/>
          </a:xfrm>
        </p:spPr>
        <p:txBody>
          <a:bodyPr/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BA06A-B118-4854-A6B1-AD8434D8C8A2}" type="datetime1">
              <a:rPr lang="cs-CZ" smtClean="0"/>
              <a:t>21.09.2026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Obligace - Základy oceňování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5482F-2F05-49C5-9E15-73F945A41231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C4245-3440-4804-8040-B2F6C9563C64}" type="datetime1">
              <a:rPr lang="cs-CZ" smtClean="0"/>
              <a:t>21.09.2026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Obligace - Základy oceňování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5482F-2F05-49C5-9E15-73F945A41231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6B96-06F8-4545-9182-889597D673BE}" type="datetime1">
              <a:rPr lang="cs-CZ" smtClean="0"/>
              <a:t>21.09.2026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Obligace - Základy oceňování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5482F-2F05-49C5-9E15-73F945A41231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EDE7-1677-48D5-AEC1-00727E1AD5C8}" type="datetime1">
              <a:rPr lang="cs-CZ" smtClean="0"/>
              <a:t>21.09.2026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Obligace - Základy oceňování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5482F-2F05-49C5-9E15-73F945A41231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4CB76-1543-48ED-85A0-8667F9791FC8}" type="datetime1">
              <a:rPr lang="cs-CZ" smtClean="0"/>
              <a:t>21.09.2026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Obligace - Základy oceňování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5482F-2F05-49C5-9E15-73F945A41231}" type="slidenum">
              <a:rPr lang="cs-CZ" smtClean="0"/>
              <a:t>‹#›</a:t>
            </a:fld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BE541-6BD5-44E0-A709-E50ED9825230}" type="datetime1">
              <a:rPr lang="cs-CZ" smtClean="0"/>
              <a:t>21.09.2026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Obligace - Základy oceňování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5482F-2F05-49C5-9E15-73F945A41231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7B65-9542-4BD1-9D5B-317E40607F34}" type="datetime1">
              <a:rPr lang="cs-CZ" smtClean="0"/>
              <a:t>21.09.2026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Obligace - Základy oceňování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5482F-2F05-49C5-9E15-73F945A41231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u="none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7682813-8C86-44C6-B6BD-1FCF6C787374}" type="datetime1">
              <a:rPr lang="cs-CZ" smtClean="0"/>
              <a:t>21.09.2026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cs-CZ" dirty="0"/>
              <a:t>Obligace - Základy oceňování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FE5482F-2F05-49C5-9E15-73F945A41231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</p:sldLayoutIdLst>
  <p:hf hdr="0" dt="0"/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u="none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5.png"/><Relationship Id="rId3" Type="http://schemas.openxmlformats.org/officeDocument/2006/relationships/image" Target="../media/image3.png"/><Relationship Id="rId21" Type="http://schemas.openxmlformats.org/officeDocument/2006/relationships/image" Target="../media/image7.png"/><Relationship Id="rId2" Type="http://schemas.openxmlformats.org/officeDocument/2006/relationships/image" Target="../media/image2.png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19" Type="http://schemas.openxmlformats.org/officeDocument/2006/relationships/image" Target="../media/image6.png"/><Relationship Id="rId4" Type="http://schemas.openxmlformats.org/officeDocument/2006/relationships/image" Target="../media/image3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image" Target="../media/image12.png"/><Relationship Id="rId21" Type="http://schemas.openxmlformats.org/officeDocument/2006/relationships/image" Target="../media/image15.png"/><Relationship Id="rId17" Type="http://schemas.openxmlformats.org/officeDocument/2006/relationships/image" Target="../media/image11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10.png"/><Relationship Id="rId19" Type="http://schemas.openxmlformats.org/officeDocument/2006/relationships/image" Target="../media/image13.png"/><Relationship Id="rId1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7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60.png"/><Relationship Id="rId26" Type="http://schemas.openxmlformats.org/officeDocument/2006/relationships/image" Target="../media/image23.png"/><Relationship Id="rId21" Type="http://schemas.openxmlformats.org/officeDocument/2006/relationships/image" Target="../media/image20.png"/><Relationship Id="rId17" Type="http://schemas.openxmlformats.org/officeDocument/2006/relationships/image" Target="../media/image150.png"/><Relationship Id="rId25" Type="http://schemas.openxmlformats.org/officeDocument/2006/relationships/image" Target="../media/image22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210.png"/><Relationship Id="rId23" Type="http://schemas.openxmlformats.org/officeDocument/2006/relationships/image" Target="../media/image21.png"/><Relationship Id="rId28" Type="http://schemas.openxmlformats.org/officeDocument/2006/relationships/image" Target="../media/image25.png"/><Relationship Id="rId19" Type="http://schemas.openxmlformats.org/officeDocument/2006/relationships/image" Target="../media/image17.png"/><Relationship Id="rId22" Type="http://schemas.openxmlformats.org/officeDocument/2006/relationships/image" Target="../media/image19.png"/><Relationship Id="rId27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34.png"/><Relationship Id="rId1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1.png"/><Relationship Id="rId17" Type="http://schemas.openxmlformats.org/officeDocument/2006/relationships/image" Target="../media/image40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2.png"/><Relationship Id="rId1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1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5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ástupný symbol pro číslo snímku 2"/>
          <p:cNvSpPr>
            <a:spLocks noGrp="1"/>
          </p:cNvSpPr>
          <p:nvPr>
            <p:ph type="sldNum" sz="quarter" idx="12"/>
          </p:nvPr>
        </p:nvSpPr>
        <p:spPr>
          <a:xfrm>
            <a:off x="864000" y="2448000"/>
            <a:ext cx="1440000" cy="360000"/>
          </a:xfrm>
        </p:spPr>
        <p:txBody>
          <a:bodyPr/>
          <a:lstStyle/>
          <a:p>
            <a:pPr algn="l"/>
            <a:r>
              <a:rPr lang="en-GB" sz="1800" dirty="0">
                <a:solidFill>
                  <a:srgbClr val="7030A0"/>
                </a:solidFill>
              </a:rPr>
              <a:t>Lesson 1</a:t>
            </a:r>
            <a:r>
              <a:rPr lang="cs-CZ" sz="1800" dirty="0">
                <a:solidFill>
                  <a:srgbClr val="7030A0"/>
                </a:solidFill>
              </a:rPr>
              <a:t>1</a:t>
            </a:r>
            <a:endParaRPr lang="en-GB" sz="1800" dirty="0">
              <a:solidFill>
                <a:srgbClr val="7030A0"/>
              </a:solidFill>
            </a:endParaRPr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016000" y="2700000"/>
            <a:ext cx="6121316" cy="1800000"/>
          </a:xfrm>
        </p:spPr>
        <p:txBody>
          <a:bodyPr/>
          <a:lstStyle/>
          <a:p>
            <a:pPr marL="182880" indent="0" algn="l">
              <a:buNone/>
            </a:pPr>
            <a:r>
              <a:rPr lang="en-GB" dirty="0">
                <a:solidFill>
                  <a:srgbClr val="7030A0"/>
                </a:solidFill>
              </a:rPr>
              <a:t>Examples</a:t>
            </a:r>
            <a:br>
              <a:rPr lang="en-GB" dirty="0">
                <a:solidFill>
                  <a:srgbClr val="7030A0"/>
                </a:solidFill>
              </a:rPr>
            </a:br>
            <a:r>
              <a:rPr lang="en-GB" dirty="0">
                <a:solidFill>
                  <a:srgbClr val="7030A0"/>
                </a:solidFill>
              </a:rPr>
              <a:t>of financial futures</a:t>
            </a:r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864000" y="468000"/>
            <a:ext cx="3600000" cy="864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800" b="1" dirty="0"/>
              <a:t>Institute of Economic Studies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400" b="1" dirty="0"/>
              <a:t>Faculty of Social Sciences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400" b="1" dirty="0"/>
              <a:t>Charles University in Prague</a:t>
            </a:r>
          </a:p>
        </p:txBody>
      </p:sp>
      <p:sp>
        <p:nvSpPr>
          <p:cNvPr id="12" name="Podnadpis 2"/>
          <p:cNvSpPr>
            <a:spLocks noGrp="1"/>
          </p:cNvSpPr>
          <p:nvPr/>
        </p:nvSpPr>
        <p:spPr>
          <a:xfrm>
            <a:off x="5544720" y="5292000"/>
            <a:ext cx="3419768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dirty="0"/>
              <a:t>Financial markets instruments </a:t>
            </a:r>
            <a:endParaRPr lang="en-GB" sz="1800" b="1" dirty="0">
              <a:solidFill>
                <a:srgbClr val="C00000"/>
              </a:solidFill>
            </a:endParaRPr>
          </a:p>
        </p:txBody>
      </p:sp>
      <p:pic>
        <p:nvPicPr>
          <p:cNvPr id="3" name="Obrázek 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540000"/>
            <a:ext cx="1278000" cy="12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530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1"/>
          </p:nvPr>
        </p:nvSpPr>
        <p:spPr>
          <a:xfrm>
            <a:off x="180000" y="6336000"/>
            <a:ext cx="3312000" cy="360000"/>
          </a:xfrm>
        </p:spPr>
        <p:txBody>
          <a:bodyPr/>
          <a:lstStyle/>
          <a:p>
            <a:r>
              <a:rPr lang="en-GB" dirty="0"/>
              <a:t>Examples of financial futures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>
          <a:xfrm>
            <a:off x="7164000" y="6336000"/>
            <a:ext cx="1800000" cy="360000"/>
          </a:xfrm>
        </p:spPr>
        <p:txBody>
          <a:bodyPr/>
          <a:lstStyle/>
          <a:p>
            <a:pPr algn="r"/>
            <a:fld id="{DFE5482F-2F05-49C5-9E15-73F945A41231}" type="slidenum">
              <a:rPr lang="cs-CZ" smtClean="0"/>
              <a:pPr algn="r"/>
              <a:t>2</a:t>
            </a:fld>
            <a:endParaRPr lang="cs-CZ" dirty="0"/>
          </a:p>
        </p:txBody>
      </p:sp>
      <p:sp>
        <p:nvSpPr>
          <p:cNvPr id="4" name="Nadpis 3"/>
          <p:cNvSpPr>
            <a:spLocks noGrp="1"/>
          </p:cNvSpPr>
          <p:nvPr>
            <p:ph type="title"/>
          </p:nvPr>
        </p:nvSpPr>
        <p:spPr>
          <a:xfrm>
            <a:off x="144000" y="144000"/>
            <a:ext cx="2987840" cy="648072"/>
          </a:xfrm>
        </p:spPr>
        <p:txBody>
          <a:bodyPr/>
          <a:lstStyle/>
          <a:p>
            <a:r>
              <a:rPr lang="en-GB" dirty="0">
                <a:solidFill>
                  <a:srgbClr val="000000"/>
                </a:solidFill>
              </a:rPr>
              <a:t>Introduction</a:t>
            </a:r>
          </a:p>
        </p:txBody>
      </p:sp>
      <p:sp>
        <p:nvSpPr>
          <p:cNvPr id="29" name="TextovéPole 28"/>
          <p:cNvSpPr txBox="1"/>
          <p:nvPr/>
        </p:nvSpPr>
        <p:spPr>
          <a:xfrm>
            <a:off x="864000" y="954000"/>
            <a:ext cx="514816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Broad categories of financial futures</a:t>
            </a:r>
          </a:p>
        </p:txBody>
      </p:sp>
      <p:sp>
        <p:nvSpPr>
          <p:cNvPr id="31" name="TextovéPole 30"/>
          <p:cNvSpPr txBox="1"/>
          <p:nvPr/>
        </p:nvSpPr>
        <p:spPr>
          <a:xfrm>
            <a:off x="1188000" y="1271629"/>
            <a:ext cx="41040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Short-term interest rate futures</a:t>
            </a:r>
          </a:p>
        </p:txBody>
      </p:sp>
      <p:sp>
        <p:nvSpPr>
          <p:cNvPr id="32" name="TextovéPole 31"/>
          <p:cNvSpPr txBox="1"/>
          <p:nvPr/>
        </p:nvSpPr>
        <p:spPr>
          <a:xfrm>
            <a:off x="1188000" y="1546157"/>
            <a:ext cx="41040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Long-term interest rate futures</a:t>
            </a:r>
          </a:p>
        </p:txBody>
      </p:sp>
      <p:sp>
        <p:nvSpPr>
          <p:cNvPr id="30" name="TextovéPole 29"/>
          <p:cNvSpPr txBox="1"/>
          <p:nvPr/>
        </p:nvSpPr>
        <p:spPr>
          <a:xfrm>
            <a:off x="864000" y="2412000"/>
            <a:ext cx="370800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General remarks</a:t>
            </a:r>
          </a:p>
        </p:txBody>
      </p:sp>
      <p:sp>
        <p:nvSpPr>
          <p:cNvPr id="81" name="TextovéPole 80"/>
          <p:cNvSpPr txBox="1"/>
          <p:nvPr/>
        </p:nvSpPr>
        <p:spPr>
          <a:xfrm>
            <a:off x="1187624" y="3307682"/>
            <a:ext cx="770485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Futures exchanges are constantly introducing new contracts, deleting contracts or changing specifications of existing contracts</a:t>
            </a:r>
          </a:p>
        </p:txBody>
      </p:sp>
      <p:sp>
        <p:nvSpPr>
          <p:cNvPr id="82" name="TextovéPole 81"/>
          <p:cNvSpPr txBox="1"/>
          <p:nvPr/>
        </p:nvSpPr>
        <p:spPr>
          <a:xfrm>
            <a:off x="1187624" y="2752576"/>
            <a:ext cx="770485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>
                <a:latin typeface="Cambria Math" panose="02040503050406030204" pitchFamily="18" charset="0"/>
                <a:ea typeface="Cambria Math" panose="02040503050406030204" pitchFamily="18" charset="0"/>
              </a:rPr>
              <a:t>Examples used are hypothetical and are for illustrative purpose only; they                        need not coincide with specifications of currently traded contracts</a:t>
            </a:r>
          </a:p>
        </p:txBody>
      </p:sp>
      <p:sp>
        <p:nvSpPr>
          <p:cNvPr id="71" name="TextovéPole 70"/>
          <p:cNvSpPr txBox="1"/>
          <p:nvPr/>
        </p:nvSpPr>
        <p:spPr>
          <a:xfrm>
            <a:off x="1187624" y="3862789"/>
            <a:ext cx="554461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Some large exchanges trading futures contracts</a:t>
            </a:r>
          </a:p>
        </p:txBody>
      </p:sp>
      <p:sp>
        <p:nvSpPr>
          <p:cNvPr id="57" name="TextovéPole 56"/>
          <p:cNvSpPr txBox="1"/>
          <p:nvPr/>
        </p:nvSpPr>
        <p:spPr>
          <a:xfrm>
            <a:off x="1187624" y="1820685"/>
            <a:ext cx="41040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Currency futures</a:t>
            </a:r>
          </a:p>
        </p:txBody>
      </p:sp>
      <p:sp>
        <p:nvSpPr>
          <p:cNvPr id="59" name="TextovéPole 58"/>
          <p:cNvSpPr txBox="1"/>
          <p:nvPr/>
        </p:nvSpPr>
        <p:spPr>
          <a:xfrm>
            <a:off x="1188000" y="2095212"/>
            <a:ext cx="41040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Stock index futures</a:t>
            </a:r>
          </a:p>
        </p:txBody>
      </p:sp>
      <p:sp>
        <p:nvSpPr>
          <p:cNvPr id="73" name="TextovéPole 35"/>
          <p:cNvSpPr txBox="1"/>
          <p:nvPr/>
        </p:nvSpPr>
        <p:spPr>
          <a:xfrm>
            <a:off x="1512000" y="4129284"/>
            <a:ext cx="7416896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000" indent="-288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United States: Chicago Board Options Exchange (CBOE), Chicago Board of Trade (CBOT), New York Mercantile Exchange (NYMEX), New York Board of Trade (NYBOT) </a:t>
            </a:r>
          </a:p>
        </p:txBody>
      </p:sp>
      <p:sp>
        <p:nvSpPr>
          <p:cNvPr id="74" name="TextovéPole 35"/>
          <p:cNvSpPr txBox="1"/>
          <p:nvPr/>
        </p:nvSpPr>
        <p:spPr>
          <a:xfrm>
            <a:off x="1512000" y="4876470"/>
            <a:ext cx="741689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000" indent="-288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United Kingdom: London International Financial Futures and Options Exchange (LIFFE), part of Intercontinental Exchange </a:t>
            </a:r>
          </a:p>
        </p:txBody>
      </p:sp>
      <p:sp>
        <p:nvSpPr>
          <p:cNvPr id="75" name="TextovéPole 35"/>
          <p:cNvSpPr txBox="1"/>
          <p:nvPr/>
        </p:nvSpPr>
        <p:spPr>
          <a:xfrm>
            <a:off x="1512000" y="5371593"/>
            <a:ext cx="741689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000" indent="-288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Continental Europe: </a:t>
            </a:r>
            <a:r>
              <a:rPr lang="en-GB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Eurex</a:t>
            </a:r>
            <a:r>
              <a:rPr lang="en-GB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Exchange (Germany), Euronext (Netherlands) </a:t>
            </a:r>
          </a:p>
        </p:txBody>
      </p:sp>
    </p:spTree>
    <p:extLst>
      <p:ext uri="{BB962C8B-B14F-4D97-AF65-F5344CB8AC3E}">
        <p14:creationId xmlns:p14="http://schemas.microsoft.com/office/powerpoint/2010/main" val="3503728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1"/>
          </p:nvPr>
        </p:nvSpPr>
        <p:spPr>
          <a:xfrm>
            <a:off x="180000" y="6336000"/>
            <a:ext cx="3312000" cy="360000"/>
          </a:xfrm>
        </p:spPr>
        <p:txBody>
          <a:bodyPr/>
          <a:lstStyle/>
          <a:p>
            <a:r>
              <a:rPr lang="en-GB" dirty="0"/>
              <a:t>Examples of financial futures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>
          <a:xfrm>
            <a:off x="7164000" y="6336000"/>
            <a:ext cx="1800000" cy="360000"/>
          </a:xfrm>
        </p:spPr>
        <p:txBody>
          <a:bodyPr/>
          <a:lstStyle/>
          <a:p>
            <a:pPr algn="r"/>
            <a:r>
              <a:rPr lang="cs-CZ" dirty="0"/>
              <a:t>3</a:t>
            </a:r>
          </a:p>
        </p:txBody>
      </p:sp>
      <p:sp>
        <p:nvSpPr>
          <p:cNvPr id="4" name="Nadpis 3"/>
          <p:cNvSpPr>
            <a:spLocks noGrp="1"/>
          </p:cNvSpPr>
          <p:nvPr>
            <p:ph type="title"/>
          </p:nvPr>
        </p:nvSpPr>
        <p:spPr>
          <a:xfrm>
            <a:off x="144000" y="144000"/>
            <a:ext cx="4428000" cy="648072"/>
          </a:xfrm>
        </p:spPr>
        <p:txBody>
          <a:bodyPr/>
          <a:lstStyle/>
          <a:p>
            <a:r>
              <a:rPr lang="en-GB" dirty="0"/>
              <a:t>Stock index futures</a:t>
            </a:r>
            <a:r>
              <a:rPr lang="cs-CZ" dirty="0"/>
              <a:t> (1)</a:t>
            </a:r>
            <a:endParaRPr lang="en-GB" dirty="0"/>
          </a:p>
        </p:txBody>
      </p:sp>
      <p:sp>
        <p:nvSpPr>
          <p:cNvPr id="56" name="TextovéPole 55"/>
          <p:cNvSpPr txBox="1"/>
          <p:nvPr/>
        </p:nvSpPr>
        <p:spPr>
          <a:xfrm>
            <a:off x="864000" y="954000"/>
            <a:ext cx="370800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Specification</a:t>
            </a:r>
          </a:p>
        </p:txBody>
      </p:sp>
      <p:sp>
        <p:nvSpPr>
          <p:cNvPr id="14" name="TextovéPole 13"/>
          <p:cNvSpPr txBox="1"/>
          <p:nvPr/>
        </p:nvSpPr>
        <p:spPr>
          <a:xfrm>
            <a:off x="6444000" y="1332000"/>
            <a:ext cx="2377376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Underlying index is composed of share prices of 500 largest companies by market capitalization</a:t>
            </a:r>
            <a:r>
              <a:rPr lang="cs-CZ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en-GB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5" name="Tabulk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220208"/>
              </p:ext>
            </p:extLst>
          </p:nvPr>
        </p:nvGraphicFramePr>
        <p:xfrm>
          <a:off x="972048" y="1412776"/>
          <a:ext cx="5472192" cy="415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Name of the contract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Stock Index Futures Tutorial 500 </a:t>
                      </a:r>
                      <a:r>
                        <a:rPr lang="cs-CZ" sz="1200" noProof="0" dirty="0"/>
                        <a:t>- </a:t>
                      </a:r>
                      <a:r>
                        <a:rPr lang="en-GB" sz="1200" noProof="0" dirty="0"/>
                        <a:t>S</a:t>
                      </a:r>
                      <a:r>
                        <a:rPr lang="cs-CZ" sz="1200" noProof="0" dirty="0"/>
                        <a:t>IFT</a:t>
                      </a:r>
                      <a:r>
                        <a:rPr lang="en-GB" sz="1200" noProof="0" dirty="0"/>
                        <a:t> 500</a:t>
                      </a:r>
                      <a:r>
                        <a:rPr lang="cs-CZ" sz="1200" baseline="30000" noProof="0" dirty="0"/>
                        <a:t>1)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Unit of trading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Value of 10 euros per one index point</a:t>
                      </a:r>
                      <a:r>
                        <a:rPr lang="cs-CZ" sz="1200" baseline="30000" noProof="0" dirty="0"/>
                        <a:t>2)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Quotation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Index points</a:t>
                      </a:r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Tick size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One half of index point</a:t>
                      </a:r>
                      <a:r>
                        <a:rPr lang="cs-CZ" sz="1200" baseline="30000" noProof="0" dirty="0"/>
                        <a:t>3)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Tick value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5</a:t>
                      </a:r>
                      <a:r>
                        <a:rPr lang="cs-CZ" sz="1200" noProof="0" dirty="0"/>
                        <a:t> </a:t>
                      </a:r>
                      <a:r>
                        <a:rPr lang="en-US" sz="1200" noProof="0" dirty="0"/>
                        <a:t>EUR</a:t>
                      </a:r>
                      <a:r>
                        <a:rPr lang="cs-CZ" sz="1200" baseline="30000" noProof="0" dirty="0"/>
                        <a:t>4)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Initial margin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1000</a:t>
                      </a:r>
                      <a:r>
                        <a:rPr lang="cs-CZ" sz="1200" noProof="0" dirty="0"/>
                        <a:t> </a:t>
                      </a:r>
                      <a:r>
                        <a:rPr lang="en-US" sz="1200" noProof="0" dirty="0"/>
                        <a:t>EUR</a:t>
                      </a:r>
                      <a:r>
                        <a:rPr lang="cs-CZ" sz="1200" baseline="30000" noProof="0" dirty="0"/>
                        <a:t>5)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Delivery months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March, June, September, December</a:t>
                      </a:r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Last trading day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Last business day of the delivery month, </a:t>
                      </a:r>
                      <a:r>
                        <a:rPr lang="cs-CZ" sz="1200" noProof="0" dirty="0"/>
                        <a:t>1</a:t>
                      </a:r>
                      <a:r>
                        <a:rPr lang="en-GB" sz="1200" noProof="0" dirty="0"/>
                        <a:t>0:30 a.m.</a:t>
                      </a:r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Delivery day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First business day after the last trading day</a:t>
                      </a:r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/>
                        <a:t>EDSP</a:t>
                      </a:r>
                      <a:endParaRPr lang="en-GB" sz="1200" noProof="0" dirty="0"/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Average of the values of the underlying stock index, measured every 15 seconds between 10:10 and 10:30 a.m. inclusively on the last trading day, of which the highest 12 and the lowest 12 values are discarded.</a:t>
                      </a:r>
                      <a:r>
                        <a:rPr lang="en-GB" sz="1200" baseline="30000" noProof="0" dirty="0"/>
                        <a:t>6)</a:t>
                      </a:r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4" name="TextovéPole 53"/>
          <p:cNvSpPr txBox="1"/>
          <p:nvPr/>
        </p:nvSpPr>
        <p:spPr>
          <a:xfrm>
            <a:off x="6444208" y="2081819"/>
            <a:ext cx="244827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 startAt="2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For example, an index value of 5,433 index points represents the contract value of 54,330 euros.</a:t>
            </a:r>
          </a:p>
        </p:txBody>
      </p:sp>
      <p:sp>
        <p:nvSpPr>
          <p:cNvPr id="55" name="TextovéPole 54"/>
          <p:cNvSpPr txBox="1"/>
          <p:nvPr/>
        </p:nvSpPr>
        <p:spPr>
          <a:xfrm>
            <a:off x="6444000" y="2833019"/>
            <a:ext cx="244827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 startAt="3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Two ticks are equivalent to one full index point.</a:t>
            </a:r>
          </a:p>
        </p:txBody>
      </p:sp>
      <p:sp>
        <p:nvSpPr>
          <p:cNvPr id="57" name="TextovéPole 56"/>
          <p:cNvSpPr txBox="1"/>
          <p:nvPr/>
        </p:nvSpPr>
        <p:spPr>
          <a:xfrm>
            <a:off x="6444000" y="3216889"/>
            <a:ext cx="244827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 startAt="4"/>
            </a:pPr>
            <a:r>
              <a:rPr lang="cs-CZ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5 EUR = </a:t>
            </a:r>
            <a:r>
              <a:rPr lang="cs-CZ" sz="1200" dirty="0">
                <a:latin typeface="Cambria Math"/>
                <a:ea typeface="Cambria Math"/>
              </a:rPr>
              <a:t>½ × 10 EUR.</a:t>
            </a:r>
            <a:endParaRPr lang="en-GB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8" name="TextovéPole 57"/>
          <p:cNvSpPr txBox="1"/>
          <p:nvPr/>
        </p:nvSpPr>
        <p:spPr>
          <a:xfrm>
            <a:off x="6444000" y="3423444"/>
            <a:ext cx="2377376" cy="646331"/>
          </a:xfrm>
          <a:prstGeom prst="rect">
            <a:avLst/>
          </a:prstGeom>
          <a:noFill/>
          <a:ln>
            <a:noFill/>
          </a:ln>
        </p:spPr>
        <p:txBody>
          <a:bodyPr wrap="square" lIns="90000" rIns="0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 startAt="5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With an index value of 5</a:t>
            </a:r>
            <a:r>
              <a:rPr lang="cs-CZ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433, the initial margin is about 1.8% of the value of the contract</a:t>
            </a:r>
            <a:r>
              <a:rPr lang="cs-CZ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en-GB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9" name="TextovéPole 58"/>
          <p:cNvSpPr txBox="1"/>
          <p:nvPr/>
        </p:nvSpPr>
        <p:spPr>
          <a:xfrm>
            <a:off x="6444000" y="3989491"/>
            <a:ext cx="244827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 startAt="6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The averaging procedure aims at smoothing out excessive price fluctuations shortly before maturity.</a:t>
            </a:r>
          </a:p>
        </p:txBody>
      </p:sp>
    </p:spTree>
    <p:extLst>
      <p:ext uri="{BB962C8B-B14F-4D97-AF65-F5344CB8AC3E}">
        <p14:creationId xmlns:p14="http://schemas.microsoft.com/office/powerpoint/2010/main" val="2500620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1"/>
          </p:nvPr>
        </p:nvSpPr>
        <p:spPr>
          <a:xfrm>
            <a:off x="180000" y="6336000"/>
            <a:ext cx="3312000" cy="360000"/>
          </a:xfrm>
        </p:spPr>
        <p:txBody>
          <a:bodyPr/>
          <a:lstStyle/>
          <a:p>
            <a:r>
              <a:rPr lang="en-GB" dirty="0"/>
              <a:t>Examples of financial futures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>
          <a:xfrm>
            <a:off x="7164000" y="6336000"/>
            <a:ext cx="1800000" cy="360000"/>
          </a:xfrm>
        </p:spPr>
        <p:txBody>
          <a:bodyPr/>
          <a:lstStyle/>
          <a:p>
            <a:pPr algn="r"/>
            <a:fld id="{DFE5482F-2F05-49C5-9E15-73F945A41231}" type="slidenum">
              <a:rPr lang="cs-CZ" smtClean="0"/>
              <a:pPr algn="r"/>
              <a:t>4</a:t>
            </a:fld>
            <a:endParaRPr lang="cs-CZ" dirty="0"/>
          </a:p>
        </p:txBody>
      </p:sp>
      <p:sp>
        <p:nvSpPr>
          <p:cNvPr id="4" name="Nadpis 3"/>
          <p:cNvSpPr>
            <a:spLocks noGrp="1"/>
          </p:cNvSpPr>
          <p:nvPr>
            <p:ph type="title"/>
          </p:nvPr>
        </p:nvSpPr>
        <p:spPr>
          <a:xfrm>
            <a:off x="144000" y="144000"/>
            <a:ext cx="4428000" cy="648072"/>
          </a:xfrm>
        </p:spPr>
        <p:txBody>
          <a:bodyPr/>
          <a:lstStyle/>
          <a:p>
            <a:r>
              <a:rPr lang="en-GB" dirty="0">
                <a:solidFill>
                  <a:srgbClr val="000000"/>
                </a:solidFill>
              </a:rPr>
              <a:t>Stock index futures (2)</a:t>
            </a:r>
          </a:p>
        </p:txBody>
      </p:sp>
      <p:graphicFrame>
        <p:nvGraphicFramePr>
          <p:cNvPr id="6" name="Tabulk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705946"/>
              </p:ext>
            </p:extLst>
          </p:nvPr>
        </p:nvGraphicFramePr>
        <p:xfrm>
          <a:off x="1748384" y="1609232"/>
          <a:ext cx="5928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endParaRPr lang="cs-CZ" sz="1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TextovéPole 28"/>
          <p:cNvSpPr txBox="1"/>
          <p:nvPr/>
        </p:nvSpPr>
        <p:spPr>
          <a:xfrm>
            <a:off x="864000" y="954000"/>
            <a:ext cx="298792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Closing out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ovéPole 30"/>
              <p:cNvSpPr txBox="1"/>
              <p:nvPr/>
            </p:nvSpPr>
            <p:spPr>
              <a:xfrm>
                <a:off x="1188000" y="5049854"/>
                <a:ext cx="7847848" cy="923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324000" indent="-324000">
                  <a:buClr>
                    <a:srgbClr val="7030A0"/>
                  </a:buClr>
                  <a:buSzPct val="80000"/>
                  <a:buFont typeface="Wingdings" panose="05000000000000000000" pitchFamily="2" charset="2"/>
                  <a:buChar char="q"/>
                </a:pPr>
                <a:r>
                  <a:rPr lang="en-GB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final settlement takes into account the last marking to market based on the difference between EDSP and the closing price on the day before the last trading day</a:t>
                </a:r>
                <a:r>
                  <a:rPr lang="cs-CZ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:r>
                  <a:rPr lang="en-GB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trader’s loss deepened by </a:t>
                </a:r>
                <a:r>
                  <a:rPr lang="cs-CZ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€</a:t>
                </a:r>
                <a:r>
                  <a:rPr lang="en-GB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500</a:t>
                </a:r>
                <a:r>
                  <a:rPr lang="cs-CZ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(=</a:t>
                </a:r>
                <a:r>
                  <a:rPr lang="en-GB" sz="1800" b="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/>
                        <a:ea typeface="Cambria Math"/>
                      </a:rPr>
                      <m:t>20×</m:t>
                    </m:r>
                    <m:d>
                      <m:dPr>
                        <m:ctrlPr>
                          <a:rPr lang="en-GB" sz="1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sz="1800" b="0" i="1" smtClean="0">
                            <a:latin typeface="Cambria Math"/>
                            <a:ea typeface="Cambria Math"/>
                          </a:rPr>
                          <m:t>−5</m:t>
                        </m:r>
                      </m:e>
                    </m:d>
                    <m:r>
                      <a:rPr lang="en-GB" sz="1800" b="0" i="1" smtClean="0">
                        <a:latin typeface="Cambria Math"/>
                        <a:ea typeface="Cambria Math"/>
                      </a:rPr>
                      <m:t>×5</m:t>
                    </m:r>
                  </m:oMath>
                </a14:m>
                <a:r>
                  <a:rPr lang="cs-CZ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GB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31" name="TextovéPole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000" y="5049854"/>
                <a:ext cx="7847848" cy="923330"/>
              </a:xfrm>
              <a:prstGeom prst="rect">
                <a:avLst/>
              </a:prstGeom>
              <a:blipFill>
                <a:blip r:embed="rId2"/>
                <a:stretch>
                  <a:fillRect l="-155" t="-3947" r="-1088" b="-85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ovéPole 31"/>
          <p:cNvSpPr txBox="1"/>
          <p:nvPr/>
        </p:nvSpPr>
        <p:spPr>
          <a:xfrm>
            <a:off x="1188000" y="3937040"/>
            <a:ext cx="748890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Stock index futures are settle</a:t>
            </a:r>
            <a:r>
              <a:rPr lang="cs-CZ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 in cash because physical delivery of the underlying stock index would entail extremely high transaction costs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ovéPole 35"/>
              <p:cNvSpPr txBox="1"/>
              <p:nvPr/>
            </p:nvSpPr>
            <p:spPr>
              <a:xfrm>
                <a:off x="1512000" y="2364099"/>
                <a:ext cx="6743993" cy="5539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8000" indent="-288000">
                  <a:buClr>
                    <a:srgbClr val="7030A0"/>
                  </a:buClr>
                  <a:buFont typeface="Wingdings" panose="05000000000000000000" pitchFamily="2" charset="2"/>
                  <a:buChar char="§"/>
                </a:pPr>
                <a:r>
                  <a:rPr lang="en-GB" sz="1600" dirty="0">
                    <a:latin typeface="Cambria Math"/>
                    <a:ea typeface="Cambria Math"/>
                  </a:rPr>
                  <a:t>The long</a:t>
                </a:r>
                <a:r>
                  <a:rPr lang="cs-CZ" sz="1600" dirty="0">
                    <a:latin typeface="Cambria Math"/>
                    <a:ea typeface="Cambria Math"/>
                  </a:rPr>
                  <a:t>,</a:t>
                </a:r>
                <a:r>
                  <a:rPr lang="en-GB" sz="1600" dirty="0">
                    <a:latin typeface="Cambria Math"/>
                    <a:ea typeface="Cambria Math"/>
                  </a:rPr>
                  <a:t> who purchased 20 contracts</a:t>
                </a:r>
                <a:r>
                  <a:rPr lang="cs-CZ" sz="1600" dirty="0">
                    <a:latin typeface="Cambria Math"/>
                    <a:ea typeface="Cambria Math"/>
                  </a:rPr>
                  <a:t>,</a:t>
                </a:r>
                <a:r>
                  <a:rPr lang="en-GB" sz="1600" dirty="0">
                    <a:latin typeface="Cambria Math"/>
                    <a:ea typeface="Cambria Math"/>
                  </a:rPr>
                  <a:t> incurred a net loss </a:t>
                </a:r>
              </a:p>
              <a:p>
                <a:pPr marL="446088">
                  <a:buClr>
                    <a:srgbClr val="7030A0"/>
                  </a:buClr>
                </a:pPr>
                <a:r>
                  <a:rPr lang="en-GB" sz="1400" dirty="0">
                    <a:latin typeface="Cambria Math"/>
                    <a:ea typeface="Cambria Math"/>
                  </a:rPr>
                  <a:t>number of contracts × tick change × value of tick =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  <a:ea typeface="Cambria Math"/>
                      </a:rPr>
                      <m:t>20×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/>
                            <a:ea typeface="Cambria Math"/>
                          </a:rPr>
                          <m:t>−25</m:t>
                        </m:r>
                      </m:e>
                    </m:d>
                    <m:r>
                      <a:rPr lang="en-GB" sz="1400" b="0" i="1" smtClean="0">
                        <a:latin typeface="Cambria Math"/>
                        <a:ea typeface="Cambria Math"/>
                      </a:rPr>
                      <m:t>×5=−</m:t>
                    </m:r>
                    <m:r>
                      <a:rPr lang="cs-CZ" sz="1400" b="0" i="1" smtClean="0">
                        <a:latin typeface="Cambria Math"/>
                        <a:ea typeface="Cambria Math"/>
                      </a:rPr>
                      <m:t>€</m:t>
                    </m:r>
                    <m:r>
                      <a:rPr lang="en-GB" sz="1400" b="0" i="1" smtClean="0">
                        <a:latin typeface="Cambria Math"/>
                        <a:ea typeface="Cambria Math"/>
                      </a:rPr>
                      <m:t>2,500</m:t>
                    </m:r>
                  </m:oMath>
                </a14:m>
                <a:endParaRPr lang="en-GB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5" name="TextovéPole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000" y="2364099"/>
                <a:ext cx="6743993" cy="553998"/>
              </a:xfrm>
              <a:prstGeom prst="rect">
                <a:avLst/>
              </a:prstGeom>
              <a:blipFill>
                <a:blip r:embed="rId3"/>
                <a:stretch>
                  <a:fillRect l="-362" t="-4396" b="-87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ovéPole 35"/>
              <p:cNvSpPr txBox="1"/>
              <p:nvPr/>
            </p:nvSpPr>
            <p:spPr>
              <a:xfrm>
                <a:off x="1512000" y="2108110"/>
                <a:ext cx="759650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8000" indent="-288000">
                  <a:buClr>
                    <a:srgbClr val="7030A0"/>
                  </a:buClr>
                  <a:buFont typeface="Wingdings" panose="05000000000000000000" pitchFamily="2" charset="2"/>
                  <a:buChar char="§"/>
                </a:pPr>
                <a:r>
                  <a:rPr lang="en-GB" sz="1600" dirty="0">
                    <a:latin typeface="Cambria Math"/>
                    <a:ea typeface="Cambria Math"/>
                  </a:rPr>
                  <a:t>The futures price decreased by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/>
                        <a:ea typeface="Cambria Math"/>
                      </a:rPr>
                      <m:t>2×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/>
                            <a:ea typeface="Cambria Math"/>
                          </a:rPr>
                          <m:t>5812.5−5825.0</m:t>
                        </m:r>
                      </m:e>
                    </m:d>
                    <m:r>
                      <a:rPr lang="en-GB" sz="1600" b="0" i="1" smtClean="0">
                        <a:latin typeface="Cambria Math"/>
                        <a:ea typeface="Cambria Math"/>
                      </a:rPr>
                      <m:t>=2×(−12.5)=−25</m:t>
                    </m:r>
                  </m:oMath>
                </a14:m>
                <a:r>
                  <a:rPr lang="en-GB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ticks</a:t>
                </a:r>
              </a:p>
            </p:txBody>
          </p:sp>
        </mc:Choice>
        <mc:Fallback xmlns="">
          <p:sp>
            <p:nvSpPr>
              <p:cNvPr id="77" name="TextovéPole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000" y="2108110"/>
                <a:ext cx="7596504" cy="338554"/>
              </a:xfrm>
              <a:prstGeom prst="rect">
                <a:avLst/>
              </a:prstGeom>
              <a:blipFill>
                <a:blip r:embed="rId4"/>
                <a:stretch>
                  <a:fillRect l="-321" t="-7273" b="-21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vnoramenný trojúhelník 6"/>
          <p:cNvSpPr/>
          <p:nvPr/>
        </p:nvSpPr>
        <p:spPr>
          <a:xfrm rot="10800000">
            <a:off x="1698490" y="1456408"/>
            <a:ext cx="107447" cy="124593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4" name="Rovnoramenný trojúhelník 63"/>
          <p:cNvSpPr/>
          <p:nvPr/>
        </p:nvSpPr>
        <p:spPr>
          <a:xfrm rot="10800000">
            <a:off x="3789591" y="1456408"/>
            <a:ext cx="107447" cy="124593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5" name="Rovnoramenný trojúhelník 64"/>
          <p:cNvSpPr/>
          <p:nvPr/>
        </p:nvSpPr>
        <p:spPr>
          <a:xfrm rot="10800000">
            <a:off x="7625817" y="1456408"/>
            <a:ext cx="107447" cy="124593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6" name="TextovéPole 65"/>
          <p:cNvSpPr txBox="1"/>
          <p:nvPr/>
        </p:nvSpPr>
        <p:spPr>
          <a:xfrm>
            <a:off x="1461480" y="1240408"/>
            <a:ext cx="58894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Today</a:t>
            </a:r>
          </a:p>
        </p:txBody>
      </p:sp>
      <p:sp>
        <p:nvSpPr>
          <p:cNvPr id="67" name="TextovéPole 66"/>
          <p:cNvSpPr txBox="1"/>
          <p:nvPr/>
        </p:nvSpPr>
        <p:spPr>
          <a:xfrm>
            <a:off x="3337574" y="1240408"/>
            <a:ext cx="102099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Five days later</a:t>
            </a:r>
          </a:p>
        </p:txBody>
      </p:sp>
      <p:sp>
        <p:nvSpPr>
          <p:cNvPr id="68" name="TextovéPole 67"/>
          <p:cNvSpPr txBox="1"/>
          <p:nvPr/>
        </p:nvSpPr>
        <p:spPr>
          <a:xfrm>
            <a:off x="7339472" y="1240408"/>
            <a:ext cx="68891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cs-CZ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Maturity</a:t>
            </a:r>
            <a:endParaRPr lang="en-GB" sz="1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ovéPole 68"/>
              <p:cNvSpPr txBox="1"/>
              <p:nvPr/>
            </p:nvSpPr>
            <p:spPr>
              <a:xfrm>
                <a:off x="3264271" y="1780408"/>
                <a:ext cx="116371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10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000" b="0" i="1" smtClean="0">
                          <a:latin typeface="Cambria Math"/>
                          <a:ea typeface="Cambria Math" panose="02040503050406030204" pitchFamily="18" charset="0"/>
                        </a:rPr>
                        <m:t>=5812.5</m:t>
                      </m:r>
                    </m:oMath>
                  </m:oMathPara>
                </a14:m>
                <a:endParaRPr lang="en-GB" sz="1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en-GB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Sell 20 contracts</a:t>
                </a:r>
              </a:p>
            </p:txBody>
          </p:sp>
        </mc:Choice>
        <mc:Fallback xmlns="">
          <p:sp>
            <p:nvSpPr>
              <p:cNvPr id="69" name="TextovéPole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271" y="1780408"/>
                <a:ext cx="1163713" cy="400110"/>
              </a:xfrm>
              <a:prstGeom prst="rect">
                <a:avLst/>
              </a:prstGeom>
              <a:blipFill rotWithShape="1">
                <a:blip r:embed="rId18"/>
                <a:stretch>
                  <a:fillRect b="-60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ovéPole 69"/>
              <p:cNvSpPr txBox="1"/>
              <p:nvPr/>
            </p:nvSpPr>
            <p:spPr>
              <a:xfrm>
                <a:off x="1176039" y="1780408"/>
                <a:ext cx="116371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cs-CZ" sz="10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0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cs-CZ" sz="1000" b="0" i="1" smtClean="0">
                          <a:latin typeface="Cambria Math"/>
                          <a:ea typeface="Cambria Math" panose="02040503050406030204" pitchFamily="18" charset="0"/>
                        </a:rPr>
                        <m:t>5825.0</m:t>
                      </m:r>
                    </m:oMath>
                  </m:oMathPara>
                </a14:m>
                <a:endParaRPr lang="en-GB" sz="1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cs-CZ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Buy </a:t>
                </a:r>
                <a:r>
                  <a:rPr lang="en-GB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20 contracts</a:t>
                </a:r>
              </a:p>
            </p:txBody>
          </p:sp>
        </mc:Choice>
        <mc:Fallback xmlns="">
          <p:sp>
            <p:nvSpPr>
              <p:cNvPr id="70" name="TextovéPole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039" y="1780408"/>
                <a:ext cx="1163713" cy="400110"/>
              </a:xfrm>
              <a:prstGeom prst="rect">
                <a:avLst/>
              </a:prstGeom>
              <a:blipFill rotWithShape="1">
                <a:blip r:embed="rId19"/>
                <a:stretch>
                  <a:fillRect b="-60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ovéPole 71"/>
          <p:cNvSpPr txBox="1"/>
          <p:nvPr/>
        </p:nvSpPr>
        <p:spPr>
          <a:xfrm>
            <a:off x="7092280" y="1780408"/>
            <a:ext cx="116371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cs-CZ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EDSP = 5810.0</a:t>
            </a:r>
          </a:p>
        </p:txBody>
      </p:sp>
      <p:sp>
        <p:nvSpPr>
          <p:cNvPr id="73" name="TextovéPole 35"/>
          <p:cNvSpPr txBox="1"/>
          <p:nvPr/>
        </p:nvSpPr>
        <p:spPr>
          <a:xfrm>
            <a:off x="1512000" y="2862913"/>
            <a:ext cx="305880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000" indent="-288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cs-CZ" sz="1600" dirty="0">
                <a:latin typeface="Cambria Math"/>
                <a:ea typeface="Cambria Math"/>
              </a:rPr>
              <a:t>R</a:t>
            </a:r>
            <a:r>
              <a:rPr lang="en-GB" sz="1600" dirty="0">
                <a:latin typeface="Cambria Math"/>
                <a:ea typeface="Cambria Math"/>
              </a:rPr>
              <a:t>ate of return</a:t>
            </a:r>
          </a:p>
        </p:txBody>
      </p:sp>
      <p:sp>
        <p:nvSpPr>
          <p:cNvPr id="78" name="TextovéPole 77"/>
          <p:cNvSpPr txBox="1"/>
          <p:nvPr/>
        </p:nvSpPr>
        <p:spPr>
          <a:xfrm>
            <a:off x="864000" y="3600000"/>
            <a:ext cx="298792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Cash settlement</a:t>
            </a:r>
          </a:p>
        </p:txBody>
      </p:sp>
      <p:sp>
        <p:nvSpPr>
          <p:cNvPr id="80" name="TextovéPole 79"/>
          <p:cNvSpPr txBox="1"/>
          <p:nvPr/>
        </p:nvSpPr>
        <p:spPr>
          <a:xfrm>
            <a:off x="1188000" y="4491176"/>
            <a:ext cx="784784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Physical delivery would require delivering all shares included in the index and in proportions corresponding to the shares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’</a:t>
            </a: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 weights in the index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ovéPole 35">
                <a:extLst>
                  <a:ext uri="{FF2B5EF4-FFF2-40B4-BE49-F238E27FC236}">
                    <a16:creationId xmlns:a16="http://schemas.microsoft.com/office/drawing/2014/main" id="{38201714-8DFD-4574-A754-01E89D3575C8}"/>
                  </a:ext>
                </a:extLst>
              </p:cNvPr>
              <p:cNvSpPr txBox="1"/>
              <p:nvPr/>
            </p:nvSpPr>
            <p:spPr>
              <a:xfrm>
                <a:off x="1800000" y="3132000"/>
                <a:ext cx="3889377" cy="52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buClr>
                    <a:srgbClr val="7030A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ROR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periodic</m:t>
                          </m:r>
                        </m:sub>
                      </m:sSub>
                      <m: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−2,500</m:t>
                          </m:r>
                        </m:num>
                        <m:den>
                          <m: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1400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1,000</m:t>
                          </m:r>
                        </m:den>
                      </m:f>
                      <m:r>
                        <a:rPr lang="en-GB" sz="14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/>
                        </a:rPr>
                        <m:t>−0.125=−12.5%</m:t>
                      </m:r>
                    </m:oMath>
                  </m:oMathPara>
                </a14:m>
                <a:endParaRPr lang="en-GB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2" name="TextovéPole 35">
                <a:extLst>
                  <a:ext uri="{FF2B5EF4-FFF2-40B4-BE49-F238E27FC236}">
                    <a16:creationId xmlns:a16="http://schemas.microsoft.com/office/drawing/2014/main" id="{38201714-8DFD-4574-A754-01E89D357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000" y="3132000"/>
                <a:ext cx="3889377" cy="52424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ovéPole 35">
                <a:extLst>
                  <a:ext uri="{FF2B5EF4-FFF2-40B4-BE49-F238E27FC236}">
                    <a16:creationId xmlns:a16="http://schemas.microsoft.com/office/drawing/2014/main" id="{B94B53CB-6A2F-4B62-8654-079DA947BE82}"/>
                  </a:ext>
                </a:extLst>
              </p:cNvPr>
              <p:cNvSpPr txBox="1"/>
              <p:nvPr/>
            </p:nvSpPr>
            <p:spPr>
              <a:xfrm>
                <a:off x="5616000" y="3132000"/>
                <a:ext cx="3455440" cy="5014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buClr>
                    <a:srgbClr val="7030A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ROR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nnuali</m:t>
                          </m:r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ed</m:t>
                          </m:r>
                        </m:sub>
                      </m:sSub>
                      <m: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/>
                        </a:rPr>
                        <m:t>0.125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365</m:t>
                          </m:r>
                        </m:num>
                        <m:den>
                          <m: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/>
                        </a:rPr>
                        <m:t>=−912%</m:t>
                      </m:r>
                    </m:oMath>
                  </m:oMathPara>
                </a14:m>
                <a:endParaRPr lang="en-GB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3" name="TextovéPole 35">
                <a:extLst>
                  <a:ext uri="{FF2B5EF4-FFF2-40B4-BE49-F238E27FC236}">
                    <a16:creationId xmlns:a16="http://schemas.microsoft.com/office/drawing/2014/main" id="{B94B53CB-6A2F-4B62-8654-079DA947B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000" y="3132000"/>
                <a:ext cx="3455440" cy="501419"/>
              </a:xfrm>
              <a:prstGeom prst="rect">
                <a:avLst/>
              </a:prstGeom>
              <a:blipFill>
                <a:blip r:embed="rId21"/>
                <a:stretch>
                  <a:fillRect b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743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1"/>
          </p:nvPr>
        </p:nvSpPr>
        <p:spPr>
          <a:xfrm>
            <a:off x="180000" y="6336000"/>
            <a:ext cx="3312000" cy="360000"/>
          </a:xfrm>
        </p:spPr>
        <p:txBody>
          <a:bodyPr/>
          <a:lstStyle/>
          <a:p>
            <a:r>
              <a:rPr lang="en-GB" dirty="0"/>
              <a:t>Examples of financial futures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>
          <a:xfrm>
            <a:off x="7164000" y="6336000"/>
            <a:ext cx="1800000" cy="360000"/>
          </a:xfrm>
        </p:spPr>
        <p:txBody>
          <a:bodyPr/>
          <a:lstStyle/>
          <a:p>
            <a:pPr algn="r"/>
            <a:r>
              <a:rPr lang="cs-CZ" dirty="0"/>
              <a:t>5</a:t>
            </a:r>
          </a:p>
        </p:txBody>
      </p:sp>
      <p:sp>
        <p:nvSpPr>
          <p:cNvPr id="4" name="Nadpis 3"/>
          <p:cNvSpPr>
            <a:spLocks noGrp="1"/>
          </p:cNvSpPr>
          <p:nvPr>
            <p:ph type="title"/>
          </p:nvPr>
        </p:nvSpPr>
        <p:spPr>
          <a:xfrm>
            <a:off x="144000" y="144000"/>
            <a:ext cx="4428000" cy="648072"/>
          </a:xfrm>
        </p:spPr>
        <p:txBody>
          <a:bodyPr/>
          <a:lstStyle/>
          <a:p>
            <a:r>
              <a:rPr lang="en-GB" dirty="0"/>
              <a:t>Currency futures (1)</a:t>
            </a:r>
          </a:p>
        </p:txBody>
      </p:sp>
      <p:sp>
        <p:nvSpPr>
          <p:cNvPr id="56" name="TextovéPole 55"/>
          <p:cNvSpPr txBox="1"/>
          <p:nvPr/>
        </p:nvSpPr>
        <p:spPr>
          <a:xfrm>
            <a:off x="864000" y="954000"/>
            <a:ext cx="370800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Specification</a:t>
            </a:r>
          </a:p>
        </p:txBody>
      </p:sp>
      <p:sp>
        <p:nvSpPr>
          <p:cNvPr id="14" name="TextovéPole 13"/>
          <p:cNvSpPr txBox="1"/>
          <p:nvPr/>
        </p:nvSpPr>
        <p:spPr>
          <a:xfrm>
            <a:off x="6444000" y="2078896"/>
            <a:ext cx="25560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 startAt="2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The long buys 25,000 EUR and pays in USD for this. The short buys USD worth 25,000 EUR.</a:t>
            </a:r>
          </a:p>
        </p:txBody>
      </p:sp>
      <p:graphicFrame>
        <p:nvGraphicFramePr>
          <p:cNvPr id="5" name="Tabulk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934472"/>
              </p:ext>
            </p:extLst>
          </p:nvPr>
        </p:nvGraphicFramePr>
        <p:xfrm>
          <a:off x="972048" y="1412776"/>
          <a:ext cx="5472192" cy="3800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Name of the contract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Euro Currency Futures Tutorial </a:t>
                      </a:r>
                      <a:r>
                        <a:rPr lang="cs-CZ" sz="1200" noProof="0" dirty="0"/>
                        <a:t>– ECFT</a:t>
                      </a:r>
                      <a:r>
                        <a:rPr lang="cs-CZ" sz="1200" baseline="30000" noProof="0" dirty="0"/>
                        <a:t>1)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Unit of trading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noProof="0" dirty="0"/>
                        <a:t>25,000 EUR traded against the US dollar</a:t>
                      </a:r>
                      <a:r>
                        <a:rPr lang="cs-CZ" sz="1200" baseline="30000" noProof="0" dirty="0"/>
                        <a:t>2)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Quotation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USD/EUR exchange rate</a:t>
                      </a:r>
                      <a:r>
                        <a:rPr lang="cs-CZ" sz="1200" noProof="0" dirty="0"/>
                        <a:t>, </a:t>
                      </a:r>
                      <a:r>
                        <a:rPr lang="en-GB" sz="1200" noProof="0" dirty="0"/>
                        <a:t>quoted to four decimal places</a:t>
                      </a:r>
                      <a:r>
                        <a:rPr lang="cs-CZ" sz="1200" baseline="30000" noProof="0" dirty="0"/>
                        <a:t>3,4)</a:t>
                      </a:r>
                      <a:endParaRPr lang="en-GB" sz="12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Tick size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One hundredth of USD cent per one euro (0.0001 dollars per one euro)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Tick value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cs-CZ" sz="1200" noProof="0" dirty="0"/>
                        <a:t>2.5 USD</a:t>
                      </a:r>
                      <a:r>
                        <a:rPr lang="cs-CZ" sz="1200" baseline="30000" noProof="0" dirty="0"/>
                        <a:t>5)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Initial margin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1000</a:t>
                      </a:r>
                      <a:r>
                        <a:rPr lang="cs-CZ" sz="1200" noProof="0" dirty="0"/>
                        <a:t> USD</a:t>
                      </a:r>
                      <a:r>
                        <a:rPr lang="cs-CZ" sz="1200" baseline="30000" noProof="0" dirty="0"/>
                        <a:t>6)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Delivery months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March, June, September, December</a:t>
                      </a:r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Last trading day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Third Wednesday</a:t>
                      </a:r>
                      <a:r>
                        <a:rPr lang="en-GB" sz="1200" baseline="0" noProof="0" dirty="0"/>
                        <a:t> </a:t>
                      </a:r>
                      <a:r>
                        <a:rPr lang="en-GB" sz="1200" noProof="0" dirty="0"/>
                        <a:t>in </a:t>
                      </a:r>
                      <a:r>
                        <a:rPr lang="cs-CZ" sz="1200" noProof="0" dirty="0"/>
                        <a:t>a </a:t>
                      </a:r>
                      <a:r>
                        <a:rPr lang="en-GB" sz="1200" noProof="0" dirty="0"/>
                        <a:t>delivery month, </a:t>
                      </a:r>
                      <a:r>
                        <a:rPr lang="en-US" sz="1200" noProof="0" dirty="0"/>
                        <a:t>@</a:t>
                      </a:r>
                      <a:r>
                        <a:rPr lang="en-GB" sz="1200" noProof="0" dirty="0"/>
                        <a:t>10:30 a.m. </a:t>
                      </a:r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Delivery day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First business day after the last trading day</a:t>
                      </a:r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EDSP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Average of spot exchange rates quoted at 10:30 a.m. by 15 </a:t>
                      </a:r>
                      <a:r>
                        <a:rPr lang="cs-CZ" sz="1200" noProof="0" dirty="0"/>
                        <a:t>reference </a:t>
                      </a:r>
                      <a:r>
                        <a:rPr lang="en-GB" sz="1200" noProof="0" dirty="0"/>
                        <a:t>banks, of which the highest 3 and the lowest 3 values are discarded.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4" name="TextovéPole 53"/>
          <p:cNvSpPr txBox="1"/>
          <p:nvPr/>
        </p:nvSpPr>
        <p:spPr>
          <a:xfrm>
            <a:off x="6444208" y="2640853"/>
            <a:ext cx="244806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 startAt="3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The euro is the base currency as it is represented in an exchange rate by one unit</a:t>
            </a:r>
            <a:r>
              <a:rPr lang="cs-CZ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en-GB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5" name="TextovéPole 54"/>
          <p:cNvSpPr txBox="1"/>
          <p:nvPr/>
        </p:nvSpPr>
        <p:spPr>
          <a:xfrm>
            <a:off x="6444000" y="3951104"/>
            <a:ext cx="244827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 startAt="5"/>
            </a:pPr>
            <a:r>
              <a:rPr lang="cs-CZ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2.5 USD = 25,000 EUR </a:t>
            </a:r>
            <a:r>
              <a:rPr lang="cs-CZ" sz="1200" dirty="0">
                <a:latin typeface="Cambria Math"/>
                <a:ea typeface="Cambria Math"/>
              </a:rPr>
              <a:t>× 0.0001 USD/EUR.</a:t>
            </a:r>
            <a:endParaRPr lang="en-GB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8" name="TextovéPole 57"/>
          <p:cNvSpPr txBox="1"/>
          <p:nvPr/>
        </p:nvSpPr>
        <p:spPr>
          <a:xfrm>
            <a:off x="6444000" y="4331185"/>
            <a:ext cx="2556000" cy="830997"/>
          </a:xfrm>
          <a:prstGeom prst="rect">
            <a:avLst/>
          </a:prstGeom>
          <a:noFill/>
          <a:ln>
            <a:noFill/>
          </a:ln>
        </p:spPr>
        <p:txBody>
          <a:bodyPr wrap="square" lIns="90000" rIns="0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 startAt="6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With an exchange rate of 1.1345 USD/EUR, the initial margin is about 3.5% of the value of the contract</a:t>
            </a:r>
            <a:r>
              <a:rPr lang="cs-CZ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en-GB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5" name="TextovéPole 44"/>
          <p:cNvSpPr txBox="1"/>
          <p:nvPr/>
        </p:nvSpPr>
        <p:spPr>
          <a:xfrm>
            <a:off x="6444000" y="1332000"/>
            <a:ext cx="255600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The euro is the underlying asset, priced in terms of dollars. </a:t>
            </a:r>
            <a:r>
              <a:rPr lang="cs-CZ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So, t</a:t>
            </a: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he euro is the traded currency and the dollar is the invoice currency.</a:t>
            </a:r>
          </a:p>
        </p:txBody>
      </p:sp>
      <p:sp>
        <p:nvSpPr>
          <p:cNvPr id="76" name="TextovéPole 75">
            <a:extLst>
              <a:ext uri="{FF2B5EF4-FFF2-40B4-BE49-F238E27FC236}">
                <a16:creationId xmlns:a16="http://schemas.microsoft.com/office/drawing/2014/main" id="{6FE32C7F-DEAE-4D2E-9E93-2D512C88CDDF}"/>
              </a:ext>
            </a:extLst>
          </p:cNvPr>
          <p:cNvSpPr txBox="1"/>
          <p:nvPr/>
        </p:nvSpPr>
        <p:spPr>
          <a:xfrm>
            <a:off x="6444000" y="3209259"/>
            <a:ext cx="244806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 startAt="4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The dollar is the variable currency as it is represented in an exchange rate by a certain number of its units.</a:t>
            </a:r>
          </a:p>
        </p:txBody>
      </p:sp>
    </p:spTree>
    <p:extLst>
      <p:ext uri="{BB962C8B-B14F-4D97-AF65-F5344CB8AC3E}">
        <p14:creationId xmlns:p14="http://schemas.microsoft.com/office/powerpoint/2010/main" val="4168691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1"/>
          </p:nvPr>
        </p:nvSpPr>
        <p:spPr>
          <a:xfrm>
            <a:off x="180000" y="6336000"/>
            <a:ext cx="3312000" cy="360000"/>
          </a:xfrm>
        </p:spPr>
        <p:txBody>
          <a:bodyPr/>
          <a:lstStyle/>
          <a:p>
            <a:r>
              <a:rPr lang="en-GB" dirty="0"/>
              <a:t>Examples of financial futures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>
          <a:xfrm>
            <a:off x="7164000" y="6336000"/>
            <a:ext cx="1800000" cy="360000"/>
          </a:xfrm>
        </p:spPr>
        <p:txBody>
          <a:bodyPr/>
          <a:lstStyle/>
          <a:p>
            <a:pPr algn="r"/>
            <a:fld id="{DFE5482F-2F05-49C5-9E15-73F945A41231}" type="slidenum">
              <a:rPr lang="cs-CZ" smtClean="0"/>
              <a:pPr algn="r"/>
              <a:t>6</a:t>
            </a:fld>
            <a:endParaRPr lang="cs-CZ" dirty="0"/>
          </a:p>
        </p:txBody>
      </p:sp>
      <p:sp>
        <p:nvSpPr>
          <p:cNvPr id="4" name="Nadpis 3"/>
          <p:cNvSpPr>
            <a:spLocks noGrp="1"/>
          </p:cNvSpPr>
          <p:nvPr>
            <p:ph type="title"/>
          </p:nvPr>
        </p:nvSpPr>
        <p:spPr>
          <a:xfrm>
            <a:off x="144000" y="144000"/>
            <a:ext cx="4428000" cy="648072"/>
          </a:xfrm>
        </p:spPr>
        <p:txBody>
          <a:bodyPr/>
          <a:lstStyle/>
          <a:p>
            <a:r>
              <a:rPr lang="en-GB" dirty="0">
                <a:solidFill>
                  <a:srgbClr val="000000"/>
                </a:solidFill>
              </a:rPr>
              <a:t>Currency futures (2)</a:t>
            </a:r>
          </a:p>
        </p:txBody>
      </p:sp>
      <p:graphicFrame>
        <p:nvGraphicFramePr>
          <p:cNvPr id="6" name="Tabulk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296143"/>
              </p:ext>
            </p:extLst>
          </p:nvPr>
        </p:nvGraphicFramePr>
        <p:xfrm>
          <a:off x="1748384" y="1609232"/>
          <a:ext cx="59280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endParaRPr lang="cs-CZ" sz="1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TextovéPole 28"/>
          <p:cNvSpPr txBox="1"/>
          <p:nvPr/>
        </p:nvSpPr>
        <p:spPr>
          <a:xfrm>
            <a:off x="864000" y="954000"/>
            <a:ext cx="298792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Closing out</a:t>
            </a:r>
          </a:p>
        </p:txBody>
      </p:sp>
      <p:sp>
        <p:nvSpPr>
          <p:cNvPr id="31" name="TextovéPole 30"/>
          <p:cNvSpPr txBox="1"/>
          <p:nvPr/>
        </p:nvSpPr>
        <p:spPr>
          <a:xfrm>
            <a:off x="1512000" y="5629222"/>
            <a:ext cx="698557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7030A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GB" sz="1600" dirty="0">
                <a:latin typeface="Cambria Math"/>
                <a:ea typeface="Cambria Math"/>
              </a:rPr>
              <a:t>The long pays a known-in-advance opening futures price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ovéPole 31"/>
              <p:cNvSpPr txBox="1"/>
              <p:nvPr/>
            </p:nvSpPr>
            <p:spPr>
              <a:xfrm>
                <a:off x="1512000" y="3852816"/>
                <a:ext cx="7375581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8000" indent="-288000">
                  <a:buClr>
                    <a:srgbClr val="7030A0"/>
                  </a:buClr>
                  <a:buSzPct val="100000"/>
                  <a:buFont typeface="Wingdings" panose="05000000000000000000" pitchFamily="2" charset="2"/>
                  <a:buChar char="§"/>
                </a:pPr>
                <a:r>
                  <a:rPr lang="en-GB" sz="1600" dirty="0">
                    <a:latin typeface="Cambria Math"/>
                    <a:ea typeface="Cambria Math"/>
                  </a:rPr>
                  <a:t>The long receives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/>
                        <a:ea typeface="Cambria Math"/>
                      </a:rPr>
                      <m:t>10×25,000</m:t>
                    </m:r>
                  </m:oMath>
                </a14:m>
                <a:r>
                  <a:rPr lang="en-GB" sz="1600" dirty="0">
                    <a:latin typeface="Cambria Math"/>
                    <a:ea typeface="Cambria Math"/>
                  </a:rPr>
                  <a:t> euros and is presented an invoice in an amount corresponding to the EDSP exchange rate</a:t>
                </a:r>
              </a:p>
              <a:p>
                <a:pPr marL="715963">
                  <a:buClr>
                    <a:srgbClr val="7030A0"/>
                  </a:buClr>
                  <a:buSzPct val="80000"/>
                </a:pPr>
                <a:r>
                  <a:rPr lang="en-GB" sz="1600" dirty="0">
                    <a:latin typeface="Cambria Math"/>
                    <a:ea typeface="Cambria Math"/>
                  </a:rPr>
                  <a:t>invoice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/>
                        <a:ea typeface="Cambria Math"/>
                      </a:rPr>
                      <m:t>=10×</m:t>
                    </m:r>
                    <m:r>
                      <a:rPr lang="cs-CZ" sz="1600">
                        <a:latin typeface="Cambria Math"/>
                        <a:ea typeface="Cambria Math"/>
                      </a:rPr>
                      <m:t>25,000 </m:t>
                    </m:r>
                    <m:r>
                      <m:rPr>
                        <m:nor/>
                      </m:rPr>
                      <a:rPr lang="cs-CZ" sz="1600">
                        <a:latin typeface="Cambria Math"/>
                        <a:ea typeface="Cambria Math"/>
                      </a:rPr>
                      <m:t>EUR</m:t>
                    </m:r>
                    <m:r>
                      <a:rPr lang="cs-CZ" sz="1600">
                        <a:latin typeface="Cambria Math"/>
                        <a:ea typeface="Cambria Math"/>
                      </a:rPr>
                      <m:t> ×</m:t>
                    </m:r>
                    <m:r>
                      <a:rPr lang="en-GB" sz="1600">
                        <a:latin typeface="Cambria Math"/>
                        <a:ea typeface="Cambria Math"/>
                      </a:rPr>
                      <m:t>1.2401 </m:t>
                    </m:r>
                    <m:r>
                      <m:rPr>
                        <m:nor/>
                      </m:rPr>
                      <a:rPr lang="en-GB" sz="1600">
                        <a:latin typeface="Cambria Math"/>
                        <a:ea typeface="Cambria Math"/>
                      </a:rPr>
                      <m:t>USD</m:t>
                    </m:r>
                    <m:r>
                      <m:rPr>
                        <m:nor/>
                      </m:rPr>
                      <a:rPr lang="en-GB" sz="1600">
                        <a:latin typeface="Cambria Math"/>
                        <a:ea typeface="Cambria Math"/>
                      </a:rPr>
                      <m:t>/</m:t>
                    </m:r>
                    <m:r>
                      <m:rPr>
                        <m:nor/>
                      </m:rPr>
                      <a:rPr lang="en-GB" sz="1600">
                        <a:latin typeface="Cambria Math"/>
                        <a:ea typeface="Cambria Math"/>
                      </a:rPr>
                      <m:t>EUR</m:t>
                    </m:r>
                    <m:r>
                      <a:rPr lang="en-GB" sz="1600">
                        <a:latin typeface="Cambria Math"/>
                        <a:ea typeface="Cambria Math"/>
                      </a:rPr>
                      <m:t>=310,025</m:t>
                    </m:r>
                  </m:oMath>
                </a14:m>
                <a:r>
                  <a:rPr lang="en-GB" sz="1600" dirty="0">
                    <a:latin typeface="Cambria Math"/>
                    <a:ea typeface="Cambria Math"/>
                  </a:rPr>
                  <a:t> USD</a:t>
                </a:r>
              </a:p>
            </p:txBody>
          </p:sp>
        </mc:Choice>
        <mc:Fallback xmlns="">
          <p:sp>
            <p:nvSpPr>
              <p:cNvPr id="32" name="TextovéPol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000" y="3852816"/>
                <a:ext cx="7375581" cy="830997"/>
              </a:xfrm>
              <a:prstGeom prst="rect">
                <a:avLst/>
              </a:prstGeom>
              <a:blipFill>
                <a:blip r:embed="rId13"/>
                <a:stretch>
                  <a:fillRect l="-331" t="-2941" b="-80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ovéPole 35"/>
              <p:cNvSpPr txBox="1"/>
              <p:nvPr/>
            </p:nvSpPr>
            <p:spPr>
              <a:xfrm>
                <a:off x="1511609" y="2364099"/>
                <a:ext cx="6876815" cy="5539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8000" indent="-288000">
                  <a:buClr>
                    <a:srgbClr val="7030A0"/>
                  </a:buClr>
                  <a:buFont typeface="Wingdings" panose="05000000000000000000" pitchFamily="2" charset="2"/>
                  <a:buChar char="§"/>
                </a:pPr>
                <a:r>
                  <a:rPr lang="en-GB" sz="1600" dirty="0">
                    <a:latin typeface="Cambria Math"/>
                    <a:ea typeface="Cambria Math"/>
                  </a:rPr>
                  <a:t>The long who purchased 10 contracts earned a net profit </a:t>
                </a:r>
              </a:p>
              <a:p>
                <a:pPr marL="534988">
                  <a:buClr>
                    <a:srgbClr val="7030A0"/>
                  </a:buClr>
                </a:pPr>
                <a:r>
                  <a:rPr lang="en-GB" sz="1400" dirty="0">
                    <a:latin typeface="Cambria Math"/>
                    <a:ea typeface="Cambria Math"/>
                  </a:rPr>
                  <a:t>number of contracts × tick change × value of tick =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/>
                        <a:ea typeface="Cambria Math"/>
                      </a:rPr>
                      <m:t>10×72×2.5=1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GB" sz="1400" b="0" i="1" smtClean="0">
                        <a:latin typeface="Cambria Math"/>
                        <a:ea typeface="Cambria Math"/>
                      </a:rPr>
                      <m:t>800</m:t>
                    </m:r>
                  </m:oMath>
                </a14:m>
                <a:r>
                  <a:rPr lang="en-GB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USD</a:t>
                </a:r>
              </a:p>
            </p:txBody>
          </p:sp>
        </mc:Choice>
        <mc:Fallback xmlns="">
          <p:sp>
            <p:nvSpPr>
              <p:cNvPr id="75" name="TextovéPole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609" y="2364099"/>
                <a:ext cx="6876815" cy="553998"/>
              </a:xfrm>
              <a:prstGeom prst="rect">
                <a:avLst/>
              </a:prstGeom>
              <a:blipFill>
                <a:blip r:embed="rId14"/>
                <a:stretch>
                  <a:fillRect l="-355" t="-4396" b="-87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ovéPole 35"/>
              <p:cNvSpPr txBox="1"/>
              <p:nvPr/>
            </p:nvSpPr>
            <p:spPr>
              <a:xfrm>
                <a:off x="1512000" y="2108110"/>
                <a:ext cx="558028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8000" indent="-288000">
                  <a:buClr>
                    <a:srgbClr val="7030A0"/>
                  </a:buClr>
                  <a:buFont typeface="Wingdings" panose="05000000000000000000" pitchFamily="2" charset="2"/>
                  <a:buChar char="§"/>
                </a:pPr>
                <a:r>
                  <a:rPr lang="en-GB" sz="1600" dirty="0">
                    <a:latin typeface="Cambria Math"/>
                    <a:ea typeface="Cambria Math"/>
                  </a:rPr>
                  <a:t>The futures price increased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/>
                            <a:ea typeface="Cambria Math"/>
                          </a:rPr>
                          <m:t>2383</m:t>
                        </m:r>
                        <m:r>
                          <a:rPr lang="en-GB" sz="1600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GB" sz="1600" b="0" i="1" smtClean="0">
                            <a:latin typeface="Cambria Math"/>
                            <a:ea typeface="Cambria Math"/>
                          </a:rPr>
                          <m:t>2311</m:t>
                        </m:r>
                      </m:e>
                    </m:d>
                    <m:r>
                      <a:rPr lang="en-GB" sz="1600" b="0" i="1" smtClean="0">
                        <a:latin typeface="Cambria Math"/>
                        <a:ea typeface="Cambria Math"/>
                      </a:rPr>
                      <m:t>=72 </m:t>
                    </m:r>
                  </m:oMath>
                </a14:m>
                <a:r>
                  <a:rPr lang="en-GB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ticks</a:t>
                </a:r>
              </a:p>
            </p:txBody>
          </p:sp>
        </mc:Choice>
        <mc:Fallback xmlns="">
          <p:sp>
            <p:nvSpPr>
              <p:cNvPr id="77" name="TextovéPole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000" y="2108110"/>
                <a:ext cx="5580280" cy="338554"/>
              </a:xfrm>
              <a:prstGeom prst="rect">
                <a:avLst/>
              </a:prstGeom>
              <a:blipFill>
                <a:blip r:embed="rId15"/>
                <a:stretch>
                  <a:fillRect l="-437" t="-7273" b="-21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vnoramenný trojúhelník 6"/>
          <p:cNvSpPr/>
          <p:nvPr/>
        </p:nvSpPr>
        <p:spPr>
          <a:xfrm rot="10800000">
            <a:off x="1698490" y="1456408"/>
            <a:ext cx="107447" cy="124593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4" name="Rovnoramenný trojúhelník 63"/>
          <p:cNvSpPr/>
          <p:nvPr/>
        </p:nvSpPr>
        <p:spPr>
          <a:xfrm rot="10800000">
            <a:off x="5796136" y="1456408"/>
            <a:ext cx="107447" cy="124593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5" name="Rovnoramenný trojúhelník 64"/>
          <p:cNvSpPr/>
          <p:nvPr/>
        </p:nvSpPr>
        <p:spPr>
          <a:xfrm rot="10800000">
            <a:off x="7625817" y="1456408"/>
            <a:ext cx="107447" cy="124593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6" name="TextovéPole 65"/>
          <p:cNvSpPr txBox="1"/>
          <p:nvPr/>
        </p:nvSpPr>
        <p:spPr>
          <a:xfrm>
            <a:off x="1461480" y="1240408"/>
            <a:ext cx="58894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Today</a:t>
            </a:r>
          </a:p>
        </p:txBody>
      </p:sp>
      <p:sp>
        <p:nvSpPr>
          <p:cNvPr id="67" name="TextovéPole 66"/>
          <p:cNvSpPr txBox="1"/>
          <p:nvPr/>
        </p:nvSpPr>
        <p:spPr>
          <a:xfrm>
            <a:off x="5344119" y="1240408"/>
            <a:ext cx="102099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cs-CZ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Ten</a:t>
            </a:r>
            <a:r>
              <a:rPr lang="en-GB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 days later</a:t>
            </a:r>
          </a:p>
        </p:txBody>
      </p:sp>
      <p:sp>
        <p:nvSpPr>
          <p:cNvPr id="68" name="TextovéPole 67"/>
          <p:cNvSpPr txBox="1"/>
          <p:nvPr/>
        </p:nvSpPr>
        <p:spPr>
          <a:xfrm>
            <a:off x="7339472" y="1240408"/>
            <a:ext cx="68891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Delivery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ovéPole 68"/>
              <p:cNvSpPr txBox="1"/>
              <p:nvPr/>
            </p:nvSpPr>
            <p:spPr>
              <a:xfrm>
                <a:off x="5270816" y="1780408"/>
                <a:ext cx="116371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cs-CZ" sz="10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GB" sz="10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cs-CZ" sz="1000" b="0" i="1" smtClean="0">
                          <a:latin typeface="Cambria Math"/>
                          <a:ea typeface="Cambria Math" panose="02040503050406030204" pitchFamily="18" charset="0"/>
                        </a:rPr>
                        <m:t>1.2383</m:t>
                      </m:r>
                    </m:oMath>
                  </m:oMathPara>
                </a14:m>
                <a:endParaRPr lang="en-GB" sz="1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en-GB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Sell </a:t>
                </a:r>
                <a:r>
                  <a:rPr lang="cs-CZ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GB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 contracts</a:t>
                </a:r>
              </a:p>
            </p:txBody>
          </p:sp>
        </mc:Choice>
        <mc:Fallback xmlns="">
          <p:sp>
            <p:nvSpPr>
              <p:cNvPr id="69" name="TextovéPole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816" y="1780408"/>
                <a:ext cx="1163713" cy="400110"/>
              </a:xfrm>
              <a:prstGeom prst="rect">
                <a:avLst/>
              </a:prstGeom>
              <a:blipFill rotWithShape="1">
                <a:blip r:embed="rId17"/>
                <a:stretch>
                  <a:fillRect b="-60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ovéPole 69"/>
              <p:cNvSpPr txBox="1"/>
              <p:nvPr/>
            </p:nvSpPr>
            <p:spPr>
              <a:xfrm>
                <a:off x="1176039" y="1780408"/>
                <a:ext cx="116371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cs-CZ" sz="10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0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cs-CZ" sz="1000" b="0" i="1" smtClean="0">
                          <a:latin typeface="Cambria Math"/>
                          <a:ea typeface="Cambria Math" panose="02040503050406030204" pitchFamily="18" charset="0"/>
                        </a:rPr>
                        <m:t>1.2311</m:t>
                      </m:r>
                    </m:oMath>
                  </m:oMathPara>
                </a14:m>
                <a:endParaRPr lang="en-GB" sz="1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cs-CZ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Buy 1</a:t>
                </a:r>
                <a:r>
                  <a:rPr lang="en-GB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 contracts</a:t>
                </a:r>
              </a:p>
            </p:txBody>
          </p:sp>
        </mc:Choice>
        <mc:Fallback xmlns="">
          <p:sp>
            <p:nvSpPr>
              <p:cNvPr id="70" name="TextovéPole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039" y="1780408"/>
                <a:ext cx="1163713" cy="400110"/>
              </a:xfrm>
              <a:prstGeom prst="rect">
                <a:avLst/>
              </a:prstGeom>
              <a:blipFill rotWithShape="1">
                <a:blip r:embed="rId18"/>
                <a:stretch>
                  <a:fillRect b="-60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ovéPole 71"/>
          <p:cNvSpPr txBox="1"/>
          <p:nvPr/>
        </p:nvSpPr>
        <p:spPr>
          <a:xfrm>
            <a:off x="7092280" y="1780408"/>
            <a:ext cx="116371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cs-CZ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EDSP = 1.2401</a:t>
            </a:r>
          </a:p>
        </p:txBody>
      </p:sp>
      <p:sp>
        <p:nvSpPr>
          <p:cNvPr id="73" name="TextovéPole 35"/>
          <p:cNvSpPr txBox="1"/>
          <p:nvPr/>
        </p:nvSpPr>
        <p:spPr>
          <a:xfrm>
            <a:off x="1512001" y="2862913"/>
            <a:ext cx="233992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000" indent="-288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cs-CZ" sz="1600" dirty="0">
                <a:latin typeface="Cambria Math"/>
                <a:ea typeface="Cambria Math"/>
              </a:rPr>
              <a:t>R</a:t>
            </a:r>
            <a:r>
              <a:rPr lang="en-GB" sz="1600" dirty="0">
                <a:latin typeface="Cambria Math"/>
                <a:ea typeface="Cambria Math"/>
              </a:rPr>
              <a:t>ate of return</a:t>
            </a:r>
          </a:p>
        </p:txBody>
      </p:sp>
      <p:sp>
        <p:nvSpPr>
          <p:cNvPr id="78" name="TextovéPole 77"/>
          <p:cNvSpPr txBox="1"/>
          <p:nvPr/>
        </p:nvSpPr>
        <p:spPr>
          <a:xfrm>
            <a:off x="864000" y="3510000"/>
            <a:ext cx="298792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Physical delivery</a:t>
            </a:r>
          </a:p>
        </p:txBody>
      </p:sp>
      <p:sp>
        <p:nvSpPr>
          <p:cNvPr id="80" name="TextovéPole 79"/>
          <p:cNvSpPr txBox="1"/>
          <p:nvPr/>
        </p:nvSpPr>
        <p:spPr>
          <a:xfrm>
            <a:off x="1512000" y="4610077"/>
            <a:ext cx="755999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8000" indent="-288000">
              <a:buClr>
                <a:srgbClr val="7030A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GB" sz="1600" dirty="0">
                <a:latin typeface="Cambria Math"/>
                <a:ea typeface="Cambria Math"/>
              </a:rPr>
              <a:t>The implied exchange rate at which the long purchases euros reflects the invoiced amount and the gain in futures trade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ovéPole 35">
                <a:extLst>
                  <a:ext uri="{FF2B5EF4-FFF2-40B4-BE49-F238E27FC236}">
                    <a16:creationId xmlns:a16="http://schemas.microsoft.com/office/drawing/2014/main" id="{70BAF237-51B6-4AC6-9C26-DAEE214D09E1}"/>
                  </a:ext>
                </a:extLst>
              </p:cNvPr>
              <p:cNvSpPr txBox="1"/>
              <p:nvPr/>
            </p:nvSpPr>
            <p:spPr>
              <a:xfrm>
                <a:off x="1547664" y="3060000"/>
                <a:ext cx="3672408" cy="519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0363" algn="just">
                  <a:buClr>
                    <a:srgbClr val="7030A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ROR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periodic</m:t>
                          </m:r>
                        </m:sub>
                      </m:sSub>
                      <m: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1,800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1400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1,000</m:t>
                          </m:r>
                        </m:den>
                      </m:f>
                      <m:r>
                        <a:rPr lang="en-GB" sz="14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/>
                        </a:rPr>
                        <m:t>0.18=18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/>
                        </a:rPr>
                        <m:t>%</m:t>
                      </m:r>
                    </m:oMath>
                  </m:oMathPara>
                </a14:m>
                <a:endParaRPr lang="en-GB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1" name="TextovéPole 35">
                <a:extLst>
                  <a:ext uri="{FF2B5EF4-FFF2-40B4-BE49-F238E27FC236}">
                    <a16:creationId xmlns:a16="http://schemas.microsoft.com/office/drawing/2014/main" id="{70BAF237-51B6-4AC6-9C26-DAEE214D0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3060000"/>
                <a:ext cx="3672408" cy="51988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ovéPole 35">
                <a:extLst>
                  <a:ext uri="{FF2B5EF4-FFF2-40B4-BE49-F238E27FC236}">
                    <a16:creationId xmlns:a16="http://schemas.microsoft.com/office/drawing/2014/main" id="{52EF1376-A0E3-4DDD-8A01-671D7C297423}"/>
                  </a:ext>
                </a:extLst>
              </p:cNvPr>
              <p:cNvSpPr txBox="1"/>
              <p:nvPr/>
            </p:nvSpPr>
            <p:spPr>
              <a:xfrm>
                <a:off x="4860032" y="3060000"/>
                <a:ext cx="4103968" cy="5014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60363" algn="just">
                  <a:buClr>
                    <a:srgbClr val="7030A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ROR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nnuali</m:t>
                          </m:r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ed</m:t>
                          </m:r>
                        </m:sub>
                      </m:sSub>
                      <m: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/>
                        </a:rPr>
                        <m:t>0.18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365</m:t>
                          </m:r>
                        </m:num>
                        <m:den>
                          <m: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/>
                        </a:rPr>
                        <m:t>=6.57=657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/>
                        </a:rPr>
                        <m:t>%</m:t>
                      </m:r>
                    </m:oMath>
                  </m:oMathPara>
                </a14:m>
                <a:endParaRPr lang="en-GB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TextovéPole 35">
                <a:extLst>
                  <a:ext uri="{FF2B5EF4-FFF2-40B4-BE49-F238E27FC236}">
                    <a16:creationId xmlns:a16="http://schemas.microsoft.com/office/drawing/2014/main" id="{52EF1376-A0E3-4DDD-8A01-671D7C297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3060000"/>
                <a:ext cx="4103968" cy="501419"/>
              </a:xfrm>
              <a:prstGeom prst="rect">
                <a:avLst/>
              </a:prstGeom>
              <a:blipFill>
                <a:blip r:embed="rId20"/>
                <a:stretch>
                  <a:fillRect b="-12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ovéPole 62">
                <a:extLst>
                  <a:ext uri="{FF2B5EF4-FFF2-40B4-BE49-F238E27FC236}">
                    <a16:creationId xmlns:a16="http://schemas.microsoft.com/office/drawing/2014/main" id="{89CF1B17-9B07-411E-9902-BF914B002BAA}"/>
                  </a:ext>
                </a:extLst>
              </p:cNvPr>
              <p:cNvSpPr txBox="1"/>
              <p:nvPr/>
            </p:nvSpPr>
            <p:spPr>
              <a:xfrm>
                <a:off x="1763688" y="5153768"/>
                <a:ext cx="7284393" cy="5255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rtlCol="0">
                <a:spAutoFit/>
              </a:bodyPr>
              <a:lstStyle/>
              <a:p>
                <a:pPr>
                  <a:buClr>
                    <a:srgbClr val="7030A0"/>
                  </a:buClr>
                  <a:buSzPct val="10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1400">
                              <a:latin typeface="Cambria Math"/>
                              <a:ea typeface="Cambria Math"/>
                            </a:rPr>
                            <m:t>dollars</m:t>
                          </m:r>
                          <m:r>
                            <m:rPr>
                              <m:nor/>
                            </m:rPr>
                            <a:rPr lang="en-GB" sz="140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1400">
                              <a:latin typeface="Cambria Math"/>
                              <a:ea typeface="Cambria Math"/>
                            </a:rPr>
                            <m:t>paid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1400">
                              <a:latin typeface="Cambria Math"/>
                              <a:ea typeface="Cambria Math"/>
                            </a:rPr>
                            <m:t>euros</m:t>
                          </m:r>
                          <m:r>
                            <m:rPr>
                              <m:nor/>
                            </m:rPr>
                            <a:rPr lang="en-GB" sz="140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1400">
                              <a:latin typeface="Cambria Math"/>
                              <a:ea typeface="Cambria Math"/>
                            </a:rPr>
                            <m:t>received</m:t>
                          </m:r>
                        </m:den>
                      </m:f>
                      <m:r>
                        <a:rPr lang="en-GB" sz="140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GB" sz="1400">
                              <a:latin typeface="Cambria Math"/>
                              <a:ea typeface="Cambria Math"/>
                            </a:rPr>
                            <m:t>310,025−10×(2401−2311)×2.5</m:t>
                          </m:r>
                        </m:num>
                        <m:den>
                          <m:r>
                            <a:rPr lang="en-GB" sz="1400">
                              <a:latin typeface="Cambria Math"/>
                              <a:ea typeface="Cambria Math"/>
                            </a:rPr>
                            <m:t>10×25,000</m:t>
                          </m:r>
                        </m:den>
                      </m:f>
                      <m:r>
                        <a:rPr lang="en-GB" sz="140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GB" sz="1400">
                              <a:latin typeface="Cambria Math"/>
                              <a:ea typeface="Cambria Math"/>
                            </a:rPr>
                            <m:t>310,025−</m:t>
                          </m:r>
                          <m:r>
                            <a:rPr lang="cs-CZ" sz="1400" b="0" i="0" smtClean="0">
                              <a:latin typeface="Cambria Math" panose="02040503050406030204" pitchFamily="18" charset="0"/>
                              <a:ea typeface="Cambria Math"/>
                            </a:rPr>
                            <m:t>2250</m:t>
                          </m:r>
                        </m:num>
                        <m:den>
                          <m:r>
                            <a:rPr lang="en-GB" sz="1400">
                              <a:latin typeface="Cambria Math"/>
                              <a:ea typeface="Cambria Math"/>
                            </a:rPr>
                            <m:t>25</m:t>
                          </m:r>
                          <m:r>
                            <a:rPr lang="cs-CZ" sz="1400" b="0" i="0" smtClean="0">
                              <a:latin typeface="Cambria Math" panose="02040503050406030204" pitchFamily="18" charset="0"/>
                              <a:ea typeface="Cambria Math"/>
                            </a:rPr>
                            <m:t>0</m:t>
                          </m:r>
                          <m:r>
                            <a:rPr lang="en-GB" sz="1400">
                              <a:latin typeface="Cambria Math"/>
                              <a:ea typeface="Cambria Math"/>
                            </a:rPr>
                            <m:t>,000</m:t>
                          </m:r>
                        </m:den>
                      </m:f>
                      <m:r>
                        <a:rPr lang="cs-CZ" sz="1400" b="0" i="0" smtClean="0"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r>
                        <a:rPr lang="en-GB" sz="1400">
                          <a:latin typeface="Cambria Math"/>
                          <a:ea typeface="Cambria Math"/>
                        </a:rPr>
                        <m:t>1.2311 </m:t>
                      </m:r>
                      <m:r>
                        <m:rPr>
                          <m:nor/>
                        </m:rPr>
                        <a:rPr lang="en-GB" sz="1400">
                          <a:latin typeface="Cambria Math"/>
                          <a:ea typeface="Cambria Math"/>
                        </a:rPr>
                        <m:t>USD</m:t>
                      </m:r>
                      <m:r>
                        <m:rPr>
                          <m:nor/>
                        </m:rPr>
                        <a:rPr lang="en-GB" sz="1400">
                          <a:latin typeface="Cambria Math"/>
                          <a:ea typeface="Cambria Math"/>
                        </a:rPr>
                        <m:t>/</m:t>
                      </m:r>
                      <m:r>
                        <m:rPr>
                          <m:nor/>
                        </m:rPr>
                        <a:rPr lang="en-GB" sz="1400">
                          <a:latin typeface="Cambria Math"/>
                          <a:ea typeface="Cambria Math"/>
                        </a:rPr>
                        <m:t>EUR</m:t>
                      </m:r>
                    </m:oMath>
                  </m:oMathPara>
                </a14:m>
                <a:endParaRPr lang="en-GB" sz="1400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63" name="TextovéPole 62">
                <a:extLst>
                  <a:ext uri="{FF2B5EF4-FFF2-40B4-BE49-F238E27FC236}">
                    <a16:creationId xmlns:a16="http://schemas.microsoft.com/office/drawing/2014/main" id="{89CF1B17-9B07-411E-9902-BF914B002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5153768"/>
                <a:ext cx="7284393" cy="525528"/>
              </a:xfrm>
              <a:prstGeom prst="rect">
                <a:avLst/>
              </a:prstGeom>
              <a:blipFill>
                <a:blip r:embed="rId21"/>
                <a:stretch>
                  <a:fillRect l="-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855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1"/>
          </p:nvPr>
        </p:nvSpPr>
        <p:spPr>
          <a:xfrm>
            <a:off x="180000" y="6336000"/>
            <a:ext cx="3312000" cy="360000"/>
          </a:xfrm>
        </p:spPr>
        <p:txBody>
          <a:bodyPr/>
          <a:lstStyle/>
          <a:p>
            <a:r>
              <a:rPr lang="en-GB" dirty="0"/>
              <a:t>Examples of financial futures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>
          <a:xfrm>
            <a:off x="7164000" y="6336000"/>
            <a:ext cx="1800000" cy="360000"/>
          </a:xfrm>
        </p:spPr>
        <p:txBody>
          <a:bodyPr/>
          <a:lstStyle/>
          <a:p>
            <a:pPr algn="r"/>
            <a:r>
              <a:rPr lang="cs-CZ" dirty="0"/>
              <a:t>7</a:t>
            </a:r>
          </a:p>
        </p:txBody>
      </p:sp>
      <p:sp>
        <p:nvSpPr>
          <p:cNvPr id="4" name="Nadpis 3"/>
          <p:cNvSpPr>
            <a:spLocks noGrp="1"/>
          </p:cNvSpPr>
          <p:nvPr>
            <p:ph type="title"/>
          </p:nvPr>
        </p:nvSpPr>
        <p:spPr>
          <a:xfrm>
            <a:off x="144000" y="144000"/>
            <a:ext cx="6588240" cy="648072"/>
          </a:xfrm>
        </p:spPr>
        <p:txBody>
          <a:bodyPr/>
          <a:lstStyle/>
          <a:p>
            <a:r>
              <a:rPr lang="en-GB" dirty="0"/>
              <a:t>Short-term interest rate futures (1)</a:t>
            </a:r>
          </a:p>
        </p:txBody>
      </p:sp>
      <p:sp>
        <p:nvSpPr>
          <p:cNvPr id="56" name="TextovéPole 55"/>
          <p:cNvSpPr txBox="1"/>
          <p:nvPr/>
        </p:nvSpPr>
        <p:spPr>
          <a:xfrm>
            <a:off x="864000" y="954000"/>
            <a:ext cx="370800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Specification</a:t>
            </a:r>
          </a:p>
        </p:txBody>
      </p:sp>
      <p:sp>
        <p:nvSpPr>
          <p:cNvPr id="14" name="TextovéPole 13"/>
          <p:cNvSpPr txBox="1"/>
          <p:nvPr/>
        </p:nvSpPr>
        <p:spPr>
          <a:xfrm>
            <a:off x="6444000" y="1331416"/>
            <a:ext cx="2448480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In the case of physical delivery, the long places 500,000 euros in a three-month deposit account at an eligible bank, arranged by the short.</a:t>
            </a:r>
          </a:p>
        </p:txBody>
      </p:sp>
      <p:graphicFrame>
        <p:nvGraphicFramePr>
          <p:cNvPr id="5" name="Tabulk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080275"/>
              </p:ext>
            </p:extLst>
          </p:nvPr>
        </p:nvGraphicFramePr>
        <p:xfrm>
          <a:off x="972048" y="1412776"/>
          <a:ext cx="5472192" cy="360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Name of the contract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Three-Month Euro Interest Rate Futures Tutorial – </a:t>
                      </a:r>
                      <a:r>
                        <a:rPr lang="cs-CZ" sz="1200" noProof="0" dirty="0"/>
                        <a:t>IRF3T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Unit of trading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200" noProof="0" dirty="0"/>
                        <a:t>500</a:t>
                      </a:r>
                      <a:r>
                        <a:rPr lang="en-GB" sz="1200" noProof="0" dirty="0"/>
                        <a:t>,000 EUR</a:t>
                      </a:r>
                      <a:r>
                        <a:rPr lang="cs-CZ" sz="1200" baseline="30000" noProof="0" dirty="0"/>
                        <a:t>1)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Quotation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100.00 minus futures rate of interest</a:t>
                      </a:r>
                      <a:r>
                        <a:rPr lang="en-GB" sz="1200" baseline="30000" noProof="0" dirty="0"/>
                        <a:t>2)</a:t>
                      </a:r>
                      <a:r>
                        <a:rPr lang="en-GB" sz="1200" noProof="0" dirty="0"/>
                        <a:t> </a:t>
                      </a:r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Tick size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One basis point (0.01% on annual basis)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Tick value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cs-CZ" sz="1200" noProof="0" dirty="0"/>
                        <a:t>12.5 EUR</a:t>
                      </a:r>
                      <a:r>
                        <a:rPr lang="cs-CZ" sz="1200" baseline="30000" noProof="0" dirty="0"/>
                        <a:t>3)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Initial margin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sz="1200" noProof="0" dirty="0"/>
                        <a:t>50</a:t>
                      </a:r>
                      <a:r>
                        <a:rPr lang="en-GB" sz="1200" noProof="0" dirty="0"/>
                        <a:t>0</a:t>
                      </a:r>
                      <a:r>
                        <a:rPr lang="cs-CZ" sz="1200" noProof="0" dirty="0"/>
                        <a:t> EUR</a:t>
                      </a:r>
                      <a:r>
                        <a:rPr lang="cs-CZ" sz="1200" baseline="30000" noProof="0" dirty="0"/>
                        <a:t>4)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Delivery months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March, June, September, December</a:t>
                      </a:r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Last trading day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Third Wednesday</a:t>
                      </a:r>
                      <a:r>
                        <a:rPr lang="en-GB" sz="1200" baseline="0" noProof="0" dirty="0"/>
                        <a:t> </a:t>
                      </a:r>
                      <a:r>
                        <a:rPr lang="en-GB" sz="1200" noProof="0" dirty="0"/>
                        <a:t>in </a:t>
                      </a:r>
                      <a:r>
                        <a:rPr lang="cs-CZ" sz="1200" noProof="0" dirty="0"/>
                        <a:t>a </a:t>
                      </a:r>
                      <a:r>
                        <a:rPr lang="en-GB" sz="1200" noProof="0" dirty="0"/>
                        <a:t>delivery month, </a:t>
                      </a:r>
                      <a:r>
                        <a:rPr lang="en-US" sz="1200" noProof="0" dirty="0"/>
                        <a:t>@</a:t>
                      </a:r>
                      <a:r>
                        <a:rPr lang="en-GB" sz="1200" noProof="0" dirty="0"/>
                        <a:t>1</a:t>
                      </a:r>
                      <a:r>
                        <a:rPr lang="cs-CZ" sz="1200" noProof="0" dirty="0"/>
                        <a:t>1</a:t>
                      </a:r>
                      <a:r>
                        <a:rPr lang="en-GB" sz="1200" noProof="0" dirty="0"/>
                        <a:t>:</a:t>
                      </a:r>
                      <a:r>
                        <a:rPr lang="cs-CZ" sz="1200" noProof="0" dirty="0"/>
                        <a:t>0</a:t>
                      </a:r>
                      <a:r>
                        <a:rPr lang="en-GB" sz="1200" noProof="0" dirty="0"/>
                        <a:t>0 a.m. </a:t>
                      </a:r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Delivery day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First business day after the last trading day</a:t>
                      </a:r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EDSP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Three-month</a:t>
                      </a:r>
                      <a:r>
                        <a:rPr lang="en-GB" sz="1200" baseline="0" noProof="0" dirty="0"/>
                        <a:t> spot rate on the last trading day</a:t>
                      </a:r>
                      <a:r>
                        <a:rPr lang="en-GB" sz="1200" baseline="30000" noProof="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cs-CZ" sz="1200" baseline="30000" noProof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GB" sz="1200" baseline="300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4" name="TextovéPole 53"/>
          <p:cNvSpPr txBox="1"/>
          <p:nvPr/>
        </p:nvSpPr>
        <p:spPr>
          <a:xfrm>
            <a:off x="6444208" y="2263241"/>
            <a:ext cx="244827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 startAt="2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For example, a futures price of 90.50 implies a three-month interest rate of 9.5%.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ovéPole 54"/>
              <p:cNvSpPr txBox="1"/>
              <p:nvPr/>
            </p:nvSpPr>
            <p:spPr>
              <a:xfrm>
                <a:off x="6444000" y="2832487"/>
                <a:ext cx="2448272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180000" lvl="2" indent="-180000">
                  <a:buClr>
                    <a:srgbClr val="7030A0"/>
                  </a:buClr>
                  <a:buSzPct val="80000"/>
                  <a:buFont typeface="+mj-lt"/>
                  <a:buAutoNum type="arabicParenR" startAt="3"/>
                </a:pPr>
                <a:r>
                  <a:rPr lang="cs-CZ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12.5 = 500,000 </a:t>
                </a:r>
                <a:r>
                  <a:rPr lang="cs-CZ" sz="1200" dirty="0">
                    <a:latin typeface="Cambria Math"/>
                    <a:ea typeface="Cambria Math"/>
                  </a:rPr>
                  <a:t>× 0.0001 ×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cs-CZ" sz="12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cs-CZ" sz="1200" b="0" i="1" smtClean="0">
                            <a:latin typeface="Cambria Math" panose="02040503050406030204" pitchFamily="18" charset="0"/>
                            <a:ea typeface="Cambria Math"/>
                          </a:rPr>
                          <m:t>3</m:t>
                        </m:r>
                      </m:num>
                      <m:den>
                        <m:r>
                          <a:rPr lang="cs-CZ" sz="1200" b="0" i="1" smtClean="0">
                            <a:latin typeface="Cambria Math" panose="02040503050406030204" pitchFamily="18" charset="0"/>
                            <a:ea typeface="Cambria Math"/>
                          </a:rPr>
                          <m:t>12</m:t>
                        </m:r>
                      </m:den>
                    </m:f>
                  </m:oMath>
                </a14:m>
                <a:r>
                  <a:rPr lang="cs-CZ" sz="1200" dirty="0">
                    <a:latin typeface="Cambria Math"/>
                    <a:ea typeface="Cambria Math"/>
                  </a:rPr>
                  <a:t> </a:t>
                </a:r>
              </a:p>
              <a:p>
                <a:pPr marL="444500" lvl="2">
                  <a:buClr>
                    <a:srgbClr val="7030A0"/>
                  </a:buClr>
                  <a:buSzPct val="80000"/>
                </a:pPr>
                <a:r>
                  <a:rPr lang="cs-CZ" sz="1200" dirty="0">
                    <a:latin typeface="Cambria Math"/>
                    <a:ea typeface="Cambria Math"/>
                  </a:rPr>
                  <a:t>  = 50 × ¼.</a:t>
                </a:r>
                <a:endParaRPr lang="en-GB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TextovéPole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000" y="2832487"/>
                <a:ext cx="2448272" cy="461665"/>
              </a:xfrm>
              <a:prstGeom prst="rect">
                <a:avLst/>
              </a:prstGeom>
              <a:blipFill>
                <a:blip r:embed="rId17"/>
                <a:stretch>
                  <a:fillRect t="-56000" r="-8706" b="-50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ovéPole 44"/>
          <p:cNvSpPr txBox="1"/>
          <p:nvPr/>
        </p:nvSpPr>
        <p:spPr>
          <a:xfrm>
            <a:off x="6444208" y="3218992"/>
            <a:ext cx="244827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 startAt="4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Initial margin represents 0.1% of the contract value. </a:t>
            </a:r>
          </a:p>
        </p:txBody>
      </p:sp>
      <p:sp>
        <p:nvSpPr>
          <p:cNvPr id="46" name="TextovéPole 45"/>
          <p:cNvSpPr txBox="1"/>
          <p:nvPr/>
        </p:nvSpPr>
        <p:spPr>
          <a:xfrm>
            <a:off x="6444208" y="3603302"/>
            <a:ext cx="244827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 startAt="5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The exchange contacts a sample of 16 banks offering </a:t>
            </a:r>
            <a:r>
              <a:rPr lang="cs-CZ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a </a:t>
            </a: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3M euro deposit, eliminates the three top and bottom quotes and calculates the average </a:t>
            </a:r>
            <a:r>
              <a:rPr lang="cs-CZ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f the remaining interest rates.</a:t>
            </a:r>
          </a:p>
        </p:txBody>
      </p:sp>
      <p:sp>
        <p:nvSpPr>
          <p:cNvPr id="6" name="Obdélník: se zakulacenými rohy 5">
            <a:extLst>
              <a:ext uri="{FF2B5EF4-FFF2-40B4-BE49-F238E27FC236}">
                <a16:creationId xmlns:a16="http://schemas.microsoft.com/office/drawing/2014/main" id="{70321ADD-5A68-4E6A-B04A-510BD4091210}"/>
              </a:ext>
            </a:extLst>
          </p:cNvPr>
          <p:cNvSpPr/>
          <p:nvPr/>
        </p:nvSpPr>
        <p:spPr>
          <a:xfrm>
            <a:off x="6732000" y="700055"/>
            <a:ext cx="1800000" cy="28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GB" sz="900" dirty="0"/>
              <a:t>Long = Buyer of CD = Lender</a:t>
            </a:r>
          </a:p>
        </p:txBody>
      </p:sp>
      <p:sp>
        <p:nvSpPr>
          <p:cNvPr id="60" name="Obdélník: se zakulacenými rohy 59">
            <a:extLst>
              <a:ext uri="{FF2B5EF4-FFF2-40B4-BE49-F238E27FC236}">
                <a16:creationId xmlns:a16="http://schemas.microsoft.com/office/drawing/2014/main" id="{004F438A-A037-4FD3-B787-4D746502803E}"/>
              </a:ext>
            </a:extLst>
          </p:cNvPr>
          <p:cNvSpPr/>
          <p:nvPr/>
        </p:nvSpPr>
        <p:spPr>
          <a:xfrm>
            <a:off x="6732000" y="1032760"/>
            <a:ext cx="1800000" cy="28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GB" sz="900" dirty="0"/>
              <a:t>Short = Seller of CD = Borrower</a:t>
            </a:r>
          </a:p>
        </p:txBody>
      </p:sp>
    </p:spTree>
    <p:extLst>
      <p:ext uri="{BB962C8B-B14F-4D97-AF65-F5344CB8AC3E}">
        <p14:creationId xmlns:p14="http://schemas.microsoft.com/office/powerpoint/2010/main" val="3006721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1"/>
          </p:nvPr>
        </p:nvSpPr>
        <p:spPr>
          <a:xfrm>
            <a:off x="180000" y="6336000"/>
            <a:ext cx="3312000" cy="360000"/>
          </a:xfrm>
        </p:spPr>
        <p:txBody>
          <a:bodyPr/>
          <a:lstStyle/>
          <a:p>
            <a:r>
              <a:rPr lang="en-GB" dirty="0"/>
              <a:t>Examples of financial futures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>
          <a:xfrm>
            <a:off x="7164000" y="6336000"/>
            <a:ext cx="1800000" cy="360000"/>
          </a:xfrm>
        </p:spPr>
        <p:txBody>
          <a:bodyPr/>
          <a:lstStyle/>
          <a:p>
            <a:pPr algn="r"/>
            <a:fld id="{DFE5482F-2F05-49C5-9E15-73F945A41231}" type="slidenum">
              <a:rPr lang="cs-CZ" smtClean="0"/>
              <a:pPr algn="r"/>
              <a:t>8</a:t>
            </a:fld>
            <a:endParaRPr lang="cs-CZ" dirty="0"/>
          </a:p>
        </p:txBody>
      </p:sp>
      <p:sp>
        <p:nvSpPr>
          <p:cNvPr id="4" name="Nadpis 3"/>
          <p:cNvSpPr>
            <a:spLocks noGrp="1"/>
          </p:cNvSpPr>
          <p:nvPr>
            <p:ph type="title"/>
          </p:nvPr>
        </p:nvSpPr>
        <p:spPr>
          <a:xfrm>
            <a:off x="144000" y="144000"/>
            <a:ext cx="6588240" cy="648072"/>
          </a:xfrm>
        </p:spPr>
        <p:txBody>
          <a:bodyPr/>
          <a:lstStyle/>
          <a:p>
            <a:r>
              <a:rPr lang="en-GB" dirty="0"/>
              <a:t>Short-term interest rate futures (</a:t>
            </a:r>
            <a:r>
              <a:rPr lang="cs-CZ" dirty="0"/>
              <a:t>2</a:t>
            </a:r>
            <a:r>
              <a:rPr lang="en-GB" dirty="0"/>
              <a:t>)</a:t>
            </a:r>
            <a:endParaRPr lang="en-GB" dirty="0">
              <a:solidFill>
                <a:srgbClr val="000000"/>
              </a:solidFill>
            </a:endParaRPr>
          </a:p>
        </p:txBody>
      </p:sp>
      <p:graphicFrame>
        <p:nvGraphicFramePr>
          <p:cNvPr id="6" name="Tabulk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804032"/>
              </p:ext>
            </p:extLst>
          </p:nvPr>
        </p:nvGraphicFramePr>
        <p:xfrm>
          <a:off x="1748384" y="1600408"/>
          <a:ext cx="5703616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endParaRPr lang="cs-CZ" sz="1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TextovéPole 28"/>
          <p:cNvSpPr txBox="1"/>
          <p:nvPr/>
        </p:nvSpPr>
        <p:spPr>
          <a:xfrm>
            <a:off x="864000" y="954000"/>
            <a:ext cx="298792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Closing out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ovéPole 35"/>
              <p:cNvSpPr txBox="1"/>
              <p:nvPr/>
            </p:nvSpPr>
            <p:spPr>
              <a:xfrm>
                <a:off x="1511609" y="2370144"/>
                <a:ext cx="594039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8000" indent="-288000">
                  <a:buClr>
                    <a:srgbClr val="7030A0"/>
                  </a:buClr>
                  <a:buFont typeface="Wingdings" panose="05000000000000000000" pitchFamily="2" charset="2"/>
                  <a:buChar char="§"/>
                </a:pPr>
                <a:r>
                  <a:rPr lang="en-GB" sz="1600" dirty="0">
                    <a:latin typeface="Cambria Math"/>
                    <a:ea typeface="Cambria Math"/>
                  </a:rPr>
                  <a:t>The long earned a net profit</a:t>
                </a:r>
                <a:r>
                  <a:rPr lang="cs-CZ" sz="1600" dirty="0">
                    <a:latin typeface="Cambria Math"/>
                    <a:ea typeface="Cambria Math"/>
                  </a:rPr>
                  <a:t> =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/>
                        <a:ea typeface="Cambria Math"/>
                      </a:rPr>
                      <m:t>1×</m:t>
                    </m:r>
                    <m:r>
                      <a:rPr lang="cs-CZ" sz="1600" b="0" i="1" smtClean="0">
                        <a:latin typeface="Cambria Math"/>
                        <a:ea typeface="Cambria Math"/>
                      </a:rPr>
                      <m:t>5</m:t>
                    </m:r>
                    <m:r>
                      <a:rPr lang="en-GB" sz="1600" i="1">
                        <a:latin typeface="Cambria Math"/>
                        <a:ea typeface="Cambria Math"/>
                      </a:rPr>
                      <m:t>×</m:t>
                    </m:r>
                    <m:r>
                      <a:rPr lang="cs-CZ" sz="1600" b="0" i="1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GB" sz="1600" i="1">
                        <a:latin typeface="Cambria Math"/>
                        <a:ea typeface="Cambria Math"/>
                      </a:rPr>
                      <m:t>2.5=</m:t>
                    </m:r>
                    <m:r>
                      <a:rPr lang="cs-CZ" sz="1600" b="0" i="1" smtClean="0">
                        <a:latin typeface="Cambria Math"/>
                        <a:ea typeface="Cambria Math"/>
                      </a:rPr>
                      <m:t>62.5 </m:t>
                    </m:r>
                  </m:oMath>
                </a14:m>
                <a:r>
                  <a:rPr lang="en-GB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cs-CZ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EUR</a:t>
                </a:r>
                <a:endParaRPr lang="en-GB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5" name="TextovéPole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609" y="2370144"/>
                <a:ext cx="5940391" cy="338554"/>
              </a:xfrm>
              <a:prstGeom prst="rect">
                <a:avLst/>
              </a:prstGeom>
              <a:blipFill rotWithShape="1">
                <a:blip r:embed="rId17"/>
                <a:stretch>
                  <a:fillRect l="-411" t="-7273" b="-21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ovéPole 35"/>
              <p:cNvSpPr txBox="1"/>
              <p:nvPr/>
            </p:nvSpPr>
            <p:spPr>
              <a:xfrm>
                <a:off x="1512000" y="2111592"/>
                <a:ext cx="594000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8000" indent="-288000">
                  <a:buClr>
                    <a:srgbClr val="7030A0"/>
                  </a:buClr>
                  <a:buFont typeface="Wingdings" panose="05000000000000000000" pitchFamily="2" charset="2"/>
                  <a:buChar char="§"/>
                </a:pPr>
                <a:r>
                  <a:rPr lang="en-GB" sz="1600" dirty="0">
                    <a:latin typeface="Cambria Math"/>
                    <a:ea typeface="Cambria Math"/>
                  </a:rPr>
                  <a:t>The futures price increased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cs-CZ" sz="1600" b="0" i="1" smtClean="0">
                            <a:latin typeface="Cambria Math"/>
                            <a:ea typeface="Cambria Math"/>
                          </a:rPr>
                          <m:t>9055</m:t>
                        </m:r>
                        <m:r>
                          <a:rPr lang="en-GB" sz="1600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cs-CZ" sz="1600" b="0" i="1" smtClean="0">
                            <a:latin typeface="Cambria Math"/>
                            <a:ea typeface="Cambria Math"/>
                          </a:rPr>
                          <m:t>9050</m:t>
                        </m:r>
                      </m:e>
                    </m:d>
                    <m:r>
                      <a:rPr lang="en-GB" sz="16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cs-CZ" sz="1600" b="0" i="1" smtClean="0">
                        <a:latin typeface="Cambria Math"/>
                        <a:ea typeface="Cambria Math"/>
                      </a:rPr>
                      <m:t>5</m:t>
                    </m:r>
                    <m:r>
                      <a:rPr lang="en-GB" sz="1600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GB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ticks</a:t>
                </a:r>
              </a:p>
            </p:txBody>
          </p:sp>
        </mc:Choice>
        <mc:Fallback xmlns="">
          <p:sp>
            <p:nvSpPr>
              <p:cNvPr id="77" name="TextovéPole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000" y="2111592"/>
                <a:ext cx="5940000" cy="338554"/>
              </a:xfrm>
              <a:prstGeom prst="rect">
                <a:avLst/>
              </a:prstGeom>
              <a:blipFill rotWithShape="1">
                <a:blip r:embed="rId18"/>
                <a:stretch>
                  <a:fillRect l="-308" t="-7143" b="-196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vnoramenný trojúhelník 6"/>
          <p:cNvSpPr/>
          <p:nvPr/>
        </p:nvSpPr>
        <p:spPr>
          <a:xfrm rot="10800000">
            <a:off x="1698490" y="1455710"/>
            <a:ext cx="107447" cy="124593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4" name="Rovnoramenný trojúhelník 63"/>
          <p:cNvSpPr/>
          <p:nvPr/>
        </p:nvSpPr>
        <p:spPr>
          <a:xfrm rot="10800000">
            <a:off x="2344536" y="1455710"/>
            <a:ext cx="118192" cy="124593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5" name="Rovnoramenný trojúhelník 64"/>
          <p:cNvSpPr/>
          <p:nvPr/>
        </p:nvSpPr>
        <p:spPr>
          <a:xfrm rot="10800000">
            <a:off x="3082225" y="1455710"/>
            <a:ext cx="107447" cy="124593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8" name="TextovéPole 67"/>
          <p:cNvSpPr txBox="1"/>
          <p:nvPr/>
        </p:nvSpPr>
        <p:spPr>
          <a:xfrm>
            <a:off x="2975336" y="1260000"/>
            <a:ext cx="68891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Delivery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ovéPole 68"/>
              <p:cNvSpPr txBox="1"/>
              <p:nvPr/>
            </p:nvSpPr>
            <p:spPr>
              <a:xfrm>
                <a:off x="1914792" y="1780408"/>
                <a:ext cx="97604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cs-CZ" sz="10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  <m:r>
                        <a:rPr lang="en-GB" sz="10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cs-CZ" sz="1000" b="0" i="1" smtClean="0">
                          <a:latin typeface="Cambria Math"/>
                          <a:ea typeface="Cambria Math" panose="02040503050406030204" pitchFamily="18" charset="0"/>
                        </a:rPr>
                        <m:t>90.55</m:t>
                      </m:r>
                    </m:oMath>
                  </m:oMathPara>
                </a14:m>
                <a:endParaRPr lang="en-GB" sz="1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en-GB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Sell </a:t>
                </a:r>
                <a:r>
                  <a:rPr lang="cs-CZ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GB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contract</a:t>
                </a:r>
              </a:p>
            </p:txBody>
          </p:sp>
        </mc:Choice>
        <mc:Fallback xmlns="">
          <p:sp>
            <p:nvSpPr>
              <p:cNvPr id="69" name="TextovéPole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792" y="1780408"/>
                <a:ext cx="976041" cy="400110"/>
              </a:xfrm>
              <a:prstGeom prst="rect">
                <a:avLst/>
              </a:prstGeom>
              <a:blipFill rotWithShape="1">
                <a:blip r:embed="rId19"/>
                <a:stretch>
                  <a:fillRect b="-60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ovéPole 69"/>
              <p:cNvSpPr txBox="1"/>
              <p:nvPr/>
            </p:nvSpPr>
            <p:spPr>
              <a:xfrm>
                <a:off x="943248" y="1780408"/>
                <a:ext cx="101969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cs-CZ" sz="10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0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cs-CZ" sz="1000" b="0" i="1" smtClean="0">
                          <a:latin typeface="Cambria Math"/>
                          <a:ea typeface="Cambria Math" panose="02040503050406030204" pitchFamily="18" charset="0"/>
                        </a:rPr>
                        <m:t>90.50</m:t>
                      </m:r>
                    </m:oMath>
                  </m:oMathPara>
                </a14:m>
                <a:endParaRPr lang="cs-CZ" sz="10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cs-CZ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Buy 1</a:t>
                </a:r>
                <a:r>
                  <a:rPr lang="en-GB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contract</a:t>
                </a:r>
              </a:p>
            </p:txBody>
          </p:sp>
        </mc:Choice>
        <mc:Fallback xmlns="">
          <p:sp>
            <p:nvSpPr>
              <p:cNvPr id="70" name="TextovéPole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248" y="1780408"/>
                <a:ext cx="1019697" cy="400110"/>
              </a:xfrm>
              <a:prstGeom prst="rect">
                <a:avLst/>
              </a:prstGeom>
              <a:blipFill rotWithShape="1">
                <a:blip r:embed="rId20"/>
                <a:stretch>
                  <a:fillRect b="-60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ovéPole 35"/>
          <p:cNvSpPr txBox="1"/>
          <p:nvPr/>
        </p:nvSpPr>
        <p:spPr>
          <a:xfrm>
            <a:off x="1513197" y="2629824"/>
            <a:ext cx="190667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000" indent="-288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cs-CZ" sz="1600" dirty="0">
                <a:latin typeface="Cambria Math"/>
                <a:ea typeface="Cambria Math"/>
              </a:rPr>
              <a:t>R</a:t>
            </a:r>
            <a:r>
              <a:rPr lang="en-GB" sz="1600" dirty="0">
                <a:latin typeface="Cambria Math"/>
                <a:ea typeface="Cambria Math"/>
              </a:rPr>
              <a:t>ate of return</a:t>
            </a:r>
          </a:p>
        </p:txBody>
      </p:sp>
      <p:sp>
        <p:nvSpPr>
          <p:cNvPr id="78" name="TextovéPole 77"/>
          <p:cNvSpPr txBox="1"/>
          <p:nvPr/>
        </p:nvSpPr>
        <p:spPr>
          <a:xfrm>
            <a:off x="864000" y="3312000"/>
            <a:ext cx="298792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cs-CZ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Cash settlement</a:t>
            </a:r>
            <a:endParaRPr lang="en-GB"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7" name="TextovéPole 56"/>
          <p:cNvSpPr txBox="1"/>
          <p:nvPr/>
        </p:nvSpPr>
        <p:spPr>
          <a:xfrm>
            <a:off x="1367346" y="1260000"/>
            <a:ext cx="53434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Today</a:t>
            </a:r>
          </a:p>
        </p:txBody>
      </p:sp>
      <p:sp>
        <p:nvSpPr>
          <p:cNvPr id="59" name="TextovéPole 58"/>
          <p:cNvSpPr txBox="1"/>
          <p:nvPr/>
        </p:nvSpPr>
        <p:spPr>
          <a:xfrm>
            <a:off x="1868183" y="1260000"/>
            <a:ext cx="107752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Two weeks later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ovéPole 59"/>
              <p:cNvSpPr txBox="1"/>
              <p:nvPr/>
            </p:nvSpPr>
            <p:spPr>
              <a:xfrm>
                <a:off x="2962063" y="1789240"/>
                <a:ext cx="976041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cs-CZ" sz="1000" i="0" smtClean="0">
                          <a:latin typeface="Cambria Math"/>
                          <a:ea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cs-CZ" sz="1000" b="0" i="0" smtClean="0">
                          <a:latin typeface="Cambria Math"/>
                          <a:ea typeface="Cambria Math" panose="02040503050406030204" pitchFamily="18" charset="0"/>
                        </a:rPr>
                        <m:t>DSP</m:t>
                      </m:r>
                      <m:r>
                        <a:rPr lang="en-GB" sz="10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cs-CZ" sz="1000" b="0" i="1" smtClean="0">
                          <a:latin typeface="Cambria Math"/>
                          <a:ea typeface="Cambria Math" panose="02040503050406030204" pitchFamily="18" charset="0"/>
                        </a:rPr>
                        <m:t>91.25</m:t>
                      </m:r>
                    </m:oMath>
                  </m:oMathPara>
                </a14:m>
                <a:endParaRPr lang="en-GB" sz="1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0" name="TextovéPole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063" y="1789240"/>
                <a:ext cx="976041" cy="246221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ovnoramenný trojúhelník 60"/>
          <p:cNvSpPr/>
          <p:nvPr/>
        </p:nvSpPr>
        <p:spPr>
          <a:xfrm rot="10800000">
            <a:off x="7390802" y="1456408"/>
            <a:ext cx="107447" cy="124593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2" name="TextovéPole 61"/>
          <p:cNvSpPr txBox="1"/>
          <p:nvPr/>
        </p:nvSpPr>
        <p:spPr>
          <a:xfrm>
            <a:off x="6918184" y="1260000"/>
            <a:ext cx="107322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End of deposit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ovéPole 35"/>
              <p:cNvSpPr txBox="1"/>
              <p:nvPr/>
            </p:nvSpPr>
            <p:spPr>
              <a:xfrm>
                <a:off x="1512224" y="3641368"/>
                <a:ext cx="669595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8000" indent="-288000">
                  <a:buClr>
                    <a:srgbClr val="7030A0"/>
                  </a:buClr>
                  <a:buFont typeface="Wingdings" panose="05000000000000000000" pitchFamily="2" charset="2"/>
                  <a:buChar char="§"/>
                </a:pPr>
                <a:r>
                  <a:rPr lang="en-GB" sz="1600" dirty="0">
                    <a:latin typeface="Cambria Math"/>
                    <a:ea typeface="Cambria Math"/>
                  </a:rPr>
                  <a:t>The long earned a net profit</a:t>
                </a:r>
                <a:r>
                  <a:rPr lang="cs-CZ" sz="1600" dirty="0">
                    <a:latin typeface="Cambria Math"/>
                    <a:ea typeface="Cambria Math"/>
                  </a:rPr>
                  <a:t> =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/>
                        <a:ea typeface="Cambria Math"/>
                      </a:rPr>
                      <m:t>1×</m:t>
                    </m:r>
                    <m:r>
                      <a:rPr lang="cs-CZ" sz="1600" b="0" i="1" smtClean="0">
                        <a:latin typeface="Cambria Math"/>
                        <a:ea typeface="Cambria Math"/>
                      </a:rPr>
                      <m:t>(9125−9050)</m:t>
                    </m:r>
                    <m:r>
                      <a:rPr lang="en-GB" sz="1600" i="1">
                        <a:latin typeface="Cambria Math"/>
                        <a:ea typeface="Cambria Math"/>
                      </a:rPr>
                      <m:t>×</m:t>
                    </m:r>
                    <m:r>
                      <a:rPr lang="cs-CZ" sz="1600" b="0" i="1" smtClean="0">
                        <a:latin typeface="Cambria Math"/>
                        <a:ea typeface="Cambria Math"/>
                      </a:rPr>
                      <m:t>1</m:t>
                    </m:r>
                    <m:r>
                      <a:rPr lang="en-GB" sz="1600" i="1">
                        <a:latin typeface="Cambria Math"/>
                        <a:ea typeface="Cambria Math"/>
                      </a:rPr>
                      <m:t>2.5=</m:t>
                    </m:r>
                    <m:r>
                      <a:rPr lang="cs-CZ" sz="1600" b="0" i="1" smtClean="0">
                        <a:latin typeface="Cambria Math"/>
                        <a:ea typeface="Cambria Math"/>
                      </a:rPr>
                      <m:t>937.5 </m:t>
                    </m:r>
                  </m:oMath>
                </a14:m>
                <a:r>
                  <a:rPr lang="en-GB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cs-CZ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EUR</a:t>
                </a:r>
                <a:endParaRPr lang="en-GB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3" name="TextovéPole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224" y="3641368"/>
                <a:ext cx="6695955" cy="338554"/>
              </a:xfrm>
              <a:prstGeom prst="rect">
                <a:avLst/>
              </a:prstGeom>
              <a:blipFill>
                <a:blip r:embed="rId22"/>
                <a:stretch>
                  <a:fillRect l="-364" t="-7143" b="-196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TextovéPole 35"/>
          <p:cNvSpPr txBox="1"/>
          <p:nvPr/>
        </p:nvSpPr>
        <p:spPr>
          <a:xfrm>
            <a:off x="1513197" y="3896138"/>
            <a:ext cx="24249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000" indent="-288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dirty="0">
                <a:latin typeface="Cambria Math"/>
                <a:ea typeface="Cambria Math"/>
              </a:rPr>
              <a:t>Implied deposit rate</a:t>
            </a:r>
          </a:p>
        </p:txBody>
      </p:sp>
      <p:sp>
        <p:nvSpPr>
          <p:cNvPr id="81" name="TextovéPole 80"/>
          <p:cNvSpPr txBox="1"/>
          <p:nvPr/>
        </p:nvSpPr>
        <p:spPr>
          <a:xfrm>
            <a:off x="864000" y="4536000"/>
            <a:ext cx="298792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Physical delivery</a:t>
            </a:r>
          </a:p>
        </p:txBody>
      </p:sp>
      <p:sp>
        <p:nvSpPr>
          <p:cNvPr id="82" name="TextovéPole 35"/>
          <p:cNvSpPr txBox="1"/>
          <p:nvPr/>
        </p:nvSpPr>
        <p:spPr>
          <a:xfrm>
            <a:off x="1511096" y="4858895"/>
            <a:ext cx="738138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000" indent="-288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dirty="0">
                <a:latin typeface="Cambria Math"/>
                <a:ea typeface="Cambria Math"/>
              </a:rPr>
              <a:t>The short arranges three-month deposit bearing an interest rate of 8.7%</a:t>
            </a:r>
            <a:endParaRPr lang="en-GB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3" name="TextovéPole 35"/>
          <p:cNvSpPr txBox="1"/>
          <p:nvPr/>
        </p:nvSpPr>
        <p:spPr>
          <a:xfrm>
            <a:off x="1512500" y="5104065"/>
            <a:ext cx="737998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000" indent="-288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dirty="0">
                <a:latin typeface="Cambria Math"/>
                <a:ea typeface="Cambria Math"/>
              </a:rPr>
              <a:t>The short compensates the long for the difference of 5 bp between the arranged deposit rate 8.70% and EDSP rate 8.75%</a:t>
            </a:r>
            <a:endParaRPr lang="en-GB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4" name="TextovéPole 35"/>
          <p:cNvSpPr txBox="1"/>
          <p:nvPr/>
        </p:nvSpPr>
        <p:spPr>
          <a:xfrm>
            <a:off x="1511096" y="5825984"/>
            <a:ext cx="748890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dirty="0">
                <a:latin typeface="Cambria Math"/>
                <a:ea typeface="Cambria Math"/>
              </a:rPr>
              <a:t>The compensation allows the long to make a deposit at the opening rate 9.5% </a:t>
            </a:r>
            <a:endParaRPr lang="en-GB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0" name="Přímá spojnice se šipkou 9"/>
          <p:cNvCxnSpPr/>
          <p:nvPr/>
        </p:nvCxnSpPr>
        <p:spPr>
          <a:xfrm>
            <a:off x="3196760" y="1477696"/>
            <a:ext cx="4176464" cy="0"/>
          </a:xfrm>
          <a:prstGeom prst="straightConnector1">
            <a:avLst/>
          </a:prstGeom>
          <a:ln w="15875">
            <a:solidFill>
              <a:schemeClr val="accent5"/>
            </a:solidFill>
            <a:headEnd type="triangl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ovéPole 65"/>
          <p:cNvSpPr txBox="1"/>
          <p:nvPr/>
        </p:nvSpPr>
        <p:spPr>
          <a:xfrm>
            <a:off x="4211960" y="1260000"/>
            <a:ext cx="191586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Three-month deposit period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ovéPole 35"/>
              <p:cNvSpPr txBox="1"/>
              <p:nvPr/>
            </p:nvSpPr>
            <p:spPr>
              <a:xfrm>
                <a:off x="2124000" y="5599600"/>
                <a:ext cx="506637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rgbClr val="7030A0"/>
                  </a:buClr>
                </a:pPr>
                <a:r>
                  <a:rPr lang="en-GB" sz="1600" dirty="0">
                    <a:latin typeface="Cambria Math"/>
                    <a:ea typeface="Cambria Math"/>
                  </a:rPr>
                  <a:t>invoice =</a:t>
                </a:r>
                <a:r>
                  <a:rPr lang="en-GB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600">
                        <a:latin typeface="Cambria Math"/>
                        <a:ea typeface="Cambria Math" panose="02040503050406030204" pitchFamily="18" charset="0"/>
                      </a:rPr>
                      <m:t>0.0005</m:t>
                    </m:r>
                    <m:r>
                      <a:rPr lang="en-GB" sz="1600" i="1">
                        <a:latin typeface="Cambria Math"/>
                        <a:ea typeface="Cambria Math"/>
                      </a:rPr>
                      <m:t>×500,000×(91/365)</m:t>
                    </m:r>
                    <m:r>
                      <m:rPr>
                        <m:nor/>
                      </m:rPr>
                      <a:rPr lang="en-GB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62.33 </m:t>
                    </m:r>
                    <m:r>
                      <m:rPr>
                        <m:nor/>
                      </m:rPr>
                      <a:rPr lang="en-GB" sz="16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EUR</m:t>
                    </m:r>
                  </m:oMath>
                </a14:m>
                <a:endParaRPr lang="en-GB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7" name="TextovéPole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000" y="5599600"/>
                <a:ext cx="5066371" cy="338554"/>
              </a:xfrm>
              <a:prstGeom prst="rect">
                <a:avLst/>
              </a:prstGeom>
              <a:blipFill>
                <a:blip r:embed="rId23"/>
                <a:stretch>
                  <a:fillRect l="-601" t="-7273" b="-21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ovéPole 8"/>
              <p:cNvSpPr txBox="1"/>
              <p:nvPr/>
            </p:nvSpPr>
            <p:spPr>
              <a:xfrm>
                <a:off x="7524198" y="3938064"/>
                <a:ext cx="1517723" cy="3933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sz="900" b="0" i="1" smtClean="0">
                          <a:latin typeface="Cambria Math"/>
                          <a:ea typeface="Cambria Math" panose="02040503050406030204" pitchFamily="18" charset="0"/>
                        </a:rPr>
                        <m:t>500,000</m:t>
                      </m:r>
                      <m:r>
                        <a:rPr lang="cs-CZ" sz="9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cs-CZ" sz="900" b="0" i="1" smtClean="0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cs-CZ" sz="900" b="0" i="1" smtClean="0">
                          <a:latin typeface="Cambria Math"/>
                          <a:ea typeface="Cambria Math"/>
                        </a:rPr>
                        <m:t>×</m:t>
                      </m:r>
                      <m:box>
                        <m:boxPr>
                          <m:ctrlPr>
                            <a:rPr lang="cs-CZ" sz="9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cs-CZ" sz="9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cs-CZ" sz="900" b="0" i="1" smtClean="0">
                                  <a:latin typeface="Cambria Math"/>
                                  <a:ea typeface="Cambria Math"/>
                                </a:rPr>
                                <m:t>91</m:t>
                              </m:r>
                            </m:num>
                            <m:den>
                              <m:r>
                                <a:rPr lang="cs-CZ" sz="900" b="0" i="1" smtClean="0">
                                  <a:latin typeface="Cambria Math"/>
                                  <a:ea typeface="Cambria Math"/>
                                </a:rPr>
                                <m:t>365</m:t>
                              </m:r>
                            </m:den>
                          </m:f>
                        </m:e>
                      </m:box>
                      <m:r>
                        <a:rPr lang="cs-CZ" sz="900" b="0" i="1" smtClean="0">
                          <a:latin typeface="Cambria Math"/>
                          <a:ea typeface="Cambria Math"/>
                        </a:rPr>
                        <m:t>=937.5</m:t>
                      </m:r>
                    </m:oMath>
                  </m:oMathPara>
                </a14:m>
                <a:endParaRPr lang="cs-CZ" sz="900" b="0" i="1" dirty="0">
                  <a:latin typeface="Cambria Math"/>
                  <a:ea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sz="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cs-CZ" sz="900" b="0" i="1" smtClean="0">
                          <a:latin typeface="Cambria Math" panose="02040503050406030204" pitchFamily="18" charset="0"/>
                          <a:ea typeface="Cambria Math"/>
                        </a:rPr>
                        <m:t>𝑟</m:t>
                      </m:r>
                      <m:r>
                        <a:rPr lang="cs-CZ" sz="900" b="0" i="1" smtClean="0">
                          <a:latin typeface="Cambria Math" panose="02040503050406030204" pitchFamily="18" charset="0"/>
                          <a:ea typeface="Cambria Math"/>
                        </a:rPr>
                        <m:t>=0.00752</m:t>
                      </m:r>
                    </m:oMath>
                  </m:oMathPara>
                </a14:m>
                <a:endParaRPr lang="cs-CZ" sz="900" b="0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9" name="TextovéPol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4198" y="3938064"/>
                <a:ext cx="1517723" cy="3933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ovéPole 71"/>
              <p:cNvSpPr txBox="1"/>
              <p:nvPr/>
            </p:nvSpPr>
            <p:spPr>
              <a:xfrm>
                <a:off x="7523878" y="4275091"/>
                <a:ext cx="1517723" cy="5758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cs-CZ" sz="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s-CZ" sz="900" i="1">
                              <a:latin typeface="Cambria Math"/>
                              <a:ea typeface="Cambria Math" panose="02040503050406030204" pitchFamily="18" charset="0"/>
                            </a:rPr>
                            <m:t>500,000</m:t>
                          </m:r>
                          <m:r>
                            <a:rPr lang="cs-CZ" sz="900" i="1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cs-CZ" sz="900" i="1">
                              <a:latin typeface="Cambria Math"/>
                              <a:ea typeface="Cambria Math"/>
                            </a:rPr>
                            <m:t>𝑟</m:t>
                          </m:r>
                          <m:r>
                            <a:rPr lang="cs-CZ" sz="900" i="1">
                              <a:latin typeface="Cambria Math"/>
                              <a:ea typeface="Cambria Math"/>
                            </a:rPr>
                            <m:t>×</m:t>
                          </m:r>
                          <m:box>
                            <m:boxPr>
                              <m:ctrlPr>
                                <a:rPr lang="cs-CZ" sz="9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cs-CZ" sz="9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cs-CZ" sz="900" i="1">
                                      <a:latin typeface="Cambria Math"/>
                                      <a:ea typeface="Cambria Math"/>
                                    </a:rPr>
                                    <m:t>91</m:t>
                                  </m:r>
                                </m:num>
                                <m:den>
                                  <m:r>
                                    <a:rPr lang="cs-CZ" sz="900" i="1">
                                      <a:latin typeface="Cambria Math"/>
                                      <a:ea typeface="Cambria Math"/>
                                    </a:rPr>
                                    <m:t>365</m:t>
                                  </m:r>
                                </m:den>
                              </m:f>
                            </m:e>
                          </m:box>
                        </m:num>
                        <m:den>
                          <m:r>
                            <a:rPr lang="cs-CZ" sz="9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cs-CZ" sz="900" i="1">
                              <a:latin typeface="Cambria Math"/>
                              <a:ea typeface="Cambria Math"/>
                            </a:rPr>
                            <m:t>𝑟</m:t>
                          </m:r>
                          <m:r>
                            <a:rPr lang="cs-CZ" sz="900" i="1">
                              <a:latin typeface="Cambria Math"/>
                              <a:ea typeface="Cambria Math"/>
                            </a:rPr>
                            <m:t>×</m:t>
                          </m:r>
                          <m:box>
                            <m:boxPr>
                              <m:ctrlPr>
                                <a:rPr lang="cs-CZ" sz="9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cs-CZ" sz="9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cs-CZ" sz="900" i="1">
                                      <a:latin typeface="Cambria Math"/>
                                      <a:ea typeface="Cambria Math"/>
                                    </a:rPr>
                                    <m:t>91</m:t>
                                  </m:r>
                                </m:num>
                                <m:den>
                                  <m:r>
                                    <a:rPr lang="cs-CZ" sz="900" i="1">
                                      <a:latin typeface="Cambria Math"/>
                                      <a:ea typeface="Cambria Math"/>
                                    </a:rPr>
                                    <m:t>365</m:t>
                                  </m:r>
                                </m:den>
                              </m:f>
                            </m:e>
                          </m:box>
                        </m:den>
                      </m:f>
                      <m:r>
                        <a:rPr lang="cs-CZ" sz="900" b="0" i="1" smtClean="0">
                          <a:latin typeface="Cambria Math"/>
                          <a:ea typeface="Cambria Math"/>
                        </a:rPr>
                        <m:t>=937.5</m:t>
                      </m:r>
                    </m:oMath>
                  </m:oMathPara>
                </a14:m>
                <a:endParaRPr lang="cs-CZ" sz="900" b="0" i="1" dirty="0">
                  <a:latin typeface="Cambria Math"/>
                  <a:ea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s-CZ" sz="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cs-CZ" sz="900" b="0" i="1" smtClean="0">
                          <a:latin typeface="Cambria Math" panose="02040503050406030204" pitchFamily="18" charset="0"/>
                          <a:ea typeface="Cambria Math"/>
                        </a:rPr>
                        <m:t>𝑟</m:t>
                      </m:r>
                      <m:r>
                        <a:rPr lang="cs-CZ" sz="900" b="0" i="1" smtClean="0">
                          <a:latin typeface="Cambria Math" panose="02040503050406030204" pitchFamily="18" charset="0"/>
                          <a:ea typeface="Cambria Math"/>
                        </a:rPr>
                        <m:t>=0.00753</m:t>
                      </m:r>
                    </m:oMath>
                  </m:oMathPara>
                </a14:m>
                <a:endParaRPr lang="cs-CZ" sz="900" i="1" dirty="0">
                  <a:latin typeface="Cambria Math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2" name="TextovéPole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878" y="4275091"/>
                <a:ext cx="1517723" cy="57586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ovéPole 35">
                <a:extLst>
                  <a:ext uri="{FF2B5EF4-FFF2-40B4-BE49-F238E27FC236}">
                    <a16:creationId xmlns:a16="http://schemas.microsoft.com/office/drawing/2014/main" id="{C416DCEF-60F0-44D2-A927-85152647CCF9}"/>
                  </a:ext>
                </a:extLst>
              </p:cNvPr>
              <p:cNvSpPr txBox="1"/>
              <p:nvPr/>
            </p:nvSpPr>
            <p:spPr>
              <a:xfrm>
                <a:off x="1800000" y="2880000"/>
                <a:ext cx="3462216" cy="5014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rgbClr val="7030A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cs-CZ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ROR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cs-CZ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periodic</m:t>
                          </m:r>
                        </m:sub>
                      </m:sSub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s-CZ" sz="1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62.5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1400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cs-CZ" sz="1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  <m:r>
                        <a:rPr lang="en-GB" sz="14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/>
                        </a:rPr>
                        <m:t>0.125</m:t>
                      </m:r>
                      <m:r>
                        <a:rPr lang="en-GB" sz="14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/>
                        </a:rPr>
                        <m:t>12.5</m:t>
                      </m:r>
                      <m:r>
                        <a:rPr lang="en-GB" sz="1400" b="0" i="1" smtClean="0">
                          <a:latin typeface="Cambria Math"/>
                          <a:ea typeface="Cambria Math"/>
                        </a:rPr>
                        <m:t>%</m:t>
                      </m:r>
                    </m:oMath>
                  </m:oMathPara>
                </a14:m>
                <a:endParaRPr lang="en-GB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0" name="TextovéPole 35">
                <a:extLst>
                  <a:ext uri="{FF2B5EF4-FFF2-40B4-BE49-F238E27FC236}">
                    <a16:creationId xmlns:a16="http://schemas.microsoft.com/office/drawing/2014/main" id="{C416DCEF-60F0-44D2-A927-85152647C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000" y="2880000"/>
                <a:ext cx="3462216" cy="501419"/>
              </a:xfrm>
              <a:prstGeom prst="rect">
                <a:avLst/>
              </a:prstGeom>
              <a:blipFill>
                <a:blip r:embed="rId26"/>
                <a:stretch>
                  <a:fillRect b="-12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ovéPole 35">
                <a:extLst>
                  <a:ext uri="{FF2B5EF4-FFF2-40B4-BE49-F238E27FC236}">
                    <a16:creationId xmlns:a16="http://schemas.microsoft.com/office/drawing/2014/main" id="{2A88795B-EDA4-4D46-9223-804366D6A965}"/>
                  </a:ext>
                </a:extLst>
              </p:cNvPr>
              <p:cNvSpPr txBox="1"/>
              <p:nvPr/>
            </p:nvSpPr>
            <p:spPr>
              <a:xfrm>
                <a:off x="5220000" y="2880000"/>
                <a:ext cx="3744000" cy="5000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rgbClr val="7030A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cs-CZ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ROR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cs-CZ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nnuali</m:t>
                          </m:r>
                          <m:r>
                            <m:rPr>
                              <m:sty m:val="p"/>
                            </m:rPr>
                            <a:rPr lang="cs-CZ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z</m:t>
                          </m:r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ed</m:t>
                          </m:r>
                        </m:sub>
                      </m:sSub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=0.125×</m:t>
                      </m:r>
                      <m:f>
                        <m:fPr>
                          <m:ctrlP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365</m:t>
                          </m:r>
                        </m:num>
                        <m:den>
                          <m: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4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/>
                        </a:rPr>
                        <m:t>3.26=326</m:t>
                      </m:r>
                      <m:r>
                        <a:rPr lang="en-GB" sz="1400" b="0" i="1" smtClean="0">
                          <a:latin typeface="Cambria Math"/>
                          <a:ea typeface="Cambria Math"/>
                        </a:rPr>
                        <m:t>%</m:t>
                      </m:r>
                    </m:oMath>
                  </m:oMathPara>
                </a14:m>
                <a:endParaRPr lang="en-GB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5" name="TextovéPole 35">
                <a:extLst>
                  <a:ext uri="{FF2B5EF4-FFF2-40B4-BE49-F238E27FC236}">
                    <a16:creationId xmlns:a16="http://schemas.microsoft.com/office/drawing/2014/main" id="{2A88795B-EDA4-4D46-9223-804366D6A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00" y="2880000"/>
                <a:ext cx="3744000" cy="500009"/>
              </a:xfrm>
              <a:prstGeom prst="rect">
                <a:avLst/>
              </a:prstGeom>
              <a:blipFill>
                <a:blip r:embed="rId27"/>
                <a:stretch>
                  <a:fillRect b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ovéPole 35">
                <a:extLst>
                  <a:ext uri="{FF2B5EF4-FFF2-40B4-BE49-F238E27FC236}">
                    <a16:creationId xmlns:a16="http://schemas.microsoft.com/office/drawing/2014/main" id="{8B0A9977-3DD1-45C3-A76E-7AB4146D34F5}"/>
                  </a:ext>
                </a:extLst>
              </p:cNvPr>
              <p:cNvSpPr txBox="1"/>
              <p:nvPr/>
            </p:nvSpPr>
            <p:spPr>
              <a:xfrm>
                <a:off x="1800000" y="4140000"/>
                <a:ext cx="5724264" cy="52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rgbClr val="7030A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100−</m:t>
                          </m:r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  <a:ea typeface="Cambria Math" panose="02040503050406030204" pitchFamily="18" charset="0"/>
                            </a:rPr>
                            <m:t>EDSP</m:t>
                          </m:r>
                        </m:e>
                      </m:d>
                      <m:r>
                        <a:rPr lang="en-GB" sz="1400" b="0" i="1" smtClean="0">
                          <a:latin typeface="Cambria Math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937.5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500,000</m:t>
                          </m:r>
                        </m:den>
                      </m:f>
                      <m:r>
                        <a:rPr lang="en-GB" sz="1400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/>
                              <a:ea typeface="Cambria Math"/>
                            </a:rPr>
                            <m:t>365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/>
                              <a:ea typeface="Cambria Math"/>
                            </a:rPr>
                            <m:t>91</m:t>
                          </m:r>
                        </m:den>
                      </m:f>
                      <m:r>
                        <a:rPr lang="en-GB" sz="1400" b="0" i="1" smtClean="0">
                          <a:latin typeface="Cambria Math"/>
                          <a:ea typeface="Cambria Math"/>
                        </a:rPr>
                        <m:t>=8.75%+0.75%=9.5%=100−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GB" sz="1400" b="0" i="1" smtClean="0">
                              <a:latin typeface="Cambria Math"/>
                              <a:ea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GB" sz="1400" b="0" i="1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6" name="TextovéPole 35">
                <a:extLst>
                  <a:ext uri="{FF2B5EF4-FFF2-40B4-BE49-F238E27FC236}">
                    <a16:creationId xmlns:a16="http://schemas.microsoft.com/office/drawing/2014/main" id="{8B0A9977-3DD1-45C3-A76E-7AB4146D3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000" y="4140000"/>
                <a:ext cx="5724264" cy="524246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8845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1"/>
          </p:nvPr>
        </p:nvSpPr>
        <p:spPr>
          <a:xfrm>
            <a:off x="180000" y="6336000"/>
            <a:ext cx="3312000" cy="360000"/>
          </a:xfrm>
        </p:spPr>
        <p:txBody>
          <a:bodyPr/>
          <a:lstStyle/>
          <a:p>
            <a:r>
              <a:rPr lang="en-GB" dirty="0"/>
              <a:t>Examples of financial futures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2"/>
          </p:nvPr>
        </p:nvSpPr>
        <p:spPr>
          <a:xfrm>
            <a:off x="7164000" y="6336000"/>
            <a:ext cx="1800000" cy="360000"/>
          </a:xfrm>
        </p:spPr>
        <p:txBody>
          <a:bodyPr/>
          <a:lstStyle/>
          <a:p>
            <a:pPr algn="r"/>
            <a:r>
              <a:rPr lang="cs-CZ" dirty="0"/>
              <a:t>9</a:t>
            </a:r>
          </a:p>
        </p:txBody>
      </p:sp>
      <p:sp>
        <p:nvSpPr>
          <p:cNvPr id="4" name="Nadpis 3"/>
          <p:cNvSpPr>
            <a:spLocks noGrp="1"/>
          </p:cNvSpPr>
          <p:nvPr>
            <p:ph type="title"/>
          </p:nvPr>
        </p:nvSpPr>
        <p:spPr>
          <a:xfrm>
            <a:off x="144000" y="144000"/>
            <a:ext cx="6588240" cy="648072"/>
          </a:xfrm>
        </p:spPr>
        <p:txBody>
          <a:bodyPr/>
          <a:lstStyle/>
          <a:p>
            <a:r>
              <a:rPr lang="cs-CZ" dirty="0"/>
              <a:t>Long</a:t>
            </a:r>
            <a:r>
              <a:rPr lang="en-GB" dirty="0"/>
              <a:t>-term interest rate futures</a:t>
            </a:r>
          </a:p>
        </p:txBody>
      </p:sp>
      <p:sp>
        <p:nvSpPr>
          <p:cNvPr id="56" name="TextovéPole 55"/>
          <p:cNvSpPr txBox="1"/>
          <p:nvPr/>
        </p:nvSpPr>
        <p:spPr>
          <a:xfrm>
            <a:off x="864000" y="954000"/>
            <a:ext cx="370800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Specification</a:t>
            </a:r>
          </a:p>
        </p:txBody>
      </p:sp>
      <p:sp>
        <p:nvSpPr>
          <p:cNvPr id="14" name="TextovéPole 13"/>
          <p:cNvSpPr txBox="1"/>
          <p:nvPr/>
        </p:nvSpPr>
        <p:spPr>
          <a:xfrm>
            <a:off x="6444000" y="2291739"/>
            <a:ext cx="266450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 startAt="3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CV</a:t>
            </a:r>
            <a:r>
              <a:rPr lang="cs-CZ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= QP</a:t>
            </a:r>
            <a:r>
              <a:rPr lang="cs-CZ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GB" sz="1200" dirty="0">
                <a:latin typeface="Cambria Math"/>
                <a:ea typeface="Cambria Math"/>
              </a:rPr>
              <a:t>×</a:t>
            </a:r>
            <a:r>
              <a:rPr lang="cs-CZ" sz="1200" dirty="0">
                <a:latin typeface="Cambria Math"/>
                <a:ea typeface="Cambria Math"/>
              </a:rPr>
              <a:t> </a:t>
            </a:r>
            <a:r>
              <a:rPr lang="en-GB" sz="1200" dirty="0">
                <a:latin typeface="Cambria Math"/>
                <a:ea typeface="Cambria Math"/>
              </a:rPr>
              <a:t>1,000</a:t>
            </a:r>
          </a:p>
          <a:p>
            <a:pPr marL="180000" lvl="2">
              <a:buClr>
                <a:srgbClr val="7030A0"/>
              </a:buClr>
              <a:buSzPct val="80000"/>
            </a:pPr>
            <a:r>
              <a:rPr lang="en-GB" sz="1200" dirty="0">
                <a:latin typeface="Cambria Math"/>
                <a:ea typeface="Cambria Math"/>
              </a:rPr>
              <a:t>CV</a:t>
            </a:r>
            <a:r>
              <a:rPr lang="cs-CZ" sz="1200" dirty="0">
                <a:latin typeface="Cambria Math"/>
                <a:ea typeface="Cambria Math"/>
              </a:rPr>
              <a:t> </a:t>
            </a:r>
            <a:r>
              <a:rPr lang="en-GB" sz="1200" dirty="0">
                <a:latin typeface="Cambria Math"/>
                <a:ea typeface="Cambria Math"/>
              </a:rPr>
              <a:t>+</a:t>
            </a:r>
            <a:r>
              <a:rPr lang="cs-CZ" sz="1200" dirty="0">
                <a:latin typeface="Cambria Math"/>
                <a:ea typeface="Cambria Math"/>
              </a:rPr>
              <a:t> </a:t>
            </a:r>
            <a:r>
              <a:rPr lang="en-GB" sz="1200" dirty="0">
                <a:latin typeface="Cambria Math"/>
                <a:ea typeface="Cambria Math"/>
              </a:rPr>
              <a:t>tick value (TV) = (QP</a:t>
            </a:r>
            <a:r>
              <a:rPr lang="cs-CZ" sz="1200" dirty="0">
                <a:latin typeface="Cambria Math"/>
                <a:ea typeface="Cambria Math"/>
              </a:rPr>
              <a:t> </a:t>
            </a:r>
            <a:r>
              <a:rPr lang="en-GB" sz="1200" dirty="0">
                <a:latin typeface="Cambria Math"/>
                <a:ea typeface="Cambria Math"/>
              </a:rPr>
              <a:t>+</a:t>
            </a:r>
            <a:r>
              <a:rPr lang="cs-CZ" sz="1200" dirty="0">
                <a:latin typeface="Cambria Math"/>
                <a:ea typeface="Cambria Math"/>
              </a:rPr>
              <a:t> </a:t>
            </a:r>
            <a:r>
              <a:rPr lang="en-GB" sz="1200" dirty="0">
                <a:latin typeface="Cambria Math"/>
                <a:ea typeface="Cambria Math"/>
              </a:rPr>
              <a:t>0.01)</a:t>
            </a:r>
            <a:r>
              <a:rPr lang="cs-CZ" sz="1200" dirty="0">
                <a:latin typeface="Cambria Math"/>
                <a:ea typeface="Cambria Math"/>
              </a:rPr>
              <a:t> </a:t>
            </a:r>
            <a:r>
              <a:rPr lang="en-GB" sz="1200" dirty="0">
                <a:latin typeface="Cambria Math"/>
                <a:ea typeface="Cambria Math"/>
              </a:rPr>
              <a:t>× 1,000</a:t>
            </a:r>
          </a:p>
          <a:p>
            <a:pPr marL="180000" lvl="2">
              <a:buClr>
                <a:srgbClr val="7030A0"/>
              </a:buClr>
              <a:buSzPct val="80000"/>
            </a:pPr>
            <a:r>
              <a:rPr lang="en-GB" sz="1200" dirty="0">
                <a:latin typeface="Cambria Math"/>
                <a:ea typeface="Cambria Math"/>
              </a:rPr>
              <a:t>⇨</a:t>
            </a:r>
            <a:r>
              <a:rPr lang="cs-CZ" sz="1200" dirty="0">
                <a:latin typeface="Cambria Math"/>
                <a:ea typeface="Cambria Math"/>
              </a:rPr>
              <a:t> </a:t>
            </a:r>
            <a:r>
              <a:rPr lang="en-GB" sz="1200" dirty="0">
                <a:latin typeface="Cambria Math"/>
                <a:ea typeface="Cambria Math"/>
              </a:rPr>
              <a:t>TV = 10 USD</a:t>
            </a:r>
            <a:endParaRPr lang="en-GB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5" name="Tabulk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835911"/>
              </p:ext>
            </p:extLst>
          </p:nvPr>
        </p:nvGraphicFramePr>
        <p:xfrm>
          <a:off x="972048" y="1412776"/>
          <a:ext cx="5472192" cy="3617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Name of the contract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Long</a:t>
                      </a:r>
                      <a:r>
                        <a:rPr lang="cs-CZ" sz="1200" noProof="0" dirty="0"/>
                        <a:t>-term </a:t>
                      </a:r>
                      <a:r>
                        <a:rPr lang="en-GB" sz="1200" noProof="0" dirty="0"/>
                        <a:t>Treasury </a:t>
                      </a:r>
                      <a:r>
                        <a:rPr lang="cs-CZ" sz="1200" noProof="0" dirty="0"/>
                        <a:t>Bond </a:t>
                      </a:r>
                      <a:r>
                        <a:rPr lang="en-GB" sz="1200" noProof="0" dirty="0"/>
                        <a:t>Futures Tutorial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Unit of trading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noProof="0" dirty="0"/>
                        <a:t>Notional </a:t>
                      </a:r>
                      <a:r>
                        <a:rPr lang="en-GB" sz="1200" baseline="0" noProof="0" dirty="0"/>
                        <a:t>20-year Treasury bond with a nominal value of 100,000 USD and a yield to maturity of 7%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Quotation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Price per 100 </a:t>
                      </a:r>
                      <a:r>
                        <a:rPr lang="cs-CZ" sz="1200" noProof="0" dirty="0"/>
                        <a:t>USD </a:t>
                      </a:r>
                      <a:r>
                        <a:rPr lang="en-GB" sz="1200" noProof="0" dirty="0"/>
                        <a:t>nominal value</a:t>
                      </a:r>
                      <a:r>
                        <a:rPr lang="cs-CZ" sz="1200" baseline="30000" noProof="0" dirty="0"/>
                        <a:t>1,2)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Tick size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One cent </a:t>
                      </a:r>
                      <a:r>
                        <a:rPr lang="cs-CZ" sz="1200" noProof="0" dirty="0"/>
                        <a:t>(</a:t>
                      </a:r>
                      <a:r>
                        <a:rPr lang="en-GB" sz="1200" noProof="0" dirty="0"/>
                        <a:t>0.01 USD)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Tick value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cs-CZ" sz="1200" noProof="0" dirty="0"/>
                        <a:t>10 USD</a:t>
                      </a:r>
                      <a:r>
                        <a:rPr lang="cs-CZ" sz="1200" baseline="30000" noProof="0" dirty="0"/>
                        <a:t>3)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Initial margin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cs-CZ" sz="1200" noProof="0" dirty="0"/>
                        <a:t>2,000 USD</a:t>
                      </a:r>
                      <a:r>
                        <a:rPr lang="cs-CZ" sz="1200" baseline="30000" noProof="0" dirty="0"/>
                        <a:t>4)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Delivery months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March, June, September, December</a:t>
                      </a:r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Last trading day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Two business days </a:t>
                      </a:r>
                      <a:r>
                        <a:rPr lang="cs-CZ" sz="1200" noProof="0" dirty="0"/>
                        <a:t>prior to </a:t>
                      </a:r>
                      <a:r>
                        <a:rPr lang="en-GB" sz="1200" noProof="0" dirty="0"/>
                        <a:t>the last business</a:t>
                      </a:r>
                      <a:r>
                        <a:rPr lang="cs-CZ" sz="1200" noProof="0" dirty="0"/>
                        <a:t> </a:t>
                      </a:r>
                      <a:r>
                        <a:rPr lang="en-GB" sz="1200" noProof="0" dirty="0"/>
                        <a:t>day in the delivery month</a:t>
                      </a:r>
                      <a:endParaRPr lang="en-GB" sz="1200" baseline="30000" noProof="0" dirty="0"/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Delivery day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Any business day in the delivery month</a:t>
                      </a:r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EDSP</a:t>
                      </a:r>
                    </a:p>
                  </a:txBody>
                  <a:tcPr marL="90000" marR="9000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Contract‘s futures price at 11:00 a.m.</a:t>
                      </a:r>
                      <a:r>
                        <a:rPr lang="en-GB" sz="1200" baseline="0" noProof="0" dirty="0"/>
                        <a:t> on the second business day prior to the last trading date</a:t>
                      </a:r>
                      <a:r>
                        <a:rPr lang="cs-CZ" sz="1200" baseline="30000" noProof="0" dirty="0">
                          <a:solidFill>
                            <a:schemeClr val="tx1"/>
                          </a:solidFill>
                        </a:rPr>
                        <a:t>5)</a:t>
                      </a:r>
                      <a:endParaRPr lang="en-GB" sz="1200" baseline="300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0000" marR="9000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4" name="TextovéPole 53"/>
          <p:cNvSpPr txBox="1"/>
          <p:nvPr/>
        </p:nvSpPr>
        <p:spPr>
          <a:xfrm>
            <a:off x="6444208" y="3038696"/>
            <a:ext cx="244827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 startAt="4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Initial margin is equal to 2% of the contract’s nominal value.</a:t>
            </a:r>
          </a:p>
        </p:txBody>
      </p:sp>
      <p:sp>
        <p:nvSpPr>
          <p:cNvPr id="47" name="TextovéPole 46"/>
          <p:cNvSpPr txBox="1"/>
          <p:nvPr/>
        </p:nvSpPr>
        <p:spPr>
          <a:xfrm>
            <a:off x="6444000" y="1332000"/>
            <a:ext cx="244848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Quoted price (QP) = contract’</a:t>
            </a:r>
            <a:r>
              <a:rPr lang="cs-CZ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 value (CV)/1,000</a:t>
            </a:r>
          </a:p>
        </p:txBody>
      </p:sp>
      <p:sp>
        <p:nvSpPr>
          <p:cNvPr id="71" name="TextovéPole 70">
            <a:extLst>
              <a:ext uri="{FF2B5EF4-FFF2-40B4-BE49-F238E27FC236}">
                <a16:creationId xmlns:a16="http://schemas.microsoft.com/office/drawing/2014/main" id="{0973E691-4DFE-4A03-B200-B53F65FC6269}"/>
              </a:ext>
            </a:extLst>
          </p:cNvPr>
          <p:cNvSpPr txBox="1"/>
          <p:nvPr/>
        </p:nvSpPr>
        <p:spPr>
          <a:xfrm>
            <a:off x="6444000" y="1724104"/>
            <a:ext cx="244848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 startAt="2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Futures prices are quoted clean (no allowance for accrued coupon).</a:t>
            </a:r>
          </a:p>
        </p:txBody>
      </p:sp>
      <p:sp>
        <p:nvSpPr>
          <p:cNvPr id="75" name="TextovéPole 74">
            <a:extLst>
              <a:ext uri="{FF2B5EF4-FFF2-40B4-BE49-F238E27FC236}">
                <a16:creationId xmlns:a16="http://schemas.microsoft.com/office/drawing/2014/main" id="{DB185810-D604-4CD4-A838-C2F4BFED8030}"/>
              </a:ext>
            </a:extLst>
          </p:cNvPr>
          <p:cNvSpPr txBox="1"/>
          <p:nvPr/>
        </p:nvSpPr>
        <p:spPr>
          <a:xfrm>
            <a:off x="6444000" y="3431835"/>
            <a:ext cx="2448272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80000" lvl="2" indent="-180000">
              <a:buClr>
                <a:srgbClr val="7030A0"/>
              </a:buClr>
              <a:buSzPct val="80000"/>
              <a:buFont typeface="+mj-lt"/>
              <a:buAutoNum type="arabicParenR" startAt="5"/>
            </a:pP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Due to the notional nature of the underlying asset, the rule of zero base at maturity is theoretically applicable for the CTD bond.</a:t>
            </a:r>
          </a:p>
        </p:txBody>
      </p:sp>
    </p:spTree>
    <p:extLst>
      <p:ext uri="{BB962C8B-B14F-4D97-AF65-F5344CB8AC3E}">
        <p14:creationId xmlns:p14="http://schemas.microsoft.com/office/powerpoint/2010/main" val="1931104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3A32E-3562-DA89-2D3C-DCA53CB37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68A05926-4EC7-DF88-3141-8ED317B75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336000"/>
            <a:ext cx="3312000" cy="360000"/>
          </a:xfrm>
        </p:spPr>
        <p:txBody>
          <a:bodyPr/>
          <a:lstStyle/>
          <a:p>
            <a:r>
              <a:rPr lang="en-GB" dirty="0"/>
              <a:t>Examples of financial futures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742D0A9E-E897-035B-AC71-031DCD24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64000" y="6336000"/>
            <a:ext cx="1800000" cy="360000"/>
          </a:xfrm>
        </p:spPr>
        <p:txBody>
          <a:bodyPr/>
          <a:lstStyle/>
          <a:p>
            <a:pPr algn="r"/>
            <a:fld id="{DFE5482F-2F05-49C5-9E15-73F945A41231}" type="slidenum">
              <a:rPr lang="cs-CZ" smtClean="0"/>
              <a:pPr algn="r"/>
              <a:t>10</a:t>
            </a:fld>
            <a:endParaRPr lang="cs-CZ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14332059-DCC8-2875-ADDC-E6FF8025A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144000"/>
            <a:ext cx="4211976" cy="648072"/>
          </a:xfrm>
        </p:spPr>
        <p:txBody>
          <a:bodyPr/>
          <a:lstStyle/>
          <a:p>
            <a:r>
              <a:rPr lang="en-GB" dirty="0"/>
              <a:t>LTIRF </a:t>
            </a: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–</a:t>
            </a:r>
            <a:r>
              <a:rPr lang="en-GB" dirty="0"/>
              <a:t> delivery options</a:t>
            </a:r>
            <a:endParaRPr lang="en-GB" dirty="0">
              <a:solidFill>
                <a:srgbClr val="000000"/>
              </a:solidFill>
            </a:endParaRPr>
          </a:p>
        </p:txBody>
      </p:sp>
      <p:graphicFrame>
        <p:nvGraphicFramePr>
          <p:cNvPr id="6" name="Tabulka 5">
            <a:extLst>
              <a:ext uri="{FF2B5EF4-FFF2-40B4-BE49-F238E27FC236}">
                <a16:creationId xmlns:a16="http://schemas.microsoft.com/office/drawing/2014/main" id="{6DD55F18-44AC-A746-17A1-F0C9F25CF37B}"/>
              </a:ext>
            </a:extLst>
          </p:cNvPr>
          <p:cNvGraphicFramePr>
            <a:graphicFrameLocks noGrp="1"/>
          </p:cNvGraphicFramePr>
          <p:nvPr/>
        </p:nvGraphicFramePr>
        <p:xfrm>
          <a:off x="1748384" y="1557162"/>
          <a:ext cx="5703616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7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endParaRPr lang="cs-CZ" sz="1000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Delivery month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TextovéPole 28">
            <a:extLst>
              <a:ext uri="{FF2B5EF4-FFF2-40B4-BE49-F238E27FC236}">
                <a16:creationId xmlns:a16="http://schemas.microsoft.com/office/drawing/2014/main" id="{78D31B12-5254-4173-5937-065BE0BA920D}"/>
              </a:ext>
            </a:extLst>
          </p:cNvPr>
          <p:cNvSpPr txBox="1"/>
          <p:nvPr/>
        </p:nvSpPr>
        <p:spPr>
          <a:xfrm>
            <a:off x="864000" y="864000"/>
            <a:ext cx="190780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Closing out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ovéPole 35">
                <a:extLst>
                  <a:ext uri="{FF2B5EF4-FFF2-40B4-BE49-F238E27FC236}">
                    <a16:creationId xmlns:a16="http://schemas.microsoft.com/office/drawing/2014/main" id="{32BE44E9-9D6A-1FA9-7F77-4F75B7A3E7AB}"/>
                  </a:ext>
                </a:extLst>
              </p:cNvPr>
              <p:cNvSpPr txBox="1"/>
              <p:nvPr/>
            </p:nvSpPr>
            <p:spPr>
              <a:xfrm>
                <a:off x="1188001" y="2326898"/>
                <a:ext cx="550827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80000" indent="-180000">
                  <a:buClr>
                    <a:srgbClr val="7030A0"/>
                  </a:buClr>
                  <a:buFont typeface="Wingdings" panose="05000000000000000000" pitchFamily="2" charset="2"/>
                  <a:buChar char="§"/>
                </a:pPr>
                <a:r>
                  <a:rPr lang="en-GB" sz="1600" dirty="0">
                    <a:latin typeface="Cambria Math"/>
                    <a:ea typeface="Cambria Math"/>
                  </a:rPr>
                  <a:t>The short earned a net profit =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/>
                        <a:ea typeface="Cambria Math"/>
                      </a:rPr>
                      <m:t>1</m:t>
                    </m:r>
                    <m:r>
                      <a:rPr lang="en-GB" sz="1600" b="0" i="1" smtClean="0">
                        <a:latin typeface="Cambria Math"/>
                        <a:ea typeface="Cambria Math"/>
                      </a:rPr>
                      <m:t>0</m:t>
                    </m:r>
                    <m:r>
                      <a:rPr lang="en-GB" sz="1600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GB" sz="1600" b="0" i="1" smtClean="0">
                        <a:latin typeface="Cambria Math"/>
                        <a:ea typeface="Cambria Math"/>
                      </a:rPr>
                      <m:t>15</m:t>
                    </m:r>
                    <m:r>
                      <a:rPr lang="en-GB" sz="1600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GB" sz="1600" b="0" i="1" smtClean="0">
                        <a:latin typeface="Cambria Math"/>
                        <a:ea typeface="Cambria Math"/>
                      </a:rPr>
                      <m:t>10</m:t>
                    </m:r>
                    <m:r>
                      <a:rPr lang="en-GB" sz="16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GB" sz="1600" b="0" i="1" smtClean="0">
                        <a:latin typeface="Cambria Math"/>
                        <a:ea typeface="Cambria Math"/>
                      </a:rPr>
                      <m:t>1,500 </m:t>
                    </m:r>
                  </m:oMath>
                </a14:m>
                <a:r>
                  <a:rPr lang="en-GB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USD</a:t>
                </a:r>
              </a:p>
            </p:txBody>
          </p:sp>
        </mc:Choice>
        <mc:Fallback xmlns="">
          <p:sp>
            <p:nvSpPr>
              <p:cNvPr id="75" name="TextovéPole 35">
                <a:extLst>
                  <a:ext uri="{FF2B5EF4-FFF2-40B4-BE49-F238E27FC236}">
                    <a16:creationId xmlns:a16="http://schemas.microsoft.com/office/drawing/2014/main" id="{32BE44E9-9D6A-1FA9-7F77-4F75B7A3E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001" y="2326898"/>
                <a:ext cx="5508272" cy="338554"/>
              </a:xfrm>
              <a:prstGeom prst="rect">
                <a:avLst/>
              </a:prstGeom>
              <a:blipFill>
                <a:blip r:embed="rId12"/>
                <a:stretch>
                  <a:fillRect l="-443" t="-7273" b="-21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ovéPole 35">
                <a:extLst>
                  <a:ext uri="{FF2B5EF4-FFF2-40B4-BE49-F238E27FC236}">
                    <a16:creationId xmlns:a16="http://schemas.microsoft.com/office/drawing/2014/main" id="{0D4F3C6D-E278-8865-37F2-C7CD391012E8}"/>
                  </a:ext>
                </a:extLst>
              </p:cNvPr>
              <p:cNvSpPr txBox="1"/>
              <p:nvPr/>
            </p:nvSpPr>
            <p:spPr>
              <a:xfrm>
                <a:off x="1188000" y="2068346"/>
                <a:ext cx="550827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80000" indent="-180000">
                  <a:buClr>
                    <a:srgbClr val="7030A0"/>
                  </a:buClr>
                  <a:buFont typeface="Wingdings" panose="05000000000000000000" pitchFamily="2" charset="2"/>
                  <a:buChar char="§"/>
                </a:pPr>
                <a:r>
                  <a:rPr lang="en-GB" sz="1600" noProof="0">
                    <a:latin typeface="Cambria Math"/>
                    <a:ea typeface="Cambria Math"/>
                  </a:rPr>
                  <a:t>The futures price changed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noProof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sz="1600" b="0" i="1" noProof="0" smtClean="0">
                            <a:latin typeface="Cambria Math"/>
                            <a:ea typeface="Cambria Math"/>
                          </a:rPr>
                          <m:t>9123</m:t>
                        </m:r>
                        <m:r>
                          <a:rPr lang="en-GB" sz="1600" i="1" noProof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GB" sz="1600" b="0" i="1" noProof="0" smtClean="0">
                            <a:latin typeface="Cambria Math"/>
                            <a:ea typeface="Cambria Math"/>
                          </a:rPr>
                          <m:t>9138</m:t>
                        </m:r>
                      </m:e>
                    </m:d>
                    <m:r>
                      <a:rPr lang="en-GB" sz="1600" b="0" i="1" noProof="0" smtClean="0">
                        <a:latin typeface="Cambria Math"/>
                        <a:ea typeface="Cambria Math"/>
                      </a:rPr>
                      <m:t>=−15 </m:t>
                    </m:r>
                  </m:oMath>
                </a14:m>
                <a:r>
                  <a:rPr lang="en-GB" sz="1600" noProof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ticks</a:t>
                </a:r>
              </a:p>
            </p:txBody>
          </p:sp>
        </mc:Choice>
        <mc:Fallback xmlns="">
          <p:sp>
            <p:nvSpPr>
              <p:cNvPr id="77" name="TextovéPole 35">
                <a:extLst>
                  <a:ext uri="{FF2B5EF4-FFF2-40B4-BE49-F238E27FC236}">
                    <a16:creationId xmlns:a16="http://schemas.microsoft.com/office/drawing/2014/main" id="{0D4F3C6D-E278-8865-37F2-C7CD39101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000" y="2068346"/>
                <a:ext cx="5508272" cy="338554"/>
              </a:xfrm>
              <a:prstGeom prst="rect">
                <a:avLst/>
              </a:prstGeom>
              <a:blipFill>
                <a:blip r:embed="rId13"/>
                <a:stretch>
                  <a:fillRect l="-443" t="-7143" b="-196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vnoramenný trojúhelník 6">
            <a:extLst>
              <a:ext uri="{FF2B5EF4-FFF2-40B4-BE49-F238E27FC236}">
                <a16:creationId xmlns:a16="http://schemas.microsoft.com/office/drawing/2014/main" id="{7DFAB73E-BC39-7E95-CD43-A9EEE894F86E}"/>
              </a:ext>
            </a:extLst>
          </p:cNvPr>
          <p:cNvSpPr/>
          <p:nvPr/>
        </p:nvSpPr>
        <p:spPr>
          <a:xfrm rot="10800000">
            <a:off x="1698490" y="1412464"/>
            <a:ext cx="107447" cy="124593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4" name="Rovnoramenný trojúhelník 63">
            <a:extLst>
              <a:ext uri="{FF2B5EF4-FFF2-40B4-BE49-F238E27FC236}">
                <a16:creationId xmlns:a16="http://schemas.microsoft.com/office/drawing/2014/main" id="{2C77CC2A-3175-3F4E-3B02-26D88FB47E7A}"/>
              </a:ext>
            </a:extLst>
          </p:cNvPr>
          <p:cNvSpPr/>
          <p:nvPr/>
        </p:nvSpPr>
        <p:spPr>
          <a:xfrm rot="10800000">
            <a:off x="4093768" y="1412464"/>
            <a:ext cx="118192" cy="124593"/>
          </a:xfrm>
          <a:prstGeom prst="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ovéPole 68">
                <a:extLst>
                  <a:ext uri="{FF2B5EF4-FFF2-40B4-BE49-F238E27FC236}">
                    <a16:creationId xmlns:a16="http://schemas.microsoft.com/office/drawing/2014/main" id="{7C7555A7-7F5D-EDD8-ED2B-0A990C5C8176}"/>
                  </a:ext>
                </a:extLst>
              </p:cNvPr>
              <p:cNvSpPr txBox="1"/>
              <p:nvPr/>
            </p:nvSpPr>
            <p:spPr>
              <a:xfrm>
                <a:off x="3539219" y="1737162"/>
                <a:ext cx="123462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10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45</m:t>
                          </m:r>
                        </m:sub>
                      </m:sSub>
                      <m:r>
                        <a:rPr lang="en-GB" sz="1000" b="0" i="1" smtClean="0">
                          <a:latin typeface="Cambria Math"/>
                          <a:ea typeface="Cambria Math" panose="02040503050406030204" pitchFamily="18" charset="0"/>
                        </a:rPr>
                        <m:t>=91.23</m:t>
                      </m:r>
                    </m:oMath>
                  </m:oMathPara>
                </a14:m>
                <a:endParaRPr lang="en-GB" sz="1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en-GB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Buy 10 contracts</a:t>
                </a:r>
              </a:p>
            </p:txBody>
          </p:sp>
        </mc:Choice>
        <mc:Fallback xmlns="">
          <p:sp>
            <p:nvSpPr>
              <p:cNvPr id="69" name="TextovéPole 68">
                <a:extLst>
                  <a:ext uri="{FF2B5EF4-FFF2-40B4-BE49-F238E27FC236}">
                    <a16:creationId xmlns:a16="http://schemas.microsoft.com/office/drawing/2014/main" id="{7C7555A7-7F5D-EDD8-ED2B-0A990C5C8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219" y="1737162"/>
                <a:ext cx="1234629" cy="400110"/>
              </a:xfrm>
              <a:prstGeom prst="rect">
                <a:avLst/>
              </a:prstGeom>
              <a:blipFill>
                <a:blip r:embed="rId14"/>
                <a:stretch>
                  <a:fillRect b="-60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ovéPole 69">
                <a:extLst>
                  <a:ext uri="{FF2B5EF4-FFF2-40B4-BE49-F238E27FC236}">
                    <a16:creationId xmlns:a16="http://schemas.microsoft.com/office/drawing/2014/main" id="{D59F9981-E526-3DE9-9133-38B0035D3510}"/>
                  </a:ext>
                </a:extLst>
              </p:cNvPr>
              <p:cNvSpPr txBox="1"/>
              <p:nvPr/>
            </p:nvSpPr>
            <p:spPr>
              <a:xfrm>
                <a:off x="1129792" y="1737162"/>
                <a:ext cx="124989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sz="10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000" b="0" i="1" smtClean="0">
                          <a:latin typeface="Cambria Math"/>
                          <a:ea typeface="Cambria Math" panose="02040503050406030204" pitchFamily="18" charset="0"/>
                        </a:rPr>
                        <m:t>=91.38</m:t>
                      </m:r>
                    </m:oMath>
                  </m:oMathPara>
                </a14:m>
                <a:endParaRPr lang="en-GB" sz="10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en-GB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Sell 10 contracts</a:t>
                </a:r>
              </a:p>
            </p:txBody>
          </p:sp>
        </mc:Choice>
        <mc:Fallback xmlns="">
          <p:sp>
            <p:nvSpPr>
              <p:cNvPr id="70" name="TextovéPole 69">
                <a:extLst>
                  <a:ext uri="{FF2B5EF4-FFF2-40B4-BE49-F238E27FC236}">
                    <a16:creationId xmlns:a16="http://schemas.microsoft.com/office/drawing/2014/main" id="{D59F9981-E526-3DE9-9133-38B0035D3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792" y="1737162"/>
                <a:ext cx="1249897" cy="400110"/>
              </a:xfrm>
              <a:prstGeom prst="rect">
                <a:avLst/>
              </a:prstGeom>
              <a:blipFill>
                <a:blip r:embed="rId15"/>
                <a:stretch>
                  <a:fillRect b="-60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ovéPole 35">
            <a:extLst>
              <a:ext uri="{FF2B5EF4-FFF2-40B4-BE49-F238E27FC236}">
                <a16:creationId xmlns:a16="http://schemas.microsoft.com/office/drawing/2014/main" id="{71564A0D-A25F-9690-A4AD-266F9A8B4B60}"/>
              </a:ext>
            </a:extLst>
          </p:cNvPr>
          <p:cNvSpPr txBox="1"/>
          <p:nvPr/>
        </p:nvSpPr>
        <p:spPr>
          <a:xfrm>
            <a:off x="1188000" y="2586578"/>
            <a:ext cx="165580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dirty="0">
                <a:latin typeface="Cambria Math"/>
                <a:ea typeface="Cambria Math"/>
              </a:rPr>
              <a:t>Rate of return</a:t>
            </a:r>
            <a:endParaRPr lang="en-GB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8" name="TextovéPole 77">
            <a:extLst>
              <a:ext uri="{FF2B5EF4-FFF2-40B4-BE49-F238E27FC236}">
                <a16:creationId xmlns:a16="http://schemas.microsoft.com/office/drawing/2014/main" id="{E62E09A4-54D6-3C9D-D975-2B05EFC47B34}"/>
              </a:ext>
            </a:extLst>
          </p:cNvPr>
          <p:cNvSpPr txBox="1"/>
          <p:nvPr/>
        </p:nvSpPr>
        <p:spPr>
          <a:xfrm>
            <a:off x="864000" y="3240000"/>
            <a:ext cx="2555872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Physical delivery</a:t>
            </a:r>
          </a:p>
        </p:txBody>
      </p:sp>
      <p:sp>
        <p:nvSpPr>
          <p:cNvPr id="57" name="TextovéPole 56">
            <a:extLst>
              <a:ext uri="{FF2B5EF4-FFF2-40B4-BE49-F238E27FC236}">
                <a16:creationId xmlns:a16="http://schemas.microsoft.com/office/drawing/2014/main" id="{5344BE9D-E2DB-CB9F-8715-0DD181E1E1CB}"/>
              </a:ext>
            </a:extLst>
          </p:cNvPr>
          <p:cNvSpPr txBox="1"/>
          <p:nvPr/>
        </p:nvSpPr>
        <p:spPr>
          <a:xfrm>
            <a:off x="1462553" y="1202578"/>
            <a:ext cx="588039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Today</a:t>
            </a:r>
          </a:p>
        </p:txBody>
      </p:sp>
      <p:sp>
        <p:nvSpPr>
          <p:cNvPr id="59" name="TextovéPole 58">
            <a:extLst>
              <a:ext uri="{FF2B5EF4-FFF2-40B4-BE49-F238E27FC236}">
                <a16:creationId xmlns:a16="http://schemas.microsoft.com/office/drawing/2014/main" id="{1A3DDC49-E6D9-2F7D-3066-8EB8AF2F6FD4}"/>
              </a:ext>
            </a:extLst>
          </p:cNvPr>
          <p:cNvSpPr txBox="1"/>
          <p:nvPr/>
        </p:nvSpPr>
        <p:spPr>
          <a:xfrm>
            <a:off x="3696258" y="1202578"/>
            <a:ext cx="9264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latin typeface="Cambria Math" panose="02040503050406030204" pitchFamily="18" charset="0"/>
                <a:ea typeface="Cambria Math" panose="02040503050406030204" pitchFamily="18" charset="0"/>
              </a:rPr>
              <a:t>45 days later</a:t>
            </a:r>
          </a:p>
        </p:txBody>
      </p:sp>
      <p:sp>
        <p:nvSpPr>
          <p:cNvPr id="63" name="TextovéPole 35">
            <a:extLst>
              <a:ext uri="{FF2B5EF4-FFF2-40B4-BE49-F238E27FC236}">
                <a16:creationId xmlns:a16="http://schemas.microsoft.com/office/drawing/2014/main" id="{8AF9F52B-D473-B072-5BE4-F43C73580C44}"/>
              </a:ext>
            </a:extLst>
          </p:cNvPr>
          <p:cNvSpPr txBox="1"/>
          <p:nvPr/>
        </p:nvSpPr>
        <p:spPr>
          <a:xfrm>
            <a:off x="1512000" y="5229186"/>
            <a:ext cx="601225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dirty="0">
                <a:latin typeface="Cambria Math"/>
                <a:ea typeface="Cambria Math"/>
              </a:rPr>
              <a:t>Nominal value 100 USD</a:t>
            </a:r>
            <a:r>
              <a:rPr lang="cs-CZ" sz="1600" dirty="0">
                <a:latin typeface="Cambria Math"/>
                <a:ea typeface="Cambria Math"/>
              </a:rPr>
              <a:t>, </a:t>
            </a:r>
            <a:r>
              <a:rPr lang="en-GB" sz="1600" dirty="0">
                <a:latin typeface="Cambria Math"/>
                <a:ea typeface="Cambria Math"/>
              </a:rPr>
              <a:t>annual coupon 8% paid semi-annually</a:t>
            </a:r>
            <a:endParaRPr lang="en-GB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3" name="TextovéPole 35">
            <a:extLst>
              <a:ext uri="{FF2B5EF4-FFF2-40B4-BE49-F238E27FC236}">
                <a16:creationId xmlns:a16="http://schemas.microsoft.com/office/drawing/2014/main" id="{76A46F47-4DD0-6C36-7B6F-EEBF5715D7E0}"/>
              </a:ext>
            </a:extLst>
          </p:cNvPr>
          <p:cNvSpPr txBox="1"/>
          <p:nvPr/>
        </p:nvSpPr>
        <p:spPr>
          <a:xfrm>
            <a:off x="1512000" y="5487738"/>
            <a:ext cx="630036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dirty="0">
                <a:latin typeface="Cambria Math"/>
                <a:ea typeface="Cambria Math"/>
              </a:rPr>
              <a:t>Remaining time to maturity</a:t>
            </a:r>
            <a:r>
              <a:rPr lang="cs-CZ" sz="1600" dirty="0">
                <a:latin typeface="Cambria Math"/>
                <a:ea typeface="Cambria Math"/>
              </a:rPr>
              <a:t> 1</a:t>
            </a:r>
            <a:r>
              <a:rPr lang="en-GB" sz="1600" dirty="0">
                <a:latin typeface="Cambria Math"/>
                <a:ea typeface="Cambria Math"/>
              </a:rPr>
              <a:t>2 years from the previous coupon day</a:t>
            </a:r>
            <a:endParaRPr lang="en-GB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7" name="TextovéPole 106">
            <a:extLst>
              <a:ext uri="{FF2B5EF4-FFF2-40B4-BE49-F238E27FC236}">
                <a16:creationId xmlns:a16="http://schemas.microsoft.com/office/drawing/2014/main" id="{8C7D587F-956F-D700-DE54-97A0FAC14812}"/>
              </a:ext>
            </a:extLst>
          </p:cNvPr>
          <p:cNvSpPr txBox="1"/>
          <p:nvPr/>
        </p:nvSpPr>
        <p:spPr>
          <a:xfrm>
            <a:off x="1188000" y="4952968"/>
            <a:ext cx="352801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noProof="0">
                <a:latin typeface="Cambria Math" panose="02040503050406030204" pitchFamily="18" charset="0"/>
                <a:ea typeface="Cambria Math" panose="02040503050406030204" pitchFamily="18" charset="0"/>
              </a:rPr>
              <a:t>Properties of an eligible bond</a:t>
            </a:r>
          </a:p>
        </p:txBody>
      </p:sp>
      <p:sp>
        <p:nvSpPr>
          <p:cNvPr id="108" name="TextovéPole 35">
            <a:extLst>
              <a:ext uri="{FF2B5EF4-FFF2-40B4-BE49-F238E27FC236}">
                <a16:creationId xmlns:a16="http://schemas.microsoft.com/office/drawing/2014/main" id="{F3A53B74-D610-31A8-DDCF-6E49A3E76473}"/>
              </a:ext>
            </a:extLst>
          </p:cNvPr>
          <p:cNvSpPr txBox="1"/>
          <p:nvPr/>
        </p:nvSpPr>
        <p:spPr>
          <a:xfrm>
            <a:off x="1187624" y="5735280"/>
            <a:ext cx="460851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noProof="0">
                <a:latin typeface="Cambria Math" panose="02040503050406030204" pitchFamily="18" charset="0"/>
                <a:ea typeface="Cambria Math" panose="02040503050406030204" pitchFamily="18" charset="0"/>
              </a:rPr>
              <a:t>Spot price is full and futures price is clean</a:t>
            </a:r>
          </a:p>
        </p:txBody>
      </p:sp>
      <p:grpSp>
        <p:nvGrpSpPr>
          <p:cNvPr id="10" name="Skupina 9">
            <a:extLst>
              <a:ext uri="{FF2B5EF4-FFF2-40B4-BE49-F238E27FC236}">
                <a16:creationId xmlns:a16="http://schemas.microsoft.com/office/drawing/2014/main" id="{860CC491-9451-FEE6-D19D-65F6890BDF96}"/>
              </a:ext>
            </a:extLst>
          </p:cNvPr>
          <p:cNvGrpSpPr/>
          <p:nvPr/>
        </p:nvGrpSpPr>
        <p:grpSpPr>
          <a:xfrm>
            <a:off x="560816" y="3684452"/>
            <a:ext cx="8317488" cy="1553196"/>
            <a:chOff x="560816" y="3774692"/>
            <a:chExt cx="8317488" cy="1553196"/>
          </a:xfrm>
        </p:grpSpPr>
        <p:sp>
          <p:nvSpPr>
            <p:cNvPr id="88" name="Čárový popisek 2 87">
              <a:extLst>
                <a:ext uri="{FF2B5EF4-FFF2-40B4-BE49-F238E27FC236}">
                  <a16:creationId xmlns:a16="http://schemas.microsoft.com/office/drawing/2014/main" id="{97F26A9C-AC3C-3A42-102D-9CCFC28B1EA2}"/>
                </a:ext>
              </a:extLst>
            </p:cNvPr>
            <p:cNvSpPr/>
            <p:nvPr/>
          </p:nvSpPr>
          <p:spPr>
            <a:xfrm>
              <a:off x="5510680" y="3854712"/>
              <a:ext cx="1123776" cy="438384"/>
            </a:xfrm>
            <a:prstGeom prst="borderCallout2">
              <a:avLst>
                <a:gd name="adj1" fmla="val 20367"/>
                <a:gd name="adj2" fmla="val -6440"/>
                <a:gd name="adj3" fmla="val 21984"/>
                <a:gd name="adj4" fmla="val -21082"/>
                <a:gd name="adj5" fmla="val 120081"/>
                <a:gd name="adj6" fmla="val -55862"/>
              </a:avLst>
            </a:prstGeom>
            <a:solidFill>
              <a:schemeClr val="accent5"/>
            </a:solidFill>
            <a:ln>
              <a:headEnd type="non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>
                <a:spcAft>
                  <a:spcPts val="300"/>
                </a:spcAft>
              </a:pPr>
              <a:r>
                <a:rPr lang="en-GB" sz="1000" b="1" dirty="0">
                  <a:latin typeface="Cambria Math"/>
                  <a:ea typeface="Cambria Math" panose="02040503050406030204" pitchFamily="18" charset="0"/>
                </a:rPr>
                <a:t>Beginning of </a:t>
              </a:r>
              <a:endParaRPr lang="cs-CZ" sz="1000" b="1" dirty="0">
                <a:latin typeface="Cambria Math"/>
                <a:ea typeface="Cambria Math" panose="02040503050406030204" pitchFamily="18" charset="0"/>
              </a:endParaRPr>
            </a:p>
            <a:p>
              <a:pPr algn="ctr">
                <a:spcAft>
                  <a:spcPts val="300"/>
                </a:spcAft>
              </a:pPr>
              <a:r>
                <a:rPr lang="en-GB" sz="1000" b="1" dirty="0">
                  <a:latin typeface="Cambria Math"/>
                  <a:ea typeface="Cambria Math" panose="02040503050406030204" pitchFamily="18" charset="0"/>
                </a:rPr>
                <a:t>delivery month</a:t>
              </a:r>
            </a:p>
          </p:txBody>
        </p:sp>
        <p:grpSp>
          <p:nvGrpSpPr>
            <p:cNvPr id="15" name="Skupina 14">
              <a:extLst>
                <a:ext uri="{FF2B5EF4-FFF2-40B4-BE49-F238E27FC236}">
                  <a16:creationId xmlns:a16="http://schemas.microsoft.com/office/drawing/2014/main" id="{8937913A-3E8D-F741-064E-7FE42463FA32}"/>
                </a:ext>
              </a:extLst>
            </p:cNvPr>
            <p:cNvGrpSpPr/>
            <p:nvPr/>
          </p:nvGrpSpPr>
          <p:grpSpPr>
            <a:xfrm>
              <a:off x="560816" y="3774692"/>
              <a:ext cx="8317488" cy="1553196"/>
              <a:chOff x="560816" y="3760818"/>
              <a:chExt cx="8317488" cy="1553196"/>
            </a:xfrm>
          </p:grpSpPr>
          <p:grpSp>
            <p:nvGrpSpPr>
              <p:cNvPr id="9" name="Skupina 8">
                <a:extLst>
                  <a:ext uri="{FF2B5EF4-FFF2-40B4-BE49-F238E27FC236}">
                    <a16:creationId xmlns:a16="http://schemas.microsoft.com/office/drawing/2014/main" id="{A90DC7EB-14D0-8553-0D1E-25293B6FCA0A}"/>
                  </a:ext>
                </a:extLst>
              </p:cNvPr>
              <p:cNvGrpSpPr/>
              <p:nvPr/>
            </p:nvGrpSpPr>
            <p:grpSpPr>
              <a:xfrm>
                <a:off x="560816" y="3851704"/>
                <a:ext cx="8317488" cy="1462310"/>
                <a:chOff x="560816" y="3773736"/>
                <a:chExt cx="8317488" cy="1462310"/>
              </a:xfrm>
            </p:grpSpPr>
            <p:grpSp>
              <p:nvGrpSpPr>
                <p:cNvPr id="21" name="Skupina 20">
                  <a:extLst>
                    <a:ext uri="{FF2B5EF4-FFF2-40B4-BE49-F238E27FC236}">
                      <a16:creationId xmlns:a16="http://schemas.microsoft.com/office/drawing/2014/main" id="{7DB7FF38-7BA2-48E3-86AB-E84A1C51D134}"/>
                    </a:ext>
                  </a:extLst>
                </p:cNvPr>
                <p:cNvGrpSpPr/>
                <p:nvPr/>
              </p:nvGrpSpPr>
              <p:grpSpPr>
                <a:xfrm>
                  <a:off x="560816" y="3773736"/>
                  <a:ext cx="8063962" cy="1309365"/>
                  <a:chOff x="560816" y="3717032"/>
                  <a:chExt cx="8063962" cy="1309365"/>
                </a:xfrm>
              </p:grpSpPr>
              <p:cxnSp>
                <p:nvCxnSpPr>
                  <p:cNvPr id="102" name="Přímá spojnice se šipkou 101">
                    <a:extLst>
                      <a:ext uri="{FF2B5EF4-FFF2-40B4-BE49-F238E27FC236}">
                        <a16:creationId xmlns:a16="http://schemas.microsoft.com/office/drawing/2014/main" id="{00147A1A-E51F-BFE1-2928-8CD2868D49C2}"/>
                      </a:ext>
                    </a:extLst>
                  </p:cNvPr>
                  <p:cNvCxnSpPr/>
                  <p:nvPr/>
                </p:nvCxnSpPr>
                <p:spPr>
                  <a:xfrm>
                    <a:off x="4568736" y="4590000"/>
                    <a:ext cx="288000" cy="0"/>
                  </a:xfrm>
                  <a:prstGeom prst="straightConnector1">
                    <a:avLst/>
                  </a:prstGeom>
                  <a:ln w="12700">
                    <a:solidFill>
                      <a:srgbClr val="C00000"/>
                    </a:solidFill>
                    <a:headEnd type="triangle" w="med" len="med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" name="Skupina 19">
                    <a:extLst>
                      <a:ext uri="{FF2B5EF4-FFF2-40B4-BE49-F238E27FC236}">
                        <a16:creationId xmlns:a16="http://schemas.microsoft.com/office/drawing/2014/main" id="{4AF1E19E-0EA0-4258-2BC9-6F926C72F037}"/>
                      </a:ext>
                    </a:extLst>
                  </p:cNvPr>
                  <p:cNvGrpSpPr/>
                  <p:nvPr/>
                </p:nvGrpSpPr>
                <p:grpSpPr>
                  <a:xfrm>
                    <a:off x="560816" y="3717032"/>
                    <a:ext cx="8063962" cy="1309365"/>
                    <a:chOff x="560816" y="3717032"/>
                    <a:chExt cx="8063962" cy="1309365"/>
                  </a:xfrm>
                </p:grpSpPr>
                <p:grpSp>
                  <p:nvGrpSpPr>
                    <p:cNvPr id="18" name="Skupina 17">
                      <a:extLst>
                        <a:ext uri="{FF2B5EF4-FFF2-40B4-BE49-F238E27FC236}">
                          <a16:creationId xmlns:a16="http://schemas.microsoft.com/office/drawing/2014/main" id="{02BD5BDB-9820-5DD1-438F-39A22DC1A6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17105" y="4104000"/>
                      <a:ext cx="6755976" cy="720000"/>
                      <a:chOff x="1217105" y="4104000"/>
                      <a:chExt cx="6755976" cy="720000"/>
                    </a:xfrm>
                  </p:grpSpPr>
                  <p:cxnSp>
                    <p:nvCxnSpPr>
                      <p:cNvPr id="95" name="Přímá spojnice 94">
                        <a:extLst>
                          <a:ext uri="{FF2B5EF4-FFF2-40B4-BE49-F238E27FC236}">
                            <a16:creationId xmlns:a16="http://schemas.microsoft.com/office/drawing/2014/main" id="{84357183-8D31-1A94-5E96-2C9FFD6591C6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4579088" y="4284000"/>
                        <a:ext cx="0" cy="297554"/>
                      </a:xfrm>
                      <a:prstGeom prst="line">
                        <a:avLst/>
                      </a:prstGeom>
                      <a:ln w="12700">
                        <a:headEnd type="none" w="lg" len="med"/>
                        <a:tailEnd type="none" w="lg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" name="Přímá spojnice 16">
                        <a:extLst>
                          <a:ext uri="{FF2B5EF4-FFF2-40B4-BE49-F238E27FC236}">
                            <a16:creationId xmlns:a16="http://schemas.microsoft.com/office/drawing/2014/main" id="{8888AD68-CB1B-A95E-D870-B8B64E253ACA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266720" y="4284000"/>
                        <a:ext cx="0" cy="327309"/>
                      </a:xfrm>
                      <a:prstGeom prst="line">
                        <a:avLst/>
                      </a:prstGeom>
                      <a:ln w="12700">
                        <a:headEnd type="none" w="lg" len="med"/>
                        <a:tailEnd type="none" w="lg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3" name="Přímá spojnice 92">
                        <a:extLst>
                          <a:ext uri="{FF2B5EF4-FFF2-40B4-BE49-F238E27FC236}">
                            <a16:creationId xmlns:a16="http://schemas.microsoft.com/office/drawing/2014/main" id="{22B7CA9F-9BEA-A820-019C-41B5586915DE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3751560" y="4283999"/>
                        <a:ext cx="0" cy="540000"/>
                      </a:xfrm>
                      <a:prstGeom prst="line">
                        <a:avLst/>
                      </a:prstGeom>
                      <a:ln w="12700">
                        <a:headEnd type="none" w="lg" len="med"/>
                        <a:tailEnd type="none" w="lg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4" name="Přímá spojnice 93">
                        <a:extLst>
                          <a:ext uri="{FF2B5EF4-FFF2-40B4-BE49-F238E27FC236}">
                            <a16:creationId xmlns:a16="http://schemas.microsoft.com/office/drawing/2014/main" id="{52C5EF2E-C6B6-0D6A-4711-BC455337B0A1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5406616" y="4284000"/>
                        <a:ext cx="0" cy="297554"/>
                      </a:xfrm>
                      <a:prstGeom prst="line">
                        <a:avLst/>
                      </a:prstGeom>
                      <a:ln w="12700">
                        <a:headEnd type="none" w="lg" len="med"/>
                        <a:tailEnd type="none" w="lg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0" name="Rovnoramenný trojúhelník 79">
                        <a:extLst>
                          <a:ext uri="{FF2B5EF4-FFF2-40B4-BE49-F238E27FC236}">
                            <a16:creationId xmlns:a16="http://schemas.microsoft.com/office/drawing/2014/main" id="{696CC44F-5597-74C8-5CE8-C70CC045B3DA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1217105" y="4104008"/>
                        <a:ext cx="107447" cy="124593"/>
                      </a:xfrm>
                      <a:prstGeom prst="triangle">
                        <a:avLst/>
                      </a:prstGeom>
                      <a:solidFill>
                        <a:srgbClr val="C000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cs-CZ"/>
                      </a:p>
                    </p:txBody>
                  </p:sp>
                  <p:sp>
                    <p:nvSpPr>
                      <p:cNvPr id="85" name="Rovnoramenný trojúhelník 84">
                        <a:extLst>
                          <a:ext uri="{FF2B5EF4-FFF2-40B4-BE49-F238E27FC236}">
                            <a16:creationId xmlns:a16="http://schemas.microsoft.com/office/drawing/2014/main" id="{C0487020-6A7C-CADB-B673-468F5850AFBE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525816" y="4104008"/>
                        <a:ext cx="118192" cy="124593"/>
                      </a:xfrm>
                      <a:prstGeom prst="triangle">
                        <a:avLst/>
                      </a:prstGeom>
                      <a:solidFill>
                        <a:srgbClr val="C000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cs-CZ"/>
                      </a:p>
                    </p:txBody>
                  </p:sp>
                  <p:sp>
                    <p:nvSpPr>
                      <p:cNvPr id="86" name="Rovnoramenný trojúhelník 85">
                        <a:extLst>
                          <a:ext uri="{FF2B5EF4-FFF2-40B4-BE49-F238E27FC236}">
                            <a16:creationId xmlns:a16="http://schemas.microsoft.com/office/drawing/2014/main" id="{940F3892-3529-E467-2BA8-4BEEC5A93BEA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7854889" y="4104008"/>
                        <a:ext cx="118192" cy="124593"/>
                      </a:xfrm>
                      <a:prstGeom prst="triangle">
                        <a:avLst/>
                      </a:prstGeom>
                      <a:solidFill>
                        <a:srgbClr val="C000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cs-CZ"/>
                      </a:p>
                    </p:txBody>
                  </p:sp>
                  <p:sp>
                    <p:nvSpPr>
                      <p:cNvPr id="92" name="Rovnoramenný trojúhelník 91">
                        <a:extLst>
                          <a:ext uri="{FF2B5EF4-FFF2-40B4-BE49-F238E27FC236}">
                            <a16:creationId xmlns:a16="http://schemas.microsoft.com/office/drawing/2014/main" id="{4BF70400-BCF7-5D64-6752-FEC27F5979CB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3693729" y="4104000"/>
                        <a:ext cx="118192" cy="124593"/>
                      </a:xfrm>
                      <a:prstGeom prst="triangle">
                        <a:avLst/>
                      </a:prstGeom>
                      <a:solidFill>
                        <a:srgbClr val="C000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cs-CZ"/>
                      </a:p>
                    </p:txBody>
                  </p:sp>
                  <p:cxnSp>
                    <p:nvCxnSpPr>
                      <p:cNvPr id="14" name="Přímá spojnice se šipkou 13">
                        <a:extLst>
                          <a:ext uri="{FF2B5EF4-FFF2-40B4-BE49-F238E27FC236}">
                            <a16:creationId xmlns:a16="http://schemas.microsoft.com/office/drawing/2014/main" id="{CC4055E3-EE2B-30CD-90DA-9A2B10015F8F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1280461" y="4602392"/>
                        <a:ext cx="2448000" cy="0"/>
                      </a:xfrm>
                      <a:prstGeom prst="straightConnector1">
                        <a:avLst/>
                      </a:prstGeom>
                      <a:ln w="12700">
                        <a:solidFill>
                          <a:srgbClr val="C00000"/>
                        </a:solidFill>
                        <a:headEnd type="triangle" w="med" len="med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7" name="Přímá spojnice se šipkou 96">
                        <a:extLst>
                          <a:ext uri="{FF2B5EF4-FFF2-40B4-BE49-F238E27FC236}">
                            <a16:creationId xmlns:a16="http://schemas.microsoft.com/office/drawing/2014/main" id="{3C53A305-DC40-197A-E5B7-7CF601E8A511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4862526" y="4589344"/>
                        <a:ext cx="532756" cy="0"/>
                      </a:xfrm>
                      <a:prstGeom prst="straightConnector1">
                        <a:avLst/>
                      </a:prstGeom>
                      <a:ln w="12700">
                        <a:solidFill>
                          <a:srgbClr val="C00000"/>
                        </a:solidFill>
                        <a:headEnd type="triangle" w="med" len="med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9" name="Přímá spojnice se šipkou 98">
                        <a:extLst>
                          <a:ext uri="{FF2B5EF4-FFF2-40B4-BE49-F238E27FC236}">
                            <a16:creationId xmlns:a16="http://schemas.microsoft.com/office/drawing/2014/main" id="{E007A358-2BD8-E6A2-068A-1076B603F889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4874207" y="4822528"/>
                        <a:ext cx="3024000" cy="0"/>
                      </a:xfrm>
                      <a:prstGeom prst="straightConnector1">
                        <a:avLst/>
                      </a:prstGeom>
                      <a:ln w="12700">
                        <a:solidFill>
                          <a:srgbClr val="C00000"/>
                        </a:solidFill>
                        <a:headEnd type="triangle" w="med" len="med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0" name="Přímá spojnice 99">
                        <a:extLst>
                          <a:ext uri="{FF2B5EF4-FFF2-40B4-BE49-F238E27FC236}">
                            <a16:creationId xmlns:a16="http://schemas.microsoft.com/office/drawing/2014/main" id="{30F56BCA-7584-D4ED-C376-F7F9F84920B0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4859122" y="4284000"/>
                        <a:ext cx="0" cy="540000"/>
                      </a:xfrm>
                      <a:prstGeom prst="line">
                        <a:avLst/>
                      </a:prstGeom>
                      <a:ln w="12700">
                        <a:headEnd type="none" w="lg" len="med"/>
                        <a:tailEnd type="none" w="lg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1" name="Přímá spojnice 100">
                        <a:extLst>
                          <a:ext uri="{FF2B5EF4-FFF2-40B4-BE49-F238E27FC236}">
                            <a16:creationId xmlns:a16="http://schemas.microsoft.com/office/drawing/2014/main" id="{A4F19D73-E156-1444-746B-0A783B15B3F2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7912720" y="4284000"/>
                        <a:ext cx="0" cy="540000"/>
                      </a:xfrm>
                      <a:prstGeom prst="line">
                        <a:avLst/>
                      </a:prstGeom>
                      <a:ln w="12700">
                        <a:headEnd type="none" w="lg" len="med"/>
                        <a:tailEnd type="none" w="lg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5" name="Přímá spojnice se šipkou 104">
                        <a:extLst>
                          <a:ext uri="{FF2B5EF4-FFF2-40B4-BE49-F238E27FC236}">
                            <a16:creationId xmlns:a16="http://schemas.microsoft.com/office/drawing/2014/main" id="{E5A7C146-B93A-9B7B-6A3C-298728BB8B29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3764698" y="4824000"/>
                        <a:ext cx="1080000" cy="0"/>
                      </a:xfrm>
                      <a:prstGeom prst="straightConnector1">
                        <a:avLst/>
                      </a:prstGeom>
                      <a:ln w="12700">
                        <a:solidFill>
                          <a:srgbClr val="C00000"/>
                        </a:solidFill>
                        <a:headEnd type="triangle" w="med" len="med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9" name="Skupina 18">
                      <a:extLst>
                        <a:ext uri="{FF2B5EF4-FFF2-40B4-BE49-F238E27FC236}">
                          <a16:creationId xmlns:a16="http://schemas.microsoft.com/office/drawing/2014/main" id="{A69412D4-C0AE-503F-EA84-1261A5B817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0816" y="3717032"/>
                      <a:ext cx="8063962" cy="1309365"/>
                      <a:chOff x="560816" y="3717032"/>
                      <a:chExt cx="8063962" cy="1309365"/>
                    </a:xfrm>
                  </p:grpSpPr>
                  <p:sp>
                    <p:nvSpPr>
                      <p:cNvPr id="103" name="TextovéPole 102">
                        <a:extLst>
                          <a:ext uri="{FF2B5EF4-FFF2-40B4-BE49-F238E27FC236}">
                            <a16:creationId xmlns:a16="http://schemas.microsoft.com/office/drawing/2014/main" id="{CDCB785A-737B-0E34-528C-29D0605CF14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271202" y="4552776"/>
                        <a:ext cx="635166" cy="246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r"/>
                        <a:r>
                          <a:rPr lang="cs-CZ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14</a:t>
                        </a:r>
                        <a:r>
                          <a:rPr lang="en-GB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 days</a:t>
                        </a:r>
                      </a:p>
                    </p:txBody>
                  </p:sp>
                  <p:sp>
                    <p:nvSpPr>
                      <p:cNvPr id="96" name="TextovéPole 95">
                        <a:extLst>
                          <a:ext uri="{FF2B5EF4-FFF2-40B4-BE49-F238E27FC236}">
                            <a16:creationId xmlns:a16="http://schemas.microsoft.com/office/drawing/2014/main" id="{BD329B3A-540A-A73B-2983-19FEC40D51A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058808" y="4559968"/>
                        <a:ext cx="776784" cy="246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cs-CZ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134</a:t>
                        </a:r>
                        <a:r>
                          <a:rPr lang="en-GB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 days</a:t>
                        </a:r>
                      </a:p>
                    </p:txBody>
                  </p:sp>
                  <p:sp>
                    <p:nvSpPr>
                      <p:cNvPr id="98" name="TextovéPole 97">
                        <a:extLst>
                          <a:ext uri="{FF2B5EF4-FFF2-40B4-BE49-F238E27FC236}">
                            <a16:creationId xmlns:a16="http://schemas.microsoft.com/office/drawing/2014/main" id="{2FEF31F7-9AC3-DE64-A45E-521410A74AC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766760" y="4558019"/>
                        <a:ext cx="698816" cy="246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cs-CZ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29</a:t>
                        </a:r>
                        <a:r>
                          <a:rPr lang="en-GB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 days</a:t>
                        </a:r>
                      </a:p>
                    </p:txBody>
                  </p:sp>
                  <p:sp>
                    <p:nvSpPr>
                      <p:cNvPr id="87" name="TextovéPole 86">
                        <a:extLst>
                          <a:ext uri="{FF2B5EF4-FFF2-40B4-BE49-F238E27FC236}">
                            <a16:creationId xmlns:a16="http://schemas.microsoft.com/office/drawing/2014/main" id="{481E4485-CF15-CB20-0C91-DA521D3AD87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039592" y="3744008"/>
                        <a:ext cx="1080570" cy="400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GB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18 May</a:t>
                        </a:r>
                      </a:p>
                      <a:p>
                        <a:pPr algn="ctr"/>
                        <a:r>
                          <a:rPr lang="en-GB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next coupon day</a:t>
                        </a:r>
                      </a:p>
                    </p:txBody>
                  </p:sp>
                  <p:sp>
                    <p:nvSpPr>
                      <p:cNvPr id="89" name="TextovéPole 88">
                        <a:extLst>
                          <a:ext uri="{FF2B5EF4-FFF2-40B4-BE49-F238E27FC236}">
                            <a16:creationId xmlns:a16="http://schemas.microsoft.com/office/drawing/2014/main" id="{E7EFEA15-1825-B0A8-DDCF-683160091C5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213904" y="3744008"/>
                        <a:ext cx="1410874" cy="400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GB" sz="1000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18 November</a:t>
                        </a:r>
                      </a:p>
                      <a:p>
                        <a:pPr algn="ctr"/>
                        <a:r>
                          <a:rPr lang="en-GB" sz="1000" noProof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after-next coupon day</a:t>
                        </a:r>
                      </a:p>
                    </p:txBody>
                  </p:sp>
                  <p:sp>
                    <p:nvSpPr>
                      <p:cNvPr id="90" name="TextovéPole 89">
                        <a:extLst>
                          <a:ext uri="{FF2B5EF4-FFF2-40B4-BE49-F238E27FC236}">
                            <a16:creationId xmlns:a16="http://schemas.microsoft.com/office/drawing/2014/main" id="{B62AFEF4-DB1E-846F-C56F-1D1FE2662BD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60816" y="3717032"/>
                        <a:ext cx="1440160" cy="400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GB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18 November</a:t>
                        </a:r>
                      </a:p>
                      <a:p>
                        <a:pPr algn="ctr"/>
                        <a:r>
                          <a:rPr lang="en-GB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previous coupon day</a:t>
                        </a:r>
                      </a:p>
                    </p:txBody>
                  </p:sp>
                  <p:sp>
                    <p:nvSpPr>
                      <p:cNvPr id="91" name="TextovéPole 90">
                        <a:extLst>
                          <a:ext uri="{FF2B5EF4-FFF2-40B4-BE49-F238E27FC236}">
                            <a16:creationId xmlns:a16="http://schemas.microsoft.com/office/drawing/2014/main" id="{F2981E7B-44F5-158F-2291-F8647D18074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63528" y="3744000"/>
                        <a:ext cx="576200" cy="400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GB" sz="1000" b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1 April </a:t>
                        </a:r>
                      </a:p>
                      <a:p>
                        <a:pPr algn="ctr"/>
                        <a:r>
                          <a:rPr lang="en-GB" sz="1000" b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today</a:t>
                        </a:r>
                      </a:p>
                    </p:txBody>
                  </p:sp>
                  <p:sp>
                    <p:nvSpPr>
                      <p:cNvPr id="104" name="TextovéPole 103">
                        <a:extLst>
                          <a:ext uri="{FF2B5EF4-FFF2-40B4-BE49-F238E27FC236}">
                            <a16:creationId xmlns:a16="http://schemas.microsoft.com/office/drawing/2014/main" id="{81DADB81-1C9E-E9FD-7A34-C275256DF72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955456" y="4779459"/>
                        <a:ext cx="776784" cy="246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cs-CZ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170</a:t>
                        </a:r>
                        <a:r>
                          <a:rPr lang="en-GB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 days</a:t>
                        </a:r>
                      </a:p>
                    </p:txBody>
                  </p:sp>
                  <p:sp>
                    <p:nvSpPr>
                      <p:cNvPr id="106" name="TextovéPole 105">
                        <a:extLst>
                          <a:ext uri="{FF2B5EF4-FFF2-40B4-BE49-F238E27FC236}">
                            <a16:creationId xmlns:a16="http://schemas.microsoft.com/office/drawing/2014/main" id="{E1D640E6-F7C8-883B-7B40-74D6EF69E5E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923928" y="4780176"/>
                        <a:ext cx="776784" cy="246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cs-CZ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61</a:t>
                        </a:r>
                        <a:r>
                          <a:rPr lang="en-GB" sz="1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 days</a:t>
                        </a:r>
                      </a:p>
                    </p:txBody>
                  </p:sp>
                </p:grpSp>
              </p:grpSp>
            </p:grpSp>
            <p:cxnSp>
              <p:nvCxnSpPr>
                <p:cNvPr id="81" name="Přímá spojnice se šipkou 80">
                  <a:extLst>
                    <a:ext uri="{FF2B5EF4-FFF2-40B4-BE49-F238E27FC236}">
                      <a16:creationId xmlns:a16="http://schemas.microsoft.com/office/drawing/2014/main" id="{A0D87E3B-6F6B-CF3D-29E0-AC1EFE6A5EFB}"/>
                    </a:ext>
                  </a:extLst>
                </p:cNvPr>
                <p:cNvCxnSpPr/>
                <p:nvPr/>
              </p:nvCxnSpPr>
              <p:spPr>
                <a:xfrm>
                  <a:off x="7914764" y="4881600"/>
                  <a:ext cx="963540" cy="0"/>
                </a:xfrm>
                <a:prstGeom prst="straightConnector1">
                  <a:avLst/>
                </a:prstGeom>
                <a:ln w="12700">
                  <a:solidFill>
                    <a:srgbClr val="C00000"/>
                  </a:solidFill>
                  <a:prstDash val="sysDash"/>
                  <a:headEnd type="triangle" w="med" len="med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TextovéPole 83">
                  <a:extLst>
                    <a:ext uri="{FF2B5EF4-FFF2-40B4-BE49-F238E27FC236}">
                      <a16:creationId xmlns:a16="http://schemas.microsoft.com/office/drawing/2014/main" id="{B375AD45-2020-0565-B9C6-64285A1541CF}"/>
                    </a:ext>
                  </a:extLst>
                </p:cNvPr>
                <p:cNvSpPr txBox="1"/>
                <p:nvPr/>
              </p:nvSpPr>
              <p:spPr>
                <a:xfrm>
                  <a:off x="7899672" y="4835936"/>
                  <a:ext cx="920328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11 years to maturity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Obdélník 10">
                    <a:extLst>
                      <a:ext uri="{FF2B5EF4-FFF2-40B4-BE49-F238E27FC236}">
                        <a16:creationId xmlns:a16="http://schemas.microsoft.com/office/drawing/2014/main" id="{658465F3-C6F4-1B77-7CC7-87A57D726419}"/>
                      </a:ext>
                    </a:extLst>
                  </p:cNvPr>
                  <p:cNvSpPr/>
                  <p:nvPr/>
                </p:nvSpPr>
                <p:spPr>
                  <a:xfrm>
                    <a:off x="2253568" y="3760818"/>
                    <a:ext cx="1186419" cy="561758"/>
                  </a:xfrm>
                  <a:prstGeom prst="rect">
                    <a:avLst/>
                  </a:prstGeom>
                  <a:solidFill>
                    <a:srgbClr val="0070C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36000" rIns="36000" bIns="36000" rtlCol="0" anchor="ctr"/>
                  <a:lstStyle/>
                  <a:p>
                    <a:pPr marL="92075">
                      <a:spcBef>
                        <a:spcPts val="1200"/>
                      </a:spcBef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i="1">
                                <a:latin typeface="Cambria Math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1000" i="1">
                                <a:latin typeface="Cambria Math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1000" i="1">
                            <a:latin typeface="Cambria Math"/>
                            <a:ea typeface="Cambria Math" panose="02040503050406030204" pitchFamily="18" charset="0"/>
                          </a:rPr>
                          <m:t>=99</m:t>
                        </m:r>
                        <m:r>
                          <a:rPr lang="cs-CZ" sz="1000" b="0" i="1" smtClean="0">
                            <a:latin typeface="Cambria Math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GB" sz="1000" i="1">
                            <a:latin typeface="Cambria Math"/>
                            <a:ea typeface="Cambria Math" panose="02040503050406030204" pitchFamily="18" charset="0"/>
                          </a:rPr>
                          <m:t>13 </m:t>
                        </m:r>
                      </m:oMath>
                    </a14:m>
                    <a:r>
                      <a:rPr lang="en-GB" sz="1000" dirty="0">
                        <a:latin typeface="Cambria Math"/>
                        <a:ea typeface="Cambria Math" panose="02040503050406030204" pitchFamily="18" charset="0"/>
                      </a:rPr>
                      <a:t>(</a:t>
                    </a:r>
                    <a:r>
                      <a:rPr lang="cs-CZ" sz="1000" dirty="0">
                        <a:latin typeface="Cambria Math"/>
                        <a:ea typeface="Cambria Math" panose="02040503050406030204" pitchFamily="18" charset="0"/>
                      </a:rPr>
                      <a:t>full</a:t>
                    </a:r>
                    <a:r>
                      <a:rPr lang="en-GB" sz="1000" dirty="0">
                        <a:latin typeface="Cambria Math"/>
                        <a:ea typeface="Cambria Math" panose="02040503050406030204" pitchFamily="18" charset="0"/>
                      </a:rPr>
                      <a:t>)</a:t>
                    </a:r>
                  </a:p>
                  <a:p>
                    <a:pPr marL="92075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i="1">
                                <a:latin typeface="Cambria Math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sz="1000" i="1">
                                <a:latin typeface="Cambria Math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1000" i="1">
                            <a:latin typeface="Cambria Math"/>
                            <a:ea typeface="Cambria Math" panose="02040503050406030204" pitchFamily="18" charset="0"/>
                          </a:rPr>
                          <m:t>=88.19 </m:t>
                        </m:r>
                      </m:oMath>
                    </a14:m>
                    <a:r>
                      <a:rPr lang="en-GB" sz="1000" dirty="0">
                        <a:latin typeface="Cambria Math"/>
                        <a:ea typeface="Cambria Math" panose="02040503050406030204" pitchFamily="18" charset="0"/>
                      </a:rPr>
                      <a:t>(clean)</a:t>
                    </a:r>
                  </a:p>
                  <a:p>
                    <a:pPr marL="92075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GB" sz="1000" i="1">
                              <a:latin typeface="Cambria Math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GB" sz="1000" i="1">
                              <a:latin typeface="Cambria Math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GB" sz="1000" i="1">
                              <a:latin typeface="Cambria Math"/>
                              <a:ea typeface="Cambria Math" panose="02040503050406030204" pitchFamily="18" charset="0"/>
                            </a:rPr>
                            <m:t>=6%</m:t>
                          </m:r>
                        </m:oMath>
                      </m:oMathPara>
                    </a14:m>
                    <a:endParaRPr lang="en-GB" sz="1000" i="1" dirty="0">
                      <a:latin typeface="Cambria Math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" name="Obdélník 10">
                    <a:extLst>
                      <a:ext uri="{FF2B5EF4-FFF2-40B4-BE49-F238E27FC236}">
                        <a16:creationId xmlns:a16="http://schemas.microsoft.com/office/drawing/2014/main" id="{658465F3-C6F4-1B77-7CC7-87A57D72641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53568" y="3760818"/>
                    <a:ext cx="1186419" cy="561758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r="-2538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" name="Volný tvar 12">
                <a:extLst>
                  <a:ext uri="{FF2B5EF4-FFF2-40B4-BE49-F238E27FC236}">
                    <a16:creationId xmlns:a16="http://schemas.microsoft.com/office/drawing/2014/main" id="{7D761474-1C36-D7D8-AF24-704C77D53E37}"/>
                  </a:ext>
                </a:extLst>
              </p:cNvPr>
              <p:cNvSpPr/>
              <p:nvPr/>
            </p:nvSpPr>
            <p:spPr>
              <a:xfrm>
                <a:off x="3454163" y="3863163"/>
                <a:ext cx="260144" cy="482009"/>
              </a:xfrm>
              <a:custGeom>
                <a:avLst/>
                <a:gdLst>
                  <a:gd name="connsiteX0" fmla="*/ 0 w 233916"/>
                  <a:gd name="connsiteY0" fmla="*/ 0 h 482009"/>
                  <a:gd name="connsiteX1" fmla="*/ 92149 w 233916"/>
                  <a:gd name="connsiteY1" fmla="*/ 0 h 482009"/>
                  <a:gd name="connsiteX2" fmla="*/ 92149 w 233916"/>
                  <a:gd name="connsiteY2" fmla="*/ 482009 h 482009"/>
                  <a:gd name="connsiteX3" fmla="*/ 233916 w 233916"/>
                  <a:gd name="connsiteY3" fmla="*/ 482009 h 482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3916" h="482009">
                    <a:moveTo>
                      <a:pt x="0" y="0"/>
                    </a:moveTo>
                    <a:lnTo>
                      <a:pt x="92149" y="0"/>
                    </a:lnTo>
                    <a:lnTo>
                      <a:pt x="92149" y="482009"/>
                    </a:lnTo>
                    <a:lnTo>
                      <a:pt x="233916" y="482009"/>
                    </a:lnTo>
                  </a:path>
                </a:pathLst>
              </a:custGeom>
              <a:noFill/>
              <a:ln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ovéPole 35">
                <a:extLst>
                  <a:ext uri="{FF2B5EF4-FFF2-40B4-BE49-F238E27FC236}">
                    <a16:creationId xmlns:a16="http://schemas.microsoft.com/office/drawing/2014/main" id="{BD621DCB-2E80-A162-846B-4FD6AA670F0B}"/>
                  </a:ext>
                </a:extLst>
              </p:cNvPr>
              <p:cNvSpPr txBox="1"/>
              <p:nvPr/>
            </p:nvSpPr>
            <p:spPr>
              <a:xfrm>
                <a:off x="1625850" y="2807364"/>
                <a:ext cx="3378198" cy="52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rgbClr val="7030A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cs-CZ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ROR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cs-CZ" sz="1400" spc="-1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Periodic</m:t>
                          </m:r>
                        </m:sub>
                      </m:sSub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s-CZ" sz="1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1,500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cs-CZ" sz="1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1400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cs-CZ" sz="1400" b="0" i="1" smtClean="0">
                              <a:latin typeface="Cambria Math"/>
                              <a:ea typeface="Cambria Math"/>
                            </a:rPr>
                            <m:t>2,0</m:t>
                          </m:r>
                          <m:r>
                            <a:rPr lang="cs-CZ" sz="14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00</m:t>
                          </m:r>
                        </m:den>
                      </m:f>
                      <m:r>
                        <a:rPr lang="en-GB" sz="14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cs-CZ" sz="1400" b="0" i="1" smtClean="0">
                          <a:latin typeface="Cambria Math"/>
                          <a:ea typeface="Cambria Math"/>
                        </a:rPr>
                        <m:t>0</m:t>
                      </m:r>
                      <m:r>
                        <a:rPr lang="en-GB" sz="1400" b="0" i="1" smtClean="0">
                          <a:latin typeface="Cambria Math"/>
                          <a:ea typeface="Cambria Math"/>
                        </a:rPr>
                        <m:t>.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/>
                        </a:rPr>
                        <m:t>075</m:t>
                      </m:r>
                      <m:r>
                        <a:rPr lang="en-GB" sz="14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/>
                        </a:rPr>
                        <m:t>7</m:t>
                      </m:r>
                      <m:r>
                        <a:rPr lang="cs-CZ" sz="1400" b="0" i="1" smtClean="0">
                          <a:latin typeface="Cambria Math"/>
                          <a:ea typeface="Cambria Math"/>
                        </a:rPr>
                        <m:t>.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/>
                        </a:rPr>
                        <m:t>5</m:t>
                      </m:r>
                      <m:r>
                        <a:rPr lang="en-GB" sz="1400" b="0" i="1" smtClean="0">
                          <a:latin typeface="Cambria Math"/>
                          <a:ea typeface="Cambria Math"/>
                        </a:rPr>
                        <m:t>%</m:t>
                      </m:r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9" name="TextovéPole 35">
                <a:extLst>
                  <a:ext uri="{FF2B5EF4-FFF2-40B4-BE49-F238E27FC236}">
                    <a16:creationId xmlns:a16="http://schemas.microsoft.com/office/drawing/2014/main" id="{BD621DCB-2E80-A162-846B-4FD6AA670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850" y="2807364"/>
                <a:ext cx="3378198" cy="52424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Přímá spojnice 22">
            <a:extLst>
              <a:ext uri="{FF2B5EF4-FFF2-40B4-BE49-F238E27FC236}">
                <a16:creationId xmlns:a16="http://schemas.microsoft.com/office/drawing/2014/main" id="{4EAEF1CB-EA64-7579-DB80-7D20A28BABDE}"/>
              </a:ext>
            </a:extLst>
          </p:cNvPr>
          <p:cNvCxnSpPr/>
          <p:nvPr/>
        </p:nvCxnSpPr>
        <p:spPr>
          <a:xfrm>
            <a:off x="3013720" y="3896536"/>
            <a:ext cx="246168" cy="0"/>
          </a:xfrm>
          <a:prstGeom prst="line">
            <a:avLst/>
          </a:prstGeom>
          <a:ln w="31750">
            <a:solidFill>
              <a:srgbClr val="C00000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Přímá spojnice 112">
            <a:extLst>
              <a:ext uri="{FF2B5EF4-FFF2-40B4-BE49-F238E27FC236}">
                <a16:creationId xmlns:a16="http://schemas.microsoft.com/office/drawing/2014/main" id="{22B4EF64-59B7-5A24-88A3-36AADA61A7A4}"/>
              </a:ext>
            </a:extLst>
          </p:cNvPr>
          <p:cNvCxnSpPr/>
          <p:nvPr/>
        </p:nvCxnSpPr>
        <p:spPr>
          <a:xfrm>
            <a:off x="3008395" y="4048936"/>
            <a:ext cx="360000" cy="0"/>
          </a:xfrm>
          <a:prstGeom prst="line">
            <a:avLst/>
          </a:prstGeom>
          <a:ln w="31750">
            <a:solidFill>
              <a:srgbClr val="C00000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ovéPole 35">
                <a:extLst>
                  <a:ext uri="{FF2B5EF4-FFF2-40B4-BE49-F238E27FC236}">
                    <a16:creationId xmlns:a16="http://schemas.microsoft.com/office/drawing/2014/main" id="{E4ADFEE1-9DF4-856F-09A2-0AF07C530561}"/>
                  </a:ext>
                </a:extLst>
              </p:cNvPr>
              <p:cNvSpPr txBox="1"/>
              <p:nvPr/>
            </p:nvSpPr>
            <p:spPr>
              <a:xfrm>
                <a:off x="5076000" y="2808000"/>
                <a:ext cx="3564000" cy="5014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rgbClr val="7030A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cs-CZ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ROR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cs-CZ" sz="1400" b="0" i="0" spc="-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Annualised</m:t>
                          </m:r>
                        </m:sub>
                      </m:sSub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cs-CZ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ROR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cs-CZ" sz="1400" b="0" i="0" spc="-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Periodic</m:t>
                          </m:r>
                        </m:sub>
                      </m:sSub>
                      <m:r>
                        <a:rPr lang="cs-CZ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365</m:t>
                          </m:r>
                        </m:num>
                        <m:den>
                          <m: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  <m:r>
                        <a:rPr lang="en-GB" sz="14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/>
                        </a:rPr>
                        <m:t>60.83</m:t>
                      </m:r>
                      <m:r>
                        <a:rPr lang="en-GB" sz="1400" b="0" i="1" smtClean="0">
                          <a:latin typeface="Cambria Math"/>
                          <a:ea typeface="Cambria Math"/>
                        </a:rPr>
                        <m:t>%</m:t>
                      </m:r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ovéPole 35">
                <a:extLst>
                  <a:ext uri="{FF2B5EF4-FFF2-40B4-BE49-F238E27FC236}">
                    <a16:creationId xmlns:a16="http://schemas.microsoft.com/office/drawing/2014/main" id="{E4ADFEE1-9DF4-856F-09A2-0AF07C530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00" y="2808000"/>
                <a:ext cx="3564000" cy="501419"/>
              </a:xfrm>
              <a:prstGeom prst="rect">
                <a:avLst/>
              </a:prstGeom>
              <a:blipFill>
                <a:blip r:embed="rId18"/>
                <a:stretch>
                  <a:fillRect b="-2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9" name="Tabulka 78">
            <a:extLst>
              <a:ext uri="{FF2B5EF4-FFF2-40B4-BE49-F238E27FC236}">
                <a16:creationId xmlns:a16="http://schemas.microsoft.com/office/drawing/2014/main" id="{F6424F58-C89D-06DD-3A65-E0D7AA4F77B9}"/>
              </a:ext>
            </a:extLst>
          </p:cNvPr>
          <p:cNvGraphicFramePr>
            <a:graphicFrameLocks noGrp="1"/>
          </p:cNvGraphicFramePr>
          <p:nvPr/>
        </p:nvGraphicFramePr>
        <p:xfrm>
          <a:off x="978688" y="4315720"/>
          <a:ext cx="72008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39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39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390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3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4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5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8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9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7813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5D732-B124-B839-BB8A-EBDF19EE9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F318D178-6435-90D7-432A-6705988F7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336000"/>
            <a:ext cx="3312000" cy="360000"/>
          </a:xfrm>
        </p:spPr>
        <p:txBody>
          <a:bodyPr/>
          <a:lstStyle/>
          <a:p>
            <a:r>
              <a:rPr lang="en-GB" dirty="0"/>
              <a:t>Examples of financial futures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D6C8787C-F9F8-B1AD-E004-3C0B98675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64000" y="6336000"/>
            <a:ext cx="1800000" cy="360000"/>
          </a:xfrm>
        </p:spPr>
        <p:txBody>
          <a:bodyPr/>
          <a:lstStyle/>
          <a:p>
            <a:pPr algn="r"/>
            <a:fld id="{DFE5482F-2F05-49C5-9E15-73F945A41231}" type="slidenum">
              <a:rPr lang="cs-CZ" smtClean="0"/>
              <a:pPr algn="r"/>
              <a:t>11</a:t>
            </a:fld>
            <a:endParaRPr lang="cs-CZ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7A049EAC-9AC3-721D-1F60-CF5FE8138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144000"/>
            <a:ext cx="4508208" cy="648072"/>
          </a:xfrm>
        </p:spPr>
        <p:txBody>
          <a:bodyPr/>
          <a:lstStyle/>
          <a:p>
            <a:r>
              <a:rPr lang="en-GB" noProof="0" dirty="0"/>
              <a:t>LTIRF </a:t>
            </a: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–</a:t>
            </a:r>
            <a:r>
              <a:rPr lang="en-GB" noProof="0" dirty="0"/>
              <a:t> conversion factor</a:t>
            </a:r>
            <a:endParaRPr lang="en-GB" noProof="0" dirty="0">
              <a:solidFill>
                <a:srgbClr val="000000"/>
              </a:solidFill>
            </a:endParaRPr>
          </a:p>
        </p:txBody>
      </p:sp>
      <p:sp>
        <p:nvSpPr>
          <p:cNvPr id="29" name="TextovéPole 28">
            <a:extLst>
              <a:ext uri="{FF2B5EF4-FFF2-40B4-BE49-F238E27FC236}">
                <a16:creationId xmlns:a16="http://schemas.microsoft.com/office/drawing/2014/main" id="{99446ACC-EDF3-542D-1309-10822AD67282}"/>
              </a:ext>
            </a:extLst>
          </p:cNvPr>
          <p:cNvSpPr txBox="1"/>
          <p:nvPr/>
        </p:nvSpPr>
        <p:spPr>
          <a:xfrm>
            <a:off x="864000" y="864000"/>
            <a:ext cx="3635992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noProof="0" dirty="0">
                <a:latin typeface="Cambria Math" panose="02040503050406030204" pitchFamily="18" charset="0"/>
                <a:ea typeface="Cambria Math" panose="02040503050406030204" pitchFamily="18" charset="0"/>
              </a:rPr>
              <a:t>Conversion (price) factor</a:t>
            </a:r>
          </a:p>
        </p:txBody>
      </p:sp>
      <p:sp>
        <p:nvSpPr>
          <p:cNvPr id="75" name="TextovéPole 35">
            <a:extLst>
              <a:ext uri="{FF2B5EF4-FFF2-40B4-BE49-F238E27FC236}">
                <a16:creationId xmlns:a16="http://schemas.microsoft.com/office/drawing/2014/main" id="{8883513F-F5BE-15AD-4BD7-761E8A6AF042}"/>
              </a:ext>
            </a:extLst>
          </p:cNvPr>
          <p:cNvSpPr txBox="1"/>
          <p:nvPr/>
        </p:nvSpPr>
        <p:spPr>
          <a:xfrm>
            <a:off x="1188000" y="1690990"/>
            <a:ext cx="7595648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noProof="0" dirty="0">
                <a:latin typeface="Cambria Math"/>
                <a:ea typeface="Cambria Math"/>
              </a:rPr>
              <a:t>CF</a:t>
            </a:r>
            <a:r>
              <a:rPr lang="cs-CZ" sz="1600" noProof="0" dirty="0">
                <a:latin typeface="Cambria Math"/>
                <a:ea typeface="Cambria Math"/>
              </a:rPr>
              <a:t>s</a:t>
            </a:r>
            <a:r>
              <a:rPr lang="en-GB" sz="1600" noProof="0" dirty="0">
                <a:latin typeface="Cambria Math"/>
                <a:ea typeface="Cambria Math"/>
              </a:rPr>
              <a:t> are calculated for the first day of the delivery month</a:t>
            </a:r>
            <a:r>
              <a:rPr lang="cs-CZ" sz="1600" noProof="0" dirty="0">
                <a:latin typeface="Cambria Math"/>
                <a:ea typeface="Cambria Math"/>
              </a:rPr>
              <a:t>, </a:t>
            </a:r>
            <a:r>
              <a:rPr lang="en-GB" sz="1600" noProof="0" dirty="0">
                <a:latin typeface="Cambria Math"/>
                <a:ea typeface="Cambria Math"/>
              </a:rPr>
              <a:t>they are unique for each delivery month</a:t>
            </a:r>
            <a:r>
              <a:rPr lang="cs-CZ" sz="1600" noProof="0" dirty="0">
                <a:latin typeface="Cambria Math"/>
                <a:ea typeface="Cambria Math"/>
              </a:rPr>
              <a:t> and </a:t>
            </a:r>
            <a:r>
              <a:rPr lang="en-GB" sz="1600" noProof="0" dirty="0">
                <a:latin typeface="Cambria Math"/>
                <a:ea typeface="Cambria Math"/>
              </a:rPr>
              <a:t>remain constant throughout the delivery cycle</a:t>
            </a:r>
            <a:endParaRPr lang="en-GB" sz="1600" noProof="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7" name="TextovéPole 35">
            <a:extLst>
              <a:ext uri="{FF2B5EF4-FFF2-40B4-BE49-F238E27FC236}">
                <a16:creationId xmlns:a16="http://schemas.microsoft.com/office/drawing/2014/main" id="{B78A4FA5-E690-86DE-CABE-9DA4A9781318}"/>
              </a:ext>
            </a:extLst>
          </p:cNvPr>
          <p:cNvSpPr txBox="1"/>
          <p:nvPr/>
        </p:nvSpPr>
        <p:spPr>
          <a:xfrm>
            <a:off x="1188000" y="1190574"/>
            <a:ext cx="74520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noProof="0" dirty="0">
                <a:latin typeface="Cambria Math"/>
                <a:ea typeface="Cambria Math"/>
              </a:rPr>
              <a:t>CF is defined as a bond’s clean price per 1 unit of face value at which the bond has a yield to maturity of 7%, the same as the contract’s notional bond </a:t>
            </a:r>
            <a:endParaRPr lang="en-GB" sz="1600" noProof="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3" name="TextovéPole 35">
            <a:extLst>
              <a:ext uri="{FF2B5EF4-FFF2-40B4-BE49-F238E27FC236}">
                <a16:creationId xmlns:a16="http://schemas.microsoft.com/office/drawing/2014/main" id="{3A660D6F-3B73-7570-DBA8-734E84BCB774}"/>
              </a:ext>
            </a:extLst>
          </p:cNvPr>
          <p:cNvSpPr txBox="1"/>
          <p:nvPr/>
        </p:nvSpPr>
        <p:spPr>
          <a:xfrm>
            <a:off x="1188000" y="2445600"/>
            <a:ext cx="784849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noProof="0" dirty="0">
                <a:latin typeface="Cambria Math"/>
                <a:ea typeface="Cambria Math"/>
              </a:rPr>
              <a:t>Futures price of deliverable bond = bond’s conversion factor × contract‘s futures price</a:t>
            </a:r>
          </a:p>
        </p:txBody>
      </p:sp>
      <p:sp>
        <p:nvSpPr>
          <p:cNvPr id="78" name="TextovéPole 77">
            <a:extLst>
              <a:ext uri="{FF2B5EF4-FFF2-40B4-BE49-F238E27FC236}">
                <a16:creationId xmlns:a16="http://schemas.microsoft.com/office/drawing/2014/main" id="{9D17B690-51FB-D7F7-EAC0-C161C158D170}"/>
              </a:ext>
            </a:extLst>
          </p:cNvPr>
          <p:cNvSpPr txBox="1"/>
          <p:nvPr/>
        </p:nvSpPr>
        <p:spPr>
          <a:xfrm>
            <a:off x="864000" y="2736000"/>
            <a:ext cx="2837928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Numerical example</a:t>
            </a:r>
          </a:p>
        </p:txBody>
      </p:sp>
      <p:sp>
        <p:nvSpPr>
          <p:cNvPr id="63" name="TextovéPole 35">
            <a:extLst>
              <a:ext uri="{FF2B5EF4-FFF2-40B4-BE49-F238E27FC236}">
                <a16:creationId xmlns:a16="http://schemas.microsoft.com/office/drawing/2014/main" id="{4286BDEE-E15B-055E-D4E7-21366FB19B2D}"/>
              </a:ext>
            </a:extLst>
          </p:cNvPr>
          <p:cNvSpPr txBox="1"/>
          <p:nvPr/>
        </p:nvSpPr>
        <p:spPr>
          <a:xfrm>
            <a:off x="1188000" y="3824804"/>
            <a:ext cx="748845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noProof="0" dirty="0">
                <a:latin typeface="Cambria Math"/>
                <a:ea typeface="Cambria Math"/>
              </a:rPr>
              <a:t>Bond’s </a:t>
            </a:r>
            <a:r>
              <a:rPr lang="cs-CZ" sz="1600" noProof="0" dirty="0">
                <a:latin typeface="Cambria Math"/>
                <a:ea typeface="Cambria Math"/>
              </a:rPr>
              <a:t>full </a:t>
            </a:r>
            <a:r>
              <a:rPr lang="en-GB" sz="1600" noProof="0" dirty="0">
                <a:latin typeface="Cambria Math"/>
                <a:ea typeface="Cambria Math"/>
              </a:rPr>
              <a:t>price on the after-next coupon day (22 semi-annual coupon payments)</a:t>
            </a:r>
          </a:p>
        </p:txBody>
      </p:sp>
      <p:sp>
        <p:nvSpPr>
          <p:cNvPr id="82" name="TextovéPole 35">
            <a:extLst>
              <a:ext uri="{FF2B5EF4-FFF2-40B4-BE49-F238E27FC236}">
                <a16:creationId xmlns:a16="http://schemas.microsoft.com/office/drawing/2014/main" id="{8E29330D-B131-10C6-A91A-AC2C80A08139}"/>
              </a:ext>
            </a:extLst>
          </p:cNvPr>
          <p:cNvSpPr txBox="1"/>
          <p:nvPr/>
        </p:nvSpPr>
        <p:spPr>
          <a:xfrm>
            <a:off x="1188000" y="4574727"/>
            <a:ext cx="51842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dirty="0">
                <a:latin typeface="Cambria Math"/>
                <a:ea typeface="Cambria Math"/>
              </a:rPr>
              <a:t>Bond</a:t>
            </a:r>
            <a:r>
              <a:rPr lang="en-US" sz="1600" dirty="0">
                <a:latin typeface="Cambria Math"/>
                <a:ea typeface="Cambria Math"/>
              </a:rPr>
              <a:t>’</a:t>
            </a:r>
            <a:r>
              <a:rPr lang="en-GB" sz="1600" dirty="0">
                <a:latin typeface="Cambria Math"/>
                <a:ea typeface="Cambria Math"/>
              </a:rPr>
              <a:t>s </a:t>
            </a:r>
            <a:r>
              <a:rPr lang="cs-CZ" sz="1600" dirty="0">
                <a:latin typeface="Cambria Math"/>
                <a:ea typeface="Cambria Math"/>
              </a:rPr>
              <a:t>full </a:t>
            </a:r>
            <a:r>
              <a:rPr lang="en-GB" sz="1600" dirty="0">
                <a:latin typeface="Cambria Math"/>
                <a:ea typeface="Cambria Math"/>
              </a:rPr>
              <a:t>price at the beginning of the delivery month</a:t>
            </a:r>
          </a:p>
        </p:txBody>
      </p:sp>
      <p:sp>
        <p:nvSpPr>
          <p:cNvPr id="83" name="TextovéPole 35">
            <a:extLst>
              <a:ext uri="{FF2B5EF4-FFF2-40B4-BE49-F238E27FC236}">
                <a16:creationId xmlns:a16="http://schemas.microsoft.com/office/drawing/2014/main" id="{3B5DBC35-FF14-A643-BC6A-63CA9FE92BE7}"/>
              </a:ext>
            </a:extLst>
          </p:cNvPr>
          <p:cNvSpPr txBox="1"/>
          <p:nvPr/>
        </p:nvSpPr>
        <p:spPr>
          <a:xfrm>
            <a:off x="1188000" y="5222436"/>
            <a:ext cx="579580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dirty="0">
                <a:latin typeface="Cambria Math"/>
                <a:ea typeface="Cambria Math"/>
              </a:rPr>
              <a:t>Bond’s clean price at the beginning of the delivery month</a:t>
            </a:r>
          </a:p>
        </p:txBody>
      </p:sp>
      <p:sp>
        <p:nvSpPr>
          <p:cNvPr id="81" name="TextovéPole 35">
            <a:extLst>
              <a:ext uri="{FF2B5EF4-FFF2-40B4-BE49-F238E27FC236}">
                <a16:creationId xmlns:a16="http://schemas.microsoft.com/office/drawing/2014/main" id="{DD8D98C5-E4E2-66F8-D462-4997AB15D023}"/>
              </a:ext>
            </a:extLst>
          </p:cNvPr>
          <p:cNvSpPr txBox="1"/>
          <p:nvPr/>
        </p:nvSpPr>
        <p:spPr>
          <a:xfrm>
            <a:off x="1188000" y="2191406"/>
            <a:ext cx="70920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noProof="0">
                <a:latin typeface="Cambria Math"/>
                <a:ea typeface="Cambria Math"/>
              </a:rPr>
              <a:t>CFs are published by futures exchanges (using specific rounding conventions) </a:t>
            </a:r>
          </a:p>
        </p:txBody>
      </p:sp>
      <p:grpSp>
        <p:nvGrpSpPr>
          <p:cNvPr id="7" name="Skupina 6">
            <a:extLst>
              <a:ext uri="{FF2B5EF4-FFF2-40B4-BE49-F238E27FC236}">
                <a16:creationId xmlns:a16="http://schemas.microsoft.com/office/drawing/2014/main" id="{E780BC85-32FE-26B5-2DA6-9B9021312143}"/>
              </a:ext>
            </a:extLst>
          </p:cNvPr>
          <p:cNvGrpSpPr/>
          <p:nvPr/>
        </p:nvGrpSpPr>
        <p:grpSpPr>
          <a:xfrm>
            <a:off x="569016" y="3079621"/>
            <a:ext cx="8567856" cy="874600"/>
            <a:chOff x="569016" y="3079621"/>
            <a:chExt cx="8567856" cy="874600"/>
          </a:xfrm>
        </p:grpSpPr>
        <p:grpSp>
          <p:nvGrpSpPr>
            <p:cNvPr id="6" name="Skupina 5">
              <a:extLst>
                <a:ext uri="{FF2B5EF4-FFF2-40B4-BE49-F238E27FC236}">
                  <a16:creationId xmlns:a16="http://schemas.microsoft.com/office/drawing/2014/main" id="{23A1E6CF-A54C-49EB-BDB9-C9F6B5CE9B0B}"/>
                </a:ext>
              </a:extLst>
            </p:cNvPr>
            <p:cNvGrpSpPr/>
            <p:nvPr/>
          </p:nvGrpSpPr>
          <p:grpSpPr>
            <a:xfrm>
              <a:off x="569016" y="3079621"/>
              <a:ext cx="8567856" cy="874600"/>
              <a:chOff x="560816" y="3683968"/>
              <a:chExt cx="8567856" cy="874600"/>
            </a:xfrm>
          </p:grpSpPr>
          <p:grpSp>
            <p:nvGrpSpPr>
              <p:cNvPr id="21" name="Skupina 20">
                <a:extLst>
                  <a:ext uri="{FF2B5EF4-FFF2-40B4-BE49-F238E27FC236}">
                    <a16:creationId xmlns:a16="http://schemas.microsoft.com/office/drawing/2014/main" id="{62BB18C4-4C2C-1081-BC33-9ED80360801C}"/>
                  </a:ext>
                </a:extLst>
              </p:cNvPr>
              <p:cNvGrpSpPr/>
              <p:nvPr/>
            </p:nvGrpSpPr>
            <p:grpSpPr>
              <a:xfrm>
                <a:off x="560816" y="3683968"/>
                <a:ext cx="8080200" cy="874600"/>
                <a:chOff x="560816" y="3909336"/>
                <a:chExt cx="8080200" cy="874600"/>
              </a:xfrm>
            </p:grpSpPr>
            <p:cxnSp>
              <p:nvCxnSpPr>
                <p:cNvPr id="102" name="Přímá spojnice se šipkou 101">
                  <a:extLst>
                    <a:ext uri="{FF2B5EF4-FFF2-40B4-BE49-F238E27FC236}">
                      <a16:creationId xmlns:a16="http://schemas.microsoft.com/office/drawing/2014/main" id="{E0510B2A-411E-D018-26E2-6ECF706EBC2E}"/>
                    </a:ext>
                  </a:extLst>
                </p:cNvPr>
                <p:cNvCxnSpPr/>
                <p:nvPr/>
              </p:nvCxnSpPr>
              <p:spPr>
                <a:xfrm>
                  <a:off x="4568736" y="4557896"/>
                  <a:ext cx="288000" cy="0"/>
                </a:xfrm>
                <a:prstGeom prst="straightConnector1">
                  <a:avLst/>
                </a:prstGeom>
                <a:ln w="12700">
                  <a:solidFill>
                    <a:srgbClr val="C00000"/>
                  </a:solidFill>
                  <a:headEnd type="triangle" w="med" len="me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" name="Skupina 19">
                  <a:extLst>
                    <a:ext uri="{FF2B5EF4-FFF2-40B4-BE49-F238E27FC236}">
                      <a16:creationId xmlns:a16="http://schemas.microsoft.com/office/drawing/2014/main" id="{9A5D43FD-0C87-DA16-A419-AB0885530548}"/>
                    </a:ext>
                  </a:extLst>
                </p:cNvPr>
                <p:cNvGrpSpPr/>
                <p:nvPr/>
              </p:nvGrpSpPr>
              <p:grpSpPr>
                <a:xfrm>
                  <a:off x="560816" y="3909336"/>
                  <a:ext cx="8080200" cy="874600"/>
                  <a:chOff x="560816" y="3909336"/>
                  <a:chExt cx="8080200" cy="874600"/>
                </a:xfrm>
              </p:grpSpPr>
              <p:grpSp>
                <p:nvGrpSpPr>
                  <p:cNvPr id="18" name="Skupina 17">
                    <a:extLst>
                      <a:ext uri="{FF2B5EF4-FFF2-40B4-BE49-F238E27FC236}">
                        <a16:creationId xmlns:a16="http://schemas.microsoft.com/office/drawing/2014/main" id="{144D2672-AA23-D833-707A-013EC1AF94B0}"/>
                      </a:ext>
                    </a:extLst>
                  </p:cNvPr>
                  <p:cNvGrpSpPr/>
                  <p:nvPr/>
                </p:nvGrpSpPr>
                <p:grpSpPr>
                  <a:xfrm>
                    <a:off x="1217105" y="4104000"/>
                    <a:ext cx="6755976" cy="454736"/>
                    <a:chOff x="1217105" y="4104000"/>
                    <a:chExt cx="6755976" cy="454736"/>
                  </a:xfrm>
                </p:grpSpPr>
                <p:sp>
                  <p:nvSpPr>
                    <p:cNvPr id="80" name="Rovnoramenný trojúhelník 79">
                      <a:extLst>
                        <a:ext uri="{FF2B5EF4-FFF2-40B4-BE49-F238E27FC236}">
                          <a16:creationId xmlns:a16="http://schemas.microsoft.com/office/drawing/2014/main" id="{179BC74C-9CBE-BBAE-9E19-85D3E7E1CDBD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1217105" y="4104008"/>
                      <a:ext cx="107447" cy="124593"/>
                    </a:xfrm>
                    <a:prstGeom prst="triangle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cs-CZ"/>
                    </a:p>
                  </p:txBody>
                </p:sp>
                <p:sp>
                  <p:nvSpPr>
                    <p:cNvPr id="85" name="Rovnoramenný trojúhelník 84">
                      <a:extLst>
                        <a:ext uri="{FF2B5EF4-FFF2-40B4-BE49-F238E27FC236}">
                          <a16:creationId xmlns:a16="http://schemas.microsoft.com/office/drawing/2014/main" id="{6D6DA440-DA26-B159-5A2F-8A6D6E73FC95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4525816" y="4104008"/>
                      <a:ext cx="118192" cy="124593"/>
                    </a:xfrm>
                    <a:prstGeom prst="triangle">
                      <a:avLst/>
                    </a:prstGeom>
                    <a:solidFill>
                      <a:srgbClr val="C0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cs-CZ"/>
                    </a:p>
                  </p:txBody>
                </p:sp>
                <p:sp>
                  <p:nvSpPr>
                    <p:cNvPr id="86" name="Rovnoramenný trojúhelník 85">
                      <a:extLst>
                        <a:ext uri="{FF2B5EF4-FFF2-40B4-BE49-F238E27FC236}">
                          <a16:creationId xmlns:a16="http://schemas.microsoft.com/office/drawing/2014/main" id="{CBF8AE71-95BB-6CE8-F0CC-BF3E55D149D1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7854889" y="4104008"/>
                      <a:ext cx="118192" cy="124593"/>
                    </a:xfrm>
                    <a:prstGeom prst="triangle">
                      <a:avLst/>
                    </a:prstGeom>
                    <a:solidFill>
                      <a:srgbClr val="C0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cs-CZ"/>
                    </a:p>
                  </p:txBody>
                </p:sp>
                <p:sp>
                  <p:nvSpPr>
                    <p:cNvPr id="92" name="Rovnoramenný trojúhelník 91">
                      <a:extLst>
                        <a:ext uri="{FF2B5EF4-FFF2-40B4-BE49-F238E27FC236}">
                          <a16:creationId xmlns:a16="http://schemas.microsoft.com/office/drawing/2014/main" id="{6A7E1775-A8A9-02B6-EEDA-D5B064FCB0EA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3693729" y="4104000"/>
                      <a:ext cx="118192" cy="124593"/>
                    </a:xfrm>
                    <a:prstGeom prst="triangle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cs-CZ"/>
                    </a:p>
                  </p:txBody>
                </p:sp>
                <p:cxnSp>
                  <p:nvCxnSpPr>
                    <p:cNvPr id="99" name="Přímá spojnice se šipkou 98">
                      <a:extLst>
                        <a:ext uri="{FF2B5EF4-FFF2-40B4-BE49-F238E27FC236}">
                          <a16:creationId xmlns:a16="http://schemas.microsoft.com/office/drawing/2014/main" id="{BE315210-7FB6-9F3F-14ED-63F548F6E1D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867119" y="4557896"/>
                      <a:ext cx="3042000" cy="0"/>
                    </a:xfrm>
                    <a:prstGeom prst="straightConnector1">
                      <a:avLst/>
                    </a:prstGeom>
                    <a:ln w="12700">
                      <a:solidFill>
                        <a:srgbClr val="C00000"/>
                      </a:solidFill>
                      <a:headEnd type="triangle" w="med" len="med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" name="Přímá spojnice 100">
                      <a:extLst>
                        <a:ext uri="{FF2B5EF4-FFF2-40B4-BE49-F238E27FC236}">
                          <a16:creationId xmlns:a16="http://schemas.microsoft.com/office/drawing/2014/main" id="{6BC1FC89-3F3B-00D7-1DC1-4E0D7C82A14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912720" y="4305896"/>
                      <a:ext cx="0" cy="252000"/>
                    </a:xfrm>
                    <a:prstGeom prst="line">
                      <a:avLst/>
                    </a:prstGeom>
                    <a:ln w="12700">
                      <a:headEnd type="none" w="lg" len="med"/>
                      <a:tailEnd type="none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" name="Přímá spojnice 66">
                      <a:extLst>
                        <a:ext uri="{FF2B5EF4-FFF2-40B4-BE49-F238E27FC236}">
                          <a16:creationId xmlns:a16="http://schemas.microsoft.com/office/drawing/2014/main" id="{7CD817B5-AF12-B673-15A4-5533DDE6F85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572000" y="4306736"/>
                      <a:ext cx="0" cy="252000"/>
                    </a:xfrm>
                    <a:prstGeom prst="line">
                      <a:avLst/>
                    </a:prstGeom>
                    <a:ln w="12700">
                      <a:headEnd type="none" w="lg" len="med"/>
                      <a:tailEnd type="none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9" name="Skupina 18">
                    <a:extLst>
                      <a:ext uri="{FF2B5EF4-FFF2-40B4-BE49-F238E27FC236}">
                        <a16:creationId xmlns:a16="http://schemas.microsoft.com/office/drawing/2014/main" id="{6B1E056F-57E3-BB0A-4A62-F2E998C5EBBE}"/>
                      </a:ext>
                    </a:extLst>
                  </p:cNvPr>
                  <p:cNvGrpSpPr/>
                  <p:nvPr/>
                </p:nvGrpSpPr>
                <p:grpSpPr>
                  <a:xfrm>
                    <a:off x="560816" y="3909336"/>
                    <a:ext cx="8080200" cy="874600"/>
                    <a:chOff x="560816" y="3909336"/>
                    <a:chExt cx="8080200" cy="874600"/>
                  </a:xfrm>
                </p:grpSpPr>
                <p:sp>
                  <p:nvSpPr>
                    <p:cNvPr id="103" name="TextovéPole 102">
                      <a:extLst>
                        <a:ext uri="{FF2B5EF4-FFF2-40B4-BE49-F238E27FC236}">
                          <a16:creationId xmlns:a16="http://schemas.microsoft.com/office/drawing/2014/main" id="{B1D31B32-1766-C1F2-A6F7-7CD3EA11C6B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83058" y="4537715"/>
                      <a:ext cx="635166" cy="24622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cs-CZ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14</a:t>
                      </a:r>
                      <a:r>
                        <a:rPr lang="en-GB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days</a:t>
                      </a:r>
                    </a:p>
                  </p:txBody>
                </p:sp>
                <p:sp>
                  <p:nvSpPr>
                    <p:cNvPr id="87" name="TextovéPole 86">
                      <a:extLst>
                        <a:ext uri="{FF2B5EF4-FFF2-40B4-BE49-F238E27FC236}">
                          <a16:creationId xmlns:a16="http://schemas.microsoft.com/office/drawing/2014/main" id="{54552BB8-B4B8-6D92-ACE2-F4A71C3398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39592" y="3909336"/>
                      <a:ext cx="1080570" cy="24622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GB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next coupon day</a:t>
                      </a:r>
                    </a:p>
                  </p:txBody>
                </p:sp>
                <p:sp>
                  <p:nvSpPr>
                    <p:cNvPr id="89" name="TextovéPole 88">
                      <a:extLst>
                        <a:ext uri="{FF2B5EF4-FFF2-40B4-BE49-F238E27FC236}">
                          <a16:creationId xmlns:a16="http://schemas.microsoft.com/office/drawing/2014/main" id="{947896BE-4D79-9F28-A612-A3D88453DB2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93790" y="3909336"/>
                      <a:ext cx="1447226" cy="24622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GB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after-next coupon day</a:t>
                      </a:r>
                    </a:p>
                  </p:txBody>
                </p:sp>
                <p:sp>
                  <p:nvSpPr>
                    <p:cNvPr id="90" name="TextovéPole 89">
                      <a:extLst>
                        <a:ext uri="{FF2B5EF4-FFF2-40B4-BE49-F238E27FC236}">
                          <a16:creationId xmlns:a16="http://schemas.microsoft.com/office/drawing/2014/main" id="{F9A2FDC7-D1D3-68A3-5CB1-ACDCDFFBE7E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0816" y="3909336"/>
                      <a:ext cx="1440160" cy="24622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previous coupon day</a:t>
                      </a:r>
                    </a:p>
                  </p:txBody>
                </p:sp>
                <p:sp>
                  <p:nvSpPr>
                    <p:cNvPr id="91" name="TextovéPole 90">
                      <a:extLst>
                        <a:ext uri="{FF2B5EF4-FFF2-40B4-BE49-F238E27FC236}">
                          <a16:creationId xmlns:a16="http://schemas.microsoft.com/office/drawing/2014/main" id="{5408D6EC-5FCF-29A7-8E8D-C798277C00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70480" y="3909336"/>
                      <a:ext cx="576200" cy="24622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GB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today</a:t>
                      </a:r>
                    </a:p>
                  </p:txBody>
                </p:sp>
                <p:sp>
                  <p:nvSpPr>
                    <p:cNvPr id="104" name="TextovéPole 103">
                      <a:extLst>
                        <a:ext uri="{FF2B5EF4-FFF2-40B4-BE49-F238E27FC236}">
                          <a16:creationId xmlns:a16="http://schemas.microsoft.com/office/drawing/2014/main" id="{0002A8C5-DE28-CE1F-CA82-17A3B473CE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55456" y="4536632"/>
                      <a:ext cx="776784" cy="24622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cs-CZ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170</a:t>
                      </a:r>
                      <a:r>
                        <a:rPr lang="en-GB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days</a:t>
                      </a:r>
                    </a:p>
                  </p:txBody>
                </p:sp>
              </p:grpSp>
            </p:grpSp>
          </p:grpSp>
          <p:cxnSp>
            <p:nvCxnSpPr>
              <p:cNvPr id="70" name="Přímá spojnice se šipkou 69">
                <a:extLst>
                  <a:ext uri="{FF2B5EF4-FFF2-40B4-BE49-F238E27FC236}">
                    <a16:creationId xmlns:a16="http://schemas.microsoft.com/office/drawing/2014/main" id="{3E016DA3-5F7A-EC33-E927-72B8FD57A57D}"/>
                  </a:ext>
                </a:extLst>
              </p:cNvPr>
              <p:cNvCxnSpPr/>
              <p:nvPr/>
            </p:nvCxnSpPr>
            <p:spPr>
              <a:xfrm>
                <a:off x="7914764" y="4332528"/>
                <a:ext cx="963540" cy="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prstDash val="sysDash"/>
                <a:headEnd type="triangle" w="med" len="me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TextovéPole 70">
                <a:extLst>
                  <a:ext uri="{FF2B5EF4-FFF2-40B4-BE49-F238E27FC236}">
                    <a16:creationId xmlns:a16="http://schemas.microsoft.com/office/drawing/2014/main" id="{CE776859-2B9D-6A7B-F07A-855FB6FC76AA}"/>
                  </a:ext>
                </a:extLst>
              </p:cNvPr>
              <p:cNvSpPr txBox="1"/>
              <p:nvPr/>
            </p:nvSpPr>
            <p:spPr>
              <a:xfrm>
                <a:off x="7668344" y="4311264"/>
                <a:ext cx="1460328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11 years to maturity</a:t>
                </a:r>
              </a:p>
            </p:txBody>
          </p:sp>
        </p:grpSp>
        <p:cxnSp>
          <p:nvCxnSpPr>
            <p:cNvPr id="69" name="Přímá spojnice 68">
              <a:extLst>
                <a:ext uri="{FF2B5EF4-FFF2-40B4-BE49-F238E27FC236}">
                  <a16:creationId xmlns:a16="http://schemas.microsoft.com/office/drawing/2014/main" id="{486C227D-4D6A-9A78-B473-BC96750E0F16}"/>
                </a:ext>
              </a:extLst>
            </p:cNvPr>
            <p:cNvCxnSpPr/>
            <p:nvPr/>
          </p:nvCxnSpPr>
          <p:spPr>
            <a:xfrm>
              <a:off x="4852944" y="3473736"/>
              <a:ext cx="0" cy="252000"/>
            </a:xfrm>
            <a:prstGeom prst="line">
              <a:avLst/>
            </a:prstGeom>
            <a:ln w="12700"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79" name="Tabulka 78">
            <a:extLst>
              <a:ext uri="{FF2B5EF4-FFF2-40B4-BE49-F238E27FC236}">
                <a16:creationId xmlns:a16="http://schemas.microsoft.com/office/drawing/2014/main" id="{4C961230-1C69-9610-148D-C53DB5655A42}"/>
              </a:ext>
            </a:extLst>
          </p:cNvPr>
          <p:cNvGraphicFramePr>
            <a:graphicFrameLocks noGrp="1"/>
          </p:cNvGraphicFramePr>
          <p:nvPr/>
        </p:nvGraphicFramePr>
        <p:xfrm>
          <a:off x="978688" y="3432584"/>
          <a:ext cx="72008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39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39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390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3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4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5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8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9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ovéPole 35">
                <a:extLst>
                  <a:ext uri="{FF2B5EF4-FFF2-40B4-BE49-F238E27FC236}">
                    <a16:creationId xmlns:a16="http://schemas.microsoft.com/office/drawing/2014/main" id="{0ACFC39E-63C7-E7F5-5195-5D4CD228804A}"/>
                  </a:ext>
                </a:extLst>
              </p:cNvPr>
              <p:cNvSpPr txBox="1"/>
              <p:nvPr/>
            </p:nvSpPr>
            <p:spPr>
              <a:xfrm>
                <a:off x="1188000" y="5813804"/>
                <a:ext cx="543626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80000" indent="-180000">
                  <a:buClr>
                    <a:srgbClr val="7030A0"/>
                  </a:buClr>
                  <a:buFont typeface="Wingdings" panose="05000000000000000000" pitchFamily="2" charset="2"/>
                  <a:buChar char="§"/>
                </a:pPr>
                <a:r>
                  <a:rPr lang="en-GB" sz="1600" noProof="0" dirty="0">
                    <a:latin typeface="Cambria Math"/>
                    <a:ea typeface="Cambria Math"/>
                  </a:rPr>
                  <a:t>Bond’s June conversion factor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GB" sz="1600" i="1" noProof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GB" sz="1600" b="0" i="1" noProof="0" smtClean="0">
                            <a:latin typeface="Cambria Math" panose="02040503050406030204" pitchFamily="18" charset="0"/>
                            <a:ea typeface="Cambria Math"/>
                          </a:rPr>
                          <m:t>=</m:t>
                        </m:r>
                        <m:r>
                          <a:rPr lang="en-GB" sz="1600" b="0" i="1" noProof="0" smtClean="0">
                            <a:latin typeface="Cambria Math"/>
                            <a:ea typeface="Cambria Math"/>
                          </a:rPr>
                          <m:t>107.758</m:t>
                        </m:r>
                      </m:num>
                      <m:den>
                        <m:r>
                          <a:rPr lang="en-GB" sz="1600" b="0" i="1" noProof="0" smtClean="0">
                            <a:latin typeface="Cambria Math"/>
                            <a:ea typeface="Cambria Math"/>
                          </a:rPr>
                          <m:t>100=1.07758</m:t>
                        </m:r>
                      </m:den>
                    </m:f>
                  </m:oMath>
                </a14:m>
                <a:endParaRPr lang="en-GB" sz="1200" noProof="0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72" name="TextovéPole 35">
                <a:extLst>
                  <a:ext uri="{FF2B5EF4-FFF2-40B4-BE49-F238E27FC236}">
                    <a16:creationId xmlns:a16="http://schemas.microsoft.com/office/drawing/2014/main" id="{0ACFC39E-63C7-E7F5-5195-5D4CD2288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000" y="5813804"/>
                <a:ext cx="5436264" cy="338554"/>
              </a:xfrm>
              <a:prstGeom prst="rect">
                <a:avLst/>
              </a:prstGeom>
              <a:blipFill>
                <a:blip r:embed="rId15"/>
                <a:stretch>
                  <a:fillRect l="-448" t="-101818" b="-16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ovéPole 35">
                <a:extLst>
                  <a:ext uri="{FF2B5EF4-FFF2-40B4-BE49-F238E27FC236}">
                    <a16:creationId xmlns:a16="http://schemas.microsoft.com/office/drawing/2014/main" id="{FAB6B522-6479-6F9D-3D48-5E3B7B73C57E}"/>
                  </a:ext>
                </a:extLst>
              </p:cNvPr>
              <p:cNvSpPr txBox="1"/>
              <p:nvPr/>
            </p:nvSpPr>
            <p:spPr>
              <a:xfrm>
                <a:off x="1656000" y="4046333"/>
                <a:ext cx="3384376" cy="6248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38163" indent="-538163">
                  <a:buClr>
                    <a:srgbClr val="7030A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𝐴𝑁</m:t>
                          </m:r>
                        </m:sub>
                      </m:sSub>
                      <m:r>
                        <a:rPr lang="en-GB" sz="12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2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12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2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22</m:t>
                          </m:r>
                        </m:sup>
                        <m:e>
                          <m:f>
                            <m:f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box>
                                <m:box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GB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1200" b="0" i="1" smtClean="0">
                                          <a:latin typeface="Cambria Math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GB" sz="1200" b="0" i="1" smtClean="0">
                                          <a:latin typeface="Cambria Math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GB" sz="1200" b="0" i="1" smtClean="0">
                                      <a:latin typeface="Cambria Math"/>
                                      <a:ea typeface="Cambria Math"/>
                                    </a:rPr>
                                    <m:t>×8</m:t>
                                  </m:r>
                                </m:e>
                              </m:box>
                            </m:num>
                            <m:den>
                              <m:sSup>
                                <m:sSup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200" b="0" i="1" smtClean="0">
                                          <a:latin typeface="Cambria Math"/>
                                          <a:ea typeface="Cambria Math" panose="02040503050406030204" pitchFamily="18" charset="0"/>
                                        </a:rPr>
                                        <m:t>1+</m:t>
                                      </m:r>
                                      <m:box>
                                        <m:boxPr>
                                          <m:ctrlPr>
                                            <a:rPr lang="en-GB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en-GB" sz="1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GB" sz="1200" b="0" i="1" smtClean="0">
                                                  <a:latin typeface="Cambria Math"/>
                                                  <a:ea typeface="Cambria Math" panose="02040503050406030204" pitchFamily="18" charset="0"/>
                                                </a:rPr>
                                                <m:t>0.07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GB" sz="1200" b="0" i="1" smtClean="0">
                                                  <a:latin typeface="Cambria Math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d>
                                </m:e>
                                <m:sup>
                                  <m:r>
                                    <a:rPr lang="en-GB" sz="12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  <m:r>
                            <a:rPr lang="cs-CZ" sz="12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cs-CZ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cs-CZ" sz="12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100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cs-CZ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cs-CZ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cs-CZ" sz="1200" b="0" i="1" smtClean="0">
                                          <a:latin typeface="Cambria Math"/>
                                          <a:ea typeface="Cambria Math" panose="02040503050406030204" pitchFamily="18" charset="0"/>
                                        </a:rPr>
                                        <m:t>1+</m:t>
                                      </m:r>
                                      <m:box>
                                        <m:boxPr>
                                          <m:ctrlPr>
                                            <a:rPr lang="cs-CZ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cs-CZ" sz="1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cs-CZ" sz="1200" b="0" i="1" smtClean="0">
                                                  <a:latin typeface="Cambria Math"/>
                                                  <a:ea typeface="Cambria Math" panose="02040503050406030204" pitchFamily="18" charset="0"/>
                                                </a:rPr>
                                                <m:t>0.07</m:t>
                                              </m:r>
                                            </m:num>
                                            <m:den>
                                              <m:r>
                                                <a:rPr lang="cs-CZ" sz="1200" b="0" i="1" smtClean="0">
                                                  <a:latin typeface="Cambria Math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e>
                                  </m:d>
                                </m:e>
                                <m:sup>
                                  <m:r>
                                    <a:rPr lang="cs-CZ" sz="12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22</m:t>
                                  </m:r>
                                </m:sup>
                              </m:sSup>
                            </m:den>
                          </m:f>
                          <m:r>
                            <a:rPr lang="cs-CZ" sz="12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=107.584</m:t>
                          </m:r>
                        </m:e>
                      </m:nary>
                    </m:oMath>
                  </m:oMathPara>
                </a14:m>
                <a:endParaRPr lang="en-GB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3" name="TextovéPole 35">
                <a:extLst>
                  <a:ext uri="{FF2B5EF4-FFF2-40B4-BE49-F238E27FC236}">
                    <a16:creationId xmlns:a16="http://schemas.microsoft.com/office/drawing/2014/main" id="{FAB6B522-6479-6F9D-3D48-5E3B7B73C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00" y="4046333"/>
                <a:ext cx="3384376" cy="62485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Šipka: doleva 10">
            <a:extLst>
              <a:ext uri="{FF2B5EF4-FFF2-40B4-BE49-F238E27FC236}">
                <a16:creationId xmlns:a16="http://schemas.microsoft.com/office/drawing/2014/main" id="{C3278838-6AB4-1CB3-972E-80C5D38D25F5}"/>
              </a:ext>
            </a:extLst>
          </p:cNvPr>
          <p:cNvSpPr/>
          <p:nvPr/>
        </p:nvSpPr>
        <p:spPr>
          <a:xfrm>
            <a:off x="4878240" y="3682800"/>
            <a:ext cx="3024000" cy="92601"/>
          </a:xfrm>
          <a:prstGeom prst="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5" name="Šipka: doleva 94">
            <a:extLst>
              <a:ext uri="{FF2B5EF4-FFF2-40B4-BE49-F238E27FC236}">
                <a16:creationId xmlns:a16="http://schemas.microsoft.com/office/drawing/2014/main" id="{2ACA3DA3-F012-D24D-C511-235C4521C959}"/>
              </a:ext>
            </a:extLst>
          </p:cNvPr>
          <p:cNvSpPr/>
          <p:nvPr/>
        </p:nvSpPr>
        <p:spPr>
          <a:xfrm>
            <a:off x="7932911" y="3681600"/>
            <a:ext cx="972000" cy="92601"/>
          </a:xfrm>
          <a:prstGeom prst="lef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ovéPole 35">
                <a:extLst>
                  <a:ext uri="{FF2B5EF4-FFF2-40B4-BE49-F238E27FC236}">
                    <a16:creationId xmlns:a16="http://schemas.microsoft.com/office/drawing/2014/main" id="{AD15AEED-D839-992F-9AEE-7E36CAB978C1}"/>
                  </a:ext>
                </a:extLst>
              </p:cNvPr>
              <p:cNvSpPr txBox="1"/>
              <p:nvPr/>
            </p:nvSpPr>
            <p:spPr>
              <a:xfrm>
                <a:off x="1656000" y="4797152"/>
                <a:ext cx="3900628" cy="552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38163" indent="-538163">
                  <a:buClr>
                    <a:srgbClr val="7030A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cs-CZ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GB" sz="1200" b="0" i="1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200" b="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box>
                                    <m:boxPr>
                                      <m:ctrlPr>
                                        <a:rPr lang="en-GB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GB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sz="1200" b="0" i="1" smtClean="0">
                                              <a:latin typeface="Cambria Math"/>
                                              <a:ea typeface="Cambria Math" panose="02040503050406030204" pitchFamily="18" charset="0"/>
                                            </a:rPr>
                                            <m:t>0.07</m:t>
                                          </m:r>
                                        </m:num>
                                        <m:den>
                                          <m:r>
                                            <a:rPr lang="en-GB" sz="1200" b="0" i="1" smtClean="0">
                                              <a:latin typeface="Cambria Math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d>
                            </m:e>
                            <m:sup>
                              <m:r>
                                <a:rPr lang="en-GB" sz="12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17</m:t>
                              </m:r>
                              <m:r>
                                <a:rPr lang="cs-CZ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sz="12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  <m:t>/182.5</m:t>
                              </m:r>
                            </m:sup>
                          </m:sSup>
                        </m:den>
                      </m:f>
                      <m:r>
                        <a:rPr lang="en-GB" sz="1200" b="0" i="1" smtClean="0">
                          <a:latin typeface="Cambria Math"/>
                          <a:ea typeface="Cambria Math"/>
                        </a:rPr>
                        <m:t>×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/>
                              <a:ea typeface="Cambria Math"/>
                            </a:rPr>
                            <m:t>107.58</m:t>
                          </m:r>
                          <m:r>
                            <a:rPr lang="cs-CZ" sz="1200" b="0" i="1" smtClean="0">
                              <a:latin typeface="Cambria Math"/>
                              <a:ea typeface="Cambria Math"/>
                            </a:rPr>
                            <m:t>4+</m:t>
                          </m:r>
                          <m:box>
                            <m:boxPr>
                              <m:ctrlPr>
                                <a:rPr lang="en-GB" sz="1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GB" sz="12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i="1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2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r>
                            <a:rPr lang="en-GB" sz="1200" i="1">
                              <a:latin typeface="Cambria Math"/>
                              <a:ea typeface="Cambria Math"/>
                            </a:rPr>
                            <m:t>×8</m:t>
                          </m:r>
                        </m:e>
                      </m:d>
                      <m:r>
                        <a:rPr lang="en-GB" sz="1200" b="0" i="1" smtClean="0">
                          <a:latin typeface="Cambria Math"/>
                          <a:ea typeface="Cambria Math"/>
                        </a:rPr>
                        <m:t>=108.06</m:t>
                      </m:r>
                      <m:r>
                        <a:rPr lang="cs-CZ" sz="1200" b="0" i="1" smtClean="0">
                          <a:latin typeface="Cambria Math"/>
                          <a:ea typeface="Cambria Math"/>
                        </a:rPr>
                        <m:t>5</m:t>
                      </m:r>
                    </m:oMath>
                  </m:oMathPara>
                </a14:m>
                <a:endParaRPr lang="en-GB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6" name="TextovéPole 35">
                <a:extLst>
                  <a:ext uri="{FF2B5EF4-FFF2-40B4-BE49-F238E27FC236}">
                    <a16:creationId xmlns:a16="http://schemas.microsoft.com/office/drawing/2014/main" id="{AD15AEED-D839-992F-9AEE-7E36CAB97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00" y="4797152"/>
                <a:ext cx="3900628" cy="55290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ovéPole 35">
                <a:extLst>
                  <a:ext uri="{FF2B5EF4-FFF2-40B4-BE49-F238E27FC236}">
                    <a16:creationId xmlns:a16="http://schemas.microsoft.com/office/drawing/2014/main" id="{7E3CF0A3-CEFF-3E58-0BDD-B894DE323D44}"/>
                  </a:ext>
                </a:extLst>
              </p:cNvPr>
              <p:cNvSpPr txBox="1"/>
              <p:nvPr/>
            </p:nvSpPr>
            <p:spPr>
              <a:xfrm>
                <a:off x="1656000" y="5462716"/>
                <a:ext cx="3123124" cy="439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38163" indent="-538163">
                  <a:buClr>
                    <a:srgbClr val="7030A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/>
                              <a:ea typeface="Cambria Math"/>
                            </a:rPr>
                            <m:t>𝐶</m:t>
                          </m:r>
                        </m:sub>
                      </m:sSub>
                      <m:r>
                        <a:rPr lang="en-GB" sz="1200" b="0" i="1" smtClean="0">
                          <a:latin typeface="Cambria Math"/>
                          <a:ea typeface="Cambria Math"/>
                        </a:rPr>
                        <m:t>=108.06</m:t>
                      </m:r>
                      <m:r>
                        <a:rPr lang="cs-CZ" sz="1200" b="0" i="1" smtClean="0">
                          <a:latin typeface="Cambria Math"/>
                          <a:ea typeface="Cambria Math"/>
                        </a:rPr>
                        <m:t>5</m:t>
                      </m:r>
                      <m:r>
                        <a:rPr lang="en-GB" sz="1200" b="0" i="1" smtClean="0">
                          <a:latin typeface="Cambria Math"/>
                          <a:ea typeface="Cambria Math"/>
                        </a:rPr>
                        <m:t>−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/>
                              <a:ea typeface="Cambria Math"/>
                            </a:rPr>
                            <m:t>14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/>
                              <a:ea typeface="Cambria Math"/>
                            </a:rPr>
                            <m:t>182.5</m:t>
                          </m:r>
                        </m:den>
                      </m:f>
                      <m:r>
                        <a:rPr lang="en-GB" sz="1200" b="0" i="1" smtClean="0"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/>
                              <a:ea typeface="Cambria Math"/>
                            </a:rPr>
                            <m:t>8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  <m:r>
                        <a:rPr lang="en-GB" sz="1200" b="0" i="1" smtClean="0">
                          <a:latin typeface="Cambria Math"/>
                          <a:ea typeface="Cambria Math"/>
                        </a:rPr>
                        <m:t>=107.758</m:t>
                      </m:r>
                    </m:oMath>
                  </m:oMathPara>
                </a14:m>
                <a:endParaRPr lang="en-GB" sz="1200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97" name="TextovéPole 35">
                <a:extLst>
                  <a:ext uri="{FF2B5EF4-FFF2-40B4-BE49-F238E27FC236}">
                    <a16:creationId xmlns:a16="http://schemas.microsoft.com/office/drawing/2014/main" id="{7E3CF0A3-CEFF-3E58-0BDD-B894DE323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000" y="5462716"/>
                <a:ext cx="3123124" cy="439223"/>
              </a:xfrm>
              <a:prstGeom prst="rect">
                <a:avLst/>
              </a:prstGeom>
              <a:blipFill>
                <a:blip r:embed="rId18"/>
                <a:stretch>
                  <a:fillRect b="-13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Šipka: obousměrná vodorovná 8">
            <a:extLst>
              <a:ext uri="{FF2B5EF4-FFF2-40B4-BE49-F238E27FC236}">
                <a16:creationId xmlns:a16="http://schemas.microsoft.com/office/drawing/2014/main" id="{11F89733-46C0-3820-616C-D367FEFB6459}"/>
              </a:ext>
            </a:extLst>
          </p:cNvPr>
          <p:cNvSpPr/>
          <p:nvPr/>
        </p:nvSpPr>
        <p:spPr>
          <a:xfrm>
            <a:off x="4595240" y="3681381"/>
            <a:ext cx="252000" cy="93600"/>
          </a:xfrm>
          <a:prstGeom prst="left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ovéPole 35">
            <a:extLst>
              <a:ext uri="{FF2B5EF4-FFF2-40B4-BE49-F238E27FC236}">
                <a16:creationId xmlns:a16="http://schemas.microsoft.com/office/drawing/2014/main" id="{A175CA25-BB3B-A170-7535-B96350D32E98}"/>
              </a:ext>
            </a:extLst>
          </p:cNvPr>
          <p:cNvSpPr txBox="1"/>
          <p:nvPr/>
        </p:nvSpPr>
        <p:spPr>
          <a:xfrm>
            <a:off x="6713536" y="4255947"/>
            <a:ext cx="2304256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>
              <a:buClr>
                <a:srgbClr val="7030A0"/>
              </a:buClr>
            </a:pPr>
            <a:r>
              <a:rPr lang="en-GB" sz="1400" noProof="0" dirty="0">
                <a:latin typeface="Cambria Math"/>
                <a:ea typeface="Cambria Math"/>
              </a:rPr>
              <a:t>Bond</a:t>
            </a:r>
            <a:r>
              <a:rPr lang="en-GB" sz="1400" dirty="0">
                <a:latin typeface="Cambria Math"/>
                <a:ea typeface="Cambria Math"/>
              </a:rPr>
              <a:t>’</a:t>
            </a:r>
            <a:r>
              <a:rPr lang="en-GB" sz="1400" noProof="0" dirty="0">
                <a:latin typeface="Cambria Math"/>
                <a:ea typeface="Cambria Math"/>
              </a:rPr>
              <a:t>s coupon rate &gt; 7% ⇒ CF </a:t>
            </a:r>
            <a:r>
              <a:rPr lang="en-GB" sz="1400" dirty="0">
                <a:latin typeface="Cambria Math"/>
                <a:ea typeface="Cambria Math"/>
              </a:rPr>
              <a:t>&gt; 1</a:t>
            </a:r>
          </a:p>
          <a:p>
            <a:pPr marL="180975" indent="-180975">
              <a:buClr>
                <a:srgbClr val="7030A0"/>
              </a:buClr>
            </a:pPr>
            <a:r>
              <a:rPr lang="en-GB" sz="1400" noProof="0" dirty="0">
                <a:latin typeface="Cambria Math"/>
                <a:ea typeface="Cambria Math"/>
              </a:rPr>
              <a:t>Bond’s coupon rate &lt; 7% ⇒ CF &lt; 1</a:t>
            </a:r>
          </a:p>
        </p:txBody>
      </p:sp>
    </p:spTree>
    <p:extLst>
      <p:ext uri="{BB962C8B-B14F-4D97-AF65-F5344CB8AC3E}">
        <p14:creationId xmlns:p14="http://schemas.microsoft.com/office/powerpoint/2010/main" val="103863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9ABE9-7A14-FAD0-D2E4-5E69225E6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C8203330-7289-8D9C-BFC1-721C21CE8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336000"/>
            <a:ext cx="3312000" cy="360000"/>
          </a:xfrm>
        </p:spPr>
        <p:txBody>
          <a:bodyPr/>
          <a:lstStyle/>
          <a:p>
            <a:r>
              <a:rPr lang="en-GB" dirty="0"/>
              <a:t>Examples of financial futures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5D19FB5D-3507-1AF3-091C-43FDCAC20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64000" y="6336000"/>
            <a:ext cx="1800000" cy="360000"/>
          </a:xfrm>
        </p:spPr>
        <p:txBody>
          <a:bodyPr/>
          <a:lstStyle/>
          <a:p>
            <a:pPr algn="r"/>
            <a:fld id="{DFE5482F-2F05-49C5-9E15-73F945A41231}" type="slidenum">
              <a:rPr lang="cs-CZ" smtClean="0"/>
              <a:pPr algn="r"/>
              <a:t>12</a:t>
            </a:fld>
            <a:endParaRPr lang="cs-CZ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CD4E1E2E-2710-5703-81E7-20B59BA64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144000"/>
            <a:ext cx="5616432" cy="648072"/>
          </a:xfrm>
        </p:spPr>
        <p:txBody>
          <a:bodyPr/>
          <a:lstStyle/>
          <a:p>
            <a:r>
              <a:rPr lang="en-GB" dirty="0"/>
              <a:t>LTIRF </a:t>
            </a: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–</a:t>
            </a:r>
            <a:r>
              <a:rPr lang="en-GB" dirty="0"/>
              <a:t> cost-of-carry transaction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29" name="TextovéPole 28">
            <a:extLst>
              <a:ext uri="{FF2B5EF4-FFF2-40B4-BE49-F238E27FC236}">
                <a16:creationId xmlns:a16="http://schemas.microsoft.com/office/drawing/2014/main" id="{59183322-243A-2ACD-CD9D-170890E225BF}"/>
              </a:ext>
            </a:extLst>
          </p:cNvPr>
          <p:cNvSpPr txBox="1"/>
          <p:nvPr/>
        </p:nvSpPr>
        <p:spPr>
          <a:xfrm>
            <a:off x="864000" y="864000"/>
            <a:ext cx="3530869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Cost-of-carry transaction</a:t>
            </a:r>
          </a:p>
        </p:txBody>
      </p:sp>
      <p:sp>
        <p:nvSpPr>
          <p:cNvPr id="31" name="TextovéPole 30">
            <a:extLst>
              <a:ext uri="{FF2B5EF4-FFF2-40B4-BE49-F238E27FC236}">
                <a16:creationId xmlns:a16="http://schemas.microsoft.com/office/drawing/2014/main" id="{825793BA-15A1-AD3B-16D9-345A24DF9707}"/>
              </a:ext>
            </a:extLst>
          </p:cNvPr>
          <p:cNvSpPr txBox="1"/>
          <p:nvPr/>
        </p:nvSpPr>
        <p:spPr>
          <a:xfrm>
            <a:off x="1188000" y="1205305"/>
            <a:ext cx="76320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Cost-of-carry is the trading strategy used by the short when delivering the bond to the long</a:t>
            </a:r>
          </a:p>
        </p:txBody>
      </p:sp>
      <p:sp>
        <p:nvSpPr>
          <p:cNvPr id="73" name="TextovéPole 35">
            <a:extLst>
              <a:ext uri="{FF2B5EF4-FFF2-40B4-BE49-F238E27FC236}">
                <a16:creationId xmlns:a16="http://schemas.microsoft.com/office/drawing/2014/main" id="{CAFE3DD0-6CF1-F34D-CBD6-FF2D1DE3F935}"/>
              </a:ext>
            </a:extLst>
          </p:cNvPr>
          <p:cNvSpPr txBox="1"/>
          <p:nvPr/>
        </p:nvSpPr>
        <p:spPr>
          <a:xfrm>
            <a:off x="1512001" y="3201696"/>
            <a:ext cx="3600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7030A0"/>
              </a:buClr>
            </a:pPr>
            <a:r>
              <a:rPr lang="en-GB" sz="16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①</a:t>
            </a:r>
            <a:r>
              <a:rPr lang="cs-CZ" sz="16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endParaRPr lang="en-GB" sz="16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4" name="TextovéPole 35">
            <a:extLst>
              <a:ext uri="{FF2B5EF4-FFF2-40B4-BE49-F238E27FC236}">
                <a16:creationId xmlns:a16="http://schemas.microsoft.com/office/drawing/2014/main" id="{8043600F-FDDC-700E-6113-C4B3E5C7150E}"/>
              </a:ext>
            </a:extLst>
          </p:cNvPr>
          <p:cNvSpPr txBox="1"/>
          <p:nvPr/>
        </p:nvSpPr>
        <p:spPr>
          <a:xfrm>
            <a:off x="1512000" y="3451008"/>
            <a:ext cx="3600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7030A0"/>
              </a:buClr>
            </a:pPr>
            <a:r>
              <a:rPr lang="en-GB" sz="16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② </a:t>
            </a:r>
            <a:endParaRPr lang="en-GB" sz="16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5" name="TextovéPole 35">
            <a:extLst>
              <a:ext uri="{FF2B5EF4-FFF2-40B4-BE49-F238E27FC236}">
                <a16:creationId xmlns:a16="http://schemas.microsoft.com/office/drawing/2014/main" id="{A19C3E62-7151-5D4D-ABED-0E1379A1881D}"/>
              </a:ext>
            </a:extLst>
          </p:cNvPr>
          <p:cNvSpPr txBox="1"/>
          <p:nvPr/>
        </p:nvSpPr>
        <p:spPr>
          <a:xfrm>
            <a:off x="1512000" y="3714874"/>
            <a:ext cx="3600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7030A0"/>
              </a:buClr>
            </a:pPr>
            <a:r>
              <a:rPr lang="en-GB" sz="16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③</a:t>
            </a:r>
            <a:endParaRPr lang="en-GB" sz="16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7" name="Skupina 6">
            <a:extLst>
              <a:ext uri="{FF2B5EF4-FFF2-40B4-BE49-F238E27FC236}">
                <a16:creationId xmlns:a16="http://schemas.microsoft.com/office/drawing/2014/main" id="{E88B1271-5382-501E-BD33-73ACA32D4D53}"/>
              </a:ext>
            </a:extLst>
          </p:cNvPr>
          <p:cNvGrpSpPr/>
          <p:nvPr/>
        </p:nvGrpSpPr>
        <p:grpSpPr>
          <a:xfrm>
            <a:off x="1721479" y="1864795"/>
            <a:ext cx="5846825" cy="1238397"/>
            <a:chOff x="1656239" y="4070427"/>
            <a:chExt cx="5846825" cy="1238397"/>
          </a:xfrm>
        </p:grpSpPr>
        <p:sp>
          <p:nvSpPr>
            <p:cNvPr id="68" name="Volný tvar 67">
              <a:extLst>
                <a:ext uri="{FF2B5EF4-FFF2-40B4-BE49-F238E27FC236}">
                  <a16:creationId xmlns:a16="http://schemas.microsoft.com/office/drawing/2014/main" id="{30621D83-4460-0D99-7EB4-841E597FABFE}"/>
                </a:ext>
              </a:extLst>
            </p:cNvPr>
            <p:cNvSpPr/>
            <p:nvPr/>
          </p:nvSpPr>
          <p:spPr>
            <a:xfrm>
              <a:off x="4059889" y="4221089"/>
              <a:ext cx="1078362" cy="388392"/>
            </a:xfrm>
            <a:custGeom>
              <a:avLst/>
              <a:gdLst>
                <a:gd name="connsiteX0" fmla="*/ 0 w 2162175"/>
                <a:gd name="connsiteY0" fmla="*/ 733425 h 742950"/>
                <a:gd name="connsiteX1" fmla="*/ 0 w 2162175"/>
                <a:gd name="connsiteY1" fmla="*/ 0 h 742950"/>
                <a:gd name="connsiteX2" fmla="*/ 2162175 w 2162175"/>
                <a:gd name="connsiteY2" fmla="*/ 0 h 742950"/>
                <a:gd name="connsiteX3" fmla="*/ 2162175 w 2162175"/>
                <a:gd name="connsiteY3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2175" h="742950">
                  <a:moveTo>
                    <a:pt x="0" y="733425"/>
                  </a:moveTo>
                  <a:lnTo>
                    <a:pt x="0" y="0"/>
                  </a:lnTo>
                  <a:lnTo>
                    <a:pt x="2162175" y="0"/>
                  </a:lnTo>
                  <a:lnTo>
                    <a:pt x="2162175" y="742950"/>
                  </a:lnTo>
                </a:path>
              </a:pathLst>
            </a:custGeom>
            <a:noFill/>
            <a:ln w="25400"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07" name="Obdélník 106">
              <a:extLst>
                <a:ext uri="{FF2B5EF4-FFF2-40B4-BE49-F238E27FC236}">
                  <a16:creationId xmlns:a16="http://schemas.microsoft.com/office/drawing/2014/main" id="{34CF90BB-77DC-B528-0EF6-2685A1D7C310}"/>
                </a:ext>
              </a:extLst>
            </p:cNvPr>
            <p:cNvSpPr/>
            <p:nvPr/>
          </p:nvSpPr>
          <p:spPr>
            <a:xfrm>
              <a:off x="3305376" y="4609467"/>
              <a:ext cx="936000" cy="4320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08" name="TextovéPole 107">
              <a:extLst>
                <a:ext uri="{FF2B5EF4-FFF2-40B4-BE49-F238E27FC236}">
                  <a16:creationId xmlns:a16="http://schemas.microsoft.com/office/drawing/2014/main" id="{7562F09B-9045-63F6-CBFE-88804C5DC4B8}"/>
                </a:ext>
              </a:extLst>
            </p:cNvPr>
            <p:cNvSpPr txBox="1"/>
            <p:nvPr/>
          </p:nvSpPr>
          <p:spPr>
            <a:xfrm>
              <a:off x="3268768" y="4673639"/>
              <a:ext cx="1008000" cy="288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 b="1" dirty="0">
                  <a:solidFill>
                    <a:schemeClr val="bg1"/>
                  </a:solidFill>
                  <a:latin typeface="Cambria Math"/>
                  <a:ea typeface="Cambria Math" panose="02040503050406030204" pitchFamily="18" charset="0"/>
                </a:rPr>
                <a:t>The short</a:t>
              </a:r>
            </a:p>
          </p:txBody>
        </p:sp>
        <p:sp>
          <p:nvSpPr>
            <p:cNvPr id="105" name="Obdélník 104">
              <a:extLst>
                <a:ext uri="{FF2B5EF4-FFF2-40B4-BE49-F238E27FC236}">
                  <a16:creationId xmlns:a16="http://schemas.microsoft.com/office/drawing/2014/main" id="{3E1879F6-7E61-9585-4A8F-79CDF7F429C0}"/>
                </a:ext>
              </a:extLst>
            </p:cNvPr>
            <p:cNvSpPr/>
            <p:nvPr/>
          </p:nvSpPr>
          <p:spPr>
            <a:xfrm>
              <a:off x="4919072" y="4609467"/>
              <a:ext cx="936000" cy="4320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06" name="TextovéPole 105">
              <a:extLst>
                <a:ext uri="{FF2B5EF4-FFF2-40B4-BE49-F238E27FC236}">
                  <a16:creationId xmlns:a16="http://schemas.microsoft.com/office/drawing/2014/main" id="{F3E7FC00-700E-6B4B-4F00-A61E019A79A8}"/>
                </a:ext>
              </a:extLst>
            </p:cNvPr>
            <p:cNvSpPr txBox="1"/>
            <p:nvPr/>
          </p:nvSpPr>
          <p:spPr>
            <a:xfrm>
              <a:off x="4882710" y="4673639"/>
              <a:ext cx="1008000" cy="288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1000" b="1" dirty="0">
                  <a:solidFill>
                    <a:schemeClr val="bg1"/>
                  </a:solidFill>
                  <a:latin typeface="Cambria Math"/>
                  <a:ea typeface="Cambria Math" panose="02040503050406030204" pitchFamily="18" charset="0"/>
                </a:rPr>
                <a:t>Bond</a:t>
              </a:r>
              <a:r>
                <a:rPr lang="en-GB" sz="1000" b="1" dirty="0">
                  <a:solidFill>
                    <a:schemeClr val="bg1"/>
                  </a:solidFill>
                  <a:latin typeface="Cambria Math"/>
                  <a:ea typeface="Cambria Math" panose="02040503050406030204" pitchFamily="18" charset="0"/>
                </a:rPr>
                <a:t> market</a:t>
              </a:r>
            </a:p>
          </p:txBody>
        </p:sp>
        <p:sp>
          <p:nvSpPr>
            <p:cNvPr id="67" name="Volný tvar 66">
              <a:extLst>
                <a:ext uri="{FF2B5EF4-FFF2-40B4-BE49-F238E27FC236}">
                  <a16:creationId xmlns:a16="http://schemas.microsoft.com/office/drawing/2014/main" id="{C8AB9A2F-CC74-C20E-21C4-358825AEFF87}"/>
                </a:ext>
              </a:extLst>
            </p:cNvPr>
            <p:cNvSpPr/>
            <p:nvPr/>
          </p:nvSpPr>
          <p:spPr>
            <a:xfrm>
              <a:off x="3440048" y="4070427"/>
              <a:ext cx="2212071" cy="531964"/>
            </a:xfrm>
            <a:custGeom>
              <a:avLst/>
              <a:gdLst>
                <a:gd name="connsiteX0" fmla="*/ 0 w 2162175"/>
                <a:gd name="connsiteY0" fmla="*/ 733425 h 742950"/>
                <a:gd name="connsiteX1" fmla="*/ 0 w 2162175"/>
                <a:gd name="connsiteY1" fmla="*/ 0 h 742950"/>
                <a:gd name="connsiteX2" fmla="*/ 2162175 w 2162175"/>
                <a:gd name="connsiteY2" fmla="*/ 0 h 742950"/>
                <a:gd name="connsiteX3" fmla="*/ 2162175 w 2162175"/>
                <a:gd name="connsiteY3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2175" h="742950">
                  <a:moveTo>
                    <a:pt x="0" y="733425"/>
                  </a:moveTo>
                  <a:lnTo>
                    <a:pt x="0" y="0"/>
                  </a:lnTo>
                  <a:lnTo>
                    <a:pt x="2162175" y="0"/>
                  </a:lnTo>
                  <a:lnTo>
                    <a:pt x="2162175" y="742950"/>
                  </a:lnTo>
                </a:path>
              </a:pathLst>
            </a:custGeom>
            <a:noFill/>
            <a:ln w="25400">
              <a:solidFill>
                <a:schemeClr val="accent1"/>
              </a:solidFill>
              <a:headEnd type="triangle"/>
              <a:tailEnd type="non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71" name="Volný tvar 70">
              <a:extLst>
                <a:ext uri="{FF2B5EF4-FFF2-40B4-BE49-F238E27FC236}">
                  <a16:creationId xmlns:a16="http://schemas.microsoft.com/office/drawing/2014/main" id="{4DAF39FC-80B5-D172-A778-D8D5BD2F270D}"/>
                </a:ext>
              </a:extLst>
            </p:cNvPr>
            <p:cNvSpPr/>
            <p:nvPr/>
          </p:nvSpPr>
          <p:spPr>
            <a:xfrm>
              <a:off x="1784980" y="4984824"/>
              <a:ext cx="1850916" cy="324000"/>
            </a:xfrm>
            <a:custGeom>
              <a:avLst/>
              <a:gdLst>
                <a:gd name="connsiteX0" fmla="*/ 0 w 2162175"/>
                <a:gd name="connsiteY0" fmla="*/ 733425 h 742950"/>
                <a:gd name="connsiteX1" fmla="*/ 0 w 2162175"/>
                <a:gd name="connsiteY1" fmla="*/ 0 h 742950"/>
                <a:gd name="connsiteX2" fmla="*/ 2162175 w 2162175"/>
                <a:gd name="connsiteY2" fmla="*/ 0 h 742950"/>
                <a:gd name="connsiteX3" fmla="*/ 2162175 w 2162175"/>
                <a:gd name="connsiteY3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2175" h="742950">
                  <a:moveTo>
                    <a:pt x="0" y="733425"/>
                  </a:moveTo>
                  <a:lnTo>
                    <a:pt x="0" y="0"/>
                  </a:lnTo>
                  <a:lnTo>
                    <a:pt x="2162175" y="0"/>
                  </a:lnTo>
                  <a:lnTo>
                    <a:pt x="2162175" y="742950"/>
                  </a:lnTo>
                </a:path>
              </a:pathLst>
            </a:custGeom>
            <a:noFill/>
            <a:ln w="25400">
              <a:solidFill>
                <a:schemeClr val="accent1"/>
              </a:solidFill>
              <a:headEnd type="none"/>
              <a:tailEnd type="triangle" w="med" len="med"/>
            </a:ln>
            <a:scene3d>
              <a:camera prst="orthographicFront">
                <a:rot lat="0" lon="0" rev="10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76" name="Volný tvar 75">
              <a:extLst>
                <a:ext uri="{FF2B5EF4-FFF2-40B4-BE49-F238E27FC236}">
                  <a16:creationId xmlns:a16="http://schemas.microsoft.com/office/drawing/2014/main" id="{80CF527D-5ED1-73F4-6810-F676D20E091F}"/>
                </a:ext>
              </a:extLst>
            </p:cNvPr>
            <p:cNvSpPr/>
            <p:nvPr/>
          </p:nvSpPr>
          <p:spPr>
            <a:xfrm>
              <a:off x="2483768" y="4977478"/>
              <a:ext cx="1034249" cy="131806"/>
            </a:xfrm>
            <a:custGeom>
              <a:avLst/>
              <a:gdLst>
                <a:gd name="connsiteX0" fmla="*/ 0 w 2162175"/>
                <a:gd name="connsiteY0" fmla="*/ 733425 h 742950"/>
                <a:gd name="connsiteX1" fmla="*/ 0 w 2162175"/>
                <a:gd name="connsiteY1" fmla="*/ 0 h 742950"/>
                <a:gd name="connsiteX2" fmla="*/ 2162175 w 2162175"/>
                <a:gd name="connsiteY2" fmla="*/ 0 h 742950"/>
                <a:gd name="connsiteX3" fmla="*/ 2162175 w 2162175"/>
                <a:gd name="connsiteY3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2175" h="742950">
                  <a:moveTo>
                    <a:pt x="0" y="733425"/>
                  </a:moveTo>
                  <a:lnTo>
                    <a:pt x="0" y="0"/>
                  </a:lnTo>
                  <a:lnTo>
                    <a:pt x="2162175" y="0"/>
                  </a:lnTo>
                  <a:lnTo>
                    <a:pt x="2162175" y="742950"/>
                  </a:lnTo>
                </a:path>
              </a:pathLst>
            </a:custGeom>
            <a:noFill/>
            <a:ln w="25400">
              <a:solidFill>
                <a:schemeClr val="accent1"/>
              </a:solidFill>
              <a:headEnd type="triangle" w="med" len="med"/>
              <a:tailEnd type="none" w="med" len="med"/>
            </a:ln>
            <a:scene3d>
              <a:camera prst="orthographicFront">
                <a:rot lat="0" lon="0" rev="10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85" name="Obdélník 84">
              <a:extLst>
                <a:ext uri="{FF2B5EF4-FFF2-40B4-BE49-F238E27FC236}">
                  <a16:creationId xmlns:a16="http://schemas.microsoft.com/office/drawing/2014/main" id="{CB518FDE-8DE6-C1A3-515C-EB25E911D169}"/>
                </a:ext>
              </a:extLst>
            </p:cNvPr>
            <p:cNvSpPr/>
            <p:nvPr/>
          </p:nvSpPr>
          <p:spPr>
            <a:xfrm>
              <a:off x="1691680" y="4611736"/>
              <a:ext cx="936000" cy="4320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86" name="TextovéPole 85">
              <a:extLst>
                <a:ext uri="{FF2B5EF4-FFF2-40B4-BE49-F238E27FC236}">
                  <a16:creationId xmlns:a16="http://schemas.microsoft.com/office/drawing/2014/main" id="{8C0B510E-C6DF-7FE5-B1A5-7C8C486B4CEE}"/>
                </a:ext>
              </a:extLst>
            </p:cNvPr>
            <p:cNvSpPr txBox="1"/>
            <p:nvPr/>
          </p:nvSpPr>
          <p:spPr>
            <a:xfrm>
              <a:off x="1656239" y="4675908"/>
              <a:ext cx="1008000" cy="288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 b="1" dirty="0">
                  <a:solidFill>
                    <a:schemeClr val="bg1"/>
                  </a:solidFill>
                  <a:latin typeface="Cambria Math"/>
                  <a:ea typeface="Cambria Math" panose="02040503050406030204" pitchFamily="18" charset="0"/>
                </a:rPr>
                <a:t>Futures market</a:t>
              </a:r>
            </a:p>
          </p:txBody>
        </p:sp>
        <p:sp>
          <p:nvSpPr>
            <p:cNvPr id="99" name="Obdélník 98">
              <a:extLst>
                <a:ext uri="{FF2B5EF4-FFF2-40B4-BE49-F238E27FC236}">
                  <a16:creationId xmlns:a16="http://schemas.microsoft.com/office/drawing/2014/main" id="{205F2688-3002-2834-BB41-4B9A9846DE28}"/>
                </a:ext>
              </a:extLst>
            </p:cNvPr>
            <p:cNvSpPr/>
            <p:nvPr/>
          </p:nvSpPr>
          <p:spPr>
            <a:xfrm>
              <a:off x="6532769" y="4608064"/>
              <a:ext cx="936000" cy="4320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00" name="TextovéPole 99">
              <a:extLst>
                <a:ext uri="{FF2B5EF4-FFF2-40B4-BE49-F238E27FC236}">
                  <a16:creationId xmlns:a16="http://schemas.microsoft.com/office/drawing/2014/main" id="{40CC63C0-23B0-6A61-A7C8-37ED2AF1FE40}"/>
                </a:ext>
              </a:extLst>
            </p:cNvPr>
            <p:cNvSpPr txBox="1"/>
            <p:nvPr/>
          </p:nvSpPr>
          <p:spPr>
            <a:xfrm>
              <a:off x="6495064" y="4672236"/>
              <a:ext cx="1008000" cy="288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cs-CZ" sz="1000" b="1" dirty="0">
                  <a:solidFill>
                    <a:schemeClr val="bg1"/>
                  </a:solidFill>
                  <a:latin typeface="Cambria Math"/>
                  <a:ea typeface="Cambria Math" panose="02040503050406030204" pitchFamily="18" charset="0"/>
                </a:rPr>
                <a:t>Money</a:t>
              </a:r>
              <a:r>
                <a:rPr lang="en-GB" sz="1000" b="1" dirty="0">
                  <a:solidFill>
                    <a:schemeClr val="bg1"/>
                  </a:solidFill>
                  <a:latin typeface="Cambria Math"/>
                  <a:ea typeface="Cambria Math" panose="02040503050406030204" pitchFamily="18" charset="0"/>
                </a:rPr>
                <a:t> market</a:t>
              </a:r>
            </a:p>
          </p:txBody>
        </p:sp>
        <p:sp>
          <p:nvSpPr>
            <p:cNvPr id="90" name="Volný tvar 89">
              <a:extLst>
                <a:ext uri="{FF2B5EF4-FFF2-40B4-BE49-F238E27FC236}">
                  <a16:creationId xmlns:a16="http://schemas.microsoft.com/office/drawing/2014/main" id="{558E3781-5C7D-EB2A-8AC1-DC05D302DE3B}"/>
                </a:ext>
              </a:extLst>
            </p:cNvPr>
            <p:cNvSpPr/>
            <p:nvPr/>
          </p:nvSpPr>
          <p:spPr>
            <a:xfrm>
              <a:off x="3949902" y="4419128"/>
              <a:ext cx="3060000" cy="180000"/>
            </a:xfrm>
            <a:custGeom>
              <a:avLst/>
              <a:gdLst>
                <a:gd name="connsiteX0" fmla="*/ 0 w 2162175"/>
                <a:gd name="connsiteY0" fmla="*/ 733425 h 742950"/>
                <a:gd name="connsiteX1" fmla="*/ 0 w 2162175"/>
                <a:gd name="connsiteY1" fmla="*/ 0 h 742950"/>
                <a:gd name="connsiteX2" fmla="*/ 2162175 w 2162175"/>
                <a:gd name="connsiteY2" fmla="*/ 0 h 742950"/>
                <a:gd name="connsiteX3" fmla="*/ 2162175 w 2162175"/>
                <a:gd name="connsiteY3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2175" h="742950">
                  <a:moveTo>
                    <a:pt x="0" y="733425"/>
                  </a:moveTo>
                  <a:lnTo>
                    <a:pt x="0" y="0"/>
                  </a:lnTo>
                  <a:lnTo>
                    <a:pt x="2162175" y="0"/>
                  </a:lnTo>
                  <a:lnTo>
                    <a:pt x="2162175" y="742950"/>
                  </a:lnTo>
                </a:path>
              </a:pathLst>
            </a:custGeom>
            <a:noFill/>
            <a:ln w="25400">
              <a:solidFill>
                <a:schemeClr val="accent1"/>
              </a:solidFill>
              <a:prstDash val="sysDash"/>
              <a:headEnd type="triangle"/>
              <a:tailEnd type="non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97" name="Volný tvar 96">
              <a:extLst>
                <a:ext uri="{FF2B5EF4-FFF2-40B4-BE49-F238E27FC236}">
                  <a16:creationId xmlns:a16="http://schemas.microsoft.com/office/drawing/2014/main" id="{E0F196A9-B8CA-CAC4-D061-79FB95797243}"/>
                </a:ext>
              </a:extLst>
            </p:cNvPr>
            <p:cNvSpPr/>
            <p:nvPr/>
          </p:nvSpPr>
          <p:spPr>
            <a:xfrm>
              <a:off x="4015978" y="4976632"/>
              <a:ext cx="3060000" cy="216000"/>
            </a:xfrm>
            <a:custGeom>
              <a:avLst/>
              <a:gdLst>
                <a:gd name="connsiteX0" fmla="*/ 0 w 2162175"/>
                <a:gd name="connsiteY0" fmla="*/ 733425 h 742950"/>
                <a:gd name="connsiteX1" fmla="*/ 0 w 2162175"/>
                <a:gd name="connsiteY1" fmla="*/ 0 h 742950"/>
                <a:gd name="connsiteX2" fmla="*/ 2162175 w 2162175"/>
                <a:gd name="connsiteY2" fmla="*/ 0 h 742950"/>
                <a:gd name="connsiteX3" fmla="*/ 2162175 w 2162175"/>
                <a:gd name="connsiteY3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2175" h="742950">
                  <a:moveTo>
                    <a:pt x="0" y="733425"/>
                  </a:moveTo>
                  <a:lnTo>
                    <a:pt x="0" y="0"/>
                  </a:lnTo>
                  <a:lnTo>
                    <a:pt x="2162175" y="0"/>
                  </a:lnTo>
                  <a:lnTo>
                    <a:pt x="2162175" y="742950"/>
                  </a:lnTo>
                </a:path>
              </a:pathLst>
            </a:custGeom>
            <a:noFill/>
            <a:ln w="25400">
              <a:solidFill>
                <a:schemeClr val="accent1"/>
              </a:solidFill>
              <a:prstDash val="sysDash"/>
              <a:headEnd type="triangle"/>
              <a:tailEnd type="none" w="med" len="med"/>
            </a:ln>
            <a:scene3d>
              <a:camera prst="orthographicFront">
                <a:rot lat="0" lon="0" rev="10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</p:grpSp>
      <p:sp>
        <p:nvSpPr>
          <p:cNvPr id="109" name="TextovéPole 35">
            <a:extLst>
              <a:ext uri="{FF2B5EF4-FFF2-40B4-BE49-F238E27FC236}">
                <a16:creationId xmlns:a16="http://schemas.microsoft.com/office/drawing/2014/main" id="{B240E4B8-9E87-BB82-BFC0-263A7F8F2616}"/>
              </a:ext>
            </a:extLst>
          </p:cNvPr>
          <p:cNvSpPr txBox="1"/>
          <p:nvPr/>
        </p:nvSpPr>
        <p:spPr>
          <a:xfrm>
            <a:off x="864000" y="4968000"/>
            <a:ext cx="4860128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4000" indent="-324000">
              <a:buClr>
                <a:srgbClr val="7030A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The holding period generates carry</a:t>
            </a:r>
          </a:p>
        </p:txBody>
      </p:sp>
      <p:sp>
        <p:nvSpPr>
          <p:cNvPr id="110" name="TextovéPole 35">
            <a:extLst>
              <a:ext uri="{FF2B5EF4-FFF2-40B4-BE49-F238E27FC236}">
                <a16:creationId xmlns:a16="http://schemas.microsoft.com/office/drawing/2014/main" id="{12BF461A-9C0D-6F13-6249-E81A97D0D539}"/>
              </a:ext>
            </a:extLst>
          </p:cNvPr>
          <p:cNvSpPr txBox="1"/>
          <p:nvPr/>
        </p:nvSpPr>
        <p:spPr>
          <a:xfrm>
            <a:off x="1511096" y="4223664"/>
            <a:ext cx="3600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7030A0"/>
              </a:buClr>
            </a:pPr>
            <a:r>
              <a:rPr lang="en-GB" sz="16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④   </a:t>
            </a:r>
            <a:endParaRPr lang="en-GB" sz="16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1" name="TextovéPole 35">
            <a:extLst>
              <a:ext uri="{FF2B5EF4-FFF2-40B4-BE49-F238E27FC236}">
                <a16:creationId xmlns:a16="http://schemas.microsoft.com/office/drawing/2014/main" id="{157A65C0-4043-F56E-79C5-0CD2742A5047}"/>
              </a:ext>
            </a:extLst>
          </p:cNvPr>
          <p:cNvSpPr txBox="1"/>
          <p:nvPr/>
        </p:nvSpPr>
        <p:spPr>
          <a:xfrm>
            <a:off x="1512000" y="4481408"/>
            <a:ext cx="3600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7030A0"/>
              </a:buClr>
            </a:pPr>
            <a:r>
              <a:rPr lang="en-GB" sz="16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⑤ </a:t>
            </a:r>
            <a:endParaRPr lang="en-GB" sz="16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2" name="TextovéPole 35">
            <a:extLst>
              <a:ext uri="{FF2B5EF4-FFF2-40B4-BE49-F238E27FC236}">
                <a16:creationId xmlns:a16="http://schemas.microsoft.com/office/drawing/2014/main" id="{191F657A-2D09-AF3B-CDAA-300ED3B34118}"/>
              </a:ext>
            </a:extLst>
          </p:cNvPr>
          <p:cNvSpPr txBox="1"/>
          <p:nvPr/>
        </p:nvSpPr>
        <p:spPr>
          <a:xfrm>
            <a:off x="1511999" y="4741310"/>
            <a:ext cx="3600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7030A0"/>
              </a:buClr>
            </a:pPr>
            <a:r>
              <a:rPr lang="en-GB" sz="16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⑥ </a:t>
            </a:r>
            <a:endParaRPr lang="en-GB" sz="1600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10" name="Skupina 9">
            <a:extLst>
              <a:ext uri="{FF2B5EF4-FFF2-40B4-BE49-F238E27FC236}">
                <a16:creationId xmlns:a16="http://schemas.microsoft.com/office/drawing/2014/main" id="{29657291-1BAB-C81D-FED0-54974E6F0789}"/>
              </a:ext>
            </a:extLst>
          </p:cNvPr>
          <p:cNvGrpSpPr/>
          <p:nvPr/>
        </p:nvGrpSpPr>
        <p:grpSpPr>
          <a:xfrm>
            <a:off x="3254592" y="4048232"/>
            <a:ext cx="3765680" cy="178772"/>
            <a:chOff x="3254592" y="4098336"/>
            <a:chExt cx="3765680" cy="178772"/>
          </a:xfrm>
        </p:grpSpPr>
        <p:sp>
          <p:nvSpPr>
            <p:cNvPr id="9" name="Obdélník 8">
              <a:extLst>
                <a:ext uri="{FF2B5EF4-FFF2-40B4-BE49-F238E27FC236}">
                  <a16:creationId xmlns:a16="http://schemas.microsoft.com/office/drawing/2014/main" id="{DCCF8BF9-7100-B564-7560-60CC9C7A505B}"/>
                </a:ext>
              </a:extLst>
            </p:cNvPr>
            <p:cNvSpPr/>
            <p:nvPr/>
          </p:nvSpPr>
          <p:spPr>
            <a:xfrm>
              <a:off x="3534737" y="4098336"/>
              <a:ext cx="3205390" cy="1787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cs-CZ" sz="1000" b="1" dirty="0"/>
                <a:t>HOLDING PERIOD</a:t>
              </a:r>
            </a:p>
          </p:txBody>
        </p:sp>
        <p:sp>
          <p:nvSpPr>
            <p:cNvPr id="6" name="Šipka dolů 5">
              <a:extLst>
                <a:ext uri="{FF2B5EF4-FFF2-40B4-BE49-F238E27FC236}">
                  <a16:creationId xmlns:a16="http://schemas.microsoft.com/office/drawing/2014/main" id="{E5586C12-3E07-E456-465A-6AFDCB56FDB0}"/>
                </a:ext>
              </a:extLst>
            </p:cNvPr>
            <p:cNvSpPr/>
            <p:nvPr/>
          </p:nvSpPr>
          <p:spPr>
            <a:xfrm>
              <a:off x="6853186" y="4103532"/>
              <a:ext cx="167086" cy="17023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61" name="Šipka dolů 60">
              <a:extLst>
                <a:ext uri="{FF2B5EF4-FFF2-40B4-BE49-F238E27FC236}">
                  <a16:creationId xmlns:a16="http://schemas.microsoft.com/office/drawing/2014/main" id="{2FE3AD0A-C5A1-9FC6-FD42-CBE9907A8A98}"/>
                </a:ext>
              </a:extLst>
            </p:cNvPr>
            <p:cNvSpPr/>
            <p:nvPr/>
          </p:nvSpPr>
          <p:spPr>
            <a:xfrm>
              <a:off x="3254592" y="4104000"/>
              <a:ext cx="167086" cy="17023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62" name="TextovéPole 35">
            <a:extLst>
              <a:ext uri="{FF2B5EF4-FFF2-40B4-BE49-F238E27FC236}">
                <a16:creationId xmlns:a16="http://schemas.microsoft.com/office/drawing/2014/main" id="{F3263141-2967-A3F5-D728-68D0C2CCA4ED}"/>
              </a:ext>
            </a:extLst>
          </p:cNvPr>
          <p:cNvSpPr txBox="1"/>
          <p:nvPr/>
        </p:nvSpPr>
        <p:spPr>
          <a:xfrm>
            <a:off x="1188000" y="5547665"/>
            <a:ext cx="51842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cs-CZ" sz="1600" noProof="0" dirty="0">
                <a:latin typeface="Cambria Math"/>
                <a:ea typeface="Cambria Math"/>
              </a:rPr>
              <a:t>Carry </a:t>
            </a:r>
            <a:r>
              <a:rPr lang="en-GB" sz="1600" noProof="0" dirty="0">
                <a:latin typeface="Cambria Math"/>
                <a:ea typeface="Cambria Math"/>
              </a:rPr>
              <a:t>expenditure: financing cost of acquiring the bond</a:t>
            </a:r>
            <a:endParaRPr lang="en-GB" sz="1600" noProof="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3" name="TextovéPole 35">
            <a:extLst>
              <a:ext uri="{FF2B5EF4-FFF2-40B4-BE49-F238E27FC236}">
                <a16:creationId xmlns:a16="http://schemas.microsoft.com/office/drawing/2014/main" id="{0C4EE01C-28E2-391F-F789-B507F5D6E0C6}"/>
              </a:ext>
            </a:extLst>
          </p:cNvPr>
          <p:cNvSpPr txBox="1"/>
          <p:nvPr/>
        </p:nvSpPr>
        <p:spPr>
          <a:xfrm>
            <a:off x="1188001" y="5291173"/>
            <a:ext cx="460813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cs-CZ" sz="1600" noProof="0" dirty="0">
                <a:latin typeface="Cambria Math"/>
                <a:ea typeface="Cambria Math"/>
              </a:rPr>
              <a:t>Carry </a:t>
            </a:r>
            <a:r>
              <a:rPr lang="en-GB" sz="1600" noProof="0" dirty="0">
                <a:latin typeface="Cambria Math"/>
                <a:ea typeface="Cambria Math"/>
              </a:rPr>
              <a:t>revenue: accrued coupon paid by the bond</a:t>
            </a:r>
          </a:p>
        </p:txBody>
      </p:sp>
      <p:sp>
        <p:nvSpPr>
          <p:cNvPr id="65" name="TextovéPole 35">
            <a:extLst>
              <a:ext uri="{FF2B5EF4-FFF2-40B4-BE49-F238E27FC236}">
                <a16:creationId xmlns:a16="http://schemas.microsoft.com/office/drawing/2014/main" id="{73013510-379E-3495-8F29-EAE0E0D70A53}"/>
              </a:ext>
            </a:extLst>
          </p:cNvPr>
          <p:cNvSpPr txBox="1"/>
          <p:nvPr/>
        </p:nvSpPr>
        <p:spPr>
          <a:xfrm>
            <a:off x="1872040" y="3201696"/>
            <a:ext cx="3996104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7030A0"/>
              </a:buClr>
            </a:pPr>
            <a:r>
              <a:rPr lang="en-GB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The short takes a loan on the money market</a:t>
            </a:r>
          </a:p>
        </p:txBody>
      </p:sp>
      <p:sp>
        <p:nvSpPr>
          <p:cNvPr id="66" name="TextovéPole 35">
            <a:extLst>
              <a:ext uri="{FF2B5EF4-FFF2-40B4-BE49-F238E27FC236}">
                <a16:creationId xmlns:a16="http://schemas.microsoft.com/office/drawing/2014/main" id="{21ACFCF0-B547-C26B-5C7E-671106DF2D4D}"/>
              </a:ext>
            </a:extLst>
          </p:cNvPr>
          <p:cNvSpPr txBox="1"/>
          <p:nvPr/>
        </p:nvSpPr>
        <p:spPr>
          <a:xfrm>
            <a:off x="1872000" y="3451008"/>
            <a:ext cx="388843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7030A0"/>
              </a:buClr>
            </a:pPr>
            <a:r>
              <a:rPr lang="en-GB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The short uses the loan to pay for the bond</a:t>
            </a:r>
          </a:p>
        </p:txBody>
      </p:sp>
      <p:sp>
        <p:nvSpPr>
          <p:cNvPr id="69" name="TextovéPole 35">
            <a:extLst>
              <a:ext uri="{FF2B5EF4-FFF2-40B4-BE49-F238E27FC236}">
                <a16:creationId xmlns:a16="http://schemas.microsoft.com/office/drawing/2014/main" id="{8A1CEEE4-32BC-F3EF-E885-C8350EF70DA1}"/>
              </a:ext>
            </a:extLst>
          </p:cNvPr>
          <p:cNvSpPr txBox="1"/>
          <p:nvPr/>
        </p:nvSpPr>
        <p:spPr>
          <a:xfrm>
            <a:off x="1872000" y="3714874"/>
            <a:ext cx="286740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7030A0"/>
              </a:buClr>
            </a:pPr>
            <a:r>
              <a:rPr lang="en-GB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The short acquires the bond</a:t>
            </a:r>
          </a:p>
        </p:txBody>
      </p:sp>
      <p:sp>
        <p:nvSpPr>
          <p:cNvPr id="70" name="TextovéPole 35">
            <a:extLst>
              <a:ext uri="{FF2B5EF4-FFF2-40B4-BE49-F238E27FC236}">
                <a16:creationId xmlns:a16="http://schemas.microsoft.com/office/drawing/2014/main" id="{034B77C2-E9F8-5843-B295-B4887F7979A7}"/>
              </a:ext>
            </a:extLst>
          </p:cNvPr>
          <p:cNvSpPr txBox="1"/>
          <p:nvPr/>
        </p:nvSpPr>
        <p:spPr>
          <a:xfrm>
            <a:off x="1872001" y="4223664"/>
            <a:ext cx="370811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7030A0"/>
              </a:buClr>
            </a:pPr>
            <a:r>
              <a:rPr lang="en-GB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The short delivers the bond to the long</a:t>
            </a:r>
          </a:p>
        </p:txBody>
      </p:sp>
      <p:sp>
        <p:nvSpPr>
          <p:cNvPr id="72" name="TextovéPole 35">
            <a:extLst>
              <a:ext uri="{FF2B5EF4-FFF2-40B4-BE49-F238E27FC236}">
                <a16:creationId xmlns:a16="http://schemas.microsoft.com/office/drawing/2014/main" id="{AA7B2DFA-0FB0-8A7E-7BA0-D84E4521AC4E}"/>
              </a:ext>
            </a:extLst>
          </p:cNvPr>
          <p:cNvSpPr txBox="1"/>
          <p:nvPr/>
        </p:nvSpPr>
        <p:spPr>
          <a:xfrm>
            <a:off x="1872000" y="4481408"/>
            <a:ext cx="260071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7030A0"/>
              </a:buClr>
            </a:pPr>
            <a:r>
              <a:rPr lang="en-GB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The long pays for the bond</a:t>
            </a:r>
          </a:p>
        </p:txBody>
      </p:sp>
      <p:sp>
        <p:nvSpPr>
          <p:cNvPr id="77" name="TextovéPole 35">
            <a:extLst>
              <a:ext uri="{FF2B5EF4-FFF2-40B4-BE49-F238E27FC236}">
                <a16:creationId xmlns:a16="http://schemas.microsoft.com/office/drawing/2014/main" id="{FBC5D5EF-5AE7-E8D7-753A-5007EEA21878}"/>
              </a:ext>
            </a:extLst>
          </p:cNvPr>
          <p:cNvSpPr txBox="1"/>
          <p:nvPr/>
        </p:nvSpPr>
        <p:spPr>
          <a:xfrm>
            <a:off x="1872000" y="4741310"/>
            <a:ext cx="252286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7030A0"/>
              </a:buClr>
            </a:pPr>
            <a:r>
              <a:rPr lang="en-GB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The short repays the loan</a:t>
            </a:r>
          </a:p>
        </p:txBody>
      </p:sp>
      <p:sp>
        <p:nvSpPr>
          <p:cNvPr id="103" name="TextovéPole 102">
            <a:extLst>
              <a:ext uri="{FF2B5EF4-FFF2-40B4-BE49-F238E27FC236}">
                <a16:creationId xmlns:a16="http://schemas.microsoft.com/office/drawing/2014/main" id="{21EE3F5A-87C6-8273-D377-133B7A554850}"/>
              </a:ext>
            </a:extLst>
          </p:cNvPr>
          <p:cNvSpPr txBox="1"/>
          <p:nvPr/>
        </p:nvSpPr>
        <p:spPr>
          <a:xfrm>
            <a:off x="6821392" y="1961474"/>
            <a:ext cx="288000" cy="28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FF0000"/>
                </a:solidFill>
                <a:latin typeface="Cambria Math"/>
                <a:ea typeface="Cambria Math" panose="02040503050406030204" pitchFamily="18" charset="0"/>
              </a:rPr>
              <a:t>①</a:t>
            </a:r>
          </a:p>
        </p:txBody>
      </p:sp>
      <p:sp>
        <p:nvSpPr>
          <p:cNvPr id="104" name="TextovéPole 103">
            <a:extLst>
              <a:ext uri="{FF2B5EF4-FFF2-40B4-BE49-F238E27FC236}">
                <a16:creationId xmlns:a16="http://schemas.microsoft.com/office/drawing/2014/main" id="{92B872DC-AC76-093A-F5F6-CBB093EBB941}"/>
              </a:ext>
            </a:extLst>
          </p:cNvPr>
          <p:cNvSpPr txBox="1"/>
          <p:nvPr/>
        </p:nvSpPr>
        <p:spPr>
          <a:xfrm>
            <a:off x="5183976" y="1932195"/>
            <a:ext cx="288000" cy="28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FF0000"/>
                </a:solidFill>
                <a:latin typeface="Cambria Math"/>
                <a:ea typeface="Cambria Math" panose="02040503050406030204" pitchFamily="18" charset="0"/>
              </a:rPr>
              <a:t>②</a:t>
            </a:r>
          </a:p>
        </p:txBody>
      </p:sp>
      <p:sp>
        <p:nvSpPr>
          <p:cNvPr id="113" name="TextovéPole 112">
            <a:extLst>
              <a:ext uri="{FF2B5EF4-FFF2-40B4-BE49-F238E27FC236}">
                <a16:creationId xmlns:a16="http://schemas.microsoft.com/office/drawing/2014/main" id="{B5BCC3C5-B684-1214-DFCF-645204DED022}"/>
              </a:ext>
            </a:extLst>
          </p:cNvPr>
          <p:cNvSpPr txBox="1"/>
          <p:nvPr/>
        </p:nvSpPr>
        <p:spPr>
          <a:xfrm>
            <a:off x="3227912" y="1991987"/>
            <a:ext cx="288000" cy="28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FF0000"/>
                </a:solidFill>
                <a:latin typeface="Cambria Math"/>
                <a:ea typeface="Cambria Math" panose="02040503050406030204" pitchFamily="18" charset="0"/>
              </a:rPr>
              <a:t>③</a:t>
            </a:r>
          </a:p>
        </p:txBody>
      </p:sp>
      <p:sp>
        <p:nvSpPr>
          <p:cNvPr id="114" name="TextovéPole 113">
            <a:extLst>
              <a:ext uri="{FF2B5EF4-FFF2-40B4-BE49-F238E27FC236}">
                <a16:creationId xmlns:a16="http://schemas.microsoft.com/office/drawing/2014/main" id="{ACF1D0E5-3762-6AB6-62CD-1AE12B0983C0}"/>
              </a:ext>
            </a:extLst>
          </p:cNvPr>
          <p:cNvSpPr txBox="1"/>
          <p:nvPr/>
        </p:nvSpPr>
        <p:spPr>
          <a:xfrm>
            <a:off x="1619704" y="2819235"/>
            <a:ext cx="288000" cy="28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FF0000"/>
                </a:solidFill>
                <a:latin typeface="Cambria Math"/>
                <a:ea typeface="Cambria Math" panose="02040503050406030204" pitchFamily="18" charset="0"/>
              </a:rPr>
              <a:t>④</a:t>
            </a:r>
          </a:p>
        </p:txBody>
      </p:sp>
      <p:sp>
        <p:nvSpPr>
          <p:cNvPr id="115" name="TextovéPole 114">
            <a:extLst>
              <a:ext uri="{FF2B5EF4-FFF2-40B4-BE49-F238E27FC236}">
                <a16:creationId xmlns:a16="http://schemas.microsoft.com/office/drawing/2014/main" id="{E06153DA-E79A-6179-AE62-FF75907F8F6B}"/>
              </a:ext>
            </a:extLst>
          </p:cNvPr>
          <p:cNvSpPr txBox="1"/>
          <p:nvPr/>
        </p:nvSpPr>
        <p:spPr>
          <a:xfrm>
            <a:off x="2891432" y="2712067"/>
            <a:ext cx="288000" cy="28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FF0000"/>
                </a:solidFill>
                <a:latin typeface="Cambria Math"/>
                <a:ea typeface="Cambria Math" panose="02040503050406030204" pitchFamily="18" charset="0"/>
              </a:rPr>
              <a:t>⑤</a:t>
            </a:r>
          </a:p>
        </p:txBody>
      </p:sp>
      <p:sp>
        <p:nvSpPr>
          <p:cNvPr id="116" name="TextovéPole 115">
            <a:extLst>
              <a:ext uri="{FF2B5EF4-FFF2-40B4-BE49-F238E27FC236}">
                <a16:creationId xmlns:a16="http://schemas.microsoft.com/office/drawing/2014/main" id="{FAA29A4A-B24C-666A-6711-8B5A52B36A8C}"/>
              </a:ext>
            </a:extLst>
          </p:cNvPr>
          <p:cNvSpPr txBox="1"/>
          <p:nvPr/>
        </p:nvSpPr>
        <p:spPr>
          <a:xfrm>
            <a:off x="6757768" y="2796267"/>
            <a:ext cx="288000" cy="28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FF0000"/>
                </a:solidFill>
                <a:latin typeface="Cambria Math"/>
                <a:ea typeface="Cambria Math" panose="02040503050406030204" pitchFamily="18" charset="0"/>
              </a:rPr>
              <a:t>⑥</a:t>
            </a:r>
          </a:p>
        </p:txBody>
      </p:sp>
      <p:sp>
        <p:nvSpPr>
          <p:cNvPr id="11" name="TextovéPole 35">
            <a:extLst>
              <a:ext uri="{FF2B5EF4-FFF2-40B4-BE49-F238E27FC236}">
                <a16:creationId xmlns:a16="http://schemas.microsoft.com/office/drawing/2014/main" id="{8226ADB9-7E72-9B11-F455-47DAE93D9B42}"/>
              </a:ext>
            </a:extLst>
          </p:cNvPr>
          <p:cNvSpPr txBox="1"/>
          <p:nvPr/>
        </p:nvSpPr>
        <p:spPr>
          <a:xfrm>
            <a:off x="1188001" y="5811076"/>
            <a:ext cx="41040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noProof="0">
                <a:latin typeface="Cambria Math"/>
                <a:ea typeface="Cambria Math"/>
              </a:rPr>
              <a:t>Carry = carry revenue – carry expenditure</a:t>
            </a:r>
            <a:endParaRPr lang="en-GB" sz="1600" noProof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032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E250C-7993-B691-06A0-9F55BDE46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ECD5D179-557E-9A82-8FCC-DE1EE4D9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336000"/>
            <a:ext cx="3312000" cy="360000"/>
          </a:xfrm>
        </p:spPr>
        <p:txBody>
          <a:bodyPr/>
          <a:lstStyle/>
          <a:p>
            <a:r>
              <a:rPr lang="en-GB" dirty="0"/>
              <a:t>Examples of financial futures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03D7943D-A93B-0891-3B56-D3981D4D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64000" y="6336000"/>
            <a:ext cx="1800000" cy="360000"/>
          </a:xfrm>
        </p:spPr>
        <p:txBody>
          <a:bodyPr/>
          <a:lstStyle/>
          <a:p>
            <a:pPr algn="r"/>
            <a:fld id="{DFE5482F-2F05-49C5-9E15-73F945A41231}" type="slidenum">
              <a:rPr lang="cs-CZ" smtClean="0"/>
              <a:pPr algn="r"/>
              <a:t>13</a:t>
            </a:fld>
            <a:endParaRPr lang="cs-CZ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47321953-8408-172B-6284-929B50B2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144000"/>
            <a:ext cx="3723000" cy="648072"/>
          </a:xfrm>
        </p:spPr>
        <p:txBody>
          <a:bodyPr/>
          <a:lstStyle/>
          <a:p>
            <a:r>
              <a:rPr lang="en-GB" dirty="0"/>
              <a:t>LTIRF </a:t>
            </a: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–</a:t>
            </a:r>
            <a:r>
              <a:rPr lang="en-GB" dirty="0"/>
              <a:t> delivery date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30" name="TextovéPole 29">
            <a:extLst>
              <a:ext uri="{FF2B5EF4-FFF2-40B4-BE49-F238E27FC236}">
                <a16:creationId xmlns:a16="http://schemas.microsoft.com/office/drawing/2014/main" id="{649C495C-B464-7706-FFF4-F476FE5C0718}"/>
              </a:ext>
            </a:extLst>
          </p:cNvPr>
          <p:cNvSpPr txBox="1"/>
          <p:nvPr/>
        </p:nvSpPr>
        <p:spPr>
          <a:xfrm>
            <a:off x="864000" y="864000"/>
            <a:ext cx="370800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Choosing the delivery date</a:t>
            </a:r>
          </a:p>
        </p:txBody>
      </p:sp>
      <p:sp>
        <p:nvSpPr>
          <p:cNvPr id="81" name="TextovéPole 80">
            <a:extLst>
              <a:ext uri="{FF2B5EF4-FFF2-40B4-BE49-F238E27FC236}">
                <a16:creationId xmlns:a16="http://schemas.microsoft.com/office/drawing/2014/main" id="{CF2C0A87-8021-0D6A-44C8-2DF315912C16}"/>
              </a:ext>
            </a:extLst>
          </p:cNvPr>
          <p:cNvSpPr txBox="1"/>
          <p:nvPr/>
        </p:nvSpPr>
        <p:spPr>
          <a:xfrm>
            <a:off x="1187624" y="1192486"/>
            <a:ext cx="788438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The short is allowed to deliver a bond </a:t>
            </a:r>
            <a:r>
              <a:rPr lang="cs-CZ" dirty="0">
                <a:latin typeface="Cambria Math" panose="02040503050406030204" pitchFamily="18" charset="0"/>
                <a:ea typeface="Cambria Math" panose="02040503050406030204" pitchFamily="18" charset="0"/>
              </a:rPr>
              <a:t>on </a:t>
            </a: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any business day in the delivery month</a:t>
            </a:r>
          </a:p>
        </p:txBody>
      </p:sp>
      <p:sp>
        <p:nvSpPr>
          <p:cNvPr id="46" name="TextovéPole 35">
            <a:extLst>
              <a:ext uri="{FF2B5EF4-FFF2-40B4-BE49-F238E27FC236}">
                <a16:creationId xmlns:a16="http://schemas.microsoft.com/office/drawing/2014/main" id="{117A8936-3448-A038-0505-82FCFCCC88BC}"/>
              </a:ext>
            </a:extLst>
          </p:cNvPr>
          <p:cNvSpPr txBox="1"/>
          <p:nvPr/>
        </p:nvSpPr>
        <p:spPr>
          <a:xfrm>
            <a:off x="1512000" y="2282965"/>
            <a:ext cx="69480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noProof="0" dirty="0">
                <a:latin typeface="Cambria Math" panose="02040503050406030204" pitchFamily="18" charset="0"/>
                <a:ea typeface="Cambria Math" panose="02040503050406030204" pitchFamily="18" charset="0"/>
              </a:rPr>
              <a:t>Positive daily carry ⇨ the bond is delivered at the end of the delivery month</a:t>
            </a:r>
          </a:p>
        </p:txBody>
      </p:sp>
      <p:sp>
        <p:nvSpPr>
          <p:cNvPr id="60" name="TextovéPole 35">
            <a:extLst>
              <a:ext uri="{FF2B5EF4-FFF2-40B4-BE49-F238E27FC236}">
                <a16:creationId xmlns:a16="http://schemas.microsoft.com/office/drawing/2014/main" id="{BC9A8CDA-CBA9-0ACD-55EE-8C15F295FD55}"/>
              </a:ext>
            </a:extLst>
          </p:cNvPr>
          <p:cNvSpPr txBox="1"/>
          <p:nvPr/>
        </p:nvSpPr>
        <p:spPr>
          <a:xfrm>
            <a:off x="1512000" y="2540192"/>
            <a:ext cx="756000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noProof="0" dirty="0">
                <a:latin typeface="Cambria Math" panose="02040503050406030204" pitchFamily="18" charset="0"/>
                <a:ea typeface="Cambria Math" panose="02040503050406030204" pitchFamily="18" charset="0"/>
              </a:rPr>
              <a:t>Negative daily carry ⇨ the bond is delivered at the beginning of the delivery month</a:t>
            </a:r>
          </a:p>
        </p:txBody>
      </p:sp>
      <p:sp>
        <p:nvSpPr>
          <p:cNvPr id="62" name="TextovéPole 61">
            <a:extLst>
              <a:ext uri="{FF2B5EF4-FFF2-40B4-BE49-F238E27FC236}">
                <a16:creationId xmlns:a16="http://schemas.microsoft.com/office/drawing/2014/main" id="{4DFBC276-B70D-C412-E6DB-36754A62E3E2}"/>
              </a:ext>
            </a:extLst>
          </p:cNvPr>
          <p:cNvSpPr txBox="1"/>
          <p:nvPr/>
        </p:nvSpPr>
        <p:spPr>
          <a:xfrm>
            <a:off x="864001" y="2808000"/>
            <a:ext cx="2843904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Numerical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ovéPole 35">
                <a:extLst>
                  <a:ext uri="{FF2B5EF4-FFF2-40B4-BE49-F238E27FC236}">
                    <a16:creationId xmlns:a16="http://schemas.microsoft.com/office/drawing/2014/main" id="{772EEF67-C32A-8E17-170C-3415C1AB8037}"/>
                  </a:ext>
                </a:extLst>
              </p:cNvPr>
              <p:cNvSpPr txBox="1"/>
              <p:nvPr/>
            </p:nvSpPr>
            <p:spPr>
              <a:xfrm>
                <a:off x="1512000" y="4293096"/>
                <a:ext cx="4788192" cy="44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80000" indent="-180000">
                  <a:buClr>
                    <a:srgbClr val="7030A0"/>
                  </a:buCl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cs-CZ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Daily</m:t>
                    </m:r>
                    <m:r>
                      <a:rPr lang="cs-CZ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cs-CZ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carry</m:t>
                    </m:r>
                    <m:r>
                      <a:rPr lang="cs-CZ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cs-CZ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revenue</m:t>
                    </m:r>
                    <m:r>
                      <a:rPr lang="cs-CZ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cs-CZ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0.08</m:t>
                        </m:r>
                        <m:r>
                          <a:rPr lang="cs-CZ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×100</m:t>
                        </m:r>
                      </m:num>
                      <m:den>
                        <m:r>
                          <a:rPr lang="cs-CZ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365</m:t>
                        </m:r>
                      </m:den>
                    </m:f>
                    <m:r>
                      <a:rPr lang="cs-CZ" sz="1600">
                        <a:latin typeface="Cambria Math"/>
                        <a:ea typeface="Cambria Math" panose="02040503050406030204" pitchFamily="18" charset="0"/>
                      </a:rPr>
                      <m:t>=</m:t>
                    </m:r>
                    <m:r>
                      <a:rPr lang="cs-CZ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0.02192</m:t>
                    </m:r>
                  </m:oMath>
                </a14:m>
                <a:endParaRPr lang="en-GB" sz="1600" dirty="0">
                  <a:latin typeface="Cambria Math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3" name="TextovéPole 35">
                <a:extLst>
                  <a:ext uri="{FF2B5EF4-FFF2-40B4-BE49-F238E27FC236}">
                    <a16:creationId xmlns:a16="http://schemas.microsoft.com/office/drawing/2014/main" id="{772EEF67-C32A-8E17-170C-3415C1AB8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000" y="4293096"/>
                <a:ext cx="4788192" cy="442044"/>
              </a:xfrm>
              <a:prstGeom prst="rect">
                <a:avLst/>
              </a:prstGeom>
              <a:blipFill>
                <a:blip r:embed="rId11"/>
                <a:stretch>
                  <a:fillRect l="-510" b="-13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TextovéPole 35">
            <a:extLst>
              <a:ext uri="{FF2B5EF4-FFF2-40B4-BE49-F238E27FC236}">
                <a16:creationId xmlns:a16="http://schemas.microsoft.com/office/drawing/2014/main" id="{3D56BBF5-877E-7563-A139-86A5C5D12B34}"/>
              </a:ext>
            </a:extLst>
          </p:cNvPr>
          <p:cNvSpPr txBox="1"/>
          <p:nvPr/>
        </p:nvSpPr>
        <p:spPr>
          <a:xfrm>
            <a:off x="1115616" y="5069791"/>
            <a:ext cx="7884383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noProof="0">
                <a:latin typeface="Cambria Math" panose="02040503050406030204" pitchFamily="18" charset="0"/>
                <a:ea typeface="Cambria Math" panose="02040503050406030204" pitchFamily="18" charset="0"/>
              </a:rPr>
              <a:t>Daily carry is a positive number (the coupon income from holding the bond exceeds the interest cost of financing the bond), so delivery day is the last business day in the delivery month</a:t>
            </a:r>
          </a:p>
        </p:txBody>
      </p:sp>
      <p:graphicFrame>
        <p:nvGraphicFramePr>
          <p:cNvPr id="63" name="Tabulka 62">
            <a:extLst>
              <a:ext uri="{FF2B5EF4-FFF2-40B4-BE49-F238E27FC236}">
                <a16:creationId xmlns:a16="http://schemas.microsoft.com/office/drawing/2014/main" id="{FAB14D7F-9A4C-19B1-5D9F-6D44B15EE5ED}"/>
              </a:ext>
            </a:extLst>
          </p:cNvPr>
          <p:cNvGraphicFramePr>
            <a:graphicFrameLocks noGrp="1"/>
          </p:cNvGraphicFramePr>
          <p:nvPr/>
        </p:nvGraphicFramePr>
        <p:xfrm>
          <a:off x="978688" y="3834412"/>
          <a:ext cx="72008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39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39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390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3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4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5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8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9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7" name="TextovéPole 56">
            <a:extLst>
              <a:ext uri="{FF2B5EF4-FFF2-40B4-BE49-F238E27FC236}">
                <a16:creationId xmlns:a16="http://schemas.microsoft.com/office/drawing/2014/main" id="{4F27FEC5-2B08-6290-9E3A-C20B2BB50767}"/>
              </a:ext>
            </a:extLst>
          </p:cNvPr>
          <p:cNvSpPr txBox="1"/>
          <p:nvPr/>
        </p:nvSpPr>
        <p:spPr>
          <a:xfrm>
            <a:off x="1188000" y="1732845"/>
            <a:ext cx="748845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noProof="0" dirty="0">
                <a:latin typeface="Cambria Math" panose="02040503050406030204" pitchFamily="18" charset="0"/>
                <a:ea typeface="Cambria Math" panose="02040503050406030204" pitchFamily="18" charset="0"/>
              </a:rPr>
              <a:t>In reality, only the first or the last business day in the delivery month is chosen, depending on the value of the carry</a:t>
            </a:r>
          </a:p>
        </p:txBody>
      </p:sp>
      <p:grpSp>
        <p:nvGrpSpPr>
          <p:cNvPr id="7" name="Skupina 6">
            <a:extLst>
              <a:ext uri="{FF2B5EF4-FFF2-40B4-BE49-F238E27FC236}">
                <a16:creationId xmlns:a16="http://schemas.microsoft.com/office/drawing/2014/main" id="{9BC80E79-CA7B-A0CE-7327-5F67B9280F38}"/>
              </a:ext>
            </a:extLst>
          </p:cNvPr>
          <p:cNvGrpSpPr/>
          <p:nvPr/>
        </p:nvGrpSpPr>
        <p:grpSpPr>
          <a:xfrm>
            <a:off x="560816" y="3190392"/>
            <a:ext cx="8080200" cy="1193528"/>
            <a:chOff x="560816" y="3335728"/>
            <a:chExt cx="8080200" cy="1193528"/>
          </a:xfrm>
        </p:grpSpPr>
        <p:grpSp>
          <p:nvGrpSpPr>
            <p:cNvPr id="5" name="Skupina 4">
              <a:extLst>
                <a:ext uri="{FF2B5EF4-FFF2-40B4-BE49-F238E27FC236}">
                  <a16:creationId xmlns:a16="http://schemas.microsoft.com/office/drawing/2014/main" id="{0AA61655-55D5-9A38-CCBC-6C966EA1A4EC}"/>
                </a:ext>
              </a:extLst>
            </p:cNvPr>
            <p:cNvGrpSpPr/>
            <p:nvPr/>
          </p:nvGrpSpPr>
          <p:grpSpPr>
            <a:xfrm>
              <a:off x="560816" y="3335728"/>
              <a:ext cx="8080200" cy="1193528"/>
              <a:chOff x="560816" y="3335728"/>
              <a:chExt cx="8080200" cy="1193528"/>
            </a:xfrm>
          </p:grpSpPr>
          <p:grpSp>
            <p:nvGrpSpPr>
              <p:cNvPr id="6" name="Skupina 5">
                <a:extLst>
                  <a:ext uri="{FF2B5EF4-FFF2-40B4-BE49-F238E27FC236}">
                    <a16:creationId xmlns:a16="http://schemas.microsoft.com/office/drawing/2014/main" id="{A932B2BB-6537-4113-25A7-07C8292252DD}"/>
                  </a:ext>
                </a:extLst>
              </p:cNvPr>
              <p:cNvGrpSpPr/>
              <p:nvPr/>
            </p:nvGrpSpPr>
            <p:grpSpPr>
              <a:xfrm>
                <a:off x="560816" y="3594377"/>
                <a:ext cx="8080200" cy="934879"/>
                <a:chOff x="560816" y="5040000"/>
                <a:chExt cx="8080200" cy="934879"/>
              </a:xfrm>
            </p:grpSpPr>
            <p:grpSp>
              <p:nvGrpSpPr>
                <p:cNvPr id="69" name="Skupina 68">
                  <a:extLst>
                    <a:ext uri="{FF2B5EF4-FFF2-40B4-BE49-F238E27FC236}">
                      <a16:creationId xmlns:a16="http://schemas.microsoft.com/office/drawing/2014/main" id="{DB62A0C5-E136-1DE4-96E3-4CDBF59DCAEF}"/>
                    </a:ext>
                  </a:extLst>
                </p:cNvPr>
                <p:cNvGrpSpPr/>
                <p:nvPr/>
              </p:nvGrpSpPr>
              <p:grpSpPr>
                <a:xfrm>
                  <a:off x="560816" y="5040000"/>
                  <a:ext cx="7412265" cy="934879"/>
                  <a:chOff x="560816" y="3883342"/>
                  <a:chExt cx="7412265" cy="934879"/>
                </a:xfrm>
              </p:grpSpPr>
              <p:grpSp>
                <p:nvGrpSpPr>
                  <p:cNvPr id="70" name="Skupina 69">
                    <a:extLst>
                      <a:ext uri="{FF2B5EF4-FFF2-40B4-BE49-F238E27FC236}">
                        <a16:creationId xmlns:a16="http://schemas.microsoft.com/office/drawing/2014/main" id="{771D77E8-5D7E-9439-E94C-40E6EA9247F7}"/>
                      </a:ext>
                    </a:extLst>
                  </p:cNvPr>
                  <p:cNvGrpSpPr/>
                  <p:nvPr/>
                </p:nvGrpSpPr>
                <p:grpSpPr>
                  <a:xfrm>
                    <a:off x="1217105" y="4104000"/>
                    <a:ext cx="6755976" cy="504000"/>
                    <a:chOff x="1217105" y="4104000"/>
                    <a:chExt cx="6755976" cy="504000"/>
                  </a:xfrm>
                </p:grpSpPr>
                <p:cxnSp>
                  <p:nvCxnSpPr>
                    <p:cNvPr id="88" name="Přímá spojnice 87">
                      <a:extLst>
                        <a:ext uri="{FF2B5EF4-FFF2-40B4-BE49-F238E27FC236}">
                          <a16:creationId xmlns:a16="http://schemas.microsoft.com/office/drawing/2014/main" id="{133DDC21-B7EA-EC61-D80F-E9D12D11ABC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265592" y="4284000"/>
                      <a:ext cx="0" cy="324000"/>
                    </a:xfrm>
                    <a:prstGeom prst="line">
                      <a:avLst/>
                    </a:prstGeom>
                    <a:ln w="12700">
                      <a:headEnd type="none" w="lg" len="med"/>
                      <a:tailEnd type="none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Přímá spojnice 88">
                      <a:extLst>
                        <a:ext uri="{FF2B5EF4-FFF2-40B4-BE49-F238E27FC236}">
                          <a16:creationId xmlns:a16="http://schemas.microsoft.com/office/drawing/2014/main" id="{388C1585-90BE-5387-BBC8-B0FCF4CA1AC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751560" y="4283999"/>
                      <a:ext cx="0" cy="324000"/>
                    </a:xfrm>
                    <a:prstGeom prst="line">
                      <a:avLst/>
                    </a:prstGeom>
                    <a:ln w="12700">
                      <a:headEnd type="none" w="lg" len="med"/>
                      <a:tailEnd type="none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1" name="Rovnoramenný trojúhelník 90">
                      <a:extLst>
                        <a:ext uri="{FF2B5EF4-FFF2-40B4-BE49-F238E27FC236}">
                          <a16:creationId xmlns:a16="http://schemas.microsoft.com/office/drawing/2014/main" id="{A06358CD-5884-B379-A2BC-58379E7C39F6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1217105" y="4104008"/>
                      <a:ext cx="107447" cy="124593"/>
                    </a:xfrm>
                    <a:prstGeom prst="triangle">
                      <a:avLst/>
                    </a:prstGeom>
                    <a:solidFill>
                      <a:srgbClr val="C0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cs-CZ"/>
                    </a:p>
                  </p:txBody>
                </p:sp>
                <p:sp>
                  <p:nvSpPr>
                    <p:cNvPr id="92" name="Rovnoramenný trojúhelník 91">
                      <a:extLst>
                        <a:ext uri="{FF2B5EF4-FFF2-40B4-BE49-F238E27FC236}">
                          <a16:creationId xmlns:a16="http://schemas.microsoft.com/office/drawing/2014/main" id="{DBFE84EC-FF5B-73BA-7D00-49B616B9B386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4525816" y="4104008"/>
                      <a:ext cx="118192" cy="124593"/>
                    </a:xfrm>
                    <a:prstGeom prst="triangle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cs-CZ"/>
                    </a:p>
                  </p:txBody>
                </p:sp>
                <p:sp>
                  <p:nvSpPr>
                    <p:cNvPr id="93" name="Rovnoramenný trojúhelník 92">
                      <a:extLst>
                        <a:ext uri="{FF2B5EF4-FFF2-40B4-BE49-F238E27FC236}">
                          <a16:creationId xmlns:a16="http://schemas.microsoft.com/office/drawing/2014/main" id="{89BA31D1-F2C0-A466-0CF7-2FB9FF9A30C2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7854889" y="4104008"/>
                      <a:ext cx="118192" cy="124593"/>
                    </a:xfrm>
                    <a:prstGeom prst="triangle">
                      <a:avLst/>
                    </a:prstGeom>
                    <a:solidFill>
                      <a:schemeClr val="bg1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cs-CZ"/>
                    </a:p>
                  </p:txBody>
                </p:sp>
                <p:sp>
                  <p:nvSpPr>
                    <p:cNvPr id="94" name="Rovnoramenný trojúhelník 93">
                      <a:extLst>
                        <a:ext uri="{FF2B5EF4-FFF2-40B4-BE49-F238E27FC236}">
                          <a16:creationId xmlns:a16="http://schemas.microsoft.com/office/drawing/2014/main" id="{F0DDD438-B1A5-E174-283A-BEE252F112D8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3693729" y="4104000"/>
                      <a:ext cx="118192" cy="124593"/>
                    </a:xfrm>
                    <a:prstGeom prst="triangle">
                      <a:avLst/>
                    </a:prstGeom>
                    <a:solidFill>
                      <a:srgbClr val="C0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cs-CZ"/>
                    </a:p>
                  </p:txBody>
                </p:sp>
                <p:cxnSp>
                  <p:nvCxnSpPr>
                    <p:cNvPr id="95" name="Přímá spojnice se šipkou 94">
                      <a:extLst>
                        <a:ext uri="{FF2B5EF4-FFF2-40B4-BE49-F238E27FC236}">
                          <a16:creationId xmlns:a16="http://schemas.microsoft.com/office/drawing/2014/main" id="{69520945-1716-A833-CB80-0A083745B03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280461" y="4602392"/>
                      <a:ext cx="2448000" cy="0"/>
                    </a:xfrm>
                    <a:prstGeom prst="straightConnector1">
                      <a:avLst/>
                    </a:prstGeom>
                    <a:ln w="12700">
                      <a:solidFill>
                        <a:srgbClr val="C00000"/>
                      </a:solidFill>
                      <a:headEnd type="triangle" w="med" len="med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2" name="Skupina 71">
                    <a:extLst>
                      <a:ext uri="{FF2B5EF4-FFF2-40B4-BE49-F238E27FC236}">
                        <a16:creationId xmlns:a16="http://schemas.microsoft.com/office/drawing/2014/main" id="{408BB822-0AD9-5814-10A2-F9CEBDE5115A}"/>
                      </a:ext>
                    </a:extLst>
                  </p:cNvPr>
                  <p:cNvGrpSpPr/>
                  <p:nvPr/>
                </p:nvGrpSpPr>
                <p:grpSpPr>
                  <a:xfrm>
                    <a:off x="560816" y="3883342"/>
                    <a:ext cx="3485864" cy="934879"/>
                    <a:chOff x="560816" y="3883342"/>
                    <a:chExt cx="3485864" cy="934879"/>
                  </a:xfrm>
                </p:grpSpPr>
                <p:sp>
                  <p:nvSpPr>
                    <p:cNvPr id="77" name="TextovéPole 76">
                      <a:extLst>
                        <a:ext uri="{FF2B5EF4-FFF2-40B4-BE49-F238E27FC236}">
                          <a16:creationId xmlns:a16="http://schemas.microsoft.com/office/drawing/2014/main" id="{7187B504-1FA0-B7D3-18D8-E1E41C23C4E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58808" y="4572000"/>
                      <a:ext cx="776784" cy="24622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cs-CZ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134</a:t>
                      </a:r>
                      <a:r>
                        <a:rPr lang="en-GB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days</a:t>
                      </a:r>
                    </a:p>
                  </p:txBody>
                </p:sp>
                <p:sp>
                  <p:nvSpPr>
                    <p:cNvPr id="83" name="TextovéPole 82">
                      <a:extLst>
                        <a:ext uri="{FF2B5EF4-FFF2-40B4-BE49-F238E27FC236}">
                          <a16:creationId xmlns:a16="http://schemas.microsoft.com/office/drawing/2014/main" id="{DED6201B-7BA7-9890-5274-ACC023355CC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0816" y="3883342"/>
                      <a:ext cx="1440160" cy="24622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GB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previous coupon day</a:t>
                      </a:r>
                    </a:p>
                  </p:txBody>
                </p:sp>
                <p:sp>
                  <p:nvSpPr>
                    <p:cNvPr id="84" name="TextovéPole 83">
                      <a:extLst>
                        <a:ext uri="{FF2B5EF4-FFF2-40B4-BE49-F238E27FC236}">
                          <a16:creationId xmlns:a16="http://schemas.microsoft.com/office/drawing/2014/main" id="{E944B796-76EC-AFA8-5453-07E044B5AAE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70480" y="3883342"/>
                      <a:ext cx="576200" cy="24622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GB" sz="1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today</a:t>
                      </a:r>
                    </a:p>
                  </p:txBody>
                </p:sp>
              </p:grpSp>
            </p:grpSp>
            <p:sp>
              <p:nvSpPr>
                <p:cNvPr id="101" name="TextovéPole 100">
                  <a:extLst>
                    <a:ext uri="{FF2B5EF4-FFF2-40B4-BE49-F238E27FC236}">
                      <a16:creationId xmlns:a16="http://schemas.microsoft.com/office/drawing/2014/main" id="{0560625A-593C-C080-F63E-B804879AD485}"/>
                    </a:ext>
                  </a:extLst>
                </p:cNvPr>
                <p:cNvSpPr txBox="1"/>
                <p:nvPr/>
              </p:nvSpPr>
              <p:spPr>
                <a:xfrm>
                  <a:off x="4039592" y="5040000"/>
                  <a:ext cx="1080570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next coupon day</a:t>
                  </a:r>
                </a:p>
              </p:txBody>
            </p:sp>
            <p:sp>
              <p:nvSpPr>
                <p:cNvPr id="102" name="TextovéPole 101">
                  <a:extLst>
                    <a:ext uri="{FF2B5EF4-FFF2-40B4-BE49-F238E27FC236}">
                      <a16:creationId xmlns:a16="http://schemas.microsoft.com/office/drawing/2014/main" id="{3B43DC98-2C24-BCE9-E2E4-629BCE4A6C6E}"/>
                    </a:ext>
                  </a:extLst>
                </p:cNvPr>
                <p:cNvSpPr txBox="1"/>
                <p:nvPr/>
              </p:nvSpPr>
              <p:spPr>
                <a:xfrm>
                  <a:off x="7193790" y="5040000"/>
                  <a:ext cx="1447226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after-next coupon day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Obdélník 64">
                    <a:extLst>
                      <a:ext uri="{FF2B5EF4-FFF2-40B4-BE49-F238E27FC236}">
                        <a16:creationId xmlns:a16="http://schemas.microsoft.com/office/drawing/2014/main" id="{F891CBCF-406C-5308-17A7-BE47B07A5D88}"/>
                      </a:ext>
                    </a:extLst>
                  </p:cNvPr>
                  <p:cNvSpPr/>
                  <p:nvPr/>
                </p:nvSpPr>
                <p:spPr>
                  <a:xfrm>
                    <a:off x="2247165" y="3335728"/>
                    <a:ext cx="1186419" cy="561758"/>
                  </a:xfrm>
                  <a:prstGeom prst="rect">
                    <a:avLst/>
                  </a:prstGeom>
                  <a:solidFill>
                    <a:srgbClr val="0070C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36000" rIns="36000" bIns="36000" rtlCol="0" anchor="ctr"/>
                  <a:lstStyle/>
                  <a:p>
                    <a:pPr marL="92075">
                      <a:spcBef>
                        <a:spcPts val="1200"/>
                      </a:spcBef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i="1">
                                <a:latin typeface="Cambria Math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1000" i="1">
                                <a:latin typeface="Cambria Math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1000" i="1">
                            <a:latin typeface="Cambria Math"/>
                            <a:ea typeface="Cambria Math" panose="02040503050406030204" pitchFamily="18" charset="0"/>
                          </a:rPr>
                          <m:t>=99</m:t>
                        </m:r>
                        <m:r>
                          <a:rPr lang="cs-CZ" sz="1000" b="0" i="1" smtClean="0">
                            <a:latin typeface="Cambria Math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GB" sz="1000" i="1">
                            <a:latin typeface="Cambria Math"/>
                            <a:ea typeface="Cambria Math" panose="02040503050406030204" pitchFamily="18" charset="0"/>
                          </a:rPr>
                          <m:t>13 </m:t>
                        </m:r>
                      </m:oMath>
                    </a14:m>
                    <a:r>
                      <a:rPr lang="en-GB" sz="1000" dirty="0">
                        <a:latin typeface="Cambria Math"/>
                        <a:ea typeface="Cambria Math" panose="02040503050406030204" pitchFamily="18" charset="0"/>
                      </a:rPr>
                      <a:t>(</a:t>
                    </a:r>
                    <a:r>
                      <a:rPr lang="cs-CZ" sz="1000" dirty="0">
                        <a:latin typeface="Cambria Math"/>
                        <a:ea typeface="Cambria Math" panose="02040503050406030204" pitchFamily="18" charset="0"/>
                      </a:rPr>
                      <a:t>full</a:t>
                    </a:r>
                    <a:r>
                      <a:rPr lang="en-GB" sz="1000" dirty="0">
                        <a:latin typeface="Cambria Math"/>
                        <a:ea typeface="Cambria Math" panose="02040503050406030204" pitchFamily="18" charset="0"/>
                      </a:rPr>
                      <a:t>)</a:t>
                    </a:r>
                  </a:p>
                  <a:p>
                    <a:pPr marL="92075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i="1">
                                <a:latin typeface="Cambria Math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sz="1000" i="1">
                                <a:latin typeface="Cambria Math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1000" i="1">
                            <a:latin typeface="Cambria Math"/>
                            <a:ea typeface="Cambria Math" panose="02040503050406030204" pitchFamily="18" charset="0"/>
                          </a:rPr>
                          <m:t>=88.19 </m:t>
                        </m:r>
                      </m:oMath>
                    </a14:m>
                    <a:r>
                      <a:rPr lang="en-GB" sz="1000" dirty="0">
                        <a:latin typeface="Cambria Math"/>
                        <a:ea typeface="Cambria Math" panose="02040503050406030204" pitchFamily="18" charset="0"/>
                      </a:rPr>
                      <a:t>(clean)</a:t>
                    </a:r>
                  </a:p>
                  <a:p>
                    <a:pPr marL="92075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GB" sz="1000" i="1">
                              <a:latin typeface="Cambria Math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GB" sz="1000" i="1">
                              <a:latin typeface="Cambria Math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GB" sz="1000" i="1">
                              <a:latin typeface="Cambria Math"/>
                              <a:ea typeface="Cambria Math" panose="02040503050406030204" pitchFamily="18" charset="0"/>
                            </a:rPr>
                            <m:t>=6%</m:t>
                          </m:r>
                        </m:oMath>
                      </m:oMathPara>
                    </a14:m>
                    <a:endParaRPr lang="en-GB" sz="1000" i="1" dirty="0">
                      <a:latin typeface="Cambria Math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5" name="Obdélník 64">
                    <a:extLst>
                      <a:ext uri="{FF2B5EF4-FFF2-40B4-BE49-F238E27FC236}">
                        <a16:creationId xmlns:a16="http://schemas.microsoft.com/office/drawing/2014/main" id="{F891CBCF-406C-5308-17A7-BE47B07A5D8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47165" y="3335728"/>
                    <a:ext cx="1186419" cy="561758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2538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6" name="Volný tvar 65">
              <a:extLst>
                <a:ext uri="{FF2B5EF4-FFF2-40B4-BE49-F238E27FC236}">
                  <a16:creationId xmlns:a16="http://schemas.microsoft.com/office/drawing/2014/main" id="{D28F8213-8FA7-9E61-A94C-D2C7248A1435}"/>
                </a:ext>
              </a:extLst>
            </p:cNvPr>
            <p:cNvSpPr/>
            <p:nvPr/>
          </p:nvSpPr>
          <p:spPr>
            <a:xfrm>
              <a:off x="3447760" y="3438073"/>
              <a:ext cx="260144" cy="482009"/>
            </a:xfrm>
            <a:custGeom>
              <a:avLst/>
              <a:gdLst>
                <a:gd name="connsiteX0" fmla="*/ 0 w 233916"/>
                <a:gd name="connsiteY0" fmla="*/ 0 h 482009"/>
                <a:gd name="connsiteX1" fmla="*/ 92149 w 233916"/>
                <a:gd name="connsiteY1" fmla="*/ 0 h 482009"/>
                <a:gd name="connsiteX2" fmla="*/ 92149 w 233916"/>
                <a:gd name="connsiteY2" fmla="*/ 482009 h 482009"/>
                <a:gd name="connsiteX3" fmla="*/ 233916 w 233916"/>
                <a:gd name="connsiteY3" fmla="*/ 482009 h 482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916" h="482009">
                  <a:moveTo>
                    <a:pt x="0" y="0"/>
                  </a:moveTo>
                  <a:lnTo>
                    <a:pt x="92149" y="0"/>
                  </a:lnTo>
                  <a:lnTo>
                    <a:pt x="92149" y="482009"/>
                  </a:lnTo>
                  <a:lnTo>
                    <a:pt x="233916" y="482009"/>
                  </a:ln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ovéPole 35">
                <a:extLst>
                  <a:ext uri="{FF2B5EF4-FFF2-40B4-BE49-F238E27FC236}">
                    <a16:creationId xmlns:a16="http://schemas.microsoft.com/office/drawing/2014/main" id="{69E44D8A-DB32-F518-5B23-0D6697F98DF9}"/>
                  </a:ext>
                </a:extLst>
              </p:cNvPr>
              <p:cNvSpPr txBox="1"/>
              <p:nvPr/>
            </p:nvSpPr>
            <p:spPr>
              <a:xfrm>
                <a:off x="1512000" y="4678513"/>
                <a:ext cx="4788192" cy="44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80000" indent="-180000">
                  <a:buClr>
                    <a:srgbClr val="7030A0"/>
                  </a:buCl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cs-CZ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Daily</m:t>
                    </m:r>
                    <m:r>
                      <a:rPr lang="cs-CZ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cs-CZ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carry</m:t>
                    </m:r>
                    <m:r>
                      <a:rPr lang="cs-CZ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cs-CZ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expenditure</m:t>
                    </m:r>
                    <m:r>
                      <a:rPr lang="cs-CZ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=99.13</m:t>
                    </m:r>
                    <m:r>
                      <a:rPr lang="cs-CZ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cs-CZ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cs-CZ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0.06</m:t>
                        </m:r>
                      </m:num>
                      <m:den>
                        <m:r>
                          <a:rPr lang="cs-CZ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365</m:t>
                        </m:r>
                      </m:den>
                    </m:f>
                    <m:r>
                      <a:rPr lang="cs-CZ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=0.01630</m:t>
                    </m:r>
                  </m:oMath>
                </a14:m>
                <a:endParaRPr lang="en-GB" sz="1600" dirty="0">
                  <a:latin typeface="Cambria Math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ovéPole 35">
                <a:extLst>
                  <a:ext uri="{FF2B5EF4-FFF2-40B4-BE49-F238E27FC236}">
                    <a16:creationId xmlns:a16="http://schemas.microsoft.com/office/drawing/2014/main" id="{69E44D8A-DB32-F518-5B23-0D6697F98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000" y="4678513"/>
                <a:ext cx="4788192" cy="442044"/>
              </a:xfrm>
              <a:prstGeom prst="rect">
                <a:avLst/>
              </a:prstGeom>
              <a:blipFill>
                <a:blip r:embed="rId13"/>
                <a:stretch>
                  <a:fillRect l="-510" b="-13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ravá složená závorka 8">
            <a:extLst>
              <a:ext uri="{FF2B5EF4-FFF2-40B4-BE49-F238E27FC236}">
                <a16:creationId xmlns:a16="http://schemas.microsoft.com/office/drawing/2014/main" id="{94F780A3-6EC3-E192-2D91-46505317611E}"/>
              </a:ext>
            </a:extLst>
          </p:cNvPr>
          <p:cNvSpPr/>
          <p:nvPr/>
        </p:nvSpPr>
        <p:spPr>
          <a:xfrm>
            <a:off x="6162354" y="4400044"/>
            <a:ext cx="216024" cy="561810"/>
          </a:xfrm>
          <a:prstGeom prst="rightBrace">
            <a:avLst/>
          </a:prstGeom>
          <a:ln w="25400"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ovéPole 35">
                <a:extLst>
                  <a:ext uri="{FF2B5EF4-FFF2-40B4-BE49-F238E27FC236}">
                    <a16:creationId xmlns:a16="http://schemas.microsoft.com/office/drawing/2014/main" id="{4B788957-D033-FB54-3ECD-AA551C54001E}"/>
                  </a:ext>
                </a:extLst>
              </p:cNvPr>
              <p:cNvSpPr txBox="1"/>
              <p:nvPr/>
            </p:nvSpPr>
            <p:spPr>
              <a:xfrm>
                <a:off x="6332998" y="4505894"/>
                <a:ext cx="266374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>
                    <a:srgbClr val="7030A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0" i="0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600" b="0" i="0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daily</m:t>
                      </m:r>
                      <m:r>
                        <a:rPr lang="en-GB" sz="1600" b="0" i="0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600" b="0" i="0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carry</m:t>
                      </m:r>
                      <m:r>
                        <a:rPr lang="en-GB" sz="1600" b="0" i="0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=0.00562 </m:t>
                      </m:r>
                      <m:r>
                        <m:rPr>
                          <m:sty m:val="p"/>
                        </m:rPr>
                        <a:rPr lang="en-GB" sz="1600" b="0" i="0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USD</m:t>
                      </m:r>
                    </m:oMath>
                  </m:oMathPara>
                </a14:m>
                <a:endParaRPr lang="en-GB" sz="1600" noProof="0" dirty="0">
                  <a:latin typeface="Cambria Math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ovéPole 35">
                <a:extLst>
                  <a:ext uri="{FF2B5EF4-FFF2-40B4-BE49-F238E27FC236}">
                    <a16:creationId xmlns:a16="http://schemas.microsoft.com/office/drawing/2014/main" id="{4B788957-D033-FB54-3ECD-AA551C540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998" y="4505894"/>
                <a:ext cx="2663744" cy="338554"/>
              </a:xfrm>
              <a:prstGeom prst="rect">
                <a:avLst/>
              </a:prstGeom>
              <a:blipFill>
                <a:blip r:embed="rId14"/>
                <a:stretch>
                  <a:fillRect b="-107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307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84807-049C-6CCF-AC79-B536E946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EA4B0309-6580-C256-3F27-57950566A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336000"/>
            <a:ext cx="3312000" cy="360000"/>
          </a:xfrm>
        </p:spPr>
        <p:txBody>
          <a:bodyPr/>
          <a:lstStyle/>
          <a:p>
            <a:r>
              <a:rPr lang="en-GB" dirty="0"/>
              <a:t>Examples of financial futures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941BD8AC-749F-D781-E687-AB04B9B4C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64000" y="6336000"/>
            <a:ext cx="1800000" cy="360000"/>
          </a:xfrm>
        </p:spPr>
        <p:txBody>
          <a:bodyPr/>
          <a:lstStyle/>
          <a:p>
            <a:pPr algn="r"/>
            <a:fld id="{DFE5482F-2F05-49C5-9E15-73F945A41231}" type="slidenum">
              <a:rPr lang="cs-CZ" smtClean="0"/>
              <a:pPr algn="r"/>
              <a:t>14</a:t>
            </a:fld>
            <a:endParaRPr lang="cs-CZ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0CD1F679-8DD8-8DF0-3FE7-EFA2610EC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144000"/>
            <a:ext cx="3117647" cy="648072"/>
          </a:xfrm>
        </p:spPr>
        <p:txBody>
          <a:bodyPr/>
          <a:lstStyle/>
          <a:p>
            <a:r>
              <a:rPr lang="cs-CZ" dirty="0"/>
              <a:t>LTIRF </a:t>
            </a: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–</a:t>
            </a:r>
            <a:r>
              <a:rPr lang="cs-CZ" dirty="0"/>
              <a:t> CTD bond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29" name="TextovéPole 28">
            <a:extLst>
              <a:ext uri="{FF2B5EF4-FFF2-40B4-BE49-F238E27FC236}">
                <a16:creationId xmlns:a16="http://schemas.microsoft.com/office/drawing/2014/main" id="{DB66D209-C9EA-91D3-B6AC-DA90ABB3FB58}"/>
              </a:ext>
            </a:extLst>
          </p:cNvPr>
          <p:cNvSpPr txBox="1"/>
          <p:nvPr/>
        </p:nvSpPr>
        <p:spPr>
          <a:xfrm>
            <a:off x="864000" y="864000"/>
            <a:ext cx="5076152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Cheapest</a:t>
            </a:r>
            <a:r>
              <a:rPr lang="cs-CZ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to</a:t>
            </a:r>
            <a:r>
              <a:rPr lang="cs-CZ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-</a:t>
            </a: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deliver</a:t>
            </a:r>
            <a:r>
              <a:rPr lang="cs-CZ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bond</a:t>
            </a: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(CTD</a:t>
            </a:r>
            <a:r>
              <a:rPr lang="cs-CZ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 bond</a:t>
            </a:r>
            <a:r>
              <a:rPr lang="en-GB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  <p:sp>
        <p:nvSpPr>
          <p:cNvPr id="31" name="TextovéPole 30">
            <a:extLst>
              <a:ext uri="{FF2B5EF4-FFF2-40B4-BE49-F238E27FC236}">
                <a16:creationId xmlns:a16="http://schemas.microsoft.com/office/drawing/2014/main" id="{5E09CEF6-90C0-2CDE-175F-CAB9E05A1E4D}"/>
              </a:ext>
            </a:extLst>
          </p:cNvPr>
          <p:cNvSpPr txBox="1"/>
          <p:nvPr/>
        </p:nvSpPr>
        <p:spPr>
          <a:xfrm>
            <a:off x="1188000" y="1192779"/>
            <a:ext cx="769761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noProof="0" dirty="0">
                <a:latin typeface="Cambria Math" panose="02040503050406030204" pitchFamily="18" charset="0"/>
                <a:ea typeface="Cambria Math" panose="02040503050406030204" pitchFamily="18" charset="0"/>
              </a:rPr>
              <a:t>The short may choose any bond for delivery from a given list compiled by the futures exchange</a:t>
            </a:r>
          </a:p>
        </p:txBody>
      </p:sp>
      <p:sp>
        <p:nvSpPr>
          <p:cNvPr id="81" name="TextovéPole 80">
            <a:extLst>
              <a:ext uri="{FF2B5EF4-FFF2-40B4-BE49-F238E27FC236}">
                <a16:creationId xmlns:a16="http://schemas.microsoft.com/office/drawing/2014/main" id="{F2657C3B-0A28-A191-ED66-138692EA03E5}"/>
              </a:ext>
            </a:extLst>
          </p:cNvPr>
          <p:cNvSpPr txBox="1"/>
          <p:nvPr/>
        </p:nvSpPr>
        <p:spPr>
          <a:xfrm>
            <a:off x="1187624" y="1739089"/>
            <a:ext cx="727237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noProof="0">
                <a:latin typeface="Cambria Math" panose="02040503050406030204" pitchFamily="18" charset="0"/>
                <a:ea typeface="Cambria Math" panose="02040503050406030204" pitchFamily="18" charset="0"/>
              </a:rPr>
              <a:t>The cheapest-to-deliver bond gives the highest rate of return from the implied repo loan, called the </a:t>
            </a:r>
            <a:r>
              <a:rPr lang="en-GB" noProof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implied repo rate </a:t>
            </a:r>
            <a:r>
              <a:rPr lang="en-GB" noProof="0">
                <a:latin typeface="Cambria Math" panose="02040503050406030204" pitchFamily="18" charset="0"/>
                <a:ea typeface="Cambria Math" panose="02040503050406030204" pitchFamily="18" charset="0"/>
              </a:rPr>
              <a:t>(IRR)</a:t>
            </a:r>
          </a:p>
        </p:txBody>
      </p:sp>
      <p:sp>
        <p:nvSpPr>
          <p:cNvPr id="62" name="TextovéPole 61">
            <a:extLst>
              <a:ext uri="{FF2B5EF4-FFF2-40B4-BE49-F238E27FC236}">
                <a16:creationId xmlns:a16="http://schemas.microsoft.com/office/drawing/2014/main" id="{6BEDCC31-62CE-13AC-23B4-5672E928CD72}"/>
              </a:ext>
            </a:extLst>
          </p:cNvPr>
          <p:cNvSpPr txBox="1"/>
          <p:nvPr/>
        </p:nvSpPr>
        <p:spPr>
          <a:xfrm>
            <a:off x="864001" y="2592000"/>
            <a:ext cx="270632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noProof="0" dirty="0">
                <a:latin typeface="Cambria Math" panose="02040503050406030204" pitchFamily="18" charset="0"/>
                <a:ea typeface="Cambria Math" panose="02040503050406030204" pitchFamily="18" charset="0"/>
              </a:rPr>
              <a:t>Implied repo loan</a:t>
            </a:r>
          </a:p>
        </p:txBody>
      </p:sp>
      <p:sp>
        <p:nvSpPr>
          <p:cNvPr id="64" name="TextovéPole 35">
            <a:extLst>
              <a:ext uri="{FF2B5EF4-FFF2-40B4-BE49-F238E27FC236}">
                <a16:creationId xmlns:a16="http://schemas.microsoft.com/office/drawing/2014/main" id="{99C974DF-F1A9-4876-72C5-DF4B249E23B8}"/>
              </a:ext>
            </a:extLst>
          </p:cNvPr>
          <p:cNvSpPr txBox="1"/>
          <p:nvPr/>
        </p:nvSpPr>
        <p:spPr>
          <a:xfrm>
            <a:off x="1080000" y="2886849"/>
            <a:ext cx="2412000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7030A0"/>
              </a:buClr>
            </a:pPr>
            <a:r>
              <a:rPr lang="en-GB" sz="1100" b="1" noProof="0">
                <a:latin typeface="Cambria Math" panose="02040503050406030204" pitchFamily="18" charset="0"/>
                <a:ea typeface="Cambria Math" panose="02040503050406030204" pitchFamily="18" charset="0"/>
              </a:rPr>
              <a:t>Repo loan </a:t>
            </a:r>
          </a:p>
        </p:txBody>
      </p:sp>
      <p:sp>
        <p:nvSpPr>
          <p:cNvPr id="65" name="TextovéPole 35">
            <a:extLst>
              <a:ext uri="{FF2B5EF4-FFF2-40B4-BE49-F238E27FC236}">
                <a16:creationId xmlns:a16="http://schemas.microsoft.com/office/drawing/2014/main" id="{F944467A-9067-4AAE-C28E-1174AA19274D}"/>
              </a:ext>
            </a:extLst>
          </p:cNvPr>
          <p:cNvSpPr txBox="1"/>
          <p:nvPr/>
        </p:nvSpPr>
        <p:spPr>
          <a:xfrm>
            <a:off x="3995936" y="2886849"/>
            <a:ext cx="4464064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7030A0"/>
              </a:buClr>
            </a:pPr>
            <a:r>
              <a:rPr lang="en-GB" sz="1100" b="1" noProof="0">
                <a:latin typeface="Cambria Math" panose="02040503050406030204" pitchFamily="18" charset="0"/>
                <a:ea typeface="Cambria Math" panose="02040503050406030204" pitchFamily="18" charset="0"/>
              </a:rPr>
              <a:t>Implied repo loan</a:t>
            </a:r>
          </a:p>
        </p:txBody>
      </p:sp>
      <p:grpSp>
        <p:nvGrpSpPr>
          <p:cNvPr id="67" name="Skupina 66">
            <a:extLst>
              <a:ext uri="{FF2B5EF4-FFF2-40B4-BE49-F238E27FC236}">
                <a16:creationId xmlns:a16="http://schemas.microsoft.com/office/drawing/2014/main" id="{1B6682D0-A69F-4B29-EEF4-195C3E967777}"/>
              </a:ext>
            </a:extLst>
          </p:cNvPr>
          <p:cNvGrpSpPr/>
          <p:nvPr/>
        </p:nvGrpSpPr>
        <p:grpSpPr>
          <a:xfrm>
            <a:off x="1096334" y="3128773"/>
            <a:ext cx="2388074" cy="1094844"/>
            <a:chOff x="2393789" y="2222125"/>
            <a:chExt cx="2388074" cy="1094844"/>
          </a:xfrm>
        </p:grpSpPr>
        <p:grpSp>
          <p:nvGrpSpPr>
            <p:cNvPr id="78" name="Skupina 77">
              <a:extLst>
                <a:ext uri="{FF2B5EF4-FFF2-40B4-BE49-F238E27FC236}">
                  <a16:creationId xmlns:a16="http://schemas.microsoft.com/office/drawing/2014/main" id="{ED43972E-F500-B7B7-B760-31653B3C96B9}"/>
                </a:ext>
              </a:extLst>
            </p:cNvPr>
            <p:cNvGrpSpPr/>
            <p:nvPr/>
          </p:nvGrpSpPr>
          <p:grpSpPr>
            <a:xfrm>
              <a:off x="2393789" y="2594620"/>
              <a:ext cx="864000" cy="360000"/>
              <a:chOff x="1682694" y="2378596"/>
              <a:chExt cx="864000" cy="360000"/>
            </a:xfrm>
          </p:grpSpPr>
          <p:sp>
            <p:nvSpPr>
              <p:cNvPr id="100" name="Obdélník 99">
                <a:extLst>
                  <a:ext uri="{FF2B5EF4-FFF2-40B4-BE49-F238E27FC236}">
                    <a16:creationId xmlns:a16="http://schemas.microsoft.com/office/drawing/2014/main" id="{71F7626D-0087-B8EE-887B-BF75357D42DA}"/>
                  </a:ext>
                </a:extLst>
              </p:cNvPr>
              <p:cNvSpPr/>
              <p:nvPr/>
            </p:nvSpPr>
            <p:spPr>
              <a:xfrm>
                <a:off x="1682694" y="2378596"/>
                <a:ext cx="864000" cy="360000"/>
              </a:xfrm>
              <a:prstGeom prst="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 dirty="0"/>
              </a:p>
            </p:txBody>
          </p:sp>
          <p:sp>
            <p:nvSpPr>
              <p:cNvPr id="105" name="TextovéPole 104">
                <a:extLst>
                  <a:ext uri="{FF2B5EF4-FFF2-40B4-BE49-F238E27FC236}">
                    <a16:creationId xmlns:a16="http://schemas.microsoft.com/office/drawing/2014/main" id="{27D50E8A-525C-7AF2-CBB4-95E252FB42F7}"/>
                  </a:ext>
                </a:extLst>
              </p:cNvPr>
              <p:cNvSpPr txBox="1"/>
              <p:nvPr/>
            </p:nvSpPr>
            <p:spPr>
              <a:xfrm>
                <a:off x="1693578" y="2442769"/>
                <a:ext cx="83894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000" b="1" dirty="0">
                    <a:solidFill>
                      <a:schemeClr val="bg1"/>
                    </a:solidFill>
                    <a:latin typeface="Cambria Math"/>
                    <a:ea typeface="Cambria Math" panose="02040503050406030204" pitchFamily="18" charset="0"/>
                  </a:rPr>
                  <a:t>Repo  buyer</a:t>
                </a:r>
              </a:p>
            </p:txBody>
          </p:sp>
        </p:grpSp>
        <p:grpSp>
          <p:nvGrpSpPr>
            <p:cNvPr id="79" name="Skupina 78">
              <a:extLst>
                <a:ext uri="{FF2B5EF4-FFF2-40B4-BE49-F238E27FC236}">
                  <a16:creationId xmlns:a16="http://schemas.microsoft.com/office/drawing/2014/main" id="{ED746063-5871-3870-7632-4B6B569CCE7B}"/>
                </a:ext>
              </a:extLst>
            </p:cNvPr>
            <p:cNvGrpSpPr/>
            <p:nvPr/>
          </p:nvGrpSpPr>
          <p:grpSpPr>
            <a:xfrm>
              <a:off x="3891782" y="2594620"/>
              <a:ext cx="890081" cy="360000"/>
              <a:chOff x="4116791" y="2378596"/>
              <a:chExt cx="890081" cy="360000"/>
            </a:xfrm>
          </p:grpSpPr>
          <p:sp>
            <p:nvSpPr>
              <p:cNvPr id="98" name="Obdélník 97">
                <a:extLst>
                  <a:ext uri="{FF2B5EF4-FFF2-40B4-BE49-F238E27FC236}">
                    <a16:creationId xmlns:a16="http://schemas.microsoft.com/office/drawing/2014/main" id="{6C44CA9F-EDDC-B6F4-AD16-7CB75A67D4CA}"/>
                  </a:ext>
                </a:extLst>
              </p:cNvPr>
              <p:cNvSpPr/>
              <p:nvPr/>
            </p:nvSpPr>
            <p:spPr>
              <a:xfrm>
                <a:off x="4130967" y="2378596"/>
                <a:ext cx="864000" cy="360000"/>
              </a:xfrm>
              <a:prstGeom prst="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 dirty="0"/>
              </a:p>
            </p:txBody>
          </p:sp>
          <p:sp>
            <p:nvSpPr>
              <p:cNvPr id="99" name="TextovéPole 98">
                <a:extLst>
                  <a:ext uri="{FF2B5EF4-FFF2-40B4-BE49-F238E27FC236}">
                    <a16:creationId xmlns:a16="http://schemas.microsoft.com/office/drawing/2014/main" id="{AE070AE1-A51B-C511-457A-670D63DFA316}"/>
                  </a:ext>
                </a:extLst>
              </p:cNvPr>
              <p:cNvSpPr txBox="1"/>
              <p:nvPr/>
            </p:nvSpPr>
            <p:spPr>
              <a:xfrm>
                <a:off x="4116791" y="2442769"/>
                <a:ext cx="89008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000" b="1" dirty="0">
                    <a:solidFill>
                      <a:schemeClr val="bg1"/>
                    </a:solidFill>
                    <a:latin typeface="Cambria Math"/>
                    <a:ea typeface="Cambria Math" panose="02040503050406030204" pitchFamily="18" charset="0"/>
                  </a:rPr>
                  <a:t>Repo market</a:t>
                </a:r>
              </a:p>
            </p:txBody>
          </p:sp>
        </p:grpSp>
        <p:sp>
          <p:nvSpPr>
            <p:cNvPr id="80" name="Volný tvar 79">
              <a:extLst>
                <a:ext uri="{FF2B5EF4-FFF2-40B4-BE49-F238E27FC236}">
                  <a16:creationId xmlns:a16="http://schemas.microsoft.com/office/drawing/2014/main" id="{658DF3A2-3DEE-D21F-2907-3440C907F23E}"/>
                </a:ext>
              </a:extLst>
            </p:cNvPr>
            <p:cNvSpPr/>
            <p:nvPr/>
          </p:nvSpPr>
          <p:spPr>
            <a:xfrm>
              <a:off x="2502818" y="2262236"/>
              <a:ext cx="2160000" cy="324000"/>
            </a:xfrm>
            <a:custGeom>
              <a:avLst/>
              <a:gdLst>
                <a:gd name="connsiteX0" fmla="*/ 0 w 2162175"/>
                <a:gd name="connsiteY0" fmla="*/ 733425 h 742950"/>
                <a:gd name="connsiteX1" fmla="*/ 0 w 2162175"/>
                <a:gd name="connsiteY1" fmla="*/ 0 h 742950"/>
                <a:gd name="connsiteX2" fmla="*/ 2162175 w 2162175"/>
                <a:gd name="connsiteY2" fmla="*/ 0 h 742950"/>
                <a:gd name="connsiteX3" fmla="*/ 2162175 w 2162175"/>
                <a:gd name="connsiteY3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2175" h="742950">
                  <a:moveTo>
                    <a:pt x="0" y="733425"/>
                  </a:moveTo>
                  <a:lnTo>
                    <a:pt x="0" y="0"/>
                  </a:lnTo>
                  <a:lnTo>
                    <a:pt x="2162175" y="0"/>
                  </a:lnTo>
                  <a:lnTo>
                    <a:pt x="2162175" y="742950"/>
                  </a:lnTo>
                </a:path>
              </a:pathLst>
            </a:custGeom>
            <a:noFill/>
            <a:ln w="25400">
              <a:solidFill>
                <a:schemeClr val="accent1"/>
              </a:solidFill>
              <a:headEnd type="triangle"/>
              <a:tailEnd type="non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82" name="Volný tvar 81">
              <a:extLst>
                <a:ext uri="{FF2B5EF4-FFF2-40B4-BE49-F238E27FC236}">
                  <a16:creationId xmlns:a16="http://schemas.microsoft.com/office/drawing/2014/main" id="{2AC3F113-667A-29E7-B03B-03C61F67DB95}"/>
                </a:ext>
              </a:extLst>
            </p:cNvPr>
            <p:cNvSpPr/>
            <p:nvPr/>
          </p:nvSpPr>
          <p:spPr>
            <a:xfrm>
              <a:off x="3045498" y="2430497"/>
              <a:ext cx="1080000" cy="144000"/>
            </a:xfrm>
            <a:custGeom>
              <a:avLst/>
              <a:gdLst>
                <a:gd name="connsiteX0" fmla="*/ 0 w 2162175"/>
                <a:gd name="connsiteY0" fmla="*/ 733425 h 742950"/>
                <a:gd name="connsiteX1" fmla="*/ 0 w 2162175"/>
                <a:gd name="connsiteY1" fmla="*/ 0 h 742950"/>
                <a:gd name="connsiteX2" fmla="*/ 2162175 w 2162175"/>
                <a:gd name="connsiteY2" fmla="*/ 0 h 742950"/>
                <a:gd name="connsiteX3" fmla="*/ 2162175 w 2162175"/>
                <a:gd name="connsiteY3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2175" h="742950">
                  <a:moveTo>
                    <a:pt x="0" y="733425"/>
                  </a:moveTo>
                  <a:lnTo>
                    <a:pt x="0" y="0"/>
                  </a:lnTo>
                  <a:lnTo>
                    <a:pt x="2162175" y="0"/>
                  </a:lnTo>
                  <a:lnTo>
                    <a:pt x="2162175" y="742950"/>
                  </a:lnTo>
                </a:path>
              </a:pathLst>
            </a:custGeom>
            <a:noFill/>
            <a:ln w="25400">
              <a:solidFill>
                <a:schemeClr val="accent1"/>
              </a:solidFill>
              <a:headEnd type="none" w="lg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85" name="Volný tvar 84">
              <a:extLst>
                <a:ext uri="{FF2B5EF4-FFF2-40B4-BE49-F238E27FC236}">
                  <a16:creationId xmlns:a16="http://schemas.microsoft.com/office/drawing/2014/main" id="{2B50E014-CDD6-E573-F0B4-D792BBF6B86C}"/>
                </a:ext>
              </a:extLst>
            </p:cNvPr>
            <p:cNvSpPr/>
            <p:nvPr/>
          </p:nvSpPr>
          <p:spPr>
            <a:xfrm>
              <a:off x="2566406" y="2898569"/>
              <a:ext cx="2160000" cy="324000"/>
            </a:xfrm>
            <a:custGeom>
              <a:avLst/>
              <a:gdLst>
                <a:gd name="connsiteX0" fmla="*/ 0 w 2162175"/>
                <a:gd name="connsiteY0" fmla="*/ 733425 h 742950"/>
                <a:gd name="connsiteX1" fmla="*/ 0 w 2162175"/>
                <a:gd name="connsiteY1" fmla="*/ 0 h 742950"/>
                <a:gd name="connsiteX2" fmla="*/ 2162175 w 2162175"/>
                <a:gd name="connsiteY2" fmla="*/ 0 h 742950"/>
                <a:gd name="connsiteX3" fmla="*/ 2162175 w 2162175"/>
                <a:gd name="connsiteY3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2175" h="742950">
                  <a:moveTo>
                    <a:pt x="0" y="733425"/>
                  </a:moveTo>
                  <a:lnTo>
                    <a:pt x="0" y="0"/>
                  </a:lnTo>
                  <a:lnTo>
                    <a:pt x="2162175" y="0"/>
                  </a:lnTo>
                  <a:lnTo>
                    <a:pt x="2162175" y="742950"/>
                  </a:lnTo>
                </a:path>
              </a:pathLst>
            </a:custGeom>
            <a:noFill/>
            <a:ln w="25400">
              <a:solidFill>
                <a:schemeClr val="accent1"/>
              </a:solidFill>
              <a:headEnd type="triangle"/>
              <a:tailEnd type="none" w="lg" len="med"/>
            </a:ln>
            <a:scene3d>
              <a:camera prst="orthographicFront">
                <a:rot lat="0" lon="0" rev="10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86" name="Volný tvar 85">
              <a:extLst>
                <a:ext uri="{FF2B5EF4-FFF2-40B4-BE49-F238E27FC236}">
                  <a16:creationId xmlns:a16="http://schemas.microsoft.com/office/drawing/2014/main" id="{050EE433-B8E9-B320-803C-2847CC3A01E6}"/>
                </a:ext>
              </a:extLst>
            </p:cNvPr>
            <p:cNvSpPr/>
            <p:nvPr/>
          </p:nvSpPr>
          <p:spPr>
            <a:xfrm>
              <a:off x="2984030" y="2899113"/>
              <a:ext cx="1080000" cy="144000"/>
            </a:xfrm>
            <a:custGeom>
              <a:avLst/>
              <a:gdLst>
                <a:gd name="connsiteX0" fmla="*/ 0 w 2162175"/>
                <a:gd name="connsiteY0" fmla="*/ 733425 h 742950"/>
                <a:gd name="connsiteX1" fmla="*/ 0 w 2162175"/>
                <a:gd name="connsiteY1" fmla="*/ 0 h 742950"/>
                <a:gd name="connsiteX2" fmla="*/ 2162175 w 2162175"/>
                <a:gd name="connsiteY2" fmla="*/ 0 h 742950"/>
                <a:gd name="connsiteX3" fmla="*/ 2162175 w 2162175"/>
                <a:gd name="connsiteY3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2175" h="742950">
                  <a:moveTo>
                    <a:pt x="0" y="733425"/>
                  </a:moveTo>
                  <a:lnTo>
                    <a:pt x="0" y="0"/>
                  </a:lnTo>
                  <a:lnTo>
                    <a:pt x="2162175" y="0"/>
                  </a:lnTo>
                  <a:lnTo>
                    <a:pt x="2162175" y="742950"/>
                  </a:lnTo>
                </a:path>
              </a:pathLst>
            </a:custGeom>
            <a:noFill/>
            <a:ln w="25400">
              <a:solidFill>
                <a:schemeClr val="accent1"/>
              </a:solidFill>
              <a:headEnd type="none" w="lg" len="med"/>
              <a:tailEnd type="triangle" w="med" len="med"/>
            </a:ln>
            <a:scene3d>
              <a:camera prst="orthographicFront">
                <a:rot lat="0" lon="0" rev="10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87" name="TextovéPole 86">
              <a:extLst>
                <a:ext uri="{FF2B5EF4-FFF2-40B4-BE49-F238E27FC236}">
                  <a16:creationId xmlns:a16="http://schemas.microsoft.com/office/drawing/2014/main" id="{2FBC7798-49EF-B0B4-FBEF-33CB4D8381E3}"/>
                </a:ext>
              </a:extLst>
            </p:cNvPr>
            <p:cNvSpPr txBox="1"/>
            <p:nvPr/>
          </p:nvSpPr>
          <p:spPr>
            <a:xfrm>
              <a:off x="2443406" y="2222125"/>
              <a:ext cx="9490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b="1" dirty="0">
                  <a:latin typeface="Cambria Math"/>
                  <a:ea typeface="Cambria Math" panose="02040503050406030204" pitchFamily="18" charset="0"/>
                </a:rPr>
                <a:t>Bond collateral</a:t>
              </a:r>
            </a:p>
          </p:txBody>
        </p:sp>
        <p:sp>
          <p:nvSpPr>
            <p:cNvPr id="90" name="TextovéPole 89">
              <a:extLst>
                <a:ext uri="{FF2B5EF4-FFF2-40B4-BE49-F238E27FC236}">
                  <a16:creationId xmlns:a16="http://schemas.microsoft.com/office/drawing/2014/main" id="{FDB8A718-C6AB-CF57-5221-F8BB061585FA}"/>
                </a:ext>
              </a:extLst>
            </p:cNvPr>
            <p:cNvSpPr txBox="1"/>
            <p:nvPr/>
          </p:nvSpPr>
          <p:spPr>
            <a:xfrm>
              <a:off x="3646278" y="2396271"/>
              <a:ext cx="48954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cs-CZ" sz="800" b="1" dirty="0">
                  <a:latin typeface="Cambria Math"/>
                  <a:ea typeface="Cambria Math" panose="02040503050406030204" pitchFamily="18" charset="0"/>
                </a:rPr>
                <a:t>Cash </a:t>
              </a:r>
              <a:endParaRPr lang="en-GB" sz="800" b="1" dirty="0">
                <a:latin typeface="Cambria Math"/>
                <a:ea typeface="Cambria Math" panose="02040503050406030204" pitchFamily="18" charset="0"/>
              </a:endParaRPr>
            </a:p>
          </p:txBody>
        </p:sp>
        <p:sp>
          <p:nvSpPr>
            <p:cNvPr id="96" name="TextovéPole 95">
              <a:extLst>
                <a:ext uri="{FF2B5EF4-FFF2-40B4-BE49-F238E27FC236}">
                  <a16:creationId xmlns:a16="http://schemas.microsoft.com/office/drawing/2014/main" id="{017805FF-0C55-F9A0-E8A1-80DEA0BFC57B}"/>
                </a:ext>
              </a:extLst>
            </p:cNvPr>
            <p:cNvSpPr txBox="1"/>
            <p:nvPr/>
          </p:nvSpPr>
          <p:spPr>
            <a:xfrm>
              <a:off x="4230558" y="3101525"/>
              <a:ext cx="46739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b="1" dirty="0">
                  <a:latin typeface="Cambria Math"/>
                  <a:ea typeface="Cambria Math" panose="02040503050406030204" pitchFamily="18" charset="0"/>
                </a:rPr>
                <a:t>Bond</a:t>
              </a:r>
            </a:p>
          </p:txBody>
        </p:sp>
        <p:sp>
          <p:nvSpPr>
            <p:cNvPr id="97" name="TextovéPole 96">
              <a:extLst>
                <a:ext uri="{FF2B5EF4-FFF2-40B4-BE49-F238E27FC236}">
                  <a16:creationId xmlns:a16="http://schemas.microsoft.com/office/drawing/2014/main" id="{2D507C74-7006-F59A-B2D1-4F69F0A6574C}"/>
                </a:ext>
              </a:extLst>
            </p:cNvPr>
            <p:cNvSpPr txBox="1"/>
            <p:nvPr/>
          </p:nvSpPr>
          <p:spPr>
            <a:xfrm>
              <a:off x="3013190" y="2929433"/>
              <a:ext cx="108791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b="1" dirty="0">
                  <a:latin typeface="Cambria Math"/>
                  <a:ea typeface="Cambria Math" panose="02040503050406030204" pitchFamily="18" charset="0"/>
                </a:rPr>
                <a:t>Cash (1+repo rate) </a:t>
              </a:r>
            </a:p>
          </p:txBody>
        </p:sp>
      </p:grpSp>
      <p:grpSp>
        <p:nvGrpSpPr>
          <p:cNvPr id="7" name="Skupina 6">
            <a:extLst>
              <a:ext uri="{FF2B5EF4-FFF2-40B4-BE49-F238E27FC236}">
                <a16:creationId xmlns:a16="http://schemas.microsoft.com/office/drawing/2014/main" id="{B55A8E1D-4CB9-9362-5626-17BEF159A0C1}"/>
              </a:ext>
            </a:extLst>
          </p:cNvPr>
          <p:cNvGrpSpPr/>
          <p:nvPr/>
        </p:nvGrpSpPr>
        <p:grpSpPr>
          <a:xfrm>
            <a:off x="3872678" y="3125937"/>
            <a:ext cx="4659378" cy="1089464"/>
            <a:chOff x="4067944" y="2644000"/>
            <a:chExt cx="4659378" cy="1089464"/>
          </a:xfrm>
        </p:grpSpPr>
        <p:sp>
          <p:nvSpPr>
            <p:cNvPr id="91" name="Volný tvar 90">
              <a:extLst>
                <a:ext uri="{FF2B5EF4-FFF2-40B4-BE49-F238E27FC236}">
                  <a16:creationId xmlns:a16="http://schemas.microsoft.com/office/drawing/2014/main" id="{392F9CEF-4F2E-7A19-00BB-FB4762374EB6}"/>
                </a:ext>
              </a:extLst>
            </p:cNvPr>
            <p:cNvSpPr/>
            <p:nvPr/>
          </p:nvSpPr>
          <p:spPr>
            <a:xfrm>
              <a:off x="6016992" y="2819854"/>
              <a:ext cx="1872208" cy="216000"/>
            </a:xfrm>
            <a:custGeom>
              <a:avLst/>
              <a:gdLst>
                <a:gd name="connsiteX0" fmla="*/ 0 w 2162175"/>
                <a:gd name="connsiteY0" fmla="*/ 733425 h 742950"/>
                <a:gd name="connsiteX1" fmla="*/ 0 w 2162175"/>
                <a:gd name="connsiteY1" fmla="*/ 0 h 742950"/>
                <a:gd name="connsiteX2" fmla="*/ 2162175 w 2162175"/>
                <a:gd name="connsiteY2" fmla="*/ 0 h 742950"/>
                <a:gd name="connsiteX3" fmla="*/ 2162175 w 2162175"/>
                <a:gd name="connsiteY3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2175" h="742950">
                  <a:moveTo>
                    <a:pt x="0" y="733425"/>
                  </a:moveTo>
                  <a:lnTo>
                    <a:pt x="0" y="0"/>
                  </a:lnTo>
                  <a:lnTo>
                    <a:pt x="2162175" y="0"/>
                  </a:lnTo>
                  <a:lnTo>
                    <a:pt x="2162175" y="742950"/>
                  </a:lnTo>
                </a:path>
              </a:pathLst>
            </a:custGeom>
            <a:noFill/>
            <a:ln w="25400">
              <a:solidFill>
                <a:schemeClr val="accent1"/>
              </a:solidFill>
              <a:prstDash val="sysDash"/>
              <a:headEnd type="triangle"/>
              <a:tailEnd type="non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grpSp>
          <p:nvGrpSpPr>
            <p:cNvPr id="107" name="Skupina 106">
              <a:extLst>
                <a:ext uri="{FF2B5EF4-FFF2-40B4-BE49-F238E27FC236}">
                  <a16:creationId xmlns:a16="http://schemas.microsoft.com/office/drawing/2014/main" id="{18B96DE1-408A-09E1-9F80-86C5776E56D8}"/>
                </a:ext>
              </a:extLst>
            </p:cNvPr>
            <p:cNvGrpSpPr/>
            <p:nvPr/>
          </p:nvGrpSpPr>
          <p:grpSpPr>
            <a:xfrm>
              <a:off x="5380616" y="3018203"/>
              <a:ext cx="864000" cy="360000"/>
              <a:chOff x="1682694" y="2378596"/>
              <a:chExt cx="864000" cy="360000"/>
            </a:xfrm>
          </p:grpSpPr>
          <p:sp>
            <p:nvSpPr>
              <p:cNvPr id="119" name="Obdélník 118">
                <a:extLst>
                  <a:ext uri="{FF2B5EF4-FFF2-40B4-BE49-F238E27FC236}">
                    <a16:creationId xmlns:a16="http://schemas.microsoft.com/office/drawing/2014/main" id="{203DDFB6-A808-87AE-B73B-9AFD4D192D86}"/>
                  </a:ext>
                </a:extLst>
              </p:cNvPr>
              <p:cNvSpPr/>
              <p:nvPr/>
            </p:nvSpPr>
            <p:spPr>
              <a:xfrm>
                <a:off x="1682694" y="2378596"/>
                <a:ext cx="864000" cy="360000"/>
              </a:xfrm>
              <a:prstGeom prst="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 dirty="0"/>
              </a:p>
            </p:txBody>
          </p:sp>
          <p:sp>
            <p:nvSpPr>
              <p:cNvPr id="120" name="TextovéPole 119">
                <a:extLst>
                  <a:ext uri="{FF2B5EF4-FFF2-40B4-BE49-F238E27FC236}">
                    <a16:creationId xmlns:a16="http://schemas.microsoft.com/office/drawing/2014/main" id="{938C9985-6F55-FEF3-3D89-EDA4614239D5}"/>
                  </a:ext>
                </a:extLst>
              </p:cNvPr>
              <p:cNvSpPr txBox="1"/>
              <p:nvPr/>
            </p:nvSpPr>
            <p:spPr>
              <a:xfrm>
                <a:off x="1707754" y="2442769"/>
                <a:ext cx="81596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000" b="1" dirty="0">
                    <a:solidFill>
                      <a:schemeClr val="bg1"/>
                    </a:solidFill>
                    <a:latin typeface="Cambria Math"/>
                    <a:ea typeface="Cambria Math" panose="02040503050406030204" pitchFamily="18" charset="0"/>
                  </a:rPr>
                  <a:t>The short</a:t>
                </a:r>
              </a:p>
            </p:txBody>
          </p:sp>
        </p:grpSp>
        <p:grpSp>
          <p:nvGrpSpPr>
            <p:cNvPr id="9" name="Skupina 8">
              <a:extLst>
                <a:ext uri="{FF2B5EF4-FFF2-40B4-BE49-F238E27FC236}">
                  <a16:creationId xmlns:a16="http://schemas.microsoft.com/office/drawing/2014/main" id="{9157045C-B94C-1D3B-B7FA-8A1C63115D56}"/>
                </a:ext>
              </a:extLst>
            </p:cNvPr>
            <p:cNvGrpSpPr/>
            <p:nvPr/>
          </p:nvGrpSpPr>
          <p:grpSpPr>
            <a:xfrm>
              <a:off x="6459729" y="3018203"/>
              <a:ext cx="1079903" cy="360000"/>
              <a:chOff x="6537481" y="3138699"/>
              <a:chExt cx="1079903" cy="360000"/>
            </a:xfrm>
          </p:grpSpPr>
          <p:sp>
            <p:nvSpPr>
              <p:cNvPr id="117" name="Obdélník 116">
                <a:extLst>
                  <a:ext uri="{FF2B5EF4-FFF2-40B4-BE49-F238E27FC236}">
                    <a16:creationId xmlns:a16="http://schemas.microsoft.com/office/drawing/2014/main" id="{17EF460A-500B-CC1B-559E-EE4120BB8ACA}"/>
                  </a:ext>
                </a:extLst>
              </p:cNvPr>
              <p:cNvSpPr/>
              <p:nvPr/>
            </p:nvSpPr>
            <p:spPr>
              <a:xfrm>
                <a:off x="6660233" y="3138699"/>
                <a:ext cx="864000" cy="360000"/>
              </a:xfrm>
              <a:prstGeom prst="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 dirty="0"/>
              </a:p>
            </p:txBody>
          </p:sp>
          <p:sp>
            <p:nvSpPr>
              <p:cNvPr id="118" name="TextovéPole 117">
                <a:extLst>
                  <a:ext uri="{FF2B5EF4-FFF2-40B4-BE49-F238E27FC236}">
                    <a16:creationId xmlns:a16="http://schemas.microsoft.com/office/drawing/2014/main" id="{C1151D46-780A-8DBD-7D02-20611E84222A}"/>
                  </a:ext>
                </a:extLst>
              </p:cNvPr>
              <p:cNvSpPr txBox="1"/>
              <p:nvPr/>
            </p:nvSpPr>
            <p:spPr>
              <a:xfrm>
                <a:off x="6537481" y="3202872"/>
                <a:ext cx="107990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cs-CZ" sz="1000" b="1" dirty="0">
                    <a:solidFill>
                      <a:schemeClr val="bg1"/>
                    </a:solidFill>
                    <a:latin typeface="Cambria Math"/>
                    <a:ea typeface="Cambria Math" panose="02040503050406030204" pitchFamily="18" charset="0"/>
                  </a:rPr>
                  <a:t>Bond</a:t>
                </a:r>
                <a:r>
                  <a:rPr lang="en-GB" sz="1000" b="1" dirty="0">
                    <a:solidFill>
                      <a:schemeClr val="bg1"/>
                    </a:solidFill>
                    <a:latin typeface="Cambria Math"/>
                    <a:ea typeface="Cambria Math" panose="02040503050406030204" pitchFamily="18" charset="0"/>
                  </a:rPr>
                  <a:t> market</a:t>
                </a:r>
              </a:p>
            </p:txBody>
          </p:sp>
        </p:grpSp>
        <p:sp>
          <p:nvSpPr>
            <p:cNvPr id="109" name="Volný tvar 108">
              <a:extLst>
                <a:ext uri="{FF2B5EF4-FFF2-40B4-BE49-F238E27FC236}">
                  <a16:creationId xmlns:a16="http://schemas.microsoft.com/office/drawing/2014/main" id="{BCBDFCD6-7965-21AD-E7DA-9D53A60E1B54}"/>
                </a:ext>
              </a:extLst>
            </p:cNvPr>
            <p:cNvSpPr/>
            <p:nvPr/>
          </p:nvSpPr>
          <p:spPr>
            <a:xfrm>
              <a:off x="5507139" y="2691632"/>
              <a:ext cx="1872208" cy="322872"/>
            </a:xfrm>
            <a:custGeom>
              <a:avLst/>
              <a:gdLst>
                <a:gd name="connsiteX0" fmla="*/ 0 w 2162175"/>
                <a:gd name="connsiteY0" fmla="*/ 733425 h 742950"/>
                <a:gd name="connsiteX1" fmla="*/ 0 w 2162175"/>
                <a:gd name="connsiteY1" fmla="*/ 0 h 742950"/>
                <a:gd name="connsiteX2" fmla="*/ 2162175 w 2162175"/>
                <a:gd name="connsiteY2" fmla="*/ 0 h 742950"/>
                <a:gd name="connsiteX3" fmla="*/ 2162175 w 2162175"/>
                <a:gd name="connsiteY3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2175" h="742950">
                  <a:moveTo>
                    <a:pt x="0" y="733425"/>
                  </a:moveTo>
                  <a:lnTo>
                    <a:pt x="0" y="0"/>
                  </a:lnTo>
                  <a:lnTo>
                    <a:pt x="2162175" y="0"/>
                  </a:lnTo>
                  <a:lnTo>
                    <a:pt x="2162175" y="742950"/>
                  </a:lnTo>
                </a:path>
              </a:pathLst>
            </a:custGeom>
            <a:noFill/>
            <a:ln w="25400">
              <a:solidFill>
                <a:schemeClr val="accent1"/>
              </a:solidFill>
              <a:headEnd type="triangle"/>
              <a:tailEnd type="non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10" name="Volný tvar 109">
              <a:extLst>
                <a:ext uri="{FF2B5EF4-FFF2-40B4-BE49-F238E27FC236}">
                  <a16:creationId xmlns:a16="http://schemas.microsoft.com/office/drawing/2014/main" id="{5DE74725-4D45-762C-2357-41A2FCCDA6E2}"/>
                </a:ext>
              </a:extLst>
            </p:cNvPr>
            <p:cNvSpPr/>
            <p:nvPr/>
          </p:nvSpPr>
          <p:spPr>
            <a:xfrm>
              <a:off x="6112803" y="2862280"/>
              <a:ext cx="697568" cy="142888"/>
            </a:xfrm>
            <a:custGeom>
              <a:avLst/>
              <a:gdLst>
                <a:gd name="connsiteX0" fmla="*/ 0 w 2162175"/>
                <a:gd name="connsiteY0" fmla="*/ 733425 h 742950"/>
                <a:gd name="connsiteX1" fmla="*/ 0 w 2162175"/>
                <a:gd name="connsiteY1" fmla="*/ 0 h 742950"/>
                <a:gd name="connsiteX2" fmla="*/ 2162175 w 2162175"/>
                <a:gd name="connsiteY2" fmla="*/ 0 h 742950"/>
                <a:gd name="connsiteX3" fmla="*/ 2162175 w 2162175"/>
                <a:gd name="connsiteY3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2175" h="742950">
                  <a:moveTo>
                    <a:pt x="0" y="733425"/>
                  </a:moveTo>
                  <a:lnTo>
                    <a:pt x="0" y="0"/>
                  </a:lnTo>
                  <a:lnTo>
                    <a:pt x="2162175" y="0"/>
                  </a:lnTo>
                  <a:lnTo>
                    <a:pt x="2162175" y="742950"/>
                  </a:lnTo>
                </a:path>
              </a:pathLst>
            </a:custGeom>
            <a:noFill/>
            <a:ln w="25400"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11" name="Volný tvar 110">
              <a:extLst>
                <a:ext uri="{FF2B5EF4-FFF2-40B4-BE49-F238E27FC236}">
                  <a16:creationId xmlns:a16="http://schemas.microsoft.com/office/drawing/2014/main" id="{F4FF2833-71FD-B430-AEFE-21F3BC00EACE}"/>
                </a:ext>
              </a:extLst>
            </p:cNvPr>
            <p:cNvSpPr/>
            <p:nvPr/>
          </p:nvSpPr>
          <p:spPr>
            <a:xfrm>
              <a:off x="4218083" y="3322680"/>
              <a:ext cx="1850916" cy="324000"/>
            </a:xfrm>
            <a:custGeom>
              <a:avLst/>
              <a:gdLst>
                <a:gd name="connsiteX0" fmla="*/ 0 w 2162175"/>
                <a:gd name="connsiteY0" fmla="*/ 733425 h 742950"/>
                <a:gd name="connsiteX1" fmla="*/ 0 w 2162175"/>
                <a:gd name="connsiteY1" fmla="*/ 0 h 742950"/>
                <a:gd name="connsiteX2" fmla="*/ 2162175 w 2162175"/>
                <a:gd name="connsiteY2" fmla="*/ 0 h 742950"/>
                <a:gd name="connsiteX3" fmla="*/ 2162175 w 2162175"/>
                <a:gd name="connsiteY3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2175" h="742950">
                  <a:moveTo>
                    <a:pt x="0" y="733425"/>
                  </a:moveTo>
                  <a:lnTo>
                    <a:pt x="0" y="0"/>
                  </a:lnTo>
                  <a:lnTo>
                    <a:pt x="2162175" y="0"/>
                  </a:lnTo>
                  <a:lnTo>
                    <a:pt x="2162175" y="742950"/>
                  </a:lnTo>
                </a:path>
              </a:pathLst>
            </a:custGeom>
            <a:noFill/>
            <a:ln w="25400">
              <a:solidFill>
                <a:schemeClr val="accent1"/>
              </a:solidFill>
              <a:headEnd type="none"/>
              <a:tailEnd type="triangle" w="med" len="med"/>
            </a:ln>
            <a:scene3d>
              <a:camera prst="orthographicFront">
                <a:rot lat="0" lon="0" rev="10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12" name="Volný tvar 111">
              <a:extLst>
                <a:ext uri="{FF2B5EF4-FFF2-40B4-BE49-F238E27FC236}">
                  <a16:creationId xmlns:a16="http://schemas.microsoft.com/office/drawing/2014/main" id="{4B83D3BF-EAE5-2D7F-C95D-5214EA1B6323}"/>
                </a:ext>
              </a:extLst>
            </p:cNvPr>
            <p:cNvSpPr/>
            <p:nvPr/>
          </p:nvSpPr>
          <p:spPr>
            <a:xfrm>
              <a:off x="4896659" y="3322696"/>
              <a:ext cx="709712" cy="151362"/>
            </a:xfrm>
            <a:custGeom>
              <a:avLst/>
              <a:gdLst>
                <a:gd name="connsiteX0" fmla="*/ 0 w 2162175"/>
                <a:gd name="connsiteY0" fmla="*/ 733425 h 742950"/>
                <a:gd name="connsiteX1" fmla="*/ 0 w 2162175"/>
                <a:gd name="connsiteY1" fmla="*/ 0 h 742950"/>
                <a:gd name="connsiteX2" fmla="*/ 2162175 w 2162175"/>
                <a:gd name="connsiteY2" fmla="*/ 0 h 742950"/>
                <a:gd name="connsiteX3" fmla="*/ 2162175 w 2162175"/>
                <a:gd name="connsiteY3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2175" h="742950">
                  <a:moveTo>
                    <a:pt x="0" y="733425"/>
                  </a:moveTo>
                  <a:lnTo>
                    <a:pt x="0" y="0"/>
                  </a:lnTo>
                  <a:lnTo>
                    <a:pt x="2162175" y="0"/>
                  </a:lnTo>
                  <a:lnTo>
                    <a:pt x="2162175" y="742950"/>
                  </a:lnTo>
                </a:path>
              </a:pathLst>
            </a:custGeom>
            <a:noFill/>
            <a:ln w="25400">
              <a:solidFill>
                <a:schemeClr val="accent1"/>
              </a:solidFill>
              <a:headEnd type="triangle" w="med" len="med"/>
              <a:tailEnd type="none" w="med" len="med"/>
            </a:ln>
            <a:scene3d>
              <a:camera prst="orthographicFront">
                <a:rot lat="0" lon="0" rev="10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13" name="TextovéPole 112">
              <a:extLst>
                <a:ext uri="{FF2B5EF4-FFF2-40B4-BE49-F238E27FC236}">
                  <a16:creationId xmlns:a16="http://schemas.microsoft.com/office/drawing/2014/main" id="{1B9D0E4A-30B6-60F0-8576-F30B2708BBAD}"/>
                </a:ext>
              </a:extLst>
            </p:cNvPr>
            <p:cNvSpPr txBox="1"/>
            <p:nvPr/>
          </p:nvSpPr>
          <p:spPr>
            <a:xfrm>
              <a:off x="5455988" y="2645708"/>
              <a:ext cx="9490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b="1" dirty="0">
                  <a:latin typeface="Cambria Math"/>
                  <a:ea typeface="Cambria Math" panose="02040503050406030204" pitchFamily="18" charset="0"/>
                </a:rPr>
                <a:t>Bond purchase</a:t>
              </a:r>
            </a:p>
          </p:txBody>
        </p:sp>
        <p:sp>
          <p:nvSpPr>
            <p:cNvPr id="114" name="TextovéPole 113">
              <a:extLst>
                <a:ext uri="{FF2B5EF4-FFF2-40B4-BE49-F238E27FC236}">
                  <a16:creationId xmlns:a16="http://schemas.microsoft.com/office/drawing/2014/main" id="{CD5E9267-8619-F18F-1B10-BA93ABD19670}"/>
                </a:ext>
              </a:extLst>
            </p:cNvPr>
            <p:cNvSpPr txBox="1"/>
            <p:nvPr/>
          </p:nvSpPr>
          <p:spPr>
            <a:xfrm>
              <a:off x="5990855" y="2826942"/>
              <a:ext cx="79225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b="1" dirty="0">
                  <a:latin typeface="Cambria Math"/>
                  <a:ea typeface="Cambria Math" panose="02040503050406030204" pitchFamily="18" charset="0"/>
                </a:rPr>
                <a:t>Cash outflow </a:t>
              </a:r>
            </a:p>
          </p:txBody>
        </p:sp>
        <p:sp>
          <p:nvSpPr>
            <p:cNvPr id="115" name="TextovéPole 114">
              <a:extLst>
                <a:ext uri="{FF2B5EF4-FFF2-40B4-BE49-F238E27FC236}">
                  <a16:creationId xmlns:a16="http://schemas.microsoft.com/office/drawing/2014/main" id="{1AB1F841-B9F9-5D9C-53F6-FCE7DF8D9F39}"/>
                </a:ext>
              </a:extLst>
            </p:cNvPr>
            <p:cNvSpPr txBox="1"/>
            <p:nvPr/>
          </p:nvSpPr>
          <p:spPr>
            <a:xfrm>
              <a:off x="4232068" y="3518020"/>
              <a:ext cx="9351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b="1" dirty="0">
                  <a:latin typeface="Cambria Math"/>
                  <a:ea typeface="Cambria Math" panose="02040503050406030204" pitchFamily="18" charset="0"/>
                </a:rPr>
                <a:t>Bond delivery</a:t>
              </a:r>
            </a:p>
          </p:txBody>
        </p:sp>
        <p:sp>
          <p:nvSpPr>
            <p:cNvPr id="116" name="TextovéPole 115">
              <a:extLst>
                <a:ext uri="{FF2B5EF4-FFF2-40B4-BE49-F238E27FC236}">
                  <a16:creationId xmlns:a16="http://schemas.microsoft.com/office/drawing/2014/main" id="{6A7F9872-05C2-EF97-1BFD-F3A3CE60D501}"/>
                </a:ext>
              </a:extLst>
            </p:cNvPr>
            <p:cNvSpPr txBox="1"/>
            <p:nvPr/>
          </p:nvSpPr>
          <p:spPr>
            <a:xfrm>
              <a:off x="4774976" y="3352740"/>
              <a:ext cx="77832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>
                  <a:latin typeface="Cambria Math"/>
                  <a:ea typeface="Cambria Math" panose="02040503050406030204" pitchFamily="18" charset="0"/>
                </a:rPr>
                <a:t>Cash inflow</a:t>
              </a:r>
            </a:p>
          </p:txBody>
        </p:sp>
        <p:sp>
          <p:nvSpPr>
            <p:cNvPr id="122" name="Obdélník 121">
              <a:extLst>
                <a:ext uri="{FF2B5EF4-FFF2-40B4-BE49-F238E27FC236}">
                  <a16:creationId xmlns:a16="http://schemas.microsoft.com/office/drawing/2014/main" id="{CD78C1B6-D8A1-61E5-75F4-C6AC271D384B}"/>
                </a:ext>
              </a:extLst>
            </p:cNvPr>
            <p:cNvSpPr/>
            <p:nvPr/>
          </p:nvSpPr>
          <p:spPr>
            <a:xfrm>
              <a:off x="4161216" y="3020472"/>
              <a:ext cx="864000" cy="360000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23" name="TextovéPole 122">
              <a:extLst>
                <a:ext uri="{FF2B5EF4-FFF2-40B4-BE49-F238E27FC236}">
                  <a16:creationId xmlns:a16="http://schemas.microsoft.com/office/drawing/2014/main" id="{AE59FDAE-3971-BC74-B077-22C446DFAA24}"/>
                </a:ext>
              </a:extLst>
            </p:cNvPr>
            <p:cNvSpPr txBox="1"/>
            <p:nvPr/>
          </p:nvSpPr>
          <p:spPr>
            <a:xfrm>
              <a:off x="4067944" y="3084645"/>
              <a:ext cx="100601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 b="1" dirty="0">
                  <a:solidFill>
                    <a:schemeClr val="bg1"/>
                  </a:solidFill>
                  <a:latin typeface="Cambria Math"/>
                  <a:ea typeface="Cambria Math" panose="02040503050406030204" pitchFamily="18" charset="0"/>
                </a:rPr>
                <a:t>Futures market</a:t>
              </a:r>
            </a:p>
          </p:txBody>
        </p:sp>
        <p:grpSp>
          <p:nvGrpSpPr>
            <p:cNvPr id="76" name="Skupina 75">
              <a:extLst>
                <a:ext uri="{FF2B5EF4-FFF2-40B4-BE49-F238E27FC236}">
                  <a16:creationId xmlns:a16="http://schemas.microsoft.com/office/drawing/2014/main" id="{4CDB7758-50C9-C561-D402-92D14D7953C6}"/>
                </a:ext>
              </a:extLst>
            </p:cNvPr>
            <p:cNvGrpSpPr/>
            <p:nvPr/>
          </p:nvGrpSpPr>
          <p:grpSpPr>
            <a:xfrm>
              <a:off x="7740570" y="3016800"/>
              <a:ext cx="986752" cy="360000"/>
              <a:chOff x="6601274" y="3138699"/>
              <a:chExt cx="986752" cy="360000"/>
            </a:xfrm>
          </p:grpSpPr>
          <p:sp>
            <p:nvSpPr>
              <p:cNvPr id="77" name="Obdélník 76">
                <a:extLst>
                  <a:ext uri="{FF2B5EF4-FFF2-40B4-BE49-F238E27FC236}">
                    <a16:creationId xmlns:a16="http://schemas.microsoft.com/office/drawing/2014/main" id="{258EB9C2-E76D-8F37-E2AD-7920D6CCF7EC}"/>
                  </a:ext>
                </a:extLst>
              </p:cNvPr>
              <p:cNvSpPr/>
              <p:nvPr/>
            </p:nvSpPr>
            <p:spPr>
              <a:xfrm>
                <a:off x="6660233" y="3138699"/>
                <a:ext cx="864000" cy="360000"/>
              </a:xfrm>
              <a:prstGeom prst="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 dirty="0"/>
              </a:p>
            </p:txBody>
          </p:sp>
          <p:sp>
            <p:nvSpPr>
              <p:cNvPr id="83" name="TextovéPole 82">
                <a:extLst>
                  <a:ext uri="{FF2B5EF4-FFF2-40B4-BE49-F238E27FC236}">
                    <a16:creationId xmlns:a16="http://schemas.microsoft.com/office/drawing/2014/main" id="{B363681E-653A-70B3-919A-E33956B0D598}"/>
                  </a:ext>
                </a:extLst>
              </p:cNvPr>
              <p:cNvSpPr txBox="1"/>
              <p:nvPr/>
            </p:nvSpPr>
            <p:spPr>
              <a:xfrm>
                <a:off x="6601274" y="3202872"/>
                <a:ext cx="98675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cs-CZ" sz="1000" b="1" dirty="0">
                    <a:solidFill>
                      <a:schemeClr val="bg1"/>
                    </a:solidFill>
                    <a:latin typeface="Cambria Math"/>
                    <a:ea typeface="Cambria Math" panose="02040503050406030204" pitchFamily="18" charset="0"/>
                  </a:rPr>
                  <a:t>Money</a:t>
                </a:r>
                <a:r>
                  <a:rPr lang="en-GB" sz="1000" b="1" dirty="0">
                    <a:solidFill>
                      <a:schemeClr val="bg1"/>
                    </a:solidFill>
                    <a:latin typeface="Cambria Math"/>
                    <a:ea typeface="Cambria Math" panose="02040503050406030204" pitchFamily="18" charset="0"/>
                  </a:rPr>
                  <a:t> market</a:t>
                </a:r>
              </a:p>
            </p:txBody>
          </p:sp>
        </p:grpSp>
        <p:sp>
          <p:nvSpPr>
            <p:cNvPr id="92" name="TextovéPole 91">
              <a:extLst>
                <a:ext uri="{FF2B5EF4-FFF2-40B4-BE49-F238E27FC236}">
                  <a16:creationId xmlns:a16="http://schemas.microsoft.com/office/drawing/2014/main" id="{119F8B5B-6B4F-C292-1D4D-CFB6E5DEBD2D}"/>
                </a:ext>
              </a:extLst>
            </p:cNvPr>
            <p:cNvSpPr txBox="1"/>
            <p:nvPr/>
          </p:nvSpPr>
          <p:spPr>
            <a:xfrm>
              <a:off x="7505514" y="2644000"/>
              <a:ext cx="44151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b="1" dirty="0">
                  <a:latin typeface="Cambria Math"/>
                  <a:ea typeface="Cambria Math" panose="02040503050406030204" pitchFamily="18" charset="0"/>
                </a:rPr>
                <a:t>Loan</a:t>
              </a:r>
            </a:p>
          </p:txBody>
        </p:sp>
        <p:sp>
          <p:nvSpPr>
            <p:cNvPr id="93" name="Volný tvar 92">
              <a:extLst>
                <a:ext uri="{FF2B5EF4-FFF2-40B4-BE49-F238E27FC236}">
                  <a16:creationId xmlns:a16="http://schemas.microsoft.com/office/drawing/2014/main" id="{B6DEAA20-26BA-4C74-D26C-1D40DE568D16}"/>
                </a:ext>
              </a:extLst>
            </p:cNvPr>
            <p:cNvSpPr/>
            <p:nvPr/>
          </p:nvSpPr>
          <p:spPr>
            <a:xfrm>
              <a:off x="6083068" y="3321576"/>
              <a:ext cx="1850916" cy="216000"/>
            </a:xfrm>
            <a:custGeom>
              <a:avLst/>
              <a:gdLst>
                <a:gd name="connsiteX0" fmla="*/ 0 w 2162175"/>
                <a:gd name="connsiteY0" fmla="*/ 733425 h 742950"/>
                <a:gd name="connsiteX1" fmla="*/ 0 w 2162175"/>
                <a:gd name="connsiteY1" fmla="*/ 0 h 742950"/>
                <a:gd name="connsiteX2" fmla="*/ 2162175 w 2162175"/>
                <a:gd name="connsiteY2" fmla="*/ 0 h 742950"/>
                <a:gd name="connsiteX3" fmla="*/ 2162175 w 2162175"/>
                <a:gd name="connsiteY3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62175" h="742950">
                  <a:moveTo>
                    <a:pt x="0" y="733425"/>
                  </a:moveTo>
                  <a:lnTo>
                    <a:pt x="0" y="0"/>
                  </a:lnTo>
                  <a:lnTo>
                    <a:pt x="2162175" y="0"/>
                  </a:lnTo>
                  <a:lnTo>
                    <a:pt x="2162175" y="742950"/>
                  </a:lnTo>
                </a:path>
              </a:pathLst>
            </a:custGeom>
            <a:noFill/>
            <a:ln w="25400">
              <a:solidFill>
                <a:schemeClr val="accent1"/>
              </a:solidFill>
              <a:prstDash val="sysDash"/>
              <a:headEnd type="triangle"/>
              <a:tailEnd type="none" w="med" len="med"/>
            </a:ln>
            <a:scene3d>
              <a:camera prst="orthographicFront">
                <a:rot lat="0" lon="0" rev="10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94" name="TextovéPole 93">
              <a:extLst>
                <a:ext uri="{FF2B5EF4-FFF2-40B4-BE49-F238E27FC236}">
                  <a16:creationId xmlns:a16="http://schemas.microsoft.com/office/drawing/2014/main" id="{ABF467C8-4F8E-EAFA-63A1-AAEC2FD69939}"/>
                </a:ext>
              </a:extLst>
            </p:cNvPr>
            <p:cNvSpPr txBox="1"/>
            <p:nvPr/>
          </p:nvSpPr>
          <p:spPr>
            <a:xfrm>
              <a:off x="7000136" y="3428698"/>
              <a:ext cx="9351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800" b="1" dirty="0">
                  <a:latin typeface="Cambria Math"/>
                  <a:ea typeface="Cambria Math" panose="02040503050406030204" pitchFamily="18" charset="0"/>
                </a:rPr>
                <a:t>Loan repayment</a:t>
              </a:r>
            </a:p>
          </p:txBody>
        </p:sp>
      </p:grpSp>
      <p:sp>
        <p:nvSpPr>
          <p:cNvPr id="6" name="TextovéPole 5">
            <a:extLst>
              <a:ext uri="{FF2B5EF4-FFF2-40B4-BE49-F238E27FC236}">
                <a16:creationId xmlns:a16="http://schemas.microsoft.com/office/drawing/2014/main" id="{2AC1FC1E-DDA4-0DE5-0AEF-AFC2A4415235}"/>
              </a:ext>
            </a:extLst>
          </p:cNvPr>
          <p:cNvSpPr txBox="1"/>
          <p:nvPr/>
        </p:nvSpPr>
        <p:spPr>
          <a:xfrm>
            <a:off x="1187999" y="4197269"/>
            <a:ext cx="599740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noProof="0" dirty="0">
                <a:latin typeface="Cambria Math" panose="02040503050406030204" pitchFamily="18" charset="0"/>
                <a:ea typeface="Cambria Math" panose="02040503050406030204" pitchFamily="18" charset="0"/>
              </a:rPr>
              <a:t>Initial cash outflow </a:t>
            </a: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(extension of </a:t>
            </a:r>
            <a:r>
              <a:rPr lang="en-GB" noProof="0" dirty="0">
                <a:latin typeface="Cambria Math" panose="02040503050406030204" pitchFamily="18" charset="0"/>
                <a:ea typeface="Cambria Math" panose="02040503050406030204" pitchFamily="18" charset="0"/>
              </a:rPr>
              <a:t>the implied repo loan)</a:t>
            </a:r>
          </a:p>
        </p:txBody>
      </p:sp>
      <p:sp>
        <p:nvSpPr>
          <p:cNvPr id="14" name="TextovéPole 35">
            <a:extLst>
              <a:ext uri="{FF2B5EF4-FFF2-40B4-BE49-F238E27FC236}">
                <a16:creationId xmlns:a16="http://schemas.microsoft.com/office/drawing/2014/main" id="{7569F6BE-39F8-CFE9-80C5-B613097536F4}"/>
              </a:ext>
            </a:extLst>
          </p:cNvPr>
          <p:cNvSpPr txBox="1"/>
          <p:nvPr/>
        </p:nvSpPr>
        <p:spPr>
          <a:xfrm>
            <a:off x="8004112" y="4668293"/>
            <a:ext cx="90000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>
              <a:buClr>
                <a:srgbClr val="7030A0"/>
              </a:buClr>
            </a:pPr>
            <a:r>
              <a:rPr lang="en-GB" sz="1400" noProof="0" dirty="0">
                <a:latin typeface="Cambria Math"/>
                <a:ea typeface="Cambria Math"/>
              </a:rPr>
              <a:t>Full price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1FF351C4-73FD-A7BF-AED6-C3B363B805ED}"/>
              </a:ext>
            </a:extLst>
          </p:cNvPr>
          <p:cNvSpPr txBox="1"/>
          <p:nvPr/>
        </p:nvSpPr>
        <p:spPr>
          <a:xfrm>
            <a:off x="1187624" y="4992472"/>
            <a:ext cx="621716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noProof="0" dirty="0">
                <a:latin typeface="Cambria Math" panose="02040503050406030204" pitchFamily="18" charset="0"/>
                <a:ea typeface="Cambria Math" panose="02040503050406030204" pitchFamily="18" charset="0"/>
              </a:rPr>
              <a:t>Terminal cash inflow (repayment of the implied repo loan</a:t>
            </a:r>
          </a:p>
        </p:txBody>
      </p:sp>
      <p:sp>
        <p:nvSpPr>
          <p:cNvPr id="19" name="TextovéPole 35">
            <a:extLst>
              <a:ext uri="{FF2B5EF4-FFF2-40B4-BE49-F238E27FC236}">
                <a16:creationId xmlns:a16="http://schemas.microsoft.com/office/drawing/2014/main" id="{F85D42AA-6F64-4A5F-EE43-B756292DF049}"/>
              </a:ext>
            </a:extLst>
          </p:cNvPr>
          <p:cNvSpPr txBox="1"/>
          <p:nvPr/>
        </p:nvSpPr>
        <p:spPr>
          <a:xfrm>
            <a:off x="1512000" y="4488416"/>
            <a:ext cx="539101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noProof="0" dirty="0">
                <a:latin typeface="Cambria Math"/>
                <a:ea typeface="Cambria Math"/>
              </a:rPr>
              <a:t>Purchasing the bond on the bond market at its clean price</a:t>
            </a:r>
            <a:endParaRPr lang="en-GB" sz="1600" noProof="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0" name="TextovéPole 35">
            <a:extLst>
              <a:ext uri="{FF2B5EF4-FFF2-40B4-BE49-F238E27FC236}">
                <a16:creationId xmlns:a16="http://schemas.microsoft.com/office/drawing/2014/main" id="{FDAD4F12-0309-1074-E3A2-6ACA56BCB203}"/>
              </a:ext>
            </a:extLst>
          </p:cNvPr>
          <p:cNvSpPr txBox="1"/>
          <p:nvPr/>
        </p:nvSpPr>
        <p:spPr>
          <a:xfrm>
            <a:off x="1512000" y="4735755"/>
            <a:ext cx="618301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noProof="0">
                <a:latin typeface="Cambria Math"/>
                <a:ea typeface="Cambria Math"/>
              </a:rPr>
              <a:t>Accrued coupon (compensation of the bond’s seller)</a:t>
            </a:r>
            <a:endParaRPr lang="en-GB" sz="1600" noProof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ovéPole 35">
                <a:extLst>
                  <a:ext uri="{FF2B5EF4-FFF2-40B4-BE49-F238E27FC236}">
                    <a16:creationId xmlns:a16="http://schemas.microsoft.com/office/drawing/2014/main" id="{AC6578E1-7D2A-A196-02D9-D69FAE42E60F}"/>
                  </a:ext>
                </a:extLst>
              </p:cNvPr>
              <p:cNvSpPr txBox="1"/>
              <p:nvPr/>
            </p:nvSpPr>
            <p:spPr>
              <a:xfrm>
                <a:off x="1512000" y="5264863"/>
                <a:ext cx="640800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80000" indent="-180000">
                  <a:buClr>
                    <a:srgbClr val="7030A0"/>
                  </a:buClr>
                  <a:buFont typeface="Wingdings" panose="05000000000000000000" pitchFamily="2" charset="2"/>
                  <a:buChar char="§"/>
                </a:pPr>
                <a:r>
                  <a:rPr lang="en-GB" sz="1600" noProof="0" dirty="0">
                    <a:latin typeface="Cambria Math"/>
                    <a:ea typeface="Cambria Math"/>
                  </a:rPr>
                  <a:t>Anticipated </a:t>
                </a:r>
                <a:r>
                  <a:rPr lang="cs-CZ" sz="1600" noProof="0" dirty="0">
                    <a:latin typeface="Cambria Math"/>
                    <a:ea typeface="Cambria Math"/>
                  </a:rPr>
                  <a:t>bond</a:t>
                </a:r>
                <a:r>
                  <a:rPr lang="en-GB" sz="1600" noProof="0" dirty="0">
                    <a:latin typeface="Cambria Math"/>
                    <a:ea typeface="Cambria Math"/>
                  </a:rPr>
                  <a:t>’</a:t>
                </a:r>
                <a:r>
                  <a:rPr lang="cs-CZ" sz="1600" noProof="0" dirty="0">
                    <a:latin typeface="Cambria Math"/>
                    <a:ea typeface="Cambria Math"/>
                  </a:rPr>
                  <a:t>s </a:t>
                </a:r>
                <a:r>
                  <a:rPr lang="en-GB" sz="1600" noProof="0" dirty="0">
                    <a:latin typeface="Cambria Math"/>
                    <a:ea typeface="Cambria Math"/>
                  </a:rPr>
                  <a:t>selling price = Futures price</a:t>
                </a:r>
                <a:r>
                  <a:rPr lang="en-GB" sz="1600" noProof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1600" i="0" noProof="0">
                        <a:latin typeface="Cambria Math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GB" sz="1600" b="0" i="0" noProof="0" smtClean="0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1600" b="0" i="0" noProof="0" smtClean="0">
                        <a:latin typeface="Cambria Math"/>
                        <a:ea typeface="Cambria Math" panose="02040503050406030204" pitchFamily="18" charset="0"/>
                      </a:rPr>
                      <m:t>Conversion</m:t>
                    </m:r>
                    <m:r>
                      <m:rPr>
                        <m:nor/>
                      </m:rPr>
                      <a:rPr lang="en-GB" sz="1600" b="0" i="0" noProof="0" smtClean="0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1600" b="0" i="0" noProof="0" smtClean="0">
                        <a:latin typeface="Cambria Math"/>
                        <a:ea typeface="Cambria Math" panose="02040503050406030204" pitchFamily="18" charset="0"/>
                      </a:rPr>
                      <m:t>factor</m:t>
                    </m:r>
                  </m:oMath>
                </a14:m>
                <a:endParaRPr lang="en-GB" sz="1600" noProof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ovéPole 35">
                <a:extLst>
                  <a:ext uri="{FF2B5EF4-FFF2-40B4-BE49-F238E27FC236}">
                    <a16:creationId xmlns:a16="http://schemas.microsoft.com/office/drawing/2014/main" id="{AC6578E1-7D2A-A196-02D9-D69FAE42E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000" y="5264863"/>
                <a:ext cx="6408000" cy="338554"/>
              </a:xfrm>
              <a:prstGeom prst="rect">
                <a:avLst/>
              </a:prstGeom>
              <a:blipFill>
                <a:blip r:embed="rId14"/>
                <a:stretch>
                  <a:fillRect l="-381" t="-7273" b="-21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ovéPole 35">
            <a:extLst>
              <a:ext uri="{FF2B5EF4-FFF2-40B4-BE49-F238E27FC236}">
                <a16:creationId xmlns:a16="http://schemas.microsoft.com/office/drawing/2014/main" id="{928F09BF-860C-37B0-1243-0DBA5763E5DC}"/>
              </a:ext>
            </a:extLst>
          </p:cNvPr>
          <p:cNvSpPr txBox="1"/>
          <p:nvPr/>
        </p:nvSpPr>
        <p:spPr>
          <a:xfrm>
            <a:off x="1512000" y="5767202"/>
            <a:ext cx="69480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noProof="0" dirty="0">
                <a:latin typeface="Cambria Math"/>
                <a:ea typeface="Cambria Math"/>
              </a:rPr>
              <a:t>Reinvesting the coupon (</a:t>
            </a:r>
            <a:r>
              <a:rPr lang="en-GB" sz="1600" dirty="0">
                <a:latin typeface="Cambria Math"/>
                <a:ea typeface="Cambria Math"/>
              </a:rPr>
              <a:t>if it is paid before delivery) at </a:t>
            </a:r>
            <a:r>
              <a:rPr lang="en-GB" sz="1600" noProof="0" dirty="0">
                <a:latin typeface="Cambria Math"/>
                <a:ea typeface="Cambria Math"/>
              </a:rPr>
              <a:t>the implied repo rate</a:t>
            </a:r>
            <a:endParaRPr lang="en-GB" sz="1600" noProof="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4" name="TextovéPole 35">
            <a:extLst>
              <a:ext uri="{FF2B5EF4-FFF2-40B4-BE49-F238E27FC236}">
                <a16:creationId xmlns:a16="http://schemas.microsoft.com/office/drawing/2014/main" id="{88003316-B15E-F08D-4334-A6BCF0F7EF2B}"/>
              </a:ext>
            </a:extLst>
          </p:cNvPr>
          <p:cNvSpPr txBox="1"/>
          <p:nvPr/>
        </p:nvSpPr>
        <p:spPr>
          <a:xfrm>
            <a:off x="1512000" y="5511751"/>
            <a:ext cx="622835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>
              <a:buClr>
                <a:srgbClr val="7030A0"/>
              </a:buClr>
              <a:buFont typeface="Wingdings" panose="05000000000000000000" pitchFamily="2" charset="2"/>
              <a:buChar char="§"/>
            </a:pPr>
            <a:r>
              <a:rPr lang="en-GB" sz="1600" noProof="0" dirty="0">
                <a:latin typeface="Cambria Math"/>
                <a:ea typeface="Cambria Math"/>
              </a:rPr>
              <a:t>Accrued coupon (compensation for holding the bond until delivery</a:t>
            </a:r>
            <a:r>
              <a:rPr lang="en-GB" sz="1600" dirty="0">
                <a:latin typeface="Cambria Math"/>
                <a:ea typeface="Cambria Math"/>
              </a:rPr>
              <a:t>)</a:t>
            </a:r>
            <a:endParaRPr lang="en-GB" sz="1600" noProof="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5" name="Pravá složená závorka 24">
            <a:extLst>
              <a:ext uri="{FF2B5EF4-FFF2-40B4-BE49-F238E27FC236}">
                <a16:creationId xmlns:a16="http://schemas.microsoft.com/office/drawing/2014/main" id="{AE4D364E-A7AD-C1C5-8C63-AFAD596DC5FE}"/>
              </a:ext>
            </a:extLst>
          </p:cNvPr>
          <p:cNvSpPr/>
          <p:nvPr/>
        </p:nvSpPr>
        <p:spPr>
          <a:xfrm>
            <a:off x="7787648" y="4613654"/>
            <a:ext cx="216024" cy="402153"/>
          </a:xfrm>
          <a:prstGeom prst="rightBrace">
            <a:avLst/>
          </a:prstGeom>
          <a:ln w="25400"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TextovéPole 35">
            <a:extLst>
              <a:ext uri="{FF2B5EF4-FFF2-40B4-BE49-F238E27FC236}">
                <a16:creationId xmlns:a16="http://schemas.microsoft.com/office/drawing/2014/main" id="{BF483B13-A90A-37C7-94AB-E5B24488A7AC}"/>
              </a:ext>
            </a:extLst>
          </p:cNvPr>
          <p:cNvSpPr txBox="1"/>
          <p:nvPr/>
        </p:nvSpPr>
        <p:spPr>
          <a:xfrm>
            <a:off x="8003648" y="5435329"/>
            <a:ext cx="118800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>
              <a:buClr>
                <a:srgbClr val="7030A0"/>
              </a:buClr>
            </a:pPr>
            <a:r>
              <a:rPr lang="en-GB" sz="1400" noProof="0" dirty="0">
                <a:latin typeface="Cambria Math"/>
                <a:ea typeface="Cambria Math"/>
              </a:rPr>
              <a:t>Invoice price</a:t>
            </a:r>
          </a:p>
        </p:txBody>
      </p:sp>
      <p:sp>
        <p:nvSpPr>
          <p:cNvPr id="27" name="Pravá složená závorka 26">
            <a:extLst>
              <a:ext uri="{FF2B5EF4-FFF2-40B4-BE49-F238E27FC236}">
                <a16:creationId xmlns:a16="http://schemas.microsoft.com/office/drawing/2014/main" id="{E501A1F8-E1AF-D8D1-A541-BD6089D4ECED}"/>
              </a:ext>
            </a:extLst>
          </p:cNvPr>
          <p:cNvSpPr/>
          <p:nvPr/>
        </p:nvSpPr>
        <p:spPr>
          <a:xfrm>
            <a:off x="7787648" y="5399479"/>
            <a:ext cx="216024" cy="402153"/>
          </a:xfrm>
          <a:prstGeom prst="rightBrace">
            <a:avLst/>
          </a:prstGeom>
          <a:ln w="25400"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2CAB4393-9831-865C-1D21-AB902D61BDB4}"/>
              </a:ext>
            </a:extLst>
          </p:cNvPr>
          <p:cNvSpPr txBox="1"/>
          <p:nvPr/>
        </p:nvSpPr>
        <p:spPr>
          <a:xfrm>
            <a:off x="1188000" y="2295661"/>
            <a:ext cx="594534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</a:pPr>
            <a:r>
              <a:rPr lang="en-GB" noProof="0" dirty="0">
                <a:latin typeface="Cambria Math" panose="02040503050406030204" pitchFamily="18" charset="0"/>
                <a:ea typeface="Cambria Math" panose="02040503050406030204" pitchFamily="18" charset="0"/>
              </a:rPr>
              <a:t>IRRs are calculated and published by futures exchanges</a:t>
            </a:r>
            <a:endParaRPr lang="en-GB" noProof="0" dirty="0">
              <a:solidFill>
                <a:srgbClr val="7030A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502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1D481-F10C-1E88-7D0D-33F99C6D1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405E69AB-0115-4295-3593-AE6948503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000" y="6336000"/>
            <a:ext cx="3312000" cy="360000"/>
          </a:xfrm>
        </p:spPr>
        <p:txBody>
          <a:bodyPr/>
          <a:lstStyle/>
          <a:p>
            <a:r>
              <a:rPr lang="en-GB" dirty="0"/>
              <a:t>Examples of financial futures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56C72211-D60E-BFA1-EF74-219012A62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64000" y="6336000"/>
            <a:ext cx="1800000" cy="360000"/>
          </a:xfrm>
        </p:spPr>
        <p:txBody>
          <a:bodyPr/>
          <a:lstStyle/>
          <a:p>
            <a:pPr algn="r"/>
            <a:fld id="{DFE5482F-2F05-49C5-9E15-73F945A41231}" type="slidenum">
              <a:rPr lang="cs-CZ" smtClean="0"/>
              <a:pPr algn="r"/>
              <a:t>15</a:t>
            </a:fld>
            <a:endParaRPr lang="cs-CZ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02F9A59B-C828-9A70-D58A-876D808E3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144000"/>
            <a:ext cx="3779928" cy="648072"/>
          </a:xfrm>
        </p:spPr>
        <p:txBody>
          <a:bodyPr/>
          <a:lstStyle/>
          <a:p>
            <a:r>
              <a:rPr lang="en-GB" noProof="0"/>
              <a:t>LTIRF </a:t>
            </a:r>
            <a:r>
              <a:rPr lang="en-GB" noProof="0">
                <a:latin typeface="Cambria Math" panose="02040503050406030204" pitchFamily="18" charset="0"/>
                <a:ea typeface="Cambria Math" panose="02040503050406030204" pitchFamily="18" charset="0"/>
              </a:rPr>
              <a:t>–</a:t>
            </a:r>
            <a:r>
              <a:rPr lang="en-GB" noProof="0"/>
              <a:t> IRR formulas</a:t>
            </a:r>
            <a:endParaRPr lang="en-GB" noProof="0">
              <a:solidFill>
                <a:srgbClr val="000000"/>
              </a:solidFill>
            </a:endParaRPr>
          </a:p>
        </p:txBody>
      </p:sp>
      <p:sp>
        <p:nvSpPr>
          <p:cNvPr id="29" name="TextovéPole 28">
            <a:extLst>
              <a:ext uri="{FF2B5EF4-FFF2-40B4-BE49-F238E27FC236}">
                <a16:creationId xmlns:a16="http://schemas.microsoft.com/office/drawing/2014/main" id="{61E0FA25-41AC-A5BC-B48A-A7261D844F6D}"/>
              </a:ext>
            </a:extLst>
          </p:cNvPr>
          <p:cNvSpPr txBox="1"/>
          <p:nvPr/>
        </p:nvSpPr>
        <p:spPr>
          <a:xfrm>
            <a:off x="863999" y="864000"/>
            <a:ext cx="5508201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24000" indent="-324000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en-GB" sz="2200" noProof="0" dirty="0">
                <a:latin typeface="Cambria Math" panose="02040503050406030204" pitchFamily="18" charset="0"/>
                <a:ea typeface="Cambria Math" panose="02040503050406030204" pitchFamily="18" charset="0"/>
              </a:rPr>
              <a:t>Coupon payment is made before delivery</a:t>
            </a:r>
          </a:p>
        </p:txBody>
      </p:sp>
      <p:sp>
        <p:nvSpPr>
          <p:cNvPr id="73" name="TextovéPole 35">
            <a:extLst>
              <a:ext uri="{FF2B5EF4-FFF2-40B4-BE49-F238E27FC236}">
                <a16:creationId xmlns:a16="http://schemas.microsoft.com/office/drawing/2014/main" id="{70545888-4B23-4183-72A0-762E4036FC54}"/>
              </a:ext>
            </a:extLst>
          </p:cNvPr>
          <p:cNvSpPr txBox="1"/>
          <p:nvPr/>
        </p:nvSpPr>
        <p:spPr>
          <a:xfrm>
            <a:off x="864001" y="4392000"/>
            <a:ext cx="4893390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4000" indent="-324000">
              <a:buClr>
                <a:srgbClr val="7030A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GB" sz="2200" noProof="0" dirty="0">
                <a:latin typeface="Cambria Math" panose="02040503050406030204" pitchFamily="18" charset="0"/>
                <a:ea typeface="Cambria Math" panose="02040503050406030204" pitchFamily="18" charset="0"/>
              </a:rPr>
              <a:t>No coupon payment before delivery</a:t>
            </a:r>
          </a:p>
        </p:txBody>
      </p:sp>
      <p:grpSp>
        <p:nvGrpSpPr>
          <p:cNvPr id="15" name="Skupina 14">
            <a:extLst>
              <a:ext uri="{FF2B5EF4-FFF2-40B4-BE49-F238E27FC236}">
                <a16:creationId xmlns:a16="http://schemas.microsoft.com/office/drawing/2014/main" id="{DE39F73F-AF49-AB88-56D1-08853A18222A}"/>
              </a:ext>
            </a:extLst>
          </p:cNvPr>
          <p:cNvGrpSpPr/>
          <p:nvPr/>
        </p:nvGrpSpPr>
        <p:grpSpPr>
          <a:xfrm>
            <a:off x="711477" y="1265016"/>
            <a:ext cx="7854387" cy="1250294"/>
            <a:chOff x="711477" y="1367201"/>
            <a:chExt cx="7854387" cy="1250294"/>
          </a:xfrm>
        </p:grpSpPr>
        <p:sp>
          <p:nvSpPr>
            <p:cNvPr id="100" name="Rovnoramenný trojúhelník 99">
              <a:extLst>
                <a:ext uri="{FF2B5EF4-FFF2-40B4-BE49-F238E27FC236}">
                  <a16:creationId xmlns:a16="http://schemas.microsoft.com/office/drawing/2014/main" id="{5947A12D-8FF5-6EF5-7B93-459314C4BA47}"/>
                </a:ext>
              </a:extLst>
            </p:cNvPr>
            <p:cNvSpPr/>
            <p:nvPr/>
          </p:nvSpPr>
          <p:spPr>
            <a:xfrm rot="10800000">
              <a:off x="5345704" y="1836000"/>
              <a:ext cx="118800" cy="12600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grpSp>
          <p:nvGrpSpPr>
            <p:cNvPr id="7" name="Skupina 6">
              <a:extLst>
                <a:ext uri="{FF2B5EF4-FFF2-40B4-BE49-F238E27FC236}">
                  <a16:creationId xmlns:a16="http://schemas.microsoft.com/office/drawing/2014/main" id="{5C238274-1FA6-2DA5-E10D-55C6D01523B7}"/>
                </a:ext>
              </a:extLst>
            </p:cNvPr>
            <p:cNvGrpSpPr/>
            <p:nvPr/>
          </p:nvGrpSpPr>
          <p:grpSpPr>
            <a:xfrm>
              <a:off x="711477" y="1367201"/>
              <a:ext cx="7854387" cy="1250294"/>
              <a:chOff x="711477" y="1339566"/>
              <a:chExt cx="7854387" cy="125029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Obdélník 65">
                    <a:extLst>
                      <a:ext uri="{FF2B5EF4-FFF2-40B4-BE49-F238E27FC236}">
                        <a16:creationId xmlns:a16="http://schemas.microsoft.com/office/drawing/2014/main" id="{369BB8A2-1221-4599-1BAC-F64A5BD0B8E4}"/>
                      </a:ext>
                    </a:extLst>
                  </p:cNvPr>
                  <p:cNvSpPr/>
                  <p:nvPr/>
                </p:nvSpPr>
                <p:spPr>
                  <a:xfrm>
                    <a:off x="2260656" y="1339566"/>
                    <a:ext cx="1186419" cy="561758"/>
                  </a:xfrm>
                  <a:prstGeom prst="rect">
                    <a:avLst/>
                  </a:prstGeom>
                  <a:solidFill>
                    <a:srgbClr val="0070C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36000" rIns="36000" bIns="36000" rtlCol="0" anchor="ctr"/>
                  <a:lstStyle/>
                  <a:p>
                    <a:pPr marL="92075">
                      <a:spcBef>
                        <a:spcPts val="1200"/>
                      </a:spcBef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i="1">
                                <a:latin typeface="Cambria Math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1000" i="1">
                                <a:latin typeface="Cambria Math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1000" i="1">
                            <a:latin typeface="Cambria Math"/>
                            <a:ea typeface="Cambria Math" panose="02040503050406030204" pitchFamily="18" charset="0"/>
                          </a:rPr>
                          <m:t>=99</m:t>
                        </m:r>
                        <m:r>
                          <a:rPr lang="cs-CZ" sz="1000" b="0" i="1" smtClean="0">
                            <a:latin typeface="Cambria Math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GB" sz="1000" i="1">
                            <a:latin typeface="Cambria Math"/>
                            <a:ea typeface="Cambria Math" panose="02040503050406030204" pitchFamily="18" charset="0"/>
                          </a:rPr>
                          <m:t>13 </m:t>
                        </m:r>
                      </m:oMath>
                    </a14:m>
                    <a:r>
                      <a:rPr lang="en-GB" sz="1000" dirty="0">
                        <a:latin typeface="Cambria Math"/>
                        <a:ea typeface="Cambria Math" panose="02040503050406030204" pitchFamily="18" charset="0"/>
                      </a:rPr>
                      <a:t>(</a:t>
                    </a:r>
                    <a:r>
                      <a:rPr lang="cs-CZ" sz="1000" dirty="0">
                        <a:latin typeface="Cambria Math"/>
                        <a:ea typeface="Cambria Math" panose="02040503050406030204" pitchFamily="18" charset="0"/>
                      </a:rPr>
                      <a:t>full</a:t>
                    </a:r>
                    <a:r>
                      <a:rPr lang="en-GB" sz="1000" dirty="0">
                        <a:latin typeface="Cambria Math"/>
                        <a:ea typeface="Cambria Math" panose="02040503050406030204" pitchFamily="18" charset="0"/>
                      </a:rPr>
                      <a:t>)</a:t>
                    </a:r>
                  </a:p>
                  <a:p>
                    <a:pPr marL="92075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sz="1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00" i="1">
                                <a:latin typeface="Cambria Math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GB" sz="1000" i="1">
                                <a:latin typeface="Cambria Math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1000" i="1">
                            <a:latin typeface="Cambria Math"/>
                            <a:ea typeface="Cambria Math" panose="02040503050406030204" pitchFamily="18" charset="0"/>
                          </a:rPr>
                          <m:t>=88.19 </m:t>
                        </m:r>
                      </m:oMath>
                    </a14:m>
                    <a:r>
                      <a:rPr lang="en-GB" sz="1000" dirty="0">
                        <a:latin typeface="Cambria Math"/>
                        <a:ea typeface="Cambria Math" panose="02040503050406030204" pitchFamily="18" charset="0"/>
                      </a:rPr>
                      <a:t>(clean)</a:t>
                    </a:r>
                  </a:p>
                  <a:p>
                    <a:pPr marL="92075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GB" sz="1000" i="1">
                              <a:latin typeface="Cambria Math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n-GB" sz="1000" i="1">
                              <a:latin typeface="Cambria Math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GB" sz="1000" i="1">
                              <a:latin typeface="Cambria Math"/>
                              <a:ea typeface="Cambria Math" panose="02040503050406030204" pitchFamily="18" charset="0"/>
                            </a:rPr>
                            <m:t>=6%</m:t>
                          </m:r>
                        </m:oMath>
                      </m:oMathPara>
                    </a14:m>
                    <a:endParaRPr lang="en-GB" sz="1000" i="1" dirty="0">
                      <a:latin typeface="Cambria Math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6" name="Obdélník 65">
                    <a:extLst>
                      <a:ext uri="{FF2B5EF4-FFF2-40B4-BE49-F238E27FC236}">
                        <a16:creationId xmlns:a16="http://schemas.microsoft.com/office/drawing/2014/main" id="{369BB8A2-1221-4599-1BAC-F64A5BD0B8E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60656" y="1339566"/>
                    <a:ext cx="1186419" cy="56175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2538"/>
                    </a:stretch>
                  </a:blipFill>
                </p:spPr>
                <p:txBody>
                  <a:bodyPr/>
                  <a:lstStyle/>
                  <a:p>
                    <a:r>
                      <a:rPr lang="cs-CZ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" name="Skupina 5">
                <a:extLst>
                  <a:ext uri="{FF2B5EF4-FFF2-40B4-BE49-F238E27FC236}">
                    <a16:creationId xmlns:a16="http://schemas.microsoft.com/office/drawing/2014/main" id="{22878A6F-65BE-C04D-DEB7-3217EB0965EC}"/>
                  </a:ext>
                </a:extLst>
              </p:cNvPr>
              <p:cNvGrpSpPr/>
              <p:nvPr/>
            </p:nvGrpSpPr>
            <p:grpSpPr>
              <a:xfrm>
                <a:off x="711477" y="1419864"/>
                <a:ext cx="7854387" cy="1169996"/>
                <a:chOff x="711477" y="1419864"/>
                <a:chExt cx="7854387" cy="1169996"/>
              </a:xfrm>
            </p:grpSpPr>
            <p:cxnSp>
              <p:nvCxnSpPr>
                <p:cNvPr id="127" name="Přímá spojnice 126">
                  <a:extLst>
                    <a:ext uri="{FF2B5EF4-FFF2-40B4-BE49-F238E27FC236}">
                      <a16:creationId xmlns:a16="http://schemas.microsoft.com/office/drawing/2014/main" id="{0157B7A2-BF4C-E688-4098-3907AEBA1ADC}"/>
                    </a:ext>
                  </a:extLst>
                </p:cNvPr>
                <p:cNvCxnSpPr/>
                <p:nvPr/>
              </p:nvCxnSpPr>
              <p:spPr>
                <a:xfrm>
                  <a:off x="4572000" y="1986832"/>
                  <a:ext cx="0" cy="297554"/>
                </a:xfrm>
                <a:prstGeom prst="line">
                  <a:avLst/>
                </a:prstGeom>
                <a:ln w="12700">
                  <a:headEnd type="none" w="lg" len="med"/>
                  <a:tailEnd type="non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Přímá spojnice 128">
                  <a:extLst>
                    <a:ext uri="{FF2B5EF4-FFF2-40B4-BE49-F238E27FC236}">
                      <a16:creationId xmlns:a16="http://schemas.microsoft.com/office/drawing/2014/main" id="{430A85F7-4D30-0BD6-E8C6-DB58F9210E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51560" y="1986831"/>
                  <a:ext cx="0" cy="303934"/>
                </a:xfrm>
                <a:prstGeom prst="line">
                  <a:avLst/>
                </a:prstGeom>
                <a:ln w="12700">
                  <a:headEnd type="none" w="lg" len="med"/>
                  <a:tailEnd type="non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Přímá spojnice se šipkou 113">
                  <a:extLst>
                    <a:ext uri="{FF2B5EF4-FFF2-40B4-BE49-F238E27FC236}">
                      <a16:creationId xmlns:a16="http://schemas.microsoft.com/office/drawing/2014/main" id="{05F944F1-88BB-AD64-82C1-5F4999477B09}"/>
                    </a:ext>
                  </a:extLst>
                </p:cNvPr>
                <p:cNvCxnSpPr/>
                <p:nvPr/>
              </p:nvCxnSpPr>
              <p:spPr>
                <a:xfrm>
                  <a:off x="4568736" y="2292832"/>
                  <a:ext cx="288000" cy="0"/>
                </a:xfrm>
                <a:prstGeom prst="straightConnector1">
                  <a:avLst/>
                </a:prstGeom>
                <a:ln w="12700">
                  <a:solidFill>
                    <a:srgbClr val="C00000"/>
                  </a:solidFill>
                  <a:headEnd type="triangle" w="med" len="me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Přímá spojnice 129">
                  <a:extLst>
                    <a:ext uri="{FF2B5EF4-FFF2-40B4-BE49-F238E27FC236}">
                      <a16:creationId xmlns:a16="http://schemas.microsoft.com/office/drawing/2014/main" id="{5C25E3E7-E3BF-6253-6AC2-8FC60906644A}"/>
                    </a:ext>
                  </a:extLst>
                </p:cNvPr>
                <p:cNvCxnSpPr/>
                <p:nvPr/>
              </p:nvCxnSpPr>
              <p:spPr>
                <a:xfrm>
                  <a:off x="5406616" y="1986832"/>
                  <a:ext cx="0" cy="297554"/>
                </a:xfrm>
                <a:prstGeom prst="line">
                  <a:avLst/>
                </a:prstGeom>
                <a:ln w="12700">
                  <a:headEnd type="none" w="lg" len="med"/>
                  <a:tailEnd type="non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1" name="Rovnoramenný trojúhelník 130">
                  <a:extLst>
                    <a:ext uri="{FF2B5EF4-FFF2-40B4-BE49-F238E27FC236}">
                      <a16:creationId xmlns:a16="http://schemas.microsoft.com/office/drawing/2014/main" id="{4E0BC8C7-B6F1-51B6-7BF0-C127688A1E20}"/>
                    </a:ext>
                  </a:extLst>
                </p:cNvPr>
                <p:cNvSpPr/>
                <p:nvPr/>
              </p:nvSpPr>
              <p:spPr>
                <a:xfrm rot="10800000">
                  <a:off x="1217105" y="1806840"/>
                  <a:ext cx="107447" cy="124593"/>
                </a:xfrm>
                <a:prstGeom prst="triangl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s-CZ"/>
                </a:p>
              </p:txBody>
            </p:sp>
            <p:sp>
              <p:nvSpPr>
                <p:cNvPr id="132" name="Rovnoramenný trojúhelník 131">
                  <a:extLst>
                    <a:ext uri="{FF2B5EF4-FFF2-40B4-BE49-F238E27FC236}">
                      <a16:creationId xmlns:a16="http://schemas.microsoft.com/office/drawing/2014/main" id="{11C061D7-AA9E-1F28-2150-CF7609F90A7F}"/>
                    </a:ext>
                  </a:extLst>
                </p:cNvPr>
                <p:cNvSpPr/>
                <p:nvPr/>
              </p:nvSpPr>
              <p:spPr>
                <a:xfrm rot="10800000">
                  <a:off x="4513784" y="1806840"/>
                  <a:ext cx="118192" cy="124593"/>
                </a:xfrm>
                <a:prstGeom prst="triangl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s-CZ"/>
                </a:p>
              </p:txBody>
            </p:sp>
            <p:sp>
              <p:nvSpPr>
                <p:cNvPr id="133" name="Rovnoramenný trojúhelník 132">
                  <a:extLst>
                    <a:ext uri="{FF2B5EF4-FFF2-40B4-BE49-F238E27FC236}">
                      <a16:creationId xmlns:a16="http://schemas.microsoft.com/office/drawing/2014/main" id="{C61EDD13-DADB-E9AB-4A6A-76DDBD78ED64}"/>
                    </a:ext>
                  </a:extLst>
                </p:cNvPr>
                <p:cNvSpPr/>
                <p:nvPr/>
              </p:nvSpPr>
              <p:spPr>
                <a:xfrm rot="10800000">
                  <a:off x="7854471" y="1808365"/>
                  <a:ext cx="118800" cy="126000"/>
                </a:xfrm>
                <a:prstGeom prst="triangl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s-CZ" dirty="0"/>
                </a:p>
              </p:txBody>
            </p:sp>
            <p:sp>
              <p:nvSpPr>
                <p:cNvPr id="134" name="Rovnoramenný trojúhelník 133">
                  <a:extLst>
                    <a:ext uri="{FF2B5EF4-FFF2-40B4-BE49-F238E27FC236}">
                      <a16:creationId xmlns:a16="http://schemas.microsoft.com/office/drawing/2014/main" id="{40115EE2-C9D8-D0F5-3767-10B6212C5A1F}"/>
                    </a:ext>
                  </a:extLst>
                </p:cNvPr>
                <p:cNvSpPr/>
                <p:nvPr/>
              </p:nvSpPr>
              <p:spPr>
                <a:xfrm rot="10800000">
                  <a:off x="3693729" y="1806832"/>
                  <a:ext cx="118192" cy="124593"/>
                </a:xfrm>
                <a:prstGeom prst="triangl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s-CZ"/>
                </a:p>
              </p:txBody>
            </p:sp>
            <p:cxnSp>
              <p:nvCxnSpPr>
                <p:cNvPr id="136" name="Přímá spojnice se šipkou 135">
                  <a:extLst>
                    <a:ext uri="{FF2B5EF4-FFF2-40B4-BE49-F238E27FC236}">
                      <a16:creationId xmlns:a16="http://schemas.microsoft.com/office/drawing/2014/main" id="{33BB2C1C-CCC7-94C7-E367-786001830450}"/>
                    </a:ext>
                  </a:extLst>
                </p:cNvPr>
                <p:cNvCxnSpPr/>
                <p:nvPr/>
              </p:nvCxnSpPr>
              <p:spPr>
                <a:xfrm>
                  <a:off x="4862526" y="2292176"/>
                  <a:ext cx="532756" cy="0"/>
                </a:xfrm>
                <a:prstGeom prst="straightConnector1">
                  <a:avLst/>
                </a:prstGeom>
                <a:ln w="12700">
                  <a:solidFill>
                    <a:srgbClr val="C00000"/>
                  </a:solidFill>
                  <a:headEnd type="triangle" w="med" len="me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Přímá spojnice 137">
                  <a:extLst>
                    <a:ext uri="{FF2B5EF4-FFF2-40B4-BE49-F238E27FC236}">
                      <a16:creationId xmlns:a16="http://schemas.microsoft.com/office/drawing/2014/main" id="{0DB7F080-B737-4C20-BC23-D03E3B74A7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60032" y="1986832"/>
                  <a:ext cx="0" cy="303933"/>
                </a:xfrm>
                <a:prstGeom prst="line">
                  <a:avLst/>
                </a:prstGeom>
                <a:ln w="12700">
                  <a:headEnd type="none" w="lg" len="med"/>
                  <a:tailEnd type="non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Přímá spojnice se šipkou 139">
                  <a:extLst>
                    <a:ext uri="{FF2B5EF4-FFF2-40B4-BE49-F238E27FC236}">
                      <a16:creationId xmlns:a16="http://schemas.microsoft.com/office/drawing/2014/main" id="{95DBDCC5-17AE-2CFF-05BA-56F0515AC7F5}"/>
                    </a:ext>
                  </a:extLst>
                </p:cNvPr>
                <p:cNvCxnSpPr/>
                <p:nvPr/>
              </p:nvCxnSpPr>
              <p:spPr>
                <a:xfrm>
                  <a:off x="3756032" y="2290765"/>
                  <a:ext cx="811420" cy="0"/>
                </a:xfrm>
                <a:prstGeom prst="straightConnector1">
                  <a:avLst/>
                </a:prstGeom>
                <a:ln w="12700">
                  <a:solidFill>
                    <a:srgbClr val="C00000"/>
                  </a:solidFill>
                  <a:headEnd type="triangle" w="med" len="me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8" name="TextovéPole 117">
                  <a:extLst>
                    <a:ext uri="{FF2B5EF4-FFF2-40B4-BE49-F238E27FC236}">
                      <a16:creationId xmlns:a16="http://schemas.microsoft.com/office/drawing/2014/main" id="{1B4699A1-A2D3-E9BA-05CB-E16F8579F332}"/>
                    </a:ext>
                  </a:extLst>
                </p:cNvPr>
                <p:cNvSpPr txBox="1"/>
                <p:nvPr/>
              </p:nvSpPr>
              <p:spPr>
                <a:xfrm rot="19260000">
                  <a:off x="4259170" y="2343639"/>
                  <a:ext cx="635166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cs-CZ" sz="1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14</a:t>
                  </a:r>
                  <a:r>
                    <a:rPr lang="en-GB" sz="1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days</a:t>
                  </a:r>
                </a:p>
              </p:txBody>
            </p:sp>
            <p:sp>
              <p:nvSpPr>
                <p:cNvPr id="120" name="TextovéPole 119">
                  <a:extLst>
                    <a:ext uri="{FF2B5EF4-FFF2-40B4-BE49-F238E27FC236}">
                      <a16:creationId xmlns:a16="http://schemas.microsoft.com/office/drawing/2014/main" id="{7A385CAB-6ADB-0781-BF66-03E6463199F1}"/>
                    </a:ext>
                  </a:extLst>
                </p:cNvPr>
                <p:cNvSpPr txBox="1"/>
                <p:nvPr/>
              </p:nvSpPr>
              <p:spPr>
                <a:xfrm>
                  <a:off x="4806000" y="2252550"/>
                  <a:ext cx="649384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29 days</a:t>
                  </a:r>
                </a:p>
              </p:txBody>
            </p:sp>
            <p:sp>
              <p:nvSpPr>
                <p:cNvPr id="121" name="TextovéPole 120">
                  <a:extLst>
                    <a:ext uri="{FF2B5EF4-FFF2-40B4-BE49-F238E27FC236}">
                      <a16:creationId xmlns:a16="http://schemas.microsoft.com/office/drawing/2014/main" id="{534FF5F9-4B95-4BBF-7228-5B296C4AC745}"/>
                    </a:ext>
                  </a:extLst>
                </p:cNvPr>
                <p:cNvSpPr txBox="1"/>
                <p:nvPr/>
              </p:nvSpPr>
              <p:spPr>
                <a:xfrm>
                  <a:off x="4139952" y="1446840"/>
                  <a:ext cx="880160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18 May</a:t>
                  </a:r>
                </a:p>
                <a:p>
                  <a:pPr algn="ctr"/>
                  <a:r>
                    <a:rPr lang="en-GB" sz="1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next coupon</a:t>
                  </a:r>
                </a:p>
              </p:txBody>
            </p:sp>
            <p:sp>
              <p:nvSpPr>
                <p:cNvPr id="122" name="TextovéPole 121">
                  <a:extLst>
                    <a:ext uri="{FF2B5EF4-FFF2-40B4-BE49-F238E27FC236}">
                      <a16:creationId xmlns:a16="http://schemas.microsoft.com/office/drawing/2014/main" id="{B912215B-FDE5-AAE5-E837-3B724EC34BC8}"/>
                    </a:ext>
                  </a:extLst>
                </p:cNvPr>
                <p:cNvSpPr txBox="1"/>
                <p:nvPr/>
              </p:nvSpPr>
              <p:spPr>
                <a:xfrm>
                  <a:off x="7254392" y="1448365"/>
                  <a:ext cx="1311472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000" noProof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18 November</a:t>
                  </a:r>
                </a:p>
                <a:p>
                  <a:pPr algn="ctr"/>
                  <a:r>
                    <a:rPr lang="en-GB" sz="1000" noProof="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after-next coupon</a:t>
                  </a:r>
                </a:p>
              </p:txBody>
            </p:sp>
            <p:sp>
              <p:nvSpPr>
                <p:cNvPr id="123" name="TextovéPole 122">
                  <a:extLst>
                    <a:ext uri="{FF2B5EF4-FFF2-40B4-BE49-F238E27FC236}">
                      <a16:creationId xmlns:a16="http://schemas.microsoft.com/office/drawing/2014/main" id="{6FBF63DF-19F3-E008-8F88-401C5D12AA0B}"/>
                    </a:ext>
                  </a:extLst>
                </p:cNvPr>
                <p:cNvSpPr txBox="1"/>
                <p:nvPr/>
              </p:nvSpPr>
              <p:spPr>
                <a:xfrm>
                  <a:off x="711477" y="1419864"/>
                  <a:ext cx="1123075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18 November</a:t>
                  </a:r>
                </a:p>
                <a:p>
                  <a:pPr algn="ctr"/>
                  <a:r>
                    <a:rPr lang="en-GB" sz="1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previous coupon</a:t>
                  </a:r>
                </a:p>
              </p:txBody>
            </p:sp>
            <p:sp>
              <p:nvSpPr>
                <p:cNvPr id="124" name="TextovéPole 123">
                  <a:extLst>
                    <a:ext uri="{FF2B5EF4-FFF2-40B4-BE49-F238E27FC236}">
                      <a16:creationId xmlns:a16="http://schemas.microsoft.com/office/drawing/2014/main" id="{B295A722-BAFA-7A03-B200-22BF03D86171}"/>
                    </a:ext>
                  </a:extLst>
                </p:cNvPr>
                <p:cNvSpPr txBox="1"/>
                <p:nvPr/>
              </p:nvSpPr>
              <p:spPr>
                <a:xfrm>
                  <a:off x="3470480" y="1446832"/>
                  <a:ext cx="576200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000" b="1" dirty="0">
                      <a:solidFill>
                        <a:srgbClr val="0070C0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1 April </a:t>
                  </a:r>
                </a:p>
                <a:p>
                  <a:pPr algn="ctr"/>
                  <a:r>
                    <a:rPr lang="en-GB" sz="1000" b="1" dirty="0">
                      <a:solidFill>
                        <a:srgbClr val="0070C0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today</a:t>
                  </a:r>
                </a:p>
              </p:txBody>
            </p:sp>
            <p:sp>
              <p:nvSpPr>
                <p:cNvPr id="126" name="TextovéPole 125">
                  <a:extLst>
                    <a:ext uri="{FF2B5EF4-FFF2-40B4-BE49-F238E27FC236}">
                      <a16:creationId xmlns:a16="http://schemas.microsoft.com/office/drawing/2014/main" id="{8AD3AB56-3B2F-F60D-C9C0-6683358EEA47}"/>
                    </a:ext>
                  </a:extLst>
                </p:cNvPr>
                <p:cNvSpPr txBox="1"/>
                <p:nvPr/>
              </p:nvSpPr>
              <p:spPr>
                <a:xfrm>
                  <a:off x="3829598" y="2252550"/>
                  <a:ext cx="610418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cs-CZ" sz="1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46</a:t>
                  </a:r>
                  <a:r>
                    <a:rPr lang="en-GB" sz="1000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days</a:t>
                  </a:r>
                </a:p>
              </p:txBody>
            </p:sp>
          </p:grpSp>
          <p:sp>
            <p:nvSpPr>
              <p:cNvPr id="67" name="Volný tvar 66">
                <a:extLst>
                  <a:ext uri="{FF2B5EF4-FFF2-40B4-BE49-F238E27FC236}">
                    <a16:creationId xmlns:a16="http://schemas.microsoft.com/office/drawing/2014/main" id="{09483600-4683-7DB9-69A3-D365532822C2}"/>
                  </a:ext>
                </a:extLst>
              </p:cNvPr>
              <p:cNvSpPr/>
              <p:nvPr/>
            </p:nvSpPr>
            <p:spPr>
              <a:xfrm>
                <a:off x="3461251" y="1441911"/>
                <a:ext cx="260144" cy="482009"/>
              </a:xfrm>
              <a:custGeom>
                <a:avLst/>
                <a:gdLst>
                  <a:gd name="connsiteX0" fmla="*/ 0 w 233916"/>
                  <a:gd name="connsiteY0" fmla="*/ 0 h 482009"/>
                  <a:gd name="connsiteX1" fmla="*/ 92149 w 233916"/>
                  <a:gd name="connsiteY1" fmla="*/ 0 h 482009"/>
                  <a:gd name="connsiteX2" fmla="*/ 92149 w 233916"/>
                  <a:gd name="connsiteY2" fmla="*/ 482009 h 482009"/>
                  <a:gd name="connsiteX3" fmla="*/ 233916 w 233916"/>
                  <a:gd name="connsiteY3" fmla="*/ 482009 h 482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3916" h="482009">
                    <a:moveTo>
                      <a:pt x="0" y="0"/>
                    </a:moveTo>
                    <a:lnTo>
                      <a:pt x="92149" y="0"/>
                    </a:lnTo>
                    <a:lnTo>
                      <a:pt x="92149" y="482009"/>
                    </a:lnTo>
                    <a:lnTo>
                      <a:pt x="233916" y="482009"/>
                    </a:lnTo>
                  </a:path>
                </a:pathLst>
              </a:custGeom>
              <a:noFill/>
              <a:ln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</p:grpSp>
        <p:sp>
          <p:nvSpPr>
            <p:cNvPr id="99" name="TextovéPole 98">
              <a:extLst>
                <a:ext uri="{FF2B5EF4-FFF2-40B4-BE49-F238E27FC236}">
                  <a16:creationId xmlns:a16="http://schemas.microsoft.com/office/drawing/2014/main" id="{E78BB2BD-83B4-DED5-EEF7-B88F8B2EF2AD}"/>
                </a:ext>
              </a:extLst>
            </p:cNvPr>
            <p:cNvSpPr txBox="1"/>
            <p:nvPr/>
          </p:nvSpPr>
          <p:spPr>
            <a:xfrm>
              <a:off x="5040144" y="1476000"/>
              <a:ext cx="71724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30 June</a:t>
              </a:r>
            </a:p>
            <a:p>
              <a:pPr algn="ctr"/>
              <a:r>
                <a:rPr lang="en-GB" sz="1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delivery</a:t>
              </a:r>
            </a:p>
          </p:txBody>
        </p:sp>
      </p:grpSp>
      <p:graphicFrame>
        <p:nvGraphicFramePr>
          <p:cNvPr id="88" name="Tabulka 87">
            <a:extLst>
              <a:ext uri="{FF2B5EF4-FFF2-40B4-BE49-F238E27FC236}">
                <a16:creationId xmlns:a16="http://schemas.microsoft.com/office/drawing/2014/main" id="{E6550B3D-BBEF-71C2-7EC5-94D04C690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187528"/>
              </p:ext>
            </p:extLst>
          </p:nvPr>
        </p:nvGraphicFramePr>
        <p:xfrm>
          <a:off x="978688" y="1886655"/>
          <a:ext cx="7200800" cy="1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39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39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390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39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2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3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4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5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6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7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8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9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10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/>
                        <a:t>11</a:t>
                      </a: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ovéPole 17">
                <a:extLst>
                  <a:ext uri="{FF2B5EF4-FFF2-40B4-BE49-F238E27FC236}">
                    <a16:creationId xmlns:a16="http://schemas.microsoft.com/office/drawing/2014/main" id="{6145452E-53B6-1D7B-D5A2-1C7948FB7166}"/>
                  </a:ext>
                </a:extLst>
              </p:cNvPr>
              <p:cNvSpPr txBox="1"/>
              <p:nvPr/>
            </p:nvSpPr>
            <p:spPr>
              <a:xfrm>
                <a:off x="1512000" y="2601748"/>
                <a:ext cx="3862211" cy="368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PP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IRR</m:t>
                          </m:r>
                          <m:f>
                            <m:fPr>
                              <m:ctrlPr>
                                <a:rPr lang="cs-CZ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cs-CZ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cs-CZ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  <m:r>
                                    <a:rPr lang="cs-CZ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cs-CZ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DL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cs-CZ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365</m:t>
                              </m:r>
                            </m:den>
                          </m:f>
                        </m:e>
                      </m:d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IP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IRR</m:t>
                          </m:r>
                          <m:f>
                            <m:fPr>
                              <m:ctrlPr>
                                <a:rPr lang="cs-CZ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cs-CZ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cs-CZ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cs-CZ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NC</m:t>
                                  </m:r>
                                  <m:r>
                                    <a:rPr lang="cs-CZ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cs-CZ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DL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cs-CZ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365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i="1" dirty="0">
                  <a:latin typeface="Cambria Math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ovéPole 17">
                <a:extLst>
                  <a:ext uri="{FF2B5EF4-FFF2-40B4-BE49-F238E27FC236}">
                    <a16:creationId xmlns:a16="http://schemas.microsoft.com/office/drawing/2014/main" id="{6145452E-53B6-1D7B-D5A2-1C7948FB7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000" y="2601748"/>
                <a:ext cx="3862211" cy="368884"/>
              </a:xfrm>
              <a:prstGeom prst="rect">
                <a:avLst/>
              </a:prstGeom>
              <a:blipFill>
                <a:blip r:embed="rId10"/>
                <a:stretch>
                  <a:fillRect l="-1577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ovéPole 23">
                <a:extLst>
                  <a:ext uri="{FF2B5EF4-FFF2-40B4-BE49-F238E27FC236}">
                    <a16:creationId xmlns:a16="http://schemas.microsoft.com/office/drawing/2014/main" id="{A59B4DB6-25DD-F224-90BE-61196EADEFDF}"/>
                  </a:ext>
                </a:extLst>
              </p:cNvPr>
              <p:cNvSpPr txBox="1"/>
              <p:nvPr/>
            </p:nvSpPr>
            <p:spPr>
              <a:xfrm>
                <a:off x="1512000" y="2996302"/>
                <a:ext cx="1440523" cy="224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PP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MP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PC</m:t>
                          </m:r>
                          <m: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GB" sz="1400" dirty="0">
                  <a:latin typeface="Cambria Math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ovéPole 23">
                <a:extLst>
                  <a:ext uri="{FF2B5EF4-FFF2-40B4-BE49-F238E27FC236}">
                    <a16:creationId xmlns:a16="http://schemas.microsoft.com/office/drawing/2014/main" id="{A59B4DB6-25DD-F224-90BE-61196EADE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000" y="2996302"/>
                <a:ext cx="1440523" cy="224870"/>
              </a:xfrm>
              <a:prstGeom prst="rect">
                <a:avLst/>
              </a:prstGeom>
              <a:blipFill>
                <a:blip r:embed="rId11"/>
                <a:stretch>
                  <a:fillRect l="-4237" b="-13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ovéPole 25">
                <a:extLst>
                  <a:ext uri="{FF2B5EF4-FFF2-40B4-BE49-F238E27FC236}">
                    <a16:creationId xmlns:a16="http://schemas.microsoft.com/office/drawing/2014/main" id="{F41540A4-193D-E766-D1C1-36B362D8E853}"/>
                  </a:ext>
                </a:extLst>
              </p:cNvPr>
              <p:cNvSpPr txBox="1"/>
              <p:nvPr/>
            </p:nvSpPr>
            <p:spPr>
              <a:xfrm>
                <a:off x="3312000" y="2996302"/>
                <a:ext cx="1857303" cy="224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IP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FP</m:t>
                      </m:r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CF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NC</m:t>
                          </m:r>
                          <m: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DL</m:t>
                          </m:r>
                        </m:sub>
                      </m:sSub>
                    </m:oMath>
                  </m:oMathPara>
                </a14:m>
                <a:endParaRPr lang="en-GB" sz="1400" dirty="0">
                  <a:latin typeface="Cambria Math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ovéPole 25">
                <a:extLst>
                  <a:ext uri="{FF2B5EF4-FFF2-40B4-BE49-F238E27FC236}">
                    <a16:creationId xmlns:a16="http://schemas.microsoft.com/office/drawing/2014/main" id="{F41540A4-193D-E766-D1C1-36B362D8E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000" y="2996302"/>
                <a:ext cx="1857303" cy="224870"/>
              </a:xfrm>
              <a:prstGeom prst="rect">
                <a:avLst/>
              </a:prstGeom>
              <a:blipFill>
                <a:blip r:embed="rId12"/>
                <a:stretch>
                  <a:fillRect l="-3279" b="-13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ovéPole 27">
                <a:extLst>
                  <a:ext uri="{FF2B5EF4-FFF2-40B4-BE49-F238E27FC236}">
                    <a16:creationId xmlns:a16="http://schemas.microsoft.com/office/drawing/2014/main" id="{B8275420-25B2-3083-958E-A996F9A97621}"/>
                  </a:ext>
                </a:extLst>
              </p:cNvPr>
              <p:cNvSpPr txBox="1"/>
              <p:nvPr/>
            </p:nvSpPr>
            <p:spPr>
              <a:xfrm>
                <a:off x="1512000" y="3262313"/>
                <a:ext cx="2390463" cy="4632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IRR</m:t>
                      </m:r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IP</m:t>
                          </m:r>
                          <m:r>
                            <m:rPr>
                              <m:nor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+ </m:t>
                          </m:r>
                          <m:r>
                            <m:rPr>
                              <m:nor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lang="cs-CZ" sz="1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PP</m:t>
                          </m:r>
                          <m: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)×365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PP</m:t>
                          </m:r>
                          <m: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cs-CZ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cs-CZ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cs-CZ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cs-CZ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cs-CZ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DL</m:t>
                              </m:r>
                            </m:sub>
                          </m:sSub>
                          <m: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cs-CZ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cs-CZ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cs-CZ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NC</m:t>
                              </m:r>
                              <m:r>
                                <a:rPr lang="cs-CZ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cs-CZ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1400" i="1" dirty="0">
                  <a:latin typeface="Cambria Math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TextovéPole 27">
                <a:extLst>
                  <a:ext uri="{FF2B5EF4-FFF2-40B4-BE49-F238E27FC236}">
                    <a16:creationId xmlns:a16="http://schemas.microsoft.com/office/drawing/2014/main" id="{B8275420-25B2-3083-958E-A996F9A97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000" y="3262313"/>
                <a:ext cx="2390463" cy="463204"/>
              </a:xfrm>
              <a:prstGeom prst="rect">
                <a:avLst/>
              </a:prstGeom>
              <a:blipFill>
                <a:blip r:embed="rId13"/>
                <a:stretch>
                  <a:fillRect l="-2551" t="-2632" b="-5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ovéPole 35">
            <a:extLst>
              <a:ext uri="{FF2B5EF4-FFF2-40B4-BE49-F238E27FC236}">
                <a16:creationId xmlns:a16="http://schemas.microsoft.com/office/drawing/2014/main" id="{C1E76BD3-2AAF-8113-17ED-2CB31B384BD7}"/>
              </a:ext>
            </a:extLst>
          </p:cNvPr>
          <p:cNvSpPr txBox="1"/>
          <p:nvPr/>
        </p:nvSpPr>
        <p:spPr>
          <a:xfrm>
            <a:off x="6003788" y="2244928"/>
            <a:ext cx="2951815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975" indent="-180975">
              <a:buClr>
                <a:srgbClr val="7030A0"/>
              </a:buClr>
            </a:pPr>
            <a:r>
              <a:rPr lang="en-GB" sz="1200" noProof="0" dirty="0">
                <a:latin typeface="Cambria Math"/>
                <a:ea typeface="Cambria Math"/>
              </a:rPr>
              <a:t>IRR … implied repo rate</a:t>
            </a:r>
          </a:p>
          <a:p>
            <a:pPr marL="180975" indent="-180975">
              <a:buClr>
                <a:srgbClr val="7030A0"/>
              </a:buClr>
            </a:pPr>
            <a:r>
              <a:rPr lang="en-GB" sz="1200" noProof="0" dirty="0">
                <a:latin typeface="Cambria Math"/>
                <a:ea typeface="Cambria Math"/>
              </a:rPr>
              <a:t>PP … purchasing price (full)</a:t>
            </a:r>
          </a:p>
          <a:p>
            <a:pPr marL="180975" indent="-180975">
              <a:buClr>
                <a:srgbClr val="7030A0"/>
              </a:buClr>
            </a:pPr>
            <a:r>
              <a:rPr lang="en-GB" sz="1200" dirty="0">
                <a:latin typeface="Cambria Math"/>
                <a:ea typeface="Cambria Math"/>
              </a:rPr>
              <a:t>MP … market price (clean)</a:t>
            </a:r>
          </a:p>
          <a:p>
            <a:pPr marL="180975" indent="-180975">
              <a:buClr>
                <a:srgbClr val="7030A0"/>
              </a:buClr>
            </a:pPr>
            <a:r>
              <a:rPr lang="en-GB" sz="1200" noProof="0" dirty="0">
                <a:latin typeface="Cambria Math"/>
                <a:ea typeface="Cambria Math"/>
              </a:rPr>
              <a:t>IP … invoice price</a:t>
            </a:r>
          </a:p>
          <a:p>
            <a:pPr marL="180975" indent="-180975">
              <a:buClr>
                <a:srgbClr val="7030A0"/>
              </a:buClr>
            </a:pPr>
            <a:r>
              <a:rPr lang="en-GB" sz="1200" dirty="0">
                <a:latin typeface="Cambria Math"/>
                <a:ea typeface="Cambria Math"/>
              </a:rPr>
              <a:t>C … periodic coupon</a:t>
            </a:r>
            <a:endParaRPr lang="en-GB" sz="1200" noProof="0" dirty="0">
              <a:latin typeface="Cambria Math"/>
              <a:ea typeface="Cambria Math"/>
            </a:endParaRPr>
          </a:p>
          <a:p>
            <a:pPr marL="180975" indent="-180975">
              <a:buClr>
                <a:srgbClr val="7030A0"/>
              </a:buClr>
            </a:pPr>
            <a:r>
              <a:rPr lang="en-GB" sz="1200" dirty="0">
                <a:latin typeface="Cambria Math"/>
                <a:ea typeface="Cambria Math"/>
              </a:rPr>
              <a:t>FP … contract’s futures price</a:t>
            </a:r>
          </a:p>
          <a:p>
            <a:pPr marL="180975" indent="-180975">
              <a:buClr>
                <a:srgbClr val="7030A0"/>
              </a:buClr>
            </a:pPr>
            <a:r>
              <a:rPr lang="en-GB" sz="1200" noProof="0" dirty="0">
                <a:latin typeface="Cambria Math"/>
                <a:ea typeface="Cambria Math"/>
              </a:rPr>
              <a:t>CF … bond</a:t>
            </a:r>
            <a:r>
              <a:rPr lang="en-GB" sz="1200" dirty="0">
                <a:latin typeface="Cambria Math"/>
                <a:ea typeface="Cambria Math"/>
              </a:rPr>
              <a:t>’</a:t>
            </a:r>
            <a:r>
              <a:rPr lang="en-GB" sz="1200" noProof="0" dirty="0">
                <a:latin typeface="Cambria Math"/>
                <a:ea typeface="Cambria Math"/>
              </a:rPr>
              <a:t>s conversion factor</a:t>
            </a:r>
          </a:p>
          <a:p>
            <a:pPr marL="180975" indent="-180975">
              <a:buClr>
                <a:srgbClr val="7030A0"/>
              </a:buClr>
            </a:pPr>
            <a:r>
              <a:rPr lang="en-GB" sz="1200" dirty="0" err="1">
                <a:latin typeface="Cambria Math"/>
                <a:ea typeface="Cambria Math"/>
              </a:rPr>
              <a:t>n</a:t>
            </a:r>
            <a:r>
              <a:rPr lang="en-GB" sz="1200" baseline="-25000" dirty="0" err="1">
                <a:latin typeface="Cambria Math"/>
                <a:ea typeface="Cambria Math"/>
              </a:rPr>
              <a:t>T,DL</a:t>
            </a:r>
            <a:r>
              <a:rPr lang="en-GB" sz="1200" dirty="0">
                <a:latin typeface="Cambria Math"/>
                <a:ea typeface="Cambria Math"/>
              </a:rPr>
              <a:t> … days between today and delivery</a:t>
            </a:r>
          </a:p>
          <a:p>
            <a:pPr marL="180975" indent="-180975">
              <a:buClr>
                <a:srgbClr val="7030A0"/>
              </a:buClr>
            </a:pPr>
            <a:r>
              <a:rPr lang="en-GB" sz="1200" dirty="0" err="1">
                <a:latin typeface="Cambria Math"/>
                <a:ea typeface="Cambria Math"/>
              </a:rPr>
              <a:t>n</a:t>
            </a:r>
            <a:r>
              <a:rPr lang="en-GB" sz="1200" baseline="-25000" dirty="0" err="1">
                <a:latin typeface="Cambria Math"/>
                <a:ea typeface="Cambria Math"/>
              </a:rPr>
              <a:t>NC,DL</a:t>
            </a:r>
            <a:r>
              <a:rPr lang="en-GB" sz="1200" dirty="0">
                <a:latin typeface="Cambria Math"/>
                <a:ea typeface="Cambria Math"/>
              </a:rPr>
              <a:t> … days between next coupon and delivery</a:t>
            </a:r>
          </a:p>
          <a:p>
            <a:pPr marL="180975" indent="-180975">
              <a:buClr>
                <a:srgbClr val="7030A0"/>
              </a:buClr>
            </a:pPr>
            <a:r>
              <a:rPr lang="en-GB" sz="1200" dirty="0">
                <a:latin typeface="Cambria Math"/>
                <a:ea typeface="Cambria Math"/>
              </a:rPr>
              <a:t>AC</a:t>
            </a:r>
            <a:r>
              <a:rPr lang="en-GB" sz="1200" baseline="-25000" dirty="0">
                <a:latin typeface="Cambria Math"/>
                <a:ea typeface="Cambria Math"/>
              </a:rPr>
              <a:t>PC,T</a:t>
            </a:r>
            <a:r>
              <a:rPr lang="en-GB" sz="1200" dirty="0">
                <a:latin typeface="Cambria Math"/>
                <a:ea typeface="Cambria Math"/>
              </a:rPr>
              <a:t> … accrued coupon between previous coupon and today</a:t>
            </a:r>
          </a:p>
          <a:p>
            <a:pPr marL="180975" indent="-180975">
              <a:buClr>
                <a:srgbClr val="7030A0"/>
              </a:buClr>
            </a:pPr>
            <a:r>
              <a:rPr lang="en-GB" sz="1200" dirty="0">
                <a:latin typeface="Cambria Math"/>
                <a:ea typeface="Cambria Math"/>
              </a:rPr>
              <a:t>AC</a:t>
            </a:r>
            <a:r>
              <a:rPr lang="en-GB" sz="1200" baseline="-25000" dirty="0">
                <a:latin typeface="Cambria Math"/>
                <a:ea typeface="Cambria Math"/>
              </a:rPr>
              <a:t>NC,DL</a:t>
            </a:r>
            <a:r>
              <a:rPr lang="en-GB" sz="1200" dirty="0">
                <a:latin typeface="Cambria Math"/>
                <a:ea typeface="Cambria Math"/>
              </a:rPr>
              <a:t> … accrued coupon between next coupon and delivery</a:t>
            </a:r>
          </a:p>
          <a:p>
            <a:pPr marL="180975" indent="-180975">
              <a:buClr>
                <a:srgbClr val="7030A0"/>
              </a:buClr>
            </a:pPr>
            <a:r>
              <a:rPr lang="en-GB" sz="1200" dirty="0">
                <a:latin typeface="Cambria Math"/>
                <a:ea typeface="Cambria Math"/>
              </a:rPr>
              <a:t>AC</a:t>
            </a:r>
            <a:r>
              <a:rPr lang="en-GB" sz="1200" baseline="-25000" dirty="0">
                <a:latin typeface="Cambria Math"/>
                <a:ea typeface="Cambria Math"/>
              </a:rPr>
              <a:t>PC,DL</a:t>
            </a:r>
            <a:r>
              <a:rPr lang="en-GB" sz="1200" dirty="0">
                <a:latin typeface="Cambria Math"/>
                <a:ea typeface="Cambria Math"/>
              </a:rPr>
              <a:t> … accrued coupon between previous coupon and delivery</a:t>
            </a:r>
          </a:p>
          <a:p>
            <a:pPr marL="180975" indent="-180975">
              <a:buClr>
                <a:srgbClr val="7030A0"/>
              </a:buClr>
            </a:pPr>
            <a:r>
              <a:rPr lang="en-GB" sz="1200" dirty="0">
                <a:latin typeface="Cambria Math"/>
                <a:ea typeface="Cambria Math"/>
              </a:rPr>
              <a:t>AC</a:t>
            </a:r>
            <a:r>
              <a:rPr lang="en-GB" sz="1200" baseline="-25000" dirty="0">
                <a:latin typeface="Cambria Math"/>
                <a:ea typeface="Cambria Math"/>
              </a:rPr>
              <a:t>T,DL</a:t>
            </a:r>
            <a:r>
              <a:rPr lang="en-GB" sz="1200" dirty="0">
                <a:latin typeface="Cambria Math"/>
                <a:ea typeface="Cambria Math"/>
              </a:rPr>
              <a:t> … accrued coupon between today and delivery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ovéPole 31">
                <a:extLst>
                  <a:ext uri="{FF2B5EF4-FFF2-40B4-BE49-F238E27FC236}">
                    <a16:creationId xmlns:a16="http://schemas.microsoft.com/office/drawing/2014/main" id="{38A33C96-B633-E8B0-4BC5-0D76FA81F3F8}"/>
                  </a:ext>
                </a:extLst>
              </p:cNvPr>
              <p:cNvSpPr txBox="1"/>
              <p:nvPr/>
            </p:nvSpPr>
            <p:spPr>
              <a:xfrm>
                <a:off x="1512000" y="3735933"/>
                <a:ext cx="4265704" cy="6926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IRR</m:t>
                      </m:r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GB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88.19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i="1">
                              <a:latin typeface="Cambria Math"/>
                              <a:ea typeface="Cambria Math"/>
                            </a:rPr>
                            <m:t>1.07758</m:t>
                          </m:r>
                          <m:r>
                            <m:rPr>
                              <m:nor/>
                            </m:rPr>
                            <a:rPr lang="cs-CZ" sz="1400" b="0" i="0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cs-CZ" sz="1400">
                              <a:latin typeface="Cambria Math" panose="02040503050406030204" pitchFamily="18" charset="0"/>
                              <a:ea typeface="Cambria Math"/>
                            </a:rPr>
                            <m:t>4</m:t>
                          </m:r>
                          <m:r>
                            <a:rPr lang="en-GB" sz="1400" i="1">
                              <a:latin typeface="Cambria Math"/>
                              <a:ea typeface="Cambria Math"/>
                            </a:rPr>
                            <m:t>×</m:t>
                          </m:r>
                          <m:box>
                            <m:boxPr>
                              <m:ctrlPr>
                                <a:rPr lang="en-GB" sz="1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cs-CZ" sz="14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43</m:t>
                                  </m:r>
                                </m:num>
                                <m:den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180</m:t>
                                  </m:r>
                                </m:den>
                              </m:f>
                            </m:e>
                          </m:box>
                          <m:r>
                            <m:rPr>
                              <m:nor/>
                            </m:rPr>
                            <a:rPr lang="en-GB" sz="1400" b="0" i="0" smtClean="0">
                              <a:latin typeface="Cambria Math" panose="02040503050406030204" pitchFamily="18" charset="0"/>
                              <a:ea typeface="Cambria 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m:rPr>
                              <m:nor/>
                            </m:rPr>
                            <a:rPr lang="en-GB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4 </m:t>
                          </m:r>
                          <m:r>
                            <m:rPr>
                              <m:nor/>
                            </m:rPr>
                            <a:rPr lang="cs-CZ" sz="14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99.13</m:t>
                          </m:r>
                          <m: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)×365</m:t>
                          </m:r>
                        </m:num>
                        <m:den>
                          <m:r>
                            <a:rPr lang="en-GB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99,13</m:t>
                          </m:r>
                          <m: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89</m:t>
                          </m:r>
                          <m: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43</m:t>
                          </m:r>
                        </m:den>
                      </m:f>
                    </m:oMath>
                  </m:oMathPara>
                </a14:m>
                <a:endParaRPr lang="cs-CZ" sz="1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58775" indent="-358775"/>
                <a:r>
                  <a:rPr lang="cs-CZ" sz="1400" dirty="0">
                    <a:ea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cs-CZ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=3.57%</m:t>
                    </m:r>
                  </m:oMath>
                </a14:m>
                <a:endParaRPr lang="en-GB" sz="1400" i="1" dirty="0">
                  <a:latin typeface="Cambria Math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TextovéPole 31">
                <a:extLst>
                  <a:ext uri="{FF2B5EF4-FFF2-40B4-BE49-F238E27FC236}">
                    <a16:creationId xmlns:a16="http://schemas.microsoft.com/office/drawing/2014/main" id="{38A33C96-B633-E8B0-4BC5-0D76FA81F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000" y="3735933"/>
                <a:ext cx="4265704" cy="692690"/>
              </a:xfrm>
              <a:prstGeom prst="rect">
                <a:avLst/>
              </a:prstGeom>
              <a:blipFill>
                <a:blip r:embed="rId14"/>
                <a:stretch>
                  <a:fillRect b="-44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ovéPole 33">
                <a:extLst>
                  <a:ext uri="{FF2B5EF4-FFF2-40B4-BE49-F238E27FC236}">
                    <a16:creationId xmlns:a16="http://schemas.microsoft.com/office/drawing/2014/main" id="{E0D4401E-8685-B720-4889-D7B1035143EB}"/>
                  </a:ext>
                </a:extLst>
              </p:cNvPr>
              <p:cNvSpPr txBox="1"/>
              <p:nvPr/>
            </p:nvSpPr>
            <p:spPr>
              <a:xfrm>
                <a:off x="1512000" y="4795024"/>
                <a:ext cx="2045303" cy="3688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PP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IRR</m:t>
                          </m:r>
                          <m:f>
                            <m:fPr>
                              <m:ctrlPr>
                                <a:rPr lang="cs-CZ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cs-CZ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cs-CZ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T</m:t>
                                  </m:r>
                                  <m:r>
                                    <a:rPr lang="cs-CZ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cs-CZ" sz="14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DL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cs-CZ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365</m:t>
                              </m:r>
                            </m:den>
                          </m:f>
                        </m:e>
                      </m:d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IP</m:t>
                      </m:r>
                    </m:oMath>
                  </m:oMathPara>
                </a14:m>
                <a:endParaRPr lang="en-GB" sz="1400" i="1" dirty="0">
                  <a:latin typeface="Cambria Math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TextovéPole 33">
                <a:extLst>
                  <a:ext uri="{FF2B5EF4-FFF2-40B4-BE49-F238E27FC236}">
                    <a16:creationId xmlns:a16="http://schemas.microsoft.com/office/drawing/2014/main" id="{E0D4401E-8685-B720-4889-D7B103514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000" y="4795024"/>
                <a:ext cx="2045303" cy="368884"/>
              </a:xfrm>
              <a:prstGeom prst="rect">
                <a:avLst/>
              </a:prstGeom>
              <a:blipFill>
                <a:blip r:embed="rId15"/>
                <a:stretch>
                  <a:fillRect l="-2976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ovéPole 45">
                <a:extLst>
                  <a:ext uri="{FF2B5EF4-FFF2-40B4-BE49-F238E27FC236}">
                    <a16:creationId xmlns:a16="http://schemas.microsoft.com/office/drawing/2014/main" id="{D939A1DA-DC39-FDE0-9BD3-B20622D2CC3C}"/>
                  </a:ext>
                </a:extLst>
              </p:cNvPr>
              <p:cNvSpPr txBox="1"/>
              <p:nvPr/>
            </p:nvSpPr>
            <p:spPr>
              <a:xfrm>
                <a:off x="1512000" y="5183310"/>
                <a:ext cx="1800878" cy="4632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IRR</m:t>
                      </m:r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IP</m:t>
                          </m:r>
                          <m:r>
                            <m:rPr>
                              <m:nor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 </m:t>
                          </m:r>
                          <m:r>
                            <m:rPr>
                              <m:nor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PP</m:t>
                          </m:r>
                          <m:r>
                            <a:rPr lang="cs-CZ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)×365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PP</m:t>
                          </m:r>
                          <m: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cs-CZ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cs-CZ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cs-CZ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cs-CZ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cs-CZ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1400" i="1" dirty="0">
                  <a:latin typeface="Cambria Math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TextovéPole 45">
                <a:extLst>
                  <a:ext uri="{FF2B5EF4-FFF2-40B4-BE49-F238E27FC236}">
                    <a16:creationId xmlns:a16="http://schemas.microsoft.com/office/drawing/2014/main" id="{D939A1DA-DC39-FDE0-9BD3-B20622D2C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000" y="5183310"/>
                <a:ext cx="1800878" cy="463204"/>
              </a:xfrm>
              <a:prstGeom prst="rect">
                <a:avLst/>
              </a:prstGeom>
              <a:blipFill>
                <a:blip r:embed="rId16"/>
                <a:stretch>
                  <a:fillRect l="-3390" t="-2632" r="-678" b="-5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ovéPole 9">
                <a:extLst>
                  <a:ext uri="{FF2B5EF4-FFF2-40B4-BE49-F238E27FC236}">
                    <a16:creationId xmlns:a16="http://schemas.microsoft.com/office/drawing/2014/main" id="{E2C85C92-4636-2C8D-1B0A-DA44EBF71F31}"/>
                  </a:ext>
                </a:extLst>
              </p:cNvPr>
              <p:cNvSpPr txBox="1"/>
              <p:nvPr/>
            </p:nvSpPr>
            <p:spPr>
              <a:xfrm>
                <a:off x="3738839" y="4870147"/>
                <a:ext cx="1841273" cy="2248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IP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FP</m:t>
                      </m:r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r>
                        <m:rPr>
                          <m:nor/>
                        </m:rPr>
                        <a:rPr lang="cs-CZ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CF</m:t>
                      </m:r>
                      <m:r>
                        <a:rPr lang="cs-CZ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PC</m:t>
                          </m:r>
                          <m: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cs-CZ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DL</m:t>
                          </m:r>
                        </m:sub>
                      </m:sSub>
                    </m:oMath>
                  </m:oMathPara>
                </a14:m>
                <a:endParaRPr lang="en-GB" sz="1400" dirty="0">
                  <a:latin typeface="Cambria Math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ovéPole 9">
                <a:extLst>
                  <a:ext uri="{FF2B5EF4-FFF2-40B4-BE49-F238E27FC236}">
                    <a16:creationId xmlns:a16="http://schemas.microsoft.com/office/drawing/2014/main" id="{E2C85C92-4636-2C8D-1B0A-DA44EBF71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839" y="4870147"/>
                <a:ext cx="1841273" cy="224870"/>
              </a:xfrm>
              <a:prstGeom prst="rect">
                <a:avLst/>
              </a:prstGeom>
              <a:blipFill>
                <a:blip r:embed="rId17"/>
                <a:stretch>
                  <a:fillRect l="-3311" b="-108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ovéPole 35">
                <a:extLst>
                  <a:ext uri="{FF2B5EF4-FFF2-40B4-BE49-F238E27FC236}">
                    <a16:creationId xmlns:a16="http://schemas.microsoft.com/office/drawing/2014/main" id="{5A1BDA5F-12FB-9329-51B8-6DEC395864E9}"/>
                  </a:ext>
                </a:extLst>
              </p:cNvPr>
              <p:cNvSpPr txBox="1"/>
              <p:nvPr/>
            </p:nvSpPr>
            <p:spPr>
              <a:xfrm>
                <a:off x="1188000" y="5595418"/>
                <a:ext cx="6803560" cy="349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cs-CZ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80000" indent="-180000">
                  <a:buClr>
                    <a:srgbClr val="7030A0"/>
                  </a:buClr>
                  <a:buFont typeface="Wingdings" panose="05000000000000000000" pitchFamily="2" charset="2"/>
                  <a:buChar char="§"/>
                </a:pPr>
                <a:r>
                  <a:rPr lang="en-GB" sz="1600" noProof="0" dirty="0">
                    <a:latin typeface="Cambria Math"/>
                    <a:ea typeface="Cambria Math"/>
                  </a:rPr>
                  <a:t>The short receives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6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PC</m:t>
                        </m:r>
                        <m:r>
                          <a:rPr lang="en-GB" sz="16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GB" sz="16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DL</m:t>
                        </m:r>
                      </m:sub>
                    </m:sSub>
                  </m:oMath>
                </a14:m>
                <a:r>
                  <a:rPr lang="en-GB" sz="1600" noProof="0" dirty="0">
                    <a:latin typeface="Cambria Math"/>
                    <a:ea typeface="Cambria Math"/>
                  </a:rPr>
                  <a:t> but pays </a:t>
                </a:r>
                <a:r>
                  <a:rPr lang="en-GB" sz="1600" dirty="0">
                    <a:latin typeface="Cambria Math"/>
                    <a:ea typeface="Cambria Math"/>
                  </a:rPr>
                  <a:t>AC</a:t>
                </a:r>
                <a:r>
                  <a:rPr lang="en-GB" sz="1600" baseline="-25000" dirty="0">
                    <a:latin typeface="Cambria Math"/>
                    <a:ea typeface="Cambria Math"/>
                  </a:rPr>
                  <a:t>PC,T </a:t>
                </a:r>
                <a:r>
                  <a:rPr lang="en-GB" sz="1600" noProof="0" dirty="0">
                    <a:latin typeface="Cambria Math"/>
                    <a:ea typeface="Cambria Math"/>
                  </a:rPr>
                  <a:t>, so net accrued coupon is </a:t>
                </a:r>
                <a:r>
                  <a:rPr lang="en-GB" sz="1600" dirty="0">
                    <a:latin typeface="Cambria Math"/>
                    <a:ea typeface="Cambria Math"/>
                  </a:rPr>
                  <a:t>AC</a:t>
                </a:r>
                <a:r>
                  <a:rPr lang="en-GB" sz="1600" baseline="-25000" dirty="0">
                    <a:latin typeface="Cambria Math"/>
                    <a:ea typeface="Cambria Math"/>
                  </a:rPr>
                  <a:t>T,DL </a:t>
                </a:r>
                <a:endParaRPr lang="en-GB" sz="1600" noProof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ovéPole 35">
                <a:extLst>
                  <a:ext uri="{FF2B5EF4-FFF2-40B4-BE49-F238E27FC236}">
                    <a16:creationId xmlns:a16="http://schemas.microsoft.com/office/drawing/2014/main" id="{5A1BDA5F-12FB-9329-51B8-6DEC39586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000" y="5595418"/>
                <a:ext cx="6803560" cy="349326"/>
              </a:xfrm>
              <a:prstGeom prst="rect">
                <a:avLst/>
              </a:prstGeom>
              <a:blipFill>
                <a:blip r:embed="rId18"/>
                <a:stretch>
                  <a:fillRect l="-358" t="-7018" b="-175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4372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052000" y="2160000"/>
            <a:ext cx="5976000" cy="1800000"/>
          </a:xfrm>
        </p:spPr>
        <p:txBody>
          <a:bodyPr/>
          <a:lstStyle/>
          <a:p>
            <a:pPr marL="182880" indent="0" algn="l">
              <a:buNone/>
            </a:pPr>
            <a:r>
              <a:rPr lang="en-GB" dirty="0">
                <a:solidFill>
                  <a:srgbClr val="7030A0"/>
                </a:solidFill>
              </a:rPr>
              <a:t>See you </a:t>
            </a:r>
            <a:br>
              <a:rPr lang="en-GB" dirty="0">
                <a:solidFill>
                  <a:srgbClr val="7030A0"/>
                </a:solidFill>
              </a:rPr>
            </a:br>
            <a:r>
              <a:rPr lang="en-GB" dirty="0">
                <a:solidFill>
                  <a:srgbClr val="7030A0"/>
                </a:solidFill>
              </a:rPr>
              <a:t>in the next lecture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body" idx="1"/>
          </p:nvPr>
        </p:nvSpPr>
        <p:spPr>
          <a:xfrm>
            <a:off x="180000" y="288000"/>
            <a:ext cx="3600000" cy="360000"/>
          </a:xfrm>
        </p:spPr>
        <p:txBody>
          <a:bodyPr>
            <a:noAutofit/>
          </a:bodyPr>
          <a:lstStyle/>
          <a:p>
            <a:pPr marL="361950" indent="-361950" algn="l">
              <a:spcBef>
                <a:spcPts val="0"/>
              </a:spcBef>
              <a:spcAft>
                <a:spcPts val="0"/>
              </a:spcAft>
            </a:pPr>
            <a:r>
              <a:rPr lang="en-GB" sz="1600" cap="small" dirty="0">
                <a:latin typeface="Algerian" panose="04020705040A02060702" pitchFamily="82" charset="0"/>
                <a:ea typeface="Tahoma" panose="020B0604030504040204" pitchFamily="34" charset="0"/>
                <a:cs typeface="Tahoma" panose="020B0604030504040204" pitchFamily="34" charset="0"/>
              </a:rPr>
              <a:t>©</a:t>
            </a:r>
            <a:r>
              <a:rPr lang="en-GB" sz="1800" cap="small" dirty="0">
                <a:latin typeface="Algerian" panose="04020705040A02060702" pitchFamily="82" charset="0"/>
                <a:ea typeface="Tahoma" panose="020B0604030504040204" pitchFamily="34" charset="0"/>
                <a:cs typeface="Tahoma" panose="020B0604030504040204" pitchFamily="34" charset="0"/>
              </a:rPr>
              <a:t> O.D. Lecturing Legacy</a:t>
            </a:r>
          </a:p>
        </p:txBody>
      </p:sp>
      <p:sp>
        <p:nvSpPr>
          <p:cNvPr id="9" name="Zástupný symbol pro číslo snímku 2"/>
          <p:cNvSpPr>
            <a:spLocks noGrp="1"/>
          </p:cNvSpPr>
          <p:nvPr>
            <p:ph type="sldNum" sz="quarter" idx="12"/>
          </p:nvPr>
        </p:nvSpPr>
        <p:spPr>
          <a:xfrm>
            <a:off x="7164000" y="6336000"/>
            <a:ext cx="1800000" cy="360000"/>
          </a:xfrm>
        </p:spPr>
        <p:txBody>
          <a:bodyPr/>
          <a:lstStyle/>
          <a:p>
            <a:pPr algn="r"/>
            <a:r>
              <a:rPr lang="cs-CZ" dirty="0"/>
              <a:t>13</a:t>
            </a:r>
          </a:p>
        </p:txBody>
      </p:sp>
      <p:sp>
        <p:nvSpPr>
          <p:cNvPr id="10" name="Zástupný symbol pro zápatí 1"/>
          <p:cNvSpPr>
            <a:spLocks noGrp="1"/>
          </p:cNvSpPr>
          <p:nvPr>
            <p:ph type="ftr" sz="quarter" idx="11"/>
          </p:nvPr>
        </p:nvSpPr>
        <p:spPr>
          <a:xfrm>
            <a:off x="180000" y="6336000"/>
            <a:ext cx="3312000" cy="360000"/>
          </a:xfrm>
        </p:spPr>
        <p:txBody>
          <a:bodyPr/>
          <a:lstStyle/>
          <a:p>
            <a:r>
              <a:rPr lang="en-GB" dirty="0"/>
              <a:t>Examples of financial futures</a:t>
            </a:r>
          </a:p>
        </p:txBody>
      </p:sp>
    </p:spTree>
    <p:extLst>
      <p:ext uri="{BB962C8B-B14F-4D97-AF65-F5344CB8AC3E}">
        <p14:creationId xmlns:p14="http://schemas.microsoft.com/office/powerpoint/2010/main" val="10582353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UIDATA" val="&lt;database version=&quot;10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 - &amp;quot;Essentials of bond pricing&amp;quot;&quot;/&gt;&lt;property id=&quot;20307&quot; value=&quot;256&quot;/&gt;&lt;/object&gt;&lt;object type=&quot;3&quot; unique_id=&quot;10004&quot;&gt;&lt;property id=&quot;20148&quot; value=&quot;5&quot;/&gt;&lt;property id=&quot;20300&quot; value=&quot;Slide 2 - &amp;quot;Straight bond&amp;quot;&quot;/&gt;&lt;property id=&quot;20307&quot; value=&quot;260&quot;/&gt;&lt;/object&gt;&lt;object type=&quot;3&quot; unique_id=&quot;10005&quot;&gt;&lt;property id=&quot;20148&quot; value=&quot;5&quot;/&gt;&lt;property id=&quot;20300&quot; value=&quot;Slide 3 - &amp;quot;Diversities in bond contracts (1)&amp;quot;&quot;/&gt;&lt;property id=&quot;20307&quot; value=&quot;262&quot;/&gt;&lt;/object&gt;&lt;object type=&quot;3&quot; unique_id=&quot;10006&quot;&gt;&lt;property id=&quot;20148&quot; value=&quot;5&quot;/&gt;&lt;property id=&quot;20300&quot; value=&quot;Slide 4 - &amp;quot;Diversities in bond contracts (2)&amp;quot;&quot;/&gt;&lt;property id=&quot;20307&quot; value=&quot;263&quot;/&gt;&lt;/object&gt;&lt;object type=&quot;3&quot; unique_id=&quot;10007&quot;&gt;&lt;property id=&quot;20148&quot; value=&quot;5&quot;/&gt;&lt;property id=&quot;20300&quot; value=&quot;Slide 5 - &amp;quot;Underlying principles of pricing&amp;quot;&quot;/&gt;&lt;property id=&quot;20307&quot; value=&quot;270&quot;/&gt;&lt;/object&gt;&lt;object type=&quot;3&quot; unique_id=&quot;10008&quot;&gt;&lt;property id=&quot;20148&quot; value=&quot;5&quot;/&gt;&lt;property id=&quot;20300&quot; value=&quot;Slide 6 - &amp;quot;Discounting conventions (1)&amp;quot;&quot;/&gt;&lt;property id=&quot;20307&quot; value=&quot;265&quot;/&gt;&lt;/object&gt;&lt;object type=&quot;3&quot; unique_id=&quot;10009&quot;&gt;&lt;property id=&quot;20148&quot; value=&quot;5&quot;/&gt;&lt;property id=&quot;20300&quot; value=&quot;Slide 7 - &amp;quot;Discounting conventions (2)&amp;quot;&quot;/&gt;&lt;property id=&quot;20307&quot; value=&quot;266&quot;/&gt;&lt;/object&gt;&lt;object type=&quot;3&quot; unique_id=&quot;10010&quot;&gt;&lt;property id=&quot;20148&quot; value=&quot;5&quot;/&gt;&lt;property id=&quot;20300&quot; value=&quot;Slide 8 - &amp;quot;Clean and full price&amp;quot;&quot;/&gt;&lt;property id=&quot;20307&quot; value=&quot;267&quot;/&gt;&lt;/object&gt;&lt;object type=&quot;3&quot; unique_id=&quot;10011&quot;&gt;&lt;property id=&quot;20148&quot; value=&quot;5&quot;/&gt;&lt;property id=&quot;20300&quot; value=&quot;Slide 9 - &amp;quot;Price-yield relationship&amp;quot;&quot;/&gt;&lt;property id=&quot;20307&quot; value=&quot;261&quot;/&gt;&lt;/object&gt;&lt;object type=&quot;3&quot; unique_id=&quot;10012&quot;&gt;&lt;property id=&quot;20148&quot; value=&quot;5&quot;/&gt;&lt;property id=&quot;20300&quot; value=&quot;Slide 10 - &amp;quot;Price–maturity relationship&amp;quot;&quot;/&gt;&lt;property id=&quot;20307&quot; value=&quot;269&quot;/&gt;&lt;/object&gt;&lt;object type=&quot;3&quot; unique_id=&quot;10013&quot;&gt;&lt;property id=&quot;20148&quot; value=&quot;5&quot;/&gt;&lt;property id=&quot;20300&quot; value=&quot;Slide 11 - &amp;quot;Yield to maturity&amp;quot;&quot;/&gt;&lt;property id=&quot;20307&quot; value=&quot;268&quot;/&gt;&lt;/object&gt;&lt;object type=&quot;3&quot; unique_id=&quot;10014&quot;&gt;&lt;property id=&quot;20148&quot; value=&quot;5&quot;/&gt;&lt;property id=&quot;20300&quot; value=&quot;Slide 12 - &amp;quot;Other yield measures&amp;quot;&quot;/&gt;&lt;property id=&quot;20307&quot; value=&quot;271&quot;/&gt;&lt;/object&gt;&lt;object type=&quot;3&quot; unique_id=&quot;10015&quot;&gt;&lt;property id=&quot;20148&quot; value=&quot;5&quot;/&gt;&lt;property id=&quot;20300&quot; value=&quot;Slide 13 - &amp;quot;See you  in the next lecture&amp;quot;&quot;/&gt;&lt;property id=&quot;20307&quot; value=&quot;272&quot;/&gt;&lt;/object&gt;&lt;/object&gt;&lt;object type=&quot;8&quot; unique_id=&quot;10032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FMI">
  <a:themeElements>
    <a:clrScheme name="Aerodynamika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Aerodynamika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erodynamika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>
    <a:lnDef>
      <a:spPr>
        <a:ln w="25400">
          <a:headEnd type="none" w="lg" len="med"/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600" i="1" smtClean="0">
            <a:latin typeface="Cambria Math"/>
            <a:ea typeface="Cambria Math" panose="02040503050406030204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19773</TotalTime>
  <Words>2817</Words>
  <Application>Microsoft Office PowerPoint</Application>
  <PresentationFormat>Předvádění na obrazovce (4:3)</PresentationFormat>
  <Paragraphs>479</Paragraphs>
  <Slides>16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3" baseType="lpstr">
      <vt:lpstr>Algerian</vt:lpstr>
      <vt:lpstr>Calibri</vt:lpstr>
      <vt:lpstr>Cambria Math</vt:lpstr>
      <vt:lpstr>Georgia</vt:lpstr>
      <vt:lpstr>Trebuchet MS</vt:lpstr>
      <vt:lpstr>Wingdings</vt:lpstr>
      <vt:lpstr>FMI</vt:lpstr>
      <vt:lpstr>Examples of financial futures</vt:lpstr>
      <vt:lpstr>Introduction</vt:lpstr>
      <vt:lpstr>Stock index futures (1)</vt:lpstr>
      <vt:lpstr>Stock index futures (2)</vt:lpstr>
      <vt:lpstr>Currency futures (1)</vt:lpstr>
      <vt:lpstr>Currency futures (2)</vt:lpstr>
      <vt:lpstr>Short-term interest rate futures (1)</vt:lpstr>
      <vt:lpstr>Short-term interest rate futures (2)</vt:lpstr>
      <vt:lpstr>Long-term interest rate futures</vt:lpstr>
      <vt:lpstr>LTIRF – delivery options</vt:lpstr>
      <vt:lpstr>LTIRF – conversion factor</vt:lpstr>
      <vt:lpstr>LTIRF – cost-of-carry transaction</vt:lpstr>
      <vt:lpstr>LTIRF – delivery date</vt:lpstr>
      <vt:lpstr>LTIRF – CTD bond</vt:lpstr>
      <vt:lpstr>LTIRF – IRR formulas</vt:lpstr>
      <vt:lpstr>See you  in the next lecture</vt:lpstr>
    </vt:vector>
  </TitlesOfParts>
  <Company>Institute of Economic Studies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Examples of financial futures</dc:title>
  <dc:subject>FI - TALKING SLIDES</dc:subject>
  <dc:creator>Oldřich DĚDEK</dc:creator>
  <cp:keywords>pptxFI_TSL11</cp:keywords>
  <dc:description>Financial markets instruments</dc:description>
  <cp:lastModifiedBy>Oldrich DEDEK</cp:lastModifiedBy>
  <cp:revision>2333</cp:revision>
  <dcterms:created xsi:type="dcterms:W3CDTF">2014-05-11T12:40:16Z</dcterms:created>
  <dcterms:modified xsi:type="dcterms:W3CDTF">2026-09-21T16:59:54Z</dcterms:modified>
  <cp:category>O.D. Lecturing Legacy</cp:category>
  <cp:contentStatus>OD Web</cp:contentStatus>
</cp:coreProperties>
</file>