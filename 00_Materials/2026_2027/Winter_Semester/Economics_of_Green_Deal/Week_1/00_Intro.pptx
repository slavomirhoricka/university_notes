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57" r:id="rId10"/>
    <p:sldId id="258" r:id="rId11"/>
  </p:sldIdLst>
  <p:sldSz cx="9144000" cy="6858000" type="screen4x3"/>
  <p:notesSz cx="6797675" cy="9926638"/>
  <p:embeddedFontLst>
    <p:embeddedFont>
      <p:font typeface="Arial Black" panose="020B0A04020102020204" pitchFamily="34" charset="0"/>
      <p:regular r:id="rId13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Dl38LnVnFMa5bT/2C91T2YMgI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2946768" cy="49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325" y="1"/>
            <a:ext cx="2946767" cy="49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293" y="4715351"/>
            <a:ext cx="5439089" cy="446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7533"/>
            <a:ext cx="2946768" cy="49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325" y="9427533"/>
            <a:ext cx="2946767" cy="49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1:notes"/>
          <p:cNvSpPr txBox="1">
            <a:spLocks noGrp="1"/>
          </p:cNvSpPr>
          <p:nvPr>
            <p:ph type="body" idx="1"/>
          </p:nvPr>
        </p:nvSpPr>
        <p:spPr>
          <a:xfrm>
            <a:off x="679293" y="4715351"/>
            <a:ext cx="5439089" cy="446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:notes"/>
          <p:cNvSpPr txBox="1">
            <a:spLocks noGrp="1"/>
          </p:cNvSpPr>
          <p:nvPr>
            <p:ph type="sldNum" idx="12"/>
          </p:nvPr>
        </p:nvSpPr>
        <p:spPr>
          <a:xfrm>
            <a:off x="3849325" y="9427533"/>
            <a:ext cx="2946767" cy="49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sldNum" idx="12"/>
          </p:nvPr>
        </p:nvSpPr>
        <p:spPr>
          <a:xfrm>
            <a:off x="3849325" y="9427533"/>
            <a:ext cx="2946767" cy="49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:notes"/>
          <p:cNvSpPr txBox="1"/>
          <p:nvPr/>
        </p:nvSpPr>
        <p:spPr>
          <a:xfrm>
            <a:off x="3849325" y="9427533"/>
            <a:ext cx="2946767" cy="49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79293" y="4715351"/>
            <a:ext cx="5439089" cy="446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79293" y="4715351"/>
            <a:ext cx="5439089" cy="446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:notes"/>
          <p:cNvSpPr txBox="1">
            <a:spLocks noGrp="1"/>
          </p:cNvSpPr>
          <p:nvPr>
            <p:ph type="sldNum" idx="12"/>
          </p:nvPr>
        </p:nvSpPr>
        <p:spPr>
          <a:xfrm>
            <a:off x="3849325" y="9427533"/>
            <a:ext cx="2946767" cy="49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sldNum" idx="12"/>
          </p:nvPr>
        </p:nvSpPr>
        <p:spPr>
          <a:xfrm>
            <a:off x="3849325" y="9427533"/>
            <a:ext cx="2946767" cy="49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:notes"/>
          <p:cNvSpPr txBox="1"/>
          <p:nvPr/>
        </p:nvSpPr>
        <p:spPr>
          <a:xfrm>
            <a:off x="3849325" y="9427533"/>
            <a:ext cx="2946767" cy="49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79293" y="4715351"/>
            <a:ext cx="5439089" cy="446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sldNum" idx="12"/>
          </p:nvPr>
        </p:nvSpPr>
        <p:spPr>
          <a:xfrm>
            <a:off x="3849325" y="9427533"/>
            <a:ext cx="2946767" cy="49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:notes"/>
          <p:cNvSpPr txBox="1"/>
          <p:nvPr/>
        </p:nvSpPr>
        <p:spPr>
          <a:xfrm>
            <a:off x="3849325" y="9427533"/>
            <a:ext cx="2946767" cy="49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79293" y="4715351"/>
            <a:ext cx="5439089" cy="446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79293" y="4715351"/>
            <a:ext cx="5439089" cy="446659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79293" y="4715351"/>
            <a:ext cx="5439089" cy="446659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3423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79293" y="4715351"/>
            <a:ext cx="5439089" cy="446659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2661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>
            <a:spLocks noGrp="1"/>
          </p:cNvSpPr>
          <p:nvPr>
            <p:ph type="body" idx="1"/>
          </p:nvPr>
        </p:nvSpPr>
        <p:spPr>
          <a:xfrm>
            <a:off x="679293" y="4715351"/>
            <a:ext cx="5439089" cy="446659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8005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79293" y="4715351"/>
            <a:ext cx="5439089" cy="446659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535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adpis a obsah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>
            <a:spLocks noGrp="1"/>
          </p:cNvSpPr>
          <p:nvPr>
            <p:ph type="title"/>
          </p:nvPr>
        </p:nvSpPr>
        <p:spPr>
          <a:xfrm>
            <a:off x="755650" y="692150"/>
            <a:ext cx="7924800" cy="1011238"/>
          </a:xfrm>
          <a:prstGeom prst="roundRect">
            <a:avLst>
              <a:gd name="adj" fmla="val 21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body" idx="1"/>
          </p:nvPr>
        </p:nvSpPr>
        <p:spPr>
          <a:xfrm>
            <a:off x="838200" y="2060575"/>
            <a:ext cx="7693025" cy="40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 algn="l">
              <a:spcBef>
                <a:spcPts val="360"/>
              </a:spcBef>
              <a:spcAft>
                <a:spcPts val="0"/>
              </a:spcAft>
              <a:buSzPts val="1350"/>
              <a:buChar char="–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SzPts val="1440"/>
              <a:buChar char="–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5pPr>
            <a:lvl6pPr marL="2743200" lvl="5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6pPr>
            <a:lvl7pPr marL="3200400" lvl="6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7pPr>
            <a:lvl8pPr marL="3657600" lvl="7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8pPr>
            <a:lvl9pPr marL="4114800" lvl="8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dt" idx="10"/>
          </p:nvPr>
        </p:nvSpPr>
        <p:spPr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ftr" idx="11"/>
          </p:nvPr>
        </p:nvSpPr>
        <p:spPr>
          <a:xfrm>
            <a:off x="5795963" y="6248400"/>
            <a:ext cx="2892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sldNum" idx="12"/>
          </p:nvPr>
        </p:nvSpPr>
        <p:spPr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rázdný" type="blank">
  <p:cSld name="BLANK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>
            <a:spLocks noGrp="1"/>
          </p:cNvSpPr>
          <p:nvPr>
            <p:ph type="dt" idx="10"/>
          </p:nvPr>
        </p:nvSpPr>
        <p:spPr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ftr" idx="11"/>
          </p:nvPr>
        </p:nvSpPr>
        <p:spPr>
          <a:xfrm>
            <a:off x="5795963" y="6248400"/>
            <a:ext cx="2892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sldNum" idx="12"/>
          </p:nvPr>
        </p:nvSpPr>
        <p:spPr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ouze nadpis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>
            <a:spLocks noGrp="1"/>
          </p:cNvSpPr>
          <p:nvPr>
            <p:ph type="title"/>
          </p:nvPr>
        </p:nvSpPr>
        <p:spPr>
          <a:xfrm>
            <a:off x="755650" y="692150"/>
            <a:ext cx="7924800" cy="1011238"/>
          </a:xfrm>
          <a:prstGeom prst="roundRect">
            <a:avLst>
              <a:gd name="adj" fmla="val 21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dt" idx="10"/>
          </p:nvPr>
        </p:nvSpPr>
        <p:spPr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ftr" idx="11"/>
          </p:nvPr>
        </p:nvSpPr>
        <p:spPr>
          <a:xfrm>
            <a:off x="5795963" y="6248400"/>
            <a:ext cx="2892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sldNum" idx="12"/>
          </p:nvPr>
        </p:nvSpPr>
        <p:spPr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Úvodní snímek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/>
          <p:nvPr/>
        </p:nvSpPr>
        <p:spPr>
          <a:xfrm>
            <a:off x="0" y="0"/>
            <a:ext cx="1187450" cy="6858000"/>
          </a:xfrm>
          <a:prstGeom prst="rect">
            <a:avLst/>
          </a:prstGeom>
          <a:solidFill>
            <a:srgbClr val="0061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35;p14"/>
          <p:cNvSpPr/>
          <p:nvPr/>
        </p:nvSpPr>
        <p:spPr>
          <a:xfrm>
            <a:off x="500063" y="990600"/>
            <a:ext cx="3784600" cy="1905000"/>
          </a:xfrm>
          <a:prstGeom prst="roundRect">
            <a:avLst>
              <a:gd name="adj" fmla="val 50000"/>
            </a:avLst>
          </a:prstGeom>
          <a:solidFill>
            <a:srgbClr val="F9FD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" name="Google Shape;36;p14" descr="Lo-knih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1188" y="4868863"/>
            <a:ext cx="1368425" cy="158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4"/>
          <p:cNvSpPr txBox="1">
            <a:spLocks noGrp="1"/>
          </p:cNvSpPr>
          <p:nvPr>
            <p:ph type="subTitle" idx="1"/>
          </p:nvPr>
        </p:nvSpPr>
        <p:spPr>
          <a:xfrm>
            <a:off x="4643438" y="3933825"/>
            <a:ext cx="40132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1800"/>
              <a:buFont typeface="Noto Sans Symbols"/>
              <a:buNone/>
              <a:defRPr sz="2400" b="1"/>
            </a:lvl1pPr>
            <a:lvl2pPr lvl="1" algn="l">
              <a:spcBef>
                <a:spcPts val="360"/>
              </a:spcBef>
              <a:spcAft>
                <a:spcPts val="0"/>
              </a:spcAft>
              <a:buSzPts val="135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4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>
            <a:spLocks noGrp="1"/>
          </p:cNvSpPr>
          <p:nvPr>
            <p:ph type="ctrTitle"/>
          </p:nvPr>
        </p:nvSpPr>
        <p:spPr>
          <a:xfrm>
            <a:off x="468313" y="990600"/>
            <a:ext cx="8447087" cy="1905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dt" idx="10"/>
          </p:nvPr>
        </p:nvSpPr>
        <p:spPr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ft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sldNum" idx="12"/>
          </p:nvPr>
        </p:nvSpPr>
        <p:spPr>
          <a:xfrm>
            <a:off x="76200" y="624840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Záhlaví části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oundRect">
            <a:avLst>
              <a:gd name="adj" fmla="val 21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120"/>
              <a:buFont typeface="Arial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dt" idx="10"/>
          </p:nvPr>
        </p:nvSpPr>
        <p:spPr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ftr" idx="11"/>
          </p:nvPr>
        </p:nvSpPr>
        <p:spPr>
          <a:xfrm>
            <a:off x="5795963" y="6248400"/>
            <a:ext cx="2892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sldNum" idx="12"/>
          </p:nvPr>
        </p:nvSpPr>
        <p:spPr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va obsahy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>
            <a:spLocks noGrp="1"/>
          </p:cNvSpPr>
          <p:nvPr>
            <p:ph type="title"/>
          </p:nvPr>
        </p:nvSpPr>
        <p:spPr>
          <a:xfrm>
            <a:off x="755650" y="692150"/>
            <a:ext cx="7924800" cy="1011238"/>
          </a:xfrm>
          <a:prstGeom prst="roundRect">
            <a:avLst>
              <a:gd name="adj" fmla="val 21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body" idx="1"/>
          </p:nvPr>
        </p:nvSpPr>
        <p:spPr>
          <a:xfrm>
            <a:off x="838200" y="2060575"/>
            <a:ext cx="3770313" cy="40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1pPr>
            <a:lvl2pPr marL="914400" lvl="1" indent="-342900" algn="l">
              <a:spcBef>
                <a:spcPts val="480"/>
              </a:spcBef>
              <a:spcAft>
                <a:spcPts val="0"/>
              </a:spcAft>
              <a:buSzPts val="1800"/>
              <a:buFont typeface="Arial"/>
              <a:buChar char="–"/>
              <a:defRPr sz="2400"/>
            </a:lvl2pPr>
            <a:lvl3pPr marL="1371600" lvl="2" indent="-32385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SzPts val="1440"/>
              <a:buFont typeface="Arial"/>
              <a:buChar char="–"/>
              <a:defRPr sz="1800"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5pPr>
            <a:lvl6pPr marL="2743200" lvl="5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6pPr>
            <a:lvl7pPr marL="3200400" lvl="6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7pPr>
            <a:lvl8pPr marL="3657600" lvl="7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8pPr>
            <a:lvl9pPr marL="4114800" lvl="8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body" idx="2"/>
          </p:nvPr>
        </p:nvSpPr>
        <p:spPr>
          <a:xfrm>
            <a:off x="4760913" y="2060575"/>
            <a:ext cx="3770312" cy="40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1pPr>
            <a:lvl2pPr marL="914400" lvl="1" indent="-342900" algn="l">
              <a:spcBef>
                <a:spcPts val="480"/>
              </a:spcBef>
              <a:spcAft>
                <a:spcPts val="0"/>
              </a:spcAft>
              <a:buSzPts val="1800"/>
              <a:buFont typeface="Arial"/>
              <a:buChar char="–"/>
              <a:defRPr sz="2400"/>
            </a:lvl2pPr>
            <a:lvl3pPr marL="1371600" lvl="2" indent="-32385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SzPts val="1440"/>
              <a:buFont typeface="Arial"/>
              <a:buChar char="–"/>
              <a:defRPr sz="1800"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5pPr>
            <a:lvl6pPr marL="2743200" lvl="5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6pPr>
            <a:lvl7pPr marL="3200400" lvl="6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7pPr>
            <a:lvl8pPr marL="3657600" lvl="7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8pPr>
            <a:lvl9pPr marL="4114800" lvl="8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dt" idx="10"/>
          </p:nvPr>
        </p:nvSpPr>
        <p:spPr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ftr" idx="11"/>
          </p:nvPr>
        </p:nvSpPr>
        <p:spPr>
          <a:xfrm>
            <a:off x="5795963" y="6248400"/>
            <a:ext cx="2892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6"/>
          <p:cNvSpPr txBox="1">
            <a:spLocks noGrp="1"/>
          </p:cNvSpPr>
          <p:nvPr>
            <p:ph type="sldNum" idx="12"/>
          </p:nvPr>
        </p:nvSpPr>
        <p:spPr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orovnání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8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5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28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1pPr>
            <a:lvl2pPr marL="914400" lvl="1" indent="-323850" algn="l">
              <a:spcBef>
                <a:spcPts val="400"/>
              </a:spcBef>
              <a:spcAft>
                <a:spcPts val="0"/>
              </a:spcAft>
              <a:buSzPts val="1500"/>
              <a:buFont typeface="Arial"/>
              <a:buChar char="–"/>
              <a:defRPr sz="2000"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3pPr>
            <a:lvl4pPr marL="1828800" lvl="3" indent="-309880" algn="l">
              <a:spcBef>
                <a:spcPts val="320"/>
              </a:spcBef>
              <a:spcAft>
                <a:spcPts val="0"/>
              </a:spcAft>
              <a:buSzPts val="1280"/>
              <a:buFont typeface="Arial"/>
              <a:buChar char="–"/>
              <a:defRPr sz="16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5pPr>
            <a:lvl6pPr marL="2743200" lvl="5" indent="-294639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6pPr>
            <a:lvl7pPr marL="3200400" lvl="6" indent="-294639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7pPr>
            <a:lvl8pPr marL="3657600" lvl="7" indent="-294640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8pPr>
            <a:lvl9pPr marL="4114800" lvl="8" indent="-294640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8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5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28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1pPr>
            <a:lvl2pPr marL="914400" lvl="1" indent="-323850" algn="l">
              <a:spcBef>
                <a:spcPts val="400"/>
              </a:spcBef>
              <a:spcAft>
                <a:spcPts val="0"/>
              </a:spcAft>
              <a:buSzPts val="1500"/>
              <a:buFont typeface="Arial"/>
              <a:buChar char="–"/>
              <a:defRPr sz="2000"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3pPr>
            <a:lvl4pPr marL="1828800" lvl="3" indent="-309880" algn="l">
              <a:spcBef>
                <a:spcPts val="320"/>
              </a:spcBef>
              <a:spcAft>
                <a:spcPts val="0"/>
              </a:spcAft>
              <a:buSzPts val="1280"/>
              <a:buFont typeface="Arial"/>
              <a:buChar char="–"/>
              <a:defRPr sz="16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5pPr>
            <a:lvl6pPr marL="2743200" lvl="5" indent="-294639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6pPr>
            <a:lvl7pPr marL="3200400" lvl="6" indent="-294639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7pPr>
            <a:lvl8pPr marL="3657600" lvl="7" indent="-294640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8pPr>
            <a:lvl9pPr marL="4114800" lvl="8" indent="-294640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dt" idx="10"/>
          </p:nvPr>
        </p:nvSpPr>
        <p:spPr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ftr" idx="11"/>
          </p:nvPr>
        </p:nvSpPr>
        <p:spPr>
          <a:xfrm>
            <a:off x="5795963" y="6248400"/>
            <a:ext cx="2892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sldNum" idx="12"/>
          </p:nvPr>
        </p:nvSpPr>
        <p:spPr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bsah s titulkem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oundRect">
            <a:avLst>
              <a:gd name="adj" fmla="val 21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640"/>
              </a:spcBef>
              <a:spcAft>
                <a:spcPts val="0"/>
              </a:spcAft>
              <a:buSzPts val="2400"/>
              <a:buChar char="●"/>
              <a:defRPr sz="3200"/>
            </a:lvl1pPr>
            <a:lvl2pPr marL="914400" lvl="1" indent="-361950" algn="l">
              <a:spcBef>
                <a:spcPts val="560"/>
              </a:spcBef>
              <a:spcAft>
                <a:spcPts val="0"/>
              </a:spcAft>
              <a:buSzPts val="2100"/>
              <a:buFont typeface="Arial"/>
              <a:buChar char="–"/>
              <a:defRPr sz="2800"/>
            </a:lvl2pPr>
            <a:lvl3pPr marL="1371600" lvl="2" indent="-3429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–"/>
              <a:defRPr sz="2000"/>
            </a:lvl4pPr>
            <a:lvl5pPr marL="2286000" lvl="4" indent="-31115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5pPr>
            <a:lvl6pPr marL="2743200" lvl="5" indent="-31115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6pPr>
            <a:lvl7pPr marL="3200400" lvl="6" indent="-31115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7pPr>
            <a:lvl8pPr marL="3657600" lvl="7" indent="-31115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8pPr>
            <a:lvl9pPr marL="4114800" lvl="8" indent="-31115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9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72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dt" idx="10"/>
          </p:nvPr>
        </p:nvSpPr>
        <p:spPr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ftr" idx="11"/>
          </p:nvPr>
        </p:nvSpPr>
        <p:spPr>
          <a:xfrm>
            <a:off x="5795963" y="6248400"/>
            <a:ext cx="2892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ldNum" idx="12"/>
          </p:nvPr>
        </p:nvSpPr>
        <p:spPr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brázek s titulkem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oundRect">
            <a:avLst>
              <a:gd name="adj" fmla="val 21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9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72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5795963" y="6248400"/>
            <a:ext cx="2892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adpis a svislý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>
            <a:spLocks noGrp="1"/>
          </p:cNvSpPr>
          <p:nvPr>
            <p:ph type="title"/>
          </p:nvPr>
        </p:nvSpPr>
        <p:spPr>
          <a:xfrm>
            <a:off x="755650" y="692150"/>
            <a:ext cx="7924800" cy="1011238"/>
          </a:xfrm>
          <a:prstGeom prst="roundRect">
            <a:avLst>
              <a:gd name="adj" fmla="val 21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 rot="5400000">
            <a:off x="2671763" y="227013"/>
            <a:ext cx="4025900" cy="769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 algn="l">
              <a:spcBef>
                <a:spcPts val="360"/>
              </a:spcBef>
              <a:spcAft>
                <a:spcPts val="0"/>
              </a:spcAft>
              <a:buSzPts val="1350"/>
              <a:buChar char="–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SzPts val="1440"/>
              <a:buChar char="–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5pPr>
            <a:lvl6pPr marL="2743200" lvl="5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6pPr>
            <a:lvl7pPr marL="3200400" lvl="6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7pPr>
            <a:lvl8pPr marL="3657600" lvl="7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8pPr>
            <a:lvl9pPr marL="4114800" lvl="8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5795963" y="6248400"/>
            <a:ext cx="2892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vislý nadpis a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>
            <a:spLocks noGrp="1"/>
          </p:cNvSpPr>
          <p:nvPr>
            <p:ph type="title"/>
          </p:nvPr>
        </p:nvSpPr>
        <p:spPr>
          <a:xfrm>
            <a:off x="6699250" y="692150"/>
            <a:ext cx="1981200" cy="5394325"/>
          </a:xfrm>
          <a:prstGeom prst="roundRect">
            <a:avLst>
              <a:gd name="adj" fmla="val 21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86" name="Google Shape;86;p21"/>
          <p:cNvSpPr txBox="1"/>
          <p:nvPr/>
        </p:nvSpPr>
        <p:spPr>
          <a:xfrm rot="5400000">
            <a:off x="5118415" y="2524440"/>
            <a:ext cx="5142869" cy="1729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Klepnutím lze upravit styl předlohy nadpisů.</a:t>
            </a:r>
            <a:endParaRPr sz="34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1"/>
          <p:cNvSpPr txBox="1">
            <a:spLocks noGrp="1"/>
          </p:cNvSpPr>
          <p:nvPr>
            <p:ph type="body" idx="1"/>
          </p:nvPr>
        </p:nvSpPr>
        <p:spPr>
          <a:xfrm rot="5400000">
            <a:off x="954088" y="493713"/>
            <a:ext cx="5394325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 algn="l">
              <a:spcBef>
                <a:spcPts val="360"/>
              </a:spcBef>
              <a:spcAft>
                <a:spcPts val="0"/>
              </a:spcAft>
              <a:buSzPts val="1350"/>
              <a:buChar char="–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SzPts val="1440"/>
              <a:buChar char="–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5pPr>
            <a:lvl6pPr marL="2743200" lvl="5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6pPr>
            <a:lvl7pPr marL="3200400" lvl="6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7pPr>
            <a:lvl8pPr marL="3657600" lvl="7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8pPr>
            <a:lvl9pPr marL="4114800" lvl="8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dt" idx="10"/>
          </p:nvPr>
        </p:nvSpPr>
        <p:spPr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ftr" idx="11"/>
          </p:nvPr>
        </p:nvSpPr>
        <p:spPr>
          <a:xfrm>
            <a:off x="5795963" y="6248400"/>
            <a:ext cx="2892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ldNum" idx="12"/>
          </p:nvPr>
        </p:nvSpPr>
        <p:spPr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adpis, text a obsah" type="txAndObj">
  <p:cSld name="TEXT_AND_OBJEC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>
            <a:spLocks noGrp="1"/>
          </p:cNvSpPr>
          <p:nvPr>
            <p:ph type="title"/>
          </p:nvPr>
        </p:nvSpPr>
        <p:spPr>
          <a:xfrm>
            <a:off x="755650" y="692150"/>
            <a:ext cx="7924800" cy="1011238"/>
          </a:xfrm>
          <a:prstGeom prst="roundRect">
            <a:avLst>
              <a:gd name="adj" fmla="val 21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2"/>
          <p:cNvSpPr txBox="1">
            <a:spLocks noGrp="1"/>
          </p:cNvSpPr>
          <p:nvPr>
            <p:ph type="body" idx="1"/>
          </p:nvPr>
        </p:nvSpPr>
        <p:spPr>
          <a:xfrm>
            <a:off x="838200" y="2060575"/>
            <a:ext cx="3770313" cy="40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 algn="l">
              <a:spcBef>
                <a:spcPts val="360"/>
              </a:spcBef>
              <a:spcAft>
                <a:spcPts val="0"/>
              </a:spcAft>
              <a:buSzPts val="1350"/>
              <a:buChar char="–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SzPts val="1440"/>
              <a:buChar char="–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5pPr>
            <a:lvl6pPr marL="2743200" lvl="5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6pPr>
            <a:lvl7pPr marL="3200400" lvl="6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7pPr>
            <a:lvl8pPr marL="3657600" lvl="7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8pPr>
            <a:lvl9pPr marL="4114800" lvl="8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9pPr>
          </a:lstStyle>
          <a:p>
            <a:endParaRPr/>
          </a:p>
        </p:txBody>
      </p:sp>
      <p:sp>
        <p:nvSpPr>
          <p:cNvPr id="94" name="Google Shape;94;p22"/>
          <p:cNvSpPr txBox="1">
            <a:spLocks noGrp="1"/>
          </p:cNvSpPr>
          <p:nvPr>
            <p:ph type="body" idx="2"/>
          </p:nvPr>
        </p:nvSpPr>
        <p:spPr>
          <a:xfrm>
            <a:off x="4760913" y="2060575"/>
            <a:ext cx="3770312" cy="40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 algn="l">
              <a:spcBef>
                <a:spcPts val="360"/>
              </a:spcBef>
              <a:spcAft>
                <a:spcPts val="0"/>
              </a:spcAft>
              <a:buSzPts val="1350"/>
              <a:buChar char="–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SzPts val="1440"/>
              <a:buChar char="–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5pPr>
            <a:lvl6pPr marL="2743200" lvl="5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6pPr>
            <a:lvl7pPr marL="3200400" lvl="6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7pPr>
            <a:lvl8pPr marL="3657600" lvl="7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8pPr>
            <a:lvl9pPr marL="4114800" lvl="8" indent="-30289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dt" idx="10"/>
          </p:nvPr>
        </p:nvSpPr>
        <p:spPr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ftr" idx="11"/>
          </p:nvPr>
        </p:nvSpPr>
        <p:spPr>
          <a:xfrm>
            <a:off x="5795963" y="6248400"/>
            <a:ext cx="2892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sldNum" idx="12"/>
          </p:nvPr>
        </p:nvSpPr>
        <p:spPr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adpis a graf" type="chart">
  <p:cSld name="CHAR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>
            <a:spLocks noGrp="1"/>
          </p:cNvSpPr>
          <p:nvPr>
            <p:ph type="title"/>
          </p:nvPr>
        </p:nvSpPr>
        <p:spPr>
          <a:xfrm>
            <a:off x="755650" y="692150"/>
            <a:ext cx="7924800" cy="1011238"/>
          </a:xfrm>
          <a:prstGeom prst="roundRect">
            <a:avLst>
              <a:gd name="adj" fmla="val 21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3"/>
          <p:cNvSpPr>
            <a:spLocks noGrp="1"/>
          </p:cNvSpPr>
          <p:nvPr>
            <p:ph type="chart" idx="2"/>
          </p:nvPr>
        </p:nvSpPr>
        <p:spPr>
          <a:xfrm>
            <a:off x="838200" y="2060575"/>
            <a:ext cx="7693025" cy="40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Arial"/>
              <a:buChar char="–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dt" idx="10"/>
          </p:nvPr>
        </p:nvSpPr>
        <p:spPr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ftr" idx="11"/>
          </p:nvPr>
        </p:nvSpPr>
        <p:spPr>
          <a:xfrm>
            <a:off x="5795963" y="6248400"/>
            <a:ext cx="2892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sldNum" idx="12"/>
          </p:nvPr>
        </p:nvSpPr>
        <p:spPr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adpis a tabulka" type="tbl">
  <p:cSld name="TABL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4"/>
          <p:cNvSpPr>
            <a:spLocks noGrp="1"/>
          </p:cNvSpPr>
          <p:nvPr>
            <p:ph type="title"/>
          </p:nvPr>
        </p:nvSpPr>
        <p:spPr>
          <a:xfrm>
            <a:off x="755650" y="692150"/>
            <a:ext cx="7924800" cy="1011238"/>
          </a:xfrm>
          <a:prstGeom prst="roundRect">
            <a:avLst>
              <a:gd name="adj" fmla="val 21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dt" idx="10"/>
          </p:nvPr>
        </p:nvSpPr>
        <p:spPr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ftr" idx="11"/>
          </p:nvPr>
        </p:nvSpPr>
        <p:spPr>
          <a:xfrm>
            <a:off x="5795963" y="6248400"/>
            <a:ext cx="2892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sldNum" idx="12"/>
          </p:nvPr>
        </p:nvSpPr>
        <p:spPr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0" descr="vetve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-58146950" y="-72755125"/>
            <a:ext cx="125406150" cy="1524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0"/>
          <p:cNvSpPr>
            <a:spLocks noGrp="1"/>
          </p:cNvSpPr>
          <p:nvPr>
            <p:ph type="title"/>
          </p:nvPr>
        </p:nvSpPr>
        <p:spPr>
          <a:xfrm>
            <a:off x="755650" y="692150"/>
            <a:ext cx="7924800" cy="1011238"/>
          </a:xfrm>
          <a:prstGeom prst="roundRect">
            <a:avLst>
              <a:gd name="adj" fmla="val 21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body" idx="1"/>
          </p:nvPr>
        </p:nvSpPr>
        <p:spPr>
          <a:xfrm>
            <a:off x="838200" y="2060575"/>
            <a:ext cx="7693025" cy="40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1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0039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Arial"/>
              <a:buChar char="–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2895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2895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2895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2895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2895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dt" idx="10"/>
          </p:nvPr>
        </p:nvSpPr>
        <p:spPr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ftr" idx="11"/>
          </p:nvPr>
        </p:nvSpPr>
        <p:spPr>
          <a:xfrm>
            <a:off x="5795963" y="6248400"/>
            <a:ext cx="2892425" cy="4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sldNum" idx="12"/>
          </p:nvPr>
        </p:nvSpPr>
        <p:spPr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" name="Google Shape;16;p10"/>
          <p:cNvSpPr/>
          <p:nvPr/>
        </p:nvSpPr>
        <p:spPr>
          <a:xfrm>
            <a:off x="0" y="0"/>
            <a:ext cx="468313" cy="6858000"/>
          </a:xfrm>
          <a:prstGeom prst="rect">
            <a:avLst/>
          </a:prstGeom>
          <a:solidFill>
            <a:srgbClr val="0061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10" descr="Lo-kniha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79388" y="5734050"/>
            <a:ext cx="723900" cy="83661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i.com/p/kzmuxuslhbtm/ies-physical-foundations-and-policy-implications/?present=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milan.scasny@czp.cuni.cz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"/>
          <p:cNvSpPr txBox="1">
            <a:spLocks noGrp="1"/>
          </p:cNvSpPr>
          <p:nvPr>
            <p:ph type="body" idx="1"/>
          </p:nvPr>
        </p:nvSpPr>
        <p:spPr>
          <a:xfrm>
            <a:off x="323850" y="188913"/>
            <a:ext cx="8785225" cy="6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Noto Sans Symbols"/>
              <a:buNone/>
            </a:pPr>
            <a:endParaRPr sz="4000" b="1" dirty="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Noto Sans Symbols"/>
              <a:buNone/>
            </a:pPr>
            <a:r>
              <a:rPr lang="en-GB" sz="6000" b="1" dirty="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JEB1</a:t>
            </a:r>
            <a:r>
              <a:rPr lang="cs-CZ" sz="6000" b="1" dirty="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6000" b="1" dirty="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 | JEM335</a:t>
            </a:r>
            <a:endParaRPr dirty="0"/>
          </a:p>
          <a:p>
            <a:pPr marL="342900" lvl="0" indent="-3429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Noto Sans Symbols"/>
              <a:buNone/>
            </a:pPr>
            <a:endParaRPr sz="6000" b="1" dirty="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GB" sz="4400" b="1" dirty="0"/>
              <a:t>Economics of Green Deal</a:t>
            </a:r>
            <a:endParaRPr lang="cs-CZ" sz="4400" b="1" dirty="0"/>
          </a:p>
          <a:p>
            <a:pPr marL="342900" lvl="0" indent="-3429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endParaRPr lang="cs-CZ" sz="4400" b="1" dirty="0"/>
          </a:p>
          <a:p>
            <a:pPr marL="342900" indent="-342900" algn="ctr">
              <a:lnSpc>
                <a:spcPct val="90000"/>
              </a:lnSpc>
              <a:spcBef>
                <a:spcPts val="0"/>
              </a:spcBef>
              <a:buSzPts val="3300"/>
              <a:buNone/>
            </a:pPr>
            <a:r>
              <a:rPr lang="en-US" b="1" dirty="0">
                <a:solidFill>
                  <a:srgbClr val="7030A0"/>
                </a:solidFill>
              </a:rPr>
              <a:t>Setting the Stage – Climate Change: </a:t>
            </a:r>
            <a:endParaRPr lang="cs-CZ" b="1" dirty="0">
              <a:solidFill>
                <a:srgbClr val="7030A0"/>
              </a:solidFill>
            </a:endParaRPr>
          </a:p>
          <a:p>
            <a:pPr marL="342900" indent="-342900" algn="ctr">
              <a:lnSpc>
                <a:spcPct val="90000"/>
              </a:lnSpc>
              <a:spcBef>
                <a:spcPts val="0"/>
              </a:spcBef>
              <a:buSzPts val="3300"/>
              <a:buNone/>
            </a:pPr>
            <a:r>
              <a:rPr lang="en-US" b="1" dirty="0">
                <a:solidFill>
                  <a:srgbClr val="7030A0"/>
                </a:solidFill>
              </a:rPr>
              <a:t>Physical Foundation and Policy Implications </a:t>
            </a:r>
            <a:endParaRPr lang="cs-CZ" b="1" dirty="0">
              <a:solidFill>
                <a:srgbClr val="7030A0"/>
              </a:solidFill>
            </a:endParaRPr>
          </a:p>
          <a:p>
            <a:pPr marL="342900" indent="-342900" algn="ctr">
              <a:lnSpc>
                <a:spcPct val="90000"/>
              </a:lnSpc>
              <a:spcBef>
                <a:spcPts val="0"/>
              </a:spcBef>
              <a:buSzPts val="3300"/>
              <a:buNone/>
            </a:pPr>
            <a:r>
              <a:rPr lang="cs-CZ" b="1" dirty="0">
                <a:solidFill>
                  <a:srgbClr val="7030A0"/>
                </a:solidFill>
              </a:rPr>
              <a:t>by Miroslav Havránek</a:t>
            </a:r>
            <a:endParaRPr lang="cs-CZ" u="sng" dirty="0">
              <a:hlinkClick r:id="rId3"/>
            </a:endParaRPr>
          </a:p>
          <a:p>
            <a:pPr marL="342900" indent="-342900" algn="ctr">
              <a:lnSpc>
                <a:spcPct val="90000"/>
              </a:lnSpc>
              <a:spcBef>
                <a:spcPts val="0"/>
              </a:spcBef>
              <a:buSzPts val="3300"/>
              <a:buNone/>
            </a:pPr>
            <a:r>
              <a:rPr lang="en-GB" u="sng" dirty="0">
                <a:hlinkClick r:id="rId3"/>
              </a:rPr>
              <a:t>https://prezi.com/p/kzmuxuslhbtm/ies-physical-foundations-and-policy-implications/?present=1</a:t>
            </a:r>
            <a:r>
              <a:rPr lang="en-GB" dirty="0"/>
              <a:t> </a:t>
            </a:r>
            <a:endParaRPr sz="4400" dirty="0"/>
          </a:p>
          <a:p>
            <a:pPr marL="342900" lvl="0" indent="-3429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Noto Sans Symbols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>
            <a:spLocks noGrp="1"/>
          </p:cNvSpPr>
          <p:nvPr>
            <p:ph type="title" idx="4294967295"/>
          </p:nvPr>
        </p:nvSpPr>
        <p:spPr>
          <a:xfrm>
            <a:off x="468313" y="0"/>
            <a:ext cx="8388350" cy="1341438"/>
          </a:xfrm>
          <a:prstGeom prst="roundRect">
            <a:avLst>
              <a:gd name="adj" fmla="val 21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 Black"/>
                <a:ea typeface="Arial Black"/>
                <a:cs typeface="Arial Black"/>
                <a:sym typeface="Arial Black"/>
              </a:rPr>
              <a:t>Environment – Economy Nexus</a:t>
            </a:r>
            <a:br>
              <a:rPr lang="en-GB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GB">
                <a:latin typeface="Arial Black"/>
                <a:ea typeface="Arial Black"/>
                <a:cs typeface="Arial Black"/>
                <a:sym typeface="Arial Black"/>
              </a:rPr>
              <a:t>Environmental functions</a:t>
            </a:r>
            <a:endParaRPr/>
          </a:p>
        </p:txBody>
      </p:sp>
      <p:sp>
        <p:nvSpPr>
          <p:cNvPr id="134" name="Google Shape;134;p4"/>
          <p:cNvSpPr txBox="1">
            <a:spLocks noGrp="1"/>
          </p:cNvSpPr>
          <p:nvPr>
            <p:ph type="body" idx="4294967295"/>
          </p:nvPr>
        </p:nvSpPr>
        <p:spPr>
          <a:xfrm>
            <a:off x="395288" y="1557338"/>
            <a:ext cx="8748712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33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GB" sz="2400" b="1">
                <a:latin typeface="Calibri"/>
                <a:ea typeface="Calibri"/>
                <a:cs typeface="Calibri"/>
                <a:sym typeface="Calibri"/>
              </a:rPr>
              <a:t>1. RESOURCES</a:t>
            </a:r>
            <a:endParaRPr/>
          </a:p>
          <a:p>
            <a:pPr marL="914400" lvl="1" indent="-457200" algn="l" rtl="0">
              <a:lnSpc>
                <a:spcPct val="90000"/>
              </a:lnSpc>
              <a:spcBef>
                <a:spcPts val="90"/>
              </a:spcBef>
              <a:spcAft>
                <a:spcPts val="0"/>
              </a:spcAft>
              <a:buSzPts val="1350"/>
              <a:buFont typeface="Calibri"/>
              <a:buChar char="–"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non-degradable (sunshine, wind, waves,…)</a:t>
            </a:r>
            <a:endParaRPr/>
          </a:p>
          <a:p>
            <a:pPr marL="914400" lvl="1" indent="-457200" algn="l" rtl="0">
              <a:lnSpc>
                <a:spcPct val="90000"/>
              </a:lnSpc>
              <a:spcBef>
                <a:spcPts val="90"/>
              </a:spcBef>
              <a:spcAft>
                <a:spcPts val="0"/>
              </a:spcAft>
              <a:buSzPts val="1350"/>
              <a:buFont typeface="Calibri"/>
              <a:buChar char="–"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degradable</a:t>
            </a:r>
            <a:endParaRPr/>
          </a:p>
          <a:p>
            <a:pPr marL="1295400" lvl="2" indent="-381000" algn="l" rtl="0">
              <a:lnSpc>
                <a:spcPct val="90000"/>
              </a:lnSpc>
              <a:spcBef>
                <a:spcPts val="90"/>
              </a:spcBef>
              <a:spcAft>
                <a:spcPts val="0"/>
              </a:spcAft>
              <a:buSzPts val="1350"/>
              <a:buFont typeface="Calibri"/>
              <a:buChar char="–"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renewable (wood, biomass)</a:t>
            </a:r>
            <a:endParaRPr/>
          </a:p>
          <a:p>
            <a:pPr marL="1295400" lvl="2" indent="-381000" algn="l" rtl="0">
              <a:lnSpc>
                <a:spcPct val="90000"/>
              </a:lnSpc>
              <a:spcBef>
                <a:spcPts val="90"/>
              </a:spcBef>
              <a:spcAft>
                <a:spcPts val="0"/>
              </a:spcAft>
              <a:buSzPts val="1350"/>
              <a:buFont typeface="Calibri"/>
              <a:buChar char="–"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non-renewable / exhaustible (fossil fuels, minerals)</a:t>
            </a:r>
            <a:endParaRPr/>
          </a:p>
          <a:p>
            <a:pPr marL="1295400" lvl="2" indent="-381000" algn="l" rtl="0">
              <a:lnSpc>
                <a:spcPct val="90000"/>
              </a:lnSpc>
              <a:spcBef>
                <a:spcPts val="90"/>
              </a:spcBef>
              <a:spcAft>
                <a:spcPts val="0"/>
              </a:spcAft>
              <a:buSzPts val="1350"/>
              <a:buFont typeface="Calibri"/>
              <a:buChar char="–"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space</a:t>
            </a:r>
            <a:endParaRPr/>
          </a:p>
          <a:p>
            <a:pPr marL="533400" lvl="0" indent="-533400" algn="l" rtl="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500"/>
              <a:buFont typeface="Arial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533400" lvl="0" indent="-533400" algn="l" rtl="0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GB" sz="2400" b="1">
                <a:latin typeface="Calibri"/>
                <a:ea typeface="Calibri"/>
                <a:cs typeface="Calibri"/>
                <a:sym typeface="Calibri"/>
              </a:rPr>
              <a:t>2. SINKS</a:t>
            </a:r>
            <a:endParaRPr/>
          </a:p>
          <a:p>
            <a:pPr marL="914400" lvl="1" indent="-457200" algn="l" rtl="0">
              <a:lnSpc>
                <a:spcPct val="90000"/>
              </a:lnSpc>
              <a:spcBef>
                <a:spcPts val="90"/>
              </a:spcBef>
              <a:spcAft>
                <a:spcPts val="0"/>
              </a:spcAft>
              <a:buSzPts val="1350"/>
              <a:buFont typeface="Calibri"/>
              <a:buChar char="–"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a place where undesirable outputs might be placed (i.e. assimilative capacity)</a:t>
            </a:r>
            <a:endParaRPr/>
          </a:p>
          <a:p>
            <a:pPr marL="914400" lvl="1" indent="-457200" algn="l" rtl="0">
              <a:lnSpc>
                <a:spcPct val="90000"/>
              </a:lnSpc>
              <a:spcBef>
                <a:spcPts val="90"/>
              </a:spcBef>
              <a:spcAft>
                <a:spcPts val="0"/>
              </a:spcAft>
              <a:buSzPts val="1350"/>
              <a:buFont typeface="Calibri"/>
              <a:buChar char="–"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emissions and wastes</a:t>
            </a:r>
            <a:endParaRPr/>
          </a:p>
          <a:p>
            <a:pPr marL="533400" lvl="0" indent="-533400" algn="l" rtl="0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SzPts val="1800"/>
              <a:buFont typeface="Arial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533400" lvl="0" indent="-533400" algn="l" rtl="0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GB" sz="2400" b="1">
                <a:latin typeface="Calibri"/>
                <a:ea typeface="Calibri"/>
                <a:cs typeface="Calibri"/>
                <a:sym typeface="Calibri"/>
              </a:rPr>
              <a:t>3. DEMAND SERVICES </a:t>
            </a:r>
            <a:endParaRPr/>
          </a:p>
          <a:p>
            <a:pPr marL="914400" lvl="1" indent="-457200" algn="l" rtl="0">
              <a:lnSpc>
                <a:spcPct val="90000"/>
              </a:lnSpc>
              <a:spcBef>
                <a:spcPts val="90"/>
              </a:spcBef>
              <a:spcAft>
                <a:spcPts val="0"/>
              </a:spcAft>
              <a:buSzPts val="1350"/>
              <a:buFont typeface="Calibri"/>
              <a:buChar char="–"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aesthetic, cultural, recreational service (like provided by a forest)</a:t>
            </a:r>
            <a:endParaRPr/>
          </a:p>
          <a:p>
            <a:pPr marL="533400" lvl="0" indent="-533400" algn="l" rtl="0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533400" lvl="0" indent="-533400" algn="l" rtl="0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GB" sz="2400" b="1">
                <a:latin typeface="Calibri"/>
                <a:ea typeface="Calibri"/>
                <a:cs typeface="Calibri"/>
                <a:sym typeface="Calibri"/>
              </a:rPr>
              <a:t>4. Global Biospheric Life-Supporting Services</a:t>
            </a:r>
            <a:endParaRPr/>
          </a:p>
          <a:p>
            <a:pPr marL="914400" lvl="1" indent="-457200" algn="l" rtl="0">
              <a:lnSpc>
                <a:spcPct val="90000"/>
              </a:lnSpc>
              <a:spcBef>
                <a:spcPts val="90"/>
              </a:spcBef>
              <a:spcAft>
                <a:spcPts val="0"/>
              </a:spcAft>
              <a:buSzPts val="1350"/>
              <a:buFont typeface="Calibri"/>
              <a:buChar char="–"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climate system, hydrologic cycle, soil production, etc.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/>
          <p:nvPr/>
        </p:nvSpPr>
        <p:spPr>
          <a:xfrm>
            <a:off x="4159250" y="849313"/>
            <a:ext cx="1296988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GB" sz="1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labour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4156075" y="2708275"/>
            <a:ext cx="12954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GB" sz="1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wages</a:t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4140200" y="547688"/>
            <a:ext cx="1295400" cy="306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GB" sz="1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savings</a:t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2155825" y="1412875"/>
            <a:ext cx="1727200" cy="1046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GB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FIRMS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(production)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5580063" y="1412875"/>
            <a:ext cx="2016125" cy="1046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GB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HOUSEHOLDS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(consumption)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958975" y="1439863"/>
            <a:ext cx="2120900" cy="104616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2051050" y="1446213"/>
            <a:ext cx="1944688" cy="1119187"/>
          </a:xfrm>
          <a:prstGeom prst="roundRect">
            <a:avLst>
              <a:gd name="adj" fmla="val 16667"/>
            </a:avLst>
          </a:prstGeom>
          <a:noFill/>
          <a:ln w="444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580063" y="1412875"/>
            <a:ext cx="2087562" cy="1117600"/>
          </a:xfrm>
          <a:prstGeom prst="roundRect">
            <a:avLst>
              <a:gd name="adj" fmla="val 16667"/>
            </a:avLst>
          </a:prstGeom>
          <a:noFill/>
          <a:ln w="444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5"/>
          <p:cNvCxnSpPr>
            <a:stCxn id="146" idx="3"/>
            <a:endCxn id="147" idx="1"/>
          </p:cNvCxnSpPr>
          <p:nvPr/>
        </p:nvCxnSpPr>
        <p:spPr>
          <a:xfrm rot="10800000" flipH="1">
            <a:off x="3995738" y="1971607"/>
            <a:ext cx="1584300" cy="34200"/>
          </a:xfrm>
          <a:prstGeom prst="straightConnector1">
            <a:avLst/>
          </a:prstGeom>
          <a:noFill/>
          <a:ln w="34925" cap="flat" cmpd="sng">
            <a:solidFill>
              <a:srgbClr val="000000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49" name="Google Shape;149;p5"/>
          <p:cNvSpPr/>
          <p:nvPr/>
        </p:nvSpPr>
        <p:spPr>
          <a:xfrm>
            <a:off x="3024188" y="2565400"/>
            <a:ext cx="1135062" cy="225425"/>
          </a:xfrm>
          <a:prstGeom prst="arc">
            <a:avLst>
              <a:gd name="adj1" fmla="val 16200000"/>
              <a:gd name="adj2" fmla="val 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 rot="-10512582">
            <a:off x="2994025" y="2460625"/>
            <a:ext cx="2678113" cy="446088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 rot="473445">
            <a:off x="3986213" y="1020763"/>
            <a:ext cx="2706687" cy="446087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148263" y="2530475"/>
            <a:ext cx="1439862" cy="331788"/>
          </a:xfrm>
          <a:prstGeom prst="arc">
            <a:avLst>
              <a:gd name="adj1" fmla="val 16200000"/>
              <a:gd name="adj2" fmla="val 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146675" y="2622550"/>
            <a:ext cx="1468438" cy="347663"/>
          </a:xfrm>
          <a:custGeom>
            <a:avLst/>
            <a:gdLst/>
            <a:ahLst/>
            <a:cxnLst/>
            <a:rect l="l" t="t" r="r" b="b"/>
            <a:pathLst>
              <a:path w="1468690" h="347623" extrusionOk="0">
                <a:moveTo>
                  <a:pt x="0" y="279610"/>
                </a:moveTo>
                <a:cubicBezTo>
                  <a:pt x="68013" y="284648"/>
                  <a:pt x="136367" y="286265"/>
                  <a:pt x="204040" y="294724"/>
                </a:cubicBezTo>
                <a:cubicBezTo>
                  <a:pt x="224192" y="297243"/>
                  <a:pt x="244412" y="299268"/>
                  <a:pt x="264496" y="302281"/>
                </a:cubicBezTo>
                <a:cubicBezTo>
                  <a:pt x="294802" y="306827"/>
                  <a:pt x="324753" y="313744"/>
                  <a:pt x="355180" y="317395"/>
                </a:cubicBezTo>
                <a:cubicBezTo>
                  <a:pt x="387790" y="321308"/>
                  <a:pt x="420674" y="322433"/>
                  <a:pt x="453421" y="324952"/>
                </a:cubicBezTo>
                <a:lnTo>
                  <a:pt x="498764" y="332509"/>
                </a:lnTo>
                <a:cubicBezTo>
                  <a:pt x="511401" y="334807"/>
                  <a:pt x="523711" y="339645"/>
                  <a:pt x="536549" y="340066"/>
                </a:cubicBezTo>
                <a:cubicBezTo>
                  <a:pt x="677560" y="344689"/>
                  <a:pt x="818678" y="345104"/>
                  <a:pt x="959742" y="347623"/>
                </a:cubicBezTo>
                <a:cubicBezTo>
                  <a:pt x="988596" y="346721"/>
                  <a:pt x="1188098" y="346888"/>
                  <a:pt x="1269580" y="332509"/>
                </a:cubicBezTo>
                <a:cubicBezTo>
                  <a:pt x="1290036" y="328899"/>
                  <a:pt x="1309884" y="322433"/>
                  <a:pt x="1330036" y="317395"/>
                </a:cubicBezTo>
                <a:cubicBezTo>
                  <a:pt x="1332555" y="307319"/>
                  <a:pt x="1331832" y="295809"/>
                  <a:pt x="1337593" y="287167"/>
                </a:cubicBezTo>
                <a:cubicBezTo>
                  <a:pt x="1342631" y="279610"/>
                  <a:pt x="1353368" y="277963"/>
                  <a:pt x="1360264" y="272052"/>
                </a:cubicBezTo>
                <a:cubicBezTo>
                  <a:pt x="1371083" y="262778"/>
                  <a:pt x="1381218" y="252643"/>
                  <a:pt x="1390492" y="241824"/>
                </a:cubicBezTo>
                <a:cubicBezTo>
                  <a:pt x="1396403" y="234928"/>
                  <a:pt x="1400156" y="226419"/>
                  <a:pt x="1405606" y="219153"/>
                </a:cubicBezTo>
                <a:cubicBezTo>
                  <a:pt x="1409813" y="213544"/>
                  <a:pt x="1444736" y="172677"/>
                  <a:pt x="1450949" y="158697"/>
                </a:cubicBezTo>
                <a:cubicBezTo>
                  <a:pt x="1478012" y="97806"/>
                  <a:pt x="1466063" y="81148"/>
                  <a:pt x="1466063" y="0"/>
                </a:cubicBezTo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4211638" y="3016250"/>
            <a:ext cx="1296987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GB" sz="1400" b="1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rent/interest</a:t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 rot="9515909">
            <a:off x="4999038" y="2160588"/>
            <a:ext cx="2989262" cy="393700"/>
          </a:xfrm>
          <a:prstGeom prst="arc">
            <a:avLst>
              <a:gd name="adj1" fmla="val 15951568"/>
              <a:gd name="adj2" fmla="val 21284538"/>
            </a:avLst>
          </a:prstGeom>
          <a:noFill/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/>
          <p:nvPr/>
        </p:nvSpPr>
        <p:spPr>
          <a:xfrm rot="-1301159">
            <a:off x="1233488" y="1431925"/>
            <a:ext cx="3684587" cy="393700"/>
          </a:xfrm>
          <a:prstGeom prst="arc">
            <a:avLst>
              <a:gd name="adj1" fmla="val 15951568"/>
              <a:gd name="adj2" fmla="val 21284538"/>
            </a:avLst>
          </a:prstGeom>
          <a:noFill/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 rot="-4157865">
            <a:off x="1282700" y="1874838"/>
            <a:ext cx="1087437" cy="1417638"/>
          </a:xfrm>
          <a:prstGeom prst="arc">
            <a:avLst>
              <a:gd name="adj1" fmla="val 4090407"/>
              <a:gd name="adj2" fmla="val 0"/>
            </a:avLst>
          </a:prstGeom>
          <a:noFill/>
          <a:ln w="349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1258888" y="2636838"/>
            <a:ext cx="576262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GB" sz="2400" b="1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sz="1400" b="1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5"/>
          <p:cNvCxnSpPr/>
          <p:nvPr/>
        </p:nvCxnSpPr>
        <p:spPr>
          <a:xfrm>
            <a:off x="1908175" y="2060575"/>
            <a:ext cx="142875" cy="17463"/>
          </a:xfrm>
          <a:prstGeom prst="straightConnector1">
            <a:avLst/>
          </a:prstGeom>
          <a:noFill/>
          <a:ln w="34925" cap="flat" cmpd="sng">
            <a:solidFill>
              <a:srgbClr val="000000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60" name="Google Shape;160;p5"/>
          <p:cNvSpPr/>
          <p:nvPr/>
        </p:nvSpPr>
        <p:spPr>
          <a:xfrm>
            <a:off x="611560" y="547688"/>
            <a:ext cx="7632700" cy="3313113"/>
          </a:xfrm>
          <a:prstGeom prst="roundRect">
            <a:avLst>
              <a:gd name="adj" fmla="val 16667"/>
            </a:avLst>
          </a:prstGeom>
          <a:solidFill>
            <a:srgbClr val="0A82FE">
              <a:alpha val="26666"/>
            </a:srgbClr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6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23850" y="260350"/>
            <a:ext cx="8820150" cy="633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 txBox="1"/>
          <p:nvPr/>
        </p:nvSpPr>
        <p:spPr>
          <a:xfrm>
            <a:off x="4211638" y="5949950"/>
            <a:ext cx="5040312" cy="95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lang="en-GB" sz="1400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P, C, U</a:t>
            </a:r>
            <a:r>
              <a:rPr lang="en-GB" sz="14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Production, Consumption, Utility</a:t>
            </a:r>
            <a:endParaRPr sz="1400" b="1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lang="en-GB" sz="1400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R, ER, RR</a:t>
            </a:r>
            <a:r>
              <a:rPr lang="en-GB" sz="14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Natural Resources, Exhaustible and Renewable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lang="en-GB" sz="1400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h, y</a:t>
            </a:r>
            <a:r>
              <a:rPr lang="en-GB" sz="14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harvest rate, yield/growth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lang="en-GB" sz="1400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W, A</a:t>
            </a:r>
            <a:r>
              <a:rPr lang="en-GB" sz="14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waste, assimilative capacity</a:t>
            </a:r>
            <a:endParaRPr sz="1400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076825" y="908050"/>
            <a:ext cx="2232025" cy="792163"/>
          </a:xfrm>
          <a:prstGeom prst="roundRect">
            <a:avLst>
              <a:gd name="adj" fmla="val 16667"/>
            </a:avLst>
          </a:prstGeom>
          <a:solidFill>
            <a:srgbClr val="0A82FE">
              <a:alpha val="26666"/>
            </a:srgbClr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7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23850" y="260350"/>
            <a:ext cx="8820150" cy="633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 txBox="1"/>
          <p:nvPr/>
        </p:nvSpPr>
        <p:spPr>
          <a:xfrm>
            <a:off x="7143750" y="5500688"/>
            <a:ext cx="1871663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Noto Sans Symbols"/>
              <a:buNone/>
            </a:pPr>
            <a:r>
              <a:rPr lang="en-GB" sz="18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EXTERNALITY</a:t>
            </a:r>
            <a:endParaRPr/>
          </a:p>
        </p:txBody>
      </p:sp>
      <p:sp>
        <p:nvSpPr>
          <p:cNvPr id="178" name="Google Shape;178;p7"/>
          <p:cNvSpPr txBox="1"/>
          <p:nvPr/>
        </p:nvSpPr>
        <p:spPr>
          <a:xfrm>
            <a:off x="2428875" y="2701925"/>
            <a:ext cx="1785938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Noto Sans Symbols"/>
              <a:buNone/>
            </a:pPr>
            <a:r>
              <a:rPr lang="en-GB" sz="18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RESOURCES</a:t>
            </a:r>
            <a:endParaRPr/>
          </a:p>
        </p:txBody>
      </p:sp>
      <p:sp>
        <p:nvSpPr>
          <p:cNvPr id="179" name="Google Shape;179;p7"/>
          <p:cNvSpPr txBox="1"/>
          <p:nvPr/>
        </p:nvSpPr>
        <p:spPr>
          <a:xfrm>
            <a:off x="6227763" y="333375"/>
            <a:ext cx="1844675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Noto Sans Symbols"/>
              <a:buNone/>
            </a:pPr>
            <a:r>
              <a:rPr lang="en-GB" sz="18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VALUATION</a:t>
            </a:r>
            <a:endParaRPr sz="1800" b="1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8532813" y="1687513"/>
            <a:ext cx="366712" cy="267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Noto Sans Symbols"/>
              <a:buNone/>
            </a:pPr>
            <a:r>
              <a:rPr lang="en-GB" sz="18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VALUAT  I O N</a:t>
            </a:r>
            <a:endParaRPr sz="1800" b="1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3348038" y="788988"/>
            <a:ext cx="3367087" cy="33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600"/>
              <a:buFont typeface="Noto Sans Symbols"/>
              <a:buNone/>
            </a:pPr>
            <a:r>
              <a:rPr lang="en-GB" sz="16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GROWTH &amp; SUSTAINABILITY</a:t>
            </a:r>
            <a:endParaRPr sz="1600" b="1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4427538" y="1844675"/>
            <a:ext cx="201612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Noto Sans Symbols"/>
              <a:buNone/>
            </a:pPr>
            <a:r>
              <a:rPr lang="en-GB" sz="18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REGULATION</a:t>
            </a:r>
            <a:endParaRPr/>
          </a:p>
        </p:txBody>
      </p:sp>
      <p:sp>
        <p:nvSpPr>
          <p:cNvPr id="183" name="Google Shape;183;p7"/>
          <p:cNvSpPr txBox="1"/>
          <p:nvPr/>
        </p:nvSpPr>
        <p:spPr>
          <a:xfrm>
            <a:off x="395288" y="2125663"/>
            <a:ext cx="360362" cy="323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Noto Sans Symbols"/>
              <a:buNone/>
            </a:pPr>
            <a:r>
              <a:rPr lang="en-GB" sz="18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EXTERNAL</a:t>
            </a:r>
            <a:endParaRPr sz="1800" b="1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Noto Sans Symbols"/>
              <a:buNone/>
            </a:pPr>
            <a:r>
              <a:rPr lang="en-GB" sz="18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I TY</a:t>
            </a:r>
            <a:endParaRPr/>
          </a:p>
        </p:txBody>
      </p:sp>
      <p:sp>
        <p:nvSpPr>
          <p:cNvPr id="184" name="Google Shape;184;p7"/>
          <p:cNvSpPr txBox="1"/>
          <p:nvPr/>
        </p:nvSpPr>
        <p:spPr>
          <a:xfrm>
            <a:off x="4859338" y="6054725"/>
            <a:ext cx="4392612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r>
              <a:rPr lang="en-GB" sz="1200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P, C, U</a:t>
            </a:r>
            <a:r>
              <a:rPr lang="en-GB" sz="12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Production, Consumption, Utility</a:t>
            </a:r>
            <a:endParaRPr sz="1200" b="1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r>
              <a:rPr lang="en-GB" sz="1200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R, ER, RR</a:t>
            </a:r>
            <a:r>
              <a:rPr lang="en-GB" sz="12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Natural Resources, Exhaustible and Renewable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r>
              <a:rPr lang="en-GB" sz="1200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h, y</a:t>
            </a:r>
            <a:r>
              <a:rPr lang="en-GB" sz="12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harvest rate, resource yield/growth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r>
              <a:rPr lang="en-GB" sz="1200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W, A</a:t>
            </a:r>
            <a:r>
              <a:rPr lang="en-GB" sz="12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waste, assimilative capacity</a:t>
            </a:r>
            <a:endParaRPr sz="1200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219700" y="1031875"/>
            <a:ext cx="2087563" cy="623888"/>
          </a:xfrm>
          <a:prstGeom prst="roundRect">
            <a:avLst>
              <a:gd name="adj" fmla="val 16667"/>
            </a:avLst>
          </a:prstGeom>
          <a:solidFill>
            <a:srgbClr val="0A82FE">
              <a:alpha val="26666"/>
            </a:srgbClr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>
            <a:spLocks noGrp="1"/>
          </p:cNvSpPr>
          <p:nvPr>
            <p:ph type="title"/>
          </p:nvPr>
        </p:nvSpPr>
        <p:spPr>
          <a:xfrm>
            <a:off x="683568" y="116632"/>
            <a:ext cx="7924800" cy="720080"/>
          </a:xfrm>
          <a:prstGeom prst="roundRect">
            <a:avLst>
              <a:gd name="adj" fmla="val 21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Lectures: I</a:t>
            </a:r>
            <a:endParaRPr dirty="0"/>
          </a:p>
        </p:txBody>
      </p:sp>
      <p:sp>
        <p:nvSpPr>
          <p:cNvPr id="191" name="Google Shape;191;p8"/>
          <p:cNvSpPr/>
          <p:nvPr/>
        </p:nvSpPr>
        <p:spPr>
          <a:xfrm>
            <a:off x="323528" y="1052736"/>
            <a:ext cx="8568952" cy="5555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2000" dirty="0"/>
              <a:t>Week 1 [September 29] </a:t>
            </a:r>
          </a:p>
          <a:p>
            <a:pPr>
              <a:spcAft>
                <a:spcPts val="300"/>
              </a:spcAft>
            </a:pPr>
            <a:r>
              <a:rPr lang="en-US" sz="2000" b="1" dirty="0">
                <a:solidFill>
                  <a:srgbClr val="7030A0"/>
                </a:solidFill>
              </a:rPr>
              <a:t>Setting the Stage – Climate Change: Physical Foundation and Policy Implications </a:t>
            </a:r>
          </a:p>
          <a:p>
            <a:pPr>
              <a:spcAft>
                <a:spcPts val="300"/>
              </a:spcAft>
            </a:pPr>
            <a:r>
              <a:rPr lang="en-GB" sz="2000" i="1" dirty="0"/>
              <a:t>[Miroslav </a:t>
            </a:r>
            <a:r>
              <a:rPr lang="en-GB" sz="2000" i="1" dirty="0" err="1"/>
              <a:t>Havranek</a:t>
            </a:r>
            <a:r>
              <a:rPr lang="en-GB" sz="2000" i="1" dirty="0"/>
              <a:t>, CENIA &amp; Charles University Environment </a:t>
            </a:r>
            <a:r>
              <a:rPr lang="en-GB" sz="2000" i="1" dirty="0" err="1"/>
              <a:t>Center</a:t>
            </a:r>
            <a:r>
              <a:rPr lang="en-GB" sz="2000" i="1" dirty="0"/>
              <a:t>]</a:t>
            </a:r>
            <a:endParaRPr lang="en-GB" sz="2000" dirty="0"/>
          </a:p>
          <a:p>
            <a:pPr>
              <a:spcAft>
                <a:spcPts val="300"/>
              </a:spcAft>
            </a:pPr>
            <a:r>
              <a:rPr lang="en-US" sz="2000" dirty="0"/>
              <a:t> </a:t>
            </a:r>
            <a:endParaRPr lang="en-GB" sz="2000" dirty="0"/>
          </a:p>
          <a:p>
            <a:pPr>
              <a:spcAft>
                <a:spcPts val="300"/>
              </a:spcAft>
            </a:pPr>
            <a:r>
              <a:rPr lang="en-US" sz="2000" dirty="0"/>
              <a:t>Week 2 [October 6]</a:t>
            </a:r>
          </a:p>
          <a:p>
            <a:pPr>
              <a:spcAft>
                <a:spcPts val="300"/>
              </a:spcAft>
            </a:pPr>
            <a:r>
              <a:rPr lang="en-US" sz="2000" b="1" dirty="0">
                <a:solidFill>
                  <a:srgbClr val="7030A0"/>
                </a:solidFill>
              </a:rPr>
              <a:t>Environmental Externality and Regulation </a:t>
            </a:r>
          </a:p>
          <a:p>
            <a:pPr>
              <a:spcAft>
                <a:spcPts val="300"/>
              </a:spcAft>
            </a:pPr>
            <a:r>
              <a:rPr lang="en-US" sz="2000" i="1" dirty="0"/>
              <a:t>[Milan </a:t>
            </a:r>
            <a:r>
              <a:rPr lang="cs-CZ" sz="2000" i="1" dirty="0"/>
              <a:t>Ščasný]</a:t>
            </a:r>
            <a:endParaRPr lang="en-GB" sz="2000" dirty="0"/>
          </a:p>
          <a:p>
            <a:pPr>
              <a:spcAft>
                <a:spcPts val="300"/>
              </a:spcAft>
            </a:pPr>
            <a:r>
              <a:rPr lang="en-US" sz="2000" b="1" dirty="0"/>
              <a:t> </a:t>
            </a:r>
            <a:endParaRPr lang="en-GB" sz="2000" dirty="0"/>
          </a:p>
          <a:p>
            <a:pPr>
              <a:spcAft>
                <a:spcPts val="300"/>
              </a:spcAft>
            </a:pPr>
            <a:r>
              <a:rPr lang="en-US" sz="2000" b="1" dirty="0"/>
              <a:t>Week 3-4 [October 13 &amp; 20]</a:t>
            </a:r>
          </a:p>
          <a:p>
            <a:pPr>
              <a:spcAft>
                <a:spcPts val="300"/>
              </a:spcAft>
            </a:pPr>
            <a:r>
              <a:rPr lang="en-US" sz="2000" b="1" dirty="0">
                <a:solidFill>
                  <a:srgbClr val="7030A0"/>
                </a:solidFill>
              </a:rPr>
              <a:t>European Green Deal </a:t>
            </a:r>
            <a:endParaRPr lang="en-GB" sz="2000" dirty="0">
              <a:solidFill>
                <a:srgbClr val="7030A0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2000" i="1" dirty="0"/>
              <a:t>[Richard </a:t>
            </a:r>
            <a:r>
              <a:rPr lang="en-US" sz="2000" i="1" dirty="0" err="1"/>
              <a:t>Jurik</a:t>
            </a:r>
            <a:r>
              <a:rPr lang="en-US" sz="2000" i="1" dirty="0"/>
              <a:t>, Ministry of the Environment &amp; </a:t>
            </a:r>
            <a:r>
              <a:rPr lang="en-US" sz="2000" i="1" dirty="0" err="1"/>
              <a:t>Vojtech</a:t>
            </a:r>
            <a:r>
              <a:rPr lang="en-US" sz="2000" i="1" dirty="0"/>
              <a:t> </a:t>
            </a:r>
            <a:r>
              <a:rPr lang="en-US" sz="2000" i="1" dirty="0" err="1"/>
              <a:t>Maca</a:t>
            </a:r>
            <a:r>
              <a:rPr lang="en-US" sz="2000" i="1" dirty="0"/>
              <a:t>, Charles University Environment Center]</a:t>
            </a:r>
            <a:endParaRPr lang="en-GB" sz="2000" dirty="0"/>
          </a:p>
          <a:p>
            <a:pPr>
              <a:spcAft>
                <a:spcPts val="300"/>
              </a:spcAft>
            </a:pPr>
            <a:r>
              <a:rPr lang="en-US" sz="2000" dirty="0"/>
              <a:t> </a:t>
            </a:r>
            <a:endParaRPr lang="en-GB" sz="2000" dirty="0"/>
          </a:p>
          <a:p>
            <a:pPr>
              <a:spcAft>
                <a:spcPts val="300"/>
              </a:spcAft>
            </a:pPr>
            <a:r>
              <a:rPr lang="en-US" sz="2000" b="1" dirty="0"/>
              <a:t>Week 5 [October 27]</a:t>
            </a:r>
          </a:p>
          <a:p>
            <a:pPr>
              <a:spcAft>
                <a:spcPts val="300"/>
              </a:spcAft>
            </a:pPr>
            <a:r>
              <a:rPr lang="en-US" sz="2000" b="1" i="1" dirty="0">
                <a:solidFill>
                  <a:srgbClr val="7030A0"/>
                </a:solidFill>
              </a:rPr>
              <a:t>The Dean’s Day</a:t>
            </a:r>
            <a:endParaRPr lang="en-GB" sz="2000" i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>
            <a:spLocks noGrp="1"/>
          </p:cNvSpPr>
          <p:nvPr>
            <p:ph type="title"/>
          </p:nvPr>
        </p:nvSpPr>
        <p:spPr>
          <a:xfrm>
            <a:off x="683568" y="116632"/>
            <a:ext cx="7924800" cy="720080"/>
          </a:xfrm>
          <a:prstGeom prst="roundRect">
            <a:avLst>
              <a:gd name="adj" fmla="val 21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Lectures: II</a:t>
            </a:r>
            <a:endParaRPr dirty="0"/>
          </a:p>
        </p:txBody>
      </p:sp>
      <p:sp>
        <p:nvSpPr>
          <p:cNvPr id="191" name="Google Shape;191;p8"/>
          <p:cNvSpPr/>
          <p:nvPr/>
        </p:nvSpPr>
        <p:spPr>
          <a:xfrm>
            <a:off x="683568" y="1316896"/>
            <a:ext cx="8175952" cy="400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dirty="0"/>
              <a:t>Week 6 [November 3]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Climate Economics and Social Cost of Carbon </a:t>
            </a:r>
          </a:p>
          <a:p>
            <a:r>
              <a:rPr lang="en-US" sz="2400" i="1" dirty="0"/>
              <a:t>[Milan </a:t>
            </a:r>
            <a:r>
              <a:rPr lang="cs-CZ" sz="2400" i="1" dirty="0"/>
              <a:t>Ščasný]</a:t>
            </a:r>
            <a:endParaRPr lang="en-GB" sz="2400" dirty="0"/>
          </a:p>
          <a:p>
            <a:r>
              <a:rPr lang="en-US" sz="2400" dirty="0"/>
              <a:t> </a:t>
            </a:r>
            <a:endParaRPr lang="en-GB" sz="2400" dirty="0"/>
          </a:p>
          <a:p>
            <a:r>
              <a:rPr lang="en-US" sz="2400" b="1" dirty="0"/>
              <a:t> </a:t>
            </a:r>
            <a:endParaRPr lang="en-GB" sz="2400" dirty="0"/>
          </a:p>
          <a:p>
            <a:r>
              <a:rPr lang="en-US" sz="2400" b="1" dirty="0"/>
              <a:t>Week 7-8 [November 10 &amp; 17]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Energy System Transformation </a:t>
            </a:r>
            <a:endParaRPr lang="en-GB" sz="2400" dirty="0">
              <a:solidFill>
                <a:srgbClr val="7030A0"/>
              </a:solidFill>
            </a:endParaRPr>
          </a:p>
          <a:p>
            <a:r>
              <a:rPr lang="en-US" sz="2400" i="1" dirty="0"/>
              <a:t>[Vladimir </a:t>
            </a:r>
            <a:r>
              <a:rPr lang="en-US" sz="2400" i="1" dirty="0" err="1"/>
              <a:t>Kubecek</a:t>
            </a:r>
            <a:r>
              <a:rPr lang="en-US" sz="2400" i="1" dirty="0"/>
              <a:t>, Czech Transition System Operator &amp; Lukas </a:t>
            </a:r>
            <a:r>
              <a:rPr lang="en-US" sz="2400" i="1" dirty="0" err="1"/>
              <a:t>Recka</a:t>
            </a:r>
            <a:r>
              <a:rPr lang="en-US" sz="2400" i="1" dirty="0"/>
              <a:t>, Charles University Environment Center]</a:t>
            </a:r>
            <a:endParaRPr lang="en-GB" sz="2400" dirty="0"/>
          </a:p>
          <a:p>
            <a:pPr>
              <a:spcAft>
                <a:spcPts val="300"/>
              </a:spcAft>
            </a:pPr>
            <a:endParaRPr lang="en-GB" sz="3600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512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>
            <a:spLocks noGrp="1"/>
          </p:cNvSpPr>
          <p:nvPr>
            <p:ph type="title"/>
          </p:nvPr>
        </p:nvSpPr>
        <p:spPr>
          <a:xfrm>
            <a:off x="683568" y="116632"/>
            <a:ext cx="7924800" cy="720080"/>
          </a:xfrm>
          <a:prstGeom prst="roundRect">
            <a:avLst>
              <a:gd name="adj" fmla="val 21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Lectures: III</a:t>
            </a:r>
            <a:endParaRPr dirty="0"/>
          </a:p>
        </p:txBody>
      </p:sp>
      <p:sp>
        <p:nvSpPr>
          <p:cNvPr id="191" name="Google Shape;191;p8"/>
          <p:cNvSpPr/>
          <p:nvPr/>
        </p:nvSpPr>
        <p:spPr>
          <a:xfrm>
            <a:off x="683568" y="1147569"/>
            <a:ext cx="8454712" cy="559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2000" b="1" dirty="0"/>
              <a:t>Week 9 [November 24]</a:t>
            </a:r>
          </a:p>
          <a:p>
            <a:pPr>
              <a:spcAft>
                <a:spcPts val="300"/>
              </a:spcAft>
            </a:pPr>
            <a:r>
              <a:rPr lang="en-US" sz="2000" b="1" dirty="0">
                <a:solidFill>
                  <a:srgbClr val="7030A0"/>
                </a:solidFill>
              </a:rPr>
              <a:t>Economic Impacts and Trade-offs </a:t>
            </a:r>
          </a:p>
          <a:p>
            <a:pPr>
              <a:spcAft>
                <a:spcPts val="300"/>
              </a:spcAft>
            </a:pPr>
            <a:r>
              <a:rPr lang="en-US" sz="2000" i="1" dirty="0"/>
              <a:t>[Vedunka Kopecna &amp; </a:t>
            </a:r>
            <a:r>
              <a:rPr lang="en-US" sz="2000" i="1" dirty="0" err="1"/>
              <a:t>Inaki</a:t>
            </a:r>
            <a:r>
              <a:rPr lang="en-US" sz="2000" i="1" dirty="0"/>
              <a:t> </a:t>
            </a:r>
            <a:r>
              <a:rPr lang="en-US" sz="2000" i="1" dirty="0" err="1"/>
              <a:t>Veruette</a:t>
            </a:r>
            <a:r>
              <a:rPr lang="en-US" sz="2000" i="1" dirty="0"/>
              <a:t>, Charles University Environment Center &amp; IES]</a:t>
            </a:r>
            <a:endParaRPr lang="en-GB" sz="2000" dirty="0"/>
          </a:p>
          <a:p>
            <a:pPr>
              <a:spcAft>
                <a:spcPts val="300"/>
              </a:spcAft>
            </a:pPr>
            <a:r>
              <a:rPr lang="en-US" sz="2000" dirty="0"/>
              <a:t> </a:t>
            </a:r>
            <a:endParaRPr lang="en-GB" sz="2000" dirty="0"/>
          </a:p>
          <a:p>
            <a:pPr>
              <a:spcAft>
                <a:spcPts val="300"/>
              </a:spcAft>
            </a:pPr>
            <a:r>
              <a:rPr lang="en-US" sz="2000" b="1" dirty="0"/>
              <a:t>Week 10 [December 1]</a:t>
            </a:r>
          </a:p>
          <a:p>
            <a:pPr>
              <a:spcAft>
                <a:spcPts val="300"/>
              </a:spcAft>
            </a:pPr>
            <a:r>
              <a:rPr lang="en-US" sz="2000" b="1" dirty="0">
                <a:solidFill>
                  <a:srgbClr val="7030A0"/>
                </a:solidFill>
              </a:rPr>
              <a:t>Social Impacts and Energy Poverty </a:t>
            </a:r>
          </a:p>
          <a:p>
            <a:pPr>
              <a:spcAft>
                <a:spcPts val="300"/>
              </a:spcAft>
            </a:pPr>
            <a:r>
              <a:rPr lang="en-US" sz="2000" dirty="0"/>
              <a:t>[</a:t>
            </a:r>
            <a:r>
              <a:rPr lang="en-US" sz="2000" i="1" dirty="0"/>
              <a:t>Matej </a:t>
            </a:r>
            <a:r>
              <a:rPr lang="en-US" sz="2000" i="1" dirty="0" err="1"/>
              <a:t>Opatrny</a:t>
            </a:r>
            <a:r>
              <a:rPr lang="en-US" sz="2000" i="1" dirty="0"/>
              <a:t>, Charles University Environment Center &amp; IES]</a:t>
            </a:r>
            <a:endParaRPr lang="en-GB" sz="2000" dirty="0"/>
          </a:p>
          <a:p>
            <a:pPr>
              <a:spcAft>
                <a:spcPts val="300"/>
              </a:spcAft>
            </a:pPr>
            <a:r>
              <a:rPr lang="en-US" sz="2000" i="1" dirty="0"/>
              <a:t> </a:t>
            </a:r>
            <a:endParaRPr lang="en-GB" sz="2000" dirty="0"/>
          </a:p>
          <a:p>
            <a:pPr>
              <a:spcAft>
                <a:spcPts val="300"/>
              </a:spcAft>
            </a:pPr>
            <a:r>
              <a:rPr lang="en-US" sz="2000" b="1" dirty="0"/>
              <a:t>Week 11 [December 8]</a:t>
            </a:r>
          </a:p>
          <a:p>
            <a:pPr>
              <a:spcAft>
                <a:spcPts val="300"/>
              </a:spcAft>
            </a:pPr>
            <a:r>
              <a:rPr lang="en-US" sz="2000" b="1" dirty="0">
                <a:solidFill>
                  <a:srgbClr val="7030A0"/>
                </a:solidFill>
              </a:rPr>
              <a:t>Behavioral Aspects </a:t>
            </a:r>
          </a:p>
          <a:p>
            <a:pPr>
              <a:spcAft>
                <a:spcPts val="300"/>
              </a:spcAft>
            </a:pPr>
            <a:r>
              <a:rPr lang="en-US" sz="2000" i="1" dirty="0"/>
              <a:t>[Milan </a:t>
            </a:r>
            <a:r>
              <a:rPr lang="cs-CZ" sz="2000" i="1" dirty="0"/>
              <a:t>Ščasný]</a:t>
            </a:r>
            <a:endParaRPr lang="en-GB" sz="2000" dirty="0"/>
          </a:p>
          <a:p>
            <a:pPr>
              <a:spcAft>
                <a:spcPts val="300"/>
              </a:spcAft>
            </a:pPr>
            <a:r>
              <a:rPr lang="en-US" sz="2000" dirty="0"/>
              <a:t> </a:t>
            </a:r>
            <a:endParaRPr lang="en-GB" sz="2000" dirty="0"/>
          </a:p>
          <a:p>
            <a:pPr>
              <a:spcAft>
                <a:spcPts val="300"/>
              </a:spcAft>
            </a:pPr>
            <a:r>
              <a:rPr lang="en-US" sz="2000" b="1" dirty="0"/>
              <a:t>Week 12 [December 15]</a:t>
            </a:r>
          </a:p>
          <a:p>
            <a:pPr>
              <a:spcAft>
                <a:spcPts val="300"/>
              </a:spcAft>
            </a:pPr>
            <a:r>
              <a:rPr lang="en-US" sz="2000" b="1" dirty="0"/>
              <a:t>How Economists Model the Transition: Synthesis</a:t>
            </a:r>
          </a:p>
          <a:p>
            <a:pPr>
              <a:spcAft>
                <a:spcPts val="300"/>
              </a:spcAft>
            </a:pPr>
            <a:r>
              <a:rPr lang="en-US" sz="2000" i="1" dirty="0"/>
              <a:t>[Milan </a:t>
            </a:r>
            <a:r>
              <a:rPr lang="cs-CZ" sz="2000" i="1" dirty="0"/>
              <a:t>Ščasný]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957196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>
            <a:spLocks noGrp="1"/>
          </p:cNvSpPr>
          <p:nvPr>
            <p:ph type="title"/>
          </p:nvPr>
        </p:nvSpPr>
        <p:spPr>
          <a:xfrm>
            <a:off x="539552" y="14461"/>
            <a:ext cx="7632700" cy="792832"/>
          </a:xfrm>
          <a:prstGeom prst="roundRect">
            <a:avLst>
              <a:gd name="adj" fmla="val 21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Contacts &amp; Materials</a:t>
            </a:r>
            <a:endParaRPr/>
          </a:p>
        </p:txBody>
      </p:sp>
      <p:sp>
        <p:nvSpPr>
          <p:cNvPr id="120" name="Google Shape;120;p2"/>
          <p:cNvSpPr txBox="1">
            <a:spLocks noGrp="1"/>
          </p:cNvSpPr>
          <p:nvPr>
            <p:ph type="body" idx="1"/>
          </p:nvPr>
        </p:nvSpPr>
        <p:spPr>
          <a:xfrm>
            <a:off x="107504" y="997869"/>
            <a:ext cx="9000900" cy="55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dirty="0"/>
              <a:t>JEB159	</a:t>
            </a:r>
            <a:r>
              <a:rPr lang="en-GB" sz="1800" dirty="0"/>
              <a:t>	5 ETS	(JEM335)</a:t>
            </a:r>
            <a:endParaRPr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dirty="0"/>
              <a:t>Lecturers: </a:t>
            </a:r>
            <a:r>
              <a:rPr lang="en-GB" dirty="0"/>
              <a:t>	</a:t>
            </a:r>
            <a:r>
              <a:rPr lang="en-GB" sz="1800" dirty="0" err="1"/>
              <a:t>Dr.</a:t>
            </a:r>
            <a:r>
              <a:rPr lang="en-GB" sz="1800" dirty="0"/>
              <a:t> Milan Ščasný </a:t>
            </a:r>
            <a:r>
              <a:rPr lang="en-GB" sz="1800" i="1" dirty="0"/>
              <a:t>(Coordination); </a:t>
            </a:r>
            <a:r>
              <a:rPr lang="en-GB" sz="1800" u="sng" dirty="0">
                <a:solidFill>
                  <a:schemeClr val="hlink"/>
                </a:solidFill>
                <a:hlinkClick r:id="rId3"/>
              </a:rPr>
              <a:t>milan.scasny@czp.cuni.cz</a:t>
            </a:r>
            <a:endParaRPr lang="en-GB" dirty="0"/>
          </a:p>
          <a:p>
            <a:pPr marL="1714500" lvl="4" indent="0" algn="just">
              <a:spcBef>
                <a:spcPts val="0"/>
              </a:spcBef>
              <a:buClr>
                <a:srgbClr val="000000"/>
              </a:buClr>
              <a:buSzPts val="1800"/>
              <a:buNone/>
            </a:pPr>
            <a:r>
              <a:rPr lang="en-GB" dirty="0"/>
              <a:t>	</a:t>
            </a:r>
            <a:r>
              <a:rPr lang="en-GB" dirty="0" err="1"/>
              <a:t>Dr.</a:t>
            </a:r>
            <a:r>
              <a:rPr lang="en-GB" dirty="0"/>
              <a:t> Lukáš </a:t>
            </a:r>
            <a:r>
              <a:rPr lang="en-GB" dirty="0" err="1"/>
              <a:t>Rečka</a:t>
            </a:r>
            <a:r>
              <a:rPr lang="en-GB" dirty="0"/>
              <a:t> </a:t>
            </a:r>
            <a:r>
              <a:rPr lang="en-GB" i="1" dirty="0"/>
              <a:t>(energy system modelling)</a:t>
            </a:r>
          </a:p>
          <a:p>
            <a:pPr marL="1714500" lvl="4" indent="0" algn="just">
              <a:spcBef>
                <a:spcPts val="0"/>
              </a:spcBef>
              <a:buClr>
                <a:srgbClr val="000000"/>
              </a:buClr>
              <a:buSzPts val="1800"/>
              <a:buNone/>
            </a:pPr>
            <a:r>
              <a:rPr lang="en-GB" dirty="0"/>
              <a:t>	</a:t>
            </a:r>
            <a:r>
              <a:rPr lang="en-GB" dirty="0" err="1"/>
              <a:t>Dr.</a:t>
            </a:r>
            <a:r>
              <a:rPr lang="en-GB" dirty="0"/>
              <a:t> Matěj Opatrný </a:t>
            </a:r>
            <a:r>
              <a:rPr lang="en-GB" i="1" dirty="0"/>
              <a:t>(distributional impacts)</a:t>
            </a:r>
          </a:p>
          <a:p>
            <a:pPr marL="1714500" lvl="4" indent="0" algn="just">
              <a:spcBef>
                <a:spcPts val="0"/>
              </a:spcBef>
              <a:buClr>
                <a:srgbClr val="000000"/>
              </a:buClr>
              <a:buSzPts val="1800"/>
              <a:buNone/>
            </a:pPr>
            <a:r>
              <a:rPr lang="en-GB" dirty="0"/>
              <a:t>	</a:t>
            </a:r>
            <a:r>
              <a:rPr lang="en-GB" dirty="0" err="1"/>
              <a:t>Dr.</a:t>
            </a:r>
            <a:r>
              <a:rPr lang="en-GB" dirty="0"/>
              <a:t> Vojtěch Máca </a:t>
            </a:r>
            <a:r>
              <a:rPr lang="en-GB" i="1" dirty="0"/>
              <a:t>(environmental policy, transportation)</a:t>
            </a:r>
          </a:p>
          <a:p>
            <a:pPr marL="1714500" lvl="4" indent="0" algn="just">
              <a:spcBef>
                <a:spcPts val="0"/>
              </a:spcBef>
              <a:buClr>
                <a:srgbClr val="000000"/>
              </a:buClr>
              <a:buSzPts val="1800"/>
              <a:buNone/>
            </a:pPr>
            <a:r>
              <a:rPr lang="en-GB" dirty="0"/>
              <a:t>	</a:t>
            </a:r>
            <a:r>
              <a:rPr lang="en-GB" dirty="0" err="1"/>
              <a:t>Dr.</a:t>
            </a:r>
            <a:r>
              <a:rPr lang="en-GB" dirty="0"/>
              <a:t> Vědunka Kopečná </a:t>
            </a:r>
            <a:r>
              <a:rPr lang="en-GB" i="1" dirty="0"/>
              <a:t>(CGE modelling, impact assessment)</a:t>
            </a:r>
          </a:p>
          <a:p>
            <a:pPr marL="1714500" lvl="4" indent="0" algn="just">
              <a:spcBef>
                <a:spcPts val="0"/>
              </a:spcBef>
              <a:buClr>
                <a:srgbClr val="000000"/>
              </a:buClr>
              <a:buSzPts val="1800"/>
              <a:buNone/>
            </a:pPr>
            <a:r>
              <a:rPr lang="en-GB" dirty="0"/>
              <a:t>	MSc. Iñaki Alberto Veruete Villegas </a:t>
            </a:r>
            <a:r>
              <a:rPr lang="en-GB" i="1" dirty="0"/>
              <a:t>(IOA, CGE, inequality)</a:t>
            </a:r>
          </a:p>
          <a:p>
            <a:pPr marL="1714500" lvl="4" indent="0" algn="just">
              <a:spcBef>
                <a:spcPts val="0"/>
              </a:spcBef>
              <a:buClr>
                <a:srgbClr val="000000"/>
              </a:buClr>
              <a:buSzPts val="1800"/>
              <a:buNone/>
            </a:pPr>
            <a:endParaRPr lang="en-GB" dirty="0"/>
          </a:p>
          <a:p>
            <a:pPr marL="1714500" lvl="4" indent="0" algn="just">
              <a:spcBef>
                <a:spcPts val="0"/>
              </a:spcBef>
              <a:buClr>
                <a:srgbClr val="000000"/>
              </a:buClr>
              <a:buSzPts val="1800"/>
              <a:buNone/>
            </a:pPr>
            <a:r>
              <a:rPr lang="en-GB" dirty="0"/>
              <a:t>	MSc. Miroslav Havránek (Environmental sciences, CENIA, CUNI)</a:t>
            </a:r>
          </a:p>
          <a:p>
            <a:pPr marL="1714500" lvl="4" indent="0" algn="just">
              <a:spcBef>
                <a:spcPts val="0"/>
              </a:spcBef>
              <a:buClr>
                <a:srgbClr val="000000"/>
              </a:buClr>
              <a:buSzPts val="1800"/>
              <a:buNone/>
            </a:pPr>
            <a:r>
              <a:rPr lang="en-GB" dirty="0"/>
              <a:t>	MSc. Richard </a:t>
            </a:r>
            <a:r>
              <a:rPr lang="en-GB" dirty="0" err="1"/>
              <a:t>Juřík</a:t>
            </a:r>
            <a:r>
              <a:rPr lang="en-GB" dirty="0"/>
              <a:t> (Ministry of the Environment)</a:t>
            </a:r>
          </a:p>
          <a:p>
            <a:pPr marL="1714500" lvl="4" indent="0" algn="just">
              <a:spcBef>
                <a:spcPts val="0"/>
              </a:spcBef>
              <a:buClr>
                <a:srgbClr val="000000"/>
              </a:buClr>
              <a:buSzPts val="1800"/>
              <a:buNone/>
            </a:pPr>
            <a:r>
              <a:rPr lang="en-GB" dirty="0"/>
              <a:t>	MSc. </a:t>
            </a:r>
            <a:r>
              <a:rPr lang="en-GB" dirty="0" err="1"/>
              <a:t>Vladimír</a:t>
            </a:r>
            <a:r>
              <a:rPr lang="en-GB" dirty="0"/>
              <a:t> </a:t>
            </a:r>
            <a:r>
              <a:rPr lang="en-GB" dirty="0" err="1"/>
              <a:t>Kubeček</a:t>
            </a:r>
            <a:r>
              <a:rPr lang="en-GB" dirty="0"/>
              <a:t> (ČEPS[TSO], VŠE)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GB" sz="1800" b="1" dirty="0"/>
              <a:t>Lectures:  	</a:t>
            </a:r>
            <a:r>
              <a:rPr lang="en-GB" sz="1800" b="1" dirty="0">
                <a:solidFill>
                  <a:srgbClr val="7030A0"/>
                </a:solidFill>
              </a:rPr>
              <a:t>Mondays, 15:30-16:50, Room O206</a:t>
            </a:r>
            <a:endParaRPr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GB" sz="1800" b="1" dirty="0"/>
              <a:t>Materials: 	</a:t>
            </a:r>
            <a:r>
              <a:rPr lang="en-GB" sz="1800" dirty="0"/>
              <a:t>SIS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endParaRPr sz="1800" b="1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dirty="0"/>
              <a:t>Office:		</a:t>
            </a:r>
            <a:r>
              <a:rPr lang="en-GB" sz="1800" dirty="0"/>
              <a:t>Institute of Economic Studies (#408) </a:t>
            </a:r>
            <a:endParaRPr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dirty="0"/>
              <a:t>		Environment </a:t>
            </a:r>
            <a:r>
              <a:rPr lang="en-GB" sz="1800" dirty="0" err="1"/>
              <a:t>Center</a:t>
            </a:r>
            <a:r>
              <a:rPr lang="en-GB" sz="1800" dirty="0"/>
              <a:t> (José </a:t>
            </a:r>
            <a:r>
              <a:rPr lang="en-GB" sz="1800" dirty="0" err="1"/>
              <a:t>Martího</a:t>
            </a:r>
            <a:r>
              <a:rPr lang="en-GB" sz="1800" dirty="0"/>
              <a:t> 2/407, #1617)</a:t>
            </a:r>
            <a:endParaRPr sz="1800" b="1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dirty="0"/>
              <a:t>Office hours:	</a:t>
            </a:r>
            <a:r>
              <a:rPr lang="en-GB" sz="1800" dirty="0"/>
              <a:t>based on a prior communication (email or after the lectures)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856704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>
            <a:spLocks noGrp="1"/>
          </p:cNvSpPr>
          <p:nvPr>
            <p:ph type="title"/>
          </p:nvPr>
        </p:nvSpPr>
        <p:spPr>
          <a:xfrm>
            <a:off x="434889" y="44624"/>
            <a:ext cx="7924800" cy="720080"/>
          </a:xfrm>
          <a:prstGeom prst="roundRect">
            <a:avLst>
              <a:gd name="adj" fmla="val 21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Requirements &amp; Grading</a:t>
            </a:r>
            <a:endParaRPr/>
          </a:p>
        </p:txBody>
      </p:sp>
      <p:sp>
        <p:nvSpPr>
          <p:cNvPr id="126" name="Google Shape;126;p3"/>
          <p:cNvSpPr txBox="1">
            <a:spLocks noGrp="1"/>
          </p:cNvSpPr>
          <p:nvPr>
            <p:ph type="body" idx="1"/>
          </p:nvPr>
        </p:nvSpPr>
        <p:spPr>
          <a:xfrm>
            <a:off x="323528" y="1052736"/>
            <a:ext cx="8591728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350"/>
              <a:buNone/>
            </a:pPr>
            <a:r>
              <a:rPr lang="en-GB" sz="2200" b="1" dirty="0"/>
              <a:t>(1)</a:t>
            </a:r>
            <a:r>
              <a:rPr lang="en-GB" sz="2200" dirty="0"/>
              <a:t> Writing test with a satisfactory grade </a:t>
            </a:r>
            <a:r>
              <a:rPr lang="en-GB" sz="2200" b="1" i="1" dirty="0"/>
              <a:t>[65 points] </a:t>
            </a:r>
          </a:p>
          <a:p>
            <a:pPr marL="0" lvl="0" indent="0">
              <a:spcBef>
                <a:spcPts val="0"/>
              </a:spcBef>
              <a:buNone/>
            </a:pPr>
            <a:endParaRPr lang="en-GB" sz="2200" b="1" dirty="0"/>
          </a:p>
          <a:p>
            <a:pPr marL="0" lvl="0" indent="0">
              <a:spcBef>
                <a:spcPts val="0"/>
              </a:spcBef>
              <a:buNone/>
            </a:pPr>
            <a:r>
              <a:rPr lang="en-GB" sz="2200" b="1" dirty="0"/>
              <a:t>(2) </a:t>
            </a:r>
            <a:r>
              <a:rPr lang="en-GB" sz="2200" dirty="0"/>
              <a:t>Open-book (all, but electronic) exam (written) – test understanding and application, not memorisation </a:t>
            </a:r>
            <a:r>
              <a:rPr lang="en-GB" sz="2200" b="1" i="1" dirty="0"/>
              <a:t>[35 points]</a:t>
            </a:r>
          </a:p>
          <a:p>
            <a:pPr marL="0" lvl="0" indent="0">
              <a:spcBef>
                <a:spcPts val="0"/>
              </a:spcBef>
              <a:buNone/>
            </a:pPr>
            <a:endParaRPr lang="en-GB" sz="2200" b="1" dirty="0"/>
          </a:p>
          <a:p>
            <a:pPr marL="0" lvl="0" indent="0">
              <a:spcBef>
                <a:spcPts val="0"/>
              </a:spcBef>
              <a:buNone/>
            </a:pPr>
            <a:r>
              <a:rPr lang="en-GB" sz="2200" b="1" dirty="0"/>
              <a:t>(3) </a:t>
            </a:r>
            <a:r>
              <a:rPr lang="en-GB" sz="2200" dirty="0"/>
              <a:t>Active participation in the lectures </a:t>
            </a:r>
            <a:r>
              <a:rPr lang="en-GB" sz="2200" b="1" i="1" dirty="0"/>
              <a:t>[10 points]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SzPts val="1350"/>
              <a:buNone/>
            </a:pPr>
            <a:endParaRPr sz="2200" b="1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GB" sz="2200" b="1" dirty="0"/>
              <a:t>Grading:</a:t>
            </a:r>
            <a:endParaRPr sz="2200" dirty="0"/>
          </a:p>
          <a:p>
            <a:pPr marL="457200" lvl="1" indent="0">
              <a:buNone/>
            </a:pPr>
            <a:r>
              <a:rPr lang="en-GB" sz="2200" b="1" dirty="0"/>
              <a:t>91</a:t>
            </a:r>
            <a:r>
              <a:rPr lang="en-GB" sz="2200" dirty="0"/>
              <a:t> and more 	A	</a:t>
            </a:r>
            <a:endParaRPr sz="2200" dirty="0"/>
          </a:p>
          <a:p>
            <a:pPr marL="457200" lvl="1" indent="0">
              <a:buNone/>
            </a:pPr>
            <a:r>
              <a:rPr lang="en-GB" sz="2200" b="1" dirty="0"/>
              <a:t>81</a:t>
            </a:r>
            <a:r>
              <a:rPr lang="en-GB" sz="2200" dirty="0"/>
              <a:t> to 90		B	</a:t>
            </a:r>
            <a:endParaRPr sz="2200" dirty="0"/>
          </a:p>
          <a:p>
            <a:pPr marL="457200" lvl="1" indent="0">
              <a:buNone/>
            </a:pPr>
            <a:r>
              <a:rPr lang="en-GB" sz="2200" b="1" dirty="0"/>
              <a:t>71</a:t>
            </a:r>
            <a:r>
              <a:rPr lang="en-GB" sz="2200" dirty="0"/>
              <a:t> to 80 		C</a:t>
            </a:r>
            <a:endParaRPr sz="2200" dirty="0"/>
          </a:p>
          <a:p>
            <a:pPr marL="457200" lvl="1" indent="0">
              <a:buNone/>
            </a:pPr>
            <a:r>
              <a:rPr lang="en-GB" sz="2200" b="1" dirty="0"/>
              <a:t>61 </a:t>
            </a:r>
            <a:r>
              <a:rPr lang="en-GB" sz="2200" dirty="0"/>
              <a:t>to 70 		D</a:t>
            </a:r>
            <a:endParaRPr sz="2200" dirty="0"/>
          </a:p>
          <a:p>
            <a:pPr marL="457200" lvl="1" indent="0">
              <a:buNone/>
            </a:pPr>
            <a:r>
              <a:rPr lang="en-GB" sz="2200" b="1" dirty="0"/>
              <a:t>51</a:t>
            </a:r>
            <a:r>
              <a:rPr lang="en-GB" sz="2200" dirty="0"/>
              <a:t> to 60 		E</a:t>
            </a:r>
            <a:endParaRPr sz="2200" dirty="0"/>
          </a:p>
          <a:p>
            <a:pPr marL="457200" lvl="1" indent="0">
              <a:buNone/>
            </a:pPr>
            <a:r>
              <a:rPr lang="en-GB" sz="2200" b="1" dirty="0"/>
              <a:t>50</a:t>
            </a:r>
            <a:r>
              <a:rPr lang="en-GB" sz="2200" dirty="0"/>
              <a:t> and less	Failed</a:t>
            </a: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2012490313"/>
      </p:ext>
    </p:extLst>
  </p:cSld>
  <p:clrMapOvr>
    <a:masterClrMapping/>
  </p:clrMapOvr>
</p:sld>
</file>

<file path=ppt/theme/theme1.xml><?xml version="1.0" encoding="utf-8"?>
<a:theme xmlns:a="http://schemas.openxmlformats.org/drawingml/2006/main" name="Prezentace_COZP">
  <a:themeElements>
    <a:clrScheme name="Prezentace_COZP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737</Words>
  <Application>Microsoft Office PowerPoint</Application>
  <PresentationFormat>Předvádění na obrazovce (4:3)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6" baseType="lpstr">
      <vt:lpstr>Noto Sans Symbols</vt:lpstr>
      <vt:lpstr>Calibri</vt:lpstr>
      <vt:lpstr>Arial Black</vt:lpstr>
      <vt:lpstr>Times New Roman</vt:lpstr>
      <vt:lpstr>Arial</vt:lpstr>
      <vt:lpstr>Prezentace_COZP</vt:lpstr>
      <vt:lpstr>Prezentace aplikace PowerPoint</vt:lpstr>
      <vt:lpstr>Environment – Economy Nexus Environmental functions</vt:lpstr>
      <vt:lpstr>Prezentace aplikace PowerPoint</vt:lpstr>
      <vt:lpstr>Prezentace aplikace PowerPoint</vt:lpstr>
      <vt:lpstr>Prezentace aplikace PowerPoint</vt:lpstr>
      <vt:lpstr>Lectures: I</vt:lpstr>
      <vt:lpstr>Lectures: II</vt:lpstr>
      <vt:lpstr>Lectures: III</vt:lpstr>
      <vt:lpstr>Contacts &amp; Materials</vt:lpstr>
      <vt:lpstr>Requirements &amp; Grading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czpscasny</dc:creator>
  <cp:lastModifiedBy>Milan Ščasný</cp:lastModifiedBy>
  <cp:revision>5</cp:revision>
  <dcterms:created xsi:type="dcterms:W3CDTF">2006-05-11T09:32:41Z</dcterms:created>
  <dcterms:modified xsi:type="dcterms:W3CDTF">2025-09-29T15:43:12Z</dcterms:modified>
</cp:coreProperties>
</file>